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312" r:id="rId3"/>
    <p:sldId id="313" r:id="rId4"/>
    <p:sldId id="257" r:id="rId5"/>
    <p:sldId id="307" r:id="rId6"/>
    <p:sldId id="294" r:id="rId7"/>
    <p:sldId id="259" r:id="rId8"/>
    <p:sldId id="296" r:id="rId9"/>
    <p:sldId id="270" r:id="rId10"/>
    <p:sldId id="299" r:id="rId11"/>
    <p:sldId id="260" r:id="rId12"/>
    <p:sldId id="318" r:id="rId13"/>
    <p:sldId id="319" r:id="rId14"/>
    <p:sldId id="320" r:id="rId15"/>
    <p:sldId id="321" r:id="rId16"/>
    <p:sldId id="269" r:id="rId17"/>
    <p:sldId id="297" r:id="rId18"/>
    <p:sldId id="261" r:id="rId19"/>
    <p:sldId id="262" r:id="rId20"/>
    <p:sldId id="268" r:id="rId21"/>
    <p:sldId id="323" r:id="rId22"/>
    <p:sldId id="322" r:id="rId23"/>
    <p:sldId id="267" r:id="rId24"/>
    <p:sldId id="265" r:id="rId25"/>
    <p:sldId id="263" r:id="rId26"/>
    <p:sldId id="264" r:id="rId27"/>
    <p:sldId id="266" r:id="rId28"/>
    <p:sldId id="271" r:id="rId29"/>
    <p:sldId id="290" r:id="rId30"/>
    <p:sldId id="272" r:id="rId31"/>
    <p:sldId id="273" r:id="rId32"/>
    <p:sldId id="275" r:id="rId33"/>
    <p:sldId id="274" r:id="rId34"/>
    <p:sldId id="276" r:id="rId35"/>
    <p:sldId id="295" r:id="rId36"/>
    <p:sldId id="278" r:id="rId37"/>
    <p:sldId id="279" r:id="rId38"/>
    <p:sldId id="288" r:id="rId39"/>
    <p:sldId id="282" r:id="rId40"/>
    <p:sldId id="287" r:id="rId41"/>
    <p:sldId id="281" r:id="rId42"/>
    <p:sldId id="286" r:id="rId43"/>
    <p:sldId id="301" r:id="rId44"/>
  </p:sldIdLst>
  <p:sldSz cx="12192000" cy="6858000"/>
  <p:notesSz cx="6858000" cy="9144000"/>
  <p:embeddedFontLst>
    <p:embeddedFont>
      <p:font typeface="Cambria" panose="02040503050406030204" pitchFamily="18" charset="0"/>
      <p:regular r:id="rId46"/>
      <p:bold r:id="rId47"/>
      <p:italic r:id="rId48"/>
      <p:boldItalic r:id="rId49"/>
    </p:embeddedFont>
    <p:embeddedFont>
      <p:font typeface="Cambria Math" panose="02040503050406030204" pitchFamily="18" charset="0"/>
      <p:regular r:id="rId50"/>
    </p:embeddedFont>
    <p:embeddedFont>
      <p:font typeface="Palatino Linotype" panose="02040502050505030304" pitchFamily="18" charset="0"/>
      <p:regular r:id="rId51"/>
      <p:bold r:id="rId52"/>
      <p:italic r:id="rId53"/>
      <p:boldItalic r:id="rId54"/>
    </p:embeddedFont>
    <p:embeddedFont>
      <p:font typeface="Roboto" panose="02000000000000000000" pitchFamily="2"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hU/cOSqjzoGdaSxLCEfNrR9RAH5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05" autoAdjust="0"/>
  </p:normalViewPr>
  <p:slideViewPr>
    <p:cSldViewPr snapToGrid="0">
      <p:cViewPr varScale="1">
        <p:scale>
          <a:sx n="68" d="100"/>
          <a:sy n="68" d="100"/>
        </p:scale>
        <p:origin x="1234" y="53"/>
      </p:cViewPr>
      <p:guideLst/>
    </p:cSldViewPr>
  </p:slid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rathi" userId="d9d1d5a53ff78ae0" providerId="LiveId" clId="{8CDE02EB-666E-480A-BD3F-5A1E148886B8}"/>
    <pc:docChg chg="modSld">
      <pc:chgData name="ashish rathi" userId="d9d1d5a53ff78ae0" providerId="LiveId" clId="{8CDE02EB-666E-480A-BD3F-5A1E148886B8}" dt="2026-02-16T05:36:01.480" v="1" actId="20577"/>
      <pc:docMkLst>
        <pc:docMk/>
      </pc:docMkLst>
      <pc:sldChg chg="modSp mod">
        <pc:chgData name="ashish rathi" userId="d9d1d5a53ff78ae0" providerId="LiveId" clId="{8CDE02EB-666E-480A-BD3F-5A1E148886B8}" dt="2026-02-16T05:36:01.480" v="1" actId="20577"/>
        <pc:sldMkLst>
          <pc:docMk/>
          <pc:sldMk cId="0" sldId="256"/>
        </pc:sldMkLst>
        <pc:spChg chg="mod">
          <ac:chgData name="ashish rathi" userId="d9d1d5a53ff78ae0" providerId="LiveId" clId="{8CDE02EB-666E-480A-BD3F-5A1E148886B8}" dt="2026-02-16T05:36:01.480" v="1" actId="20577"/>
          <ac:spMkLst>
            <pc:docMk/>
            <pc:sldMk cId="0" sldId="256"/>
            <ac:spMk id="139"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dgm:spPr>
        <a:xfrm>
          <a:off x="0" y="0"/>
          <a:ext cx="9577022" cy="2288783"/>
        </a:xfrm>
        <a:prstGeom prst="roundRect">
          <a:avLst>
            <a:gd name="adj" fmla="val 10000"/>
          </a:avLst>
        </a:prstGeom>
        <a:solidFill>
          <a:srgbClr val="E97132">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n-IN" b="1" dirty="0">
              <a:solidFill>
                <a:sysClr val="window" lastClr="FFFFFF"/>
              </a:solidFill>
              <a:latin typeface="Aptos" panose="02110004020202020204"/>
              <a:ea typeface="+mn-ea"/>
              <a:cs typeface="+mn-cs"/>
            </a:rPr>
            <a:t>Learning Outcome 1</a:t>
          </a:r>
          <a:r>
            <a:rPr lang="en-IN" dirty="0">
              <a:solidFill>
                <a:sysClr val="window" lastClr="FFFFFF"/>
              </a:solidFill>
              <a:latin typeface="Aptos" panose="02110004020202020204"/>
              <a:ea typeface="+mn-ea"/>
              <a:cs typeface="+mn-cs"/>
            </a:rPr>
            <a:t>:</a:t>
          </a:r>
          <a:r>
            <a:rPr lang="en-US" dirty="0">
              <a:solidFill>
                <a:sysClr val="window" lastClr="FFFFFF"/>
              </a:solidFill>
              <a:latin typeface="Aptos" panose="02110004020202020204"/>
              <a:ea typeface="+mn-ea"/>
              <a:cs typeface="+mn-cs"/>
            </a:rPr>
            <a:t>Understand the concepts of ratio and proportion, and apply them to compare quantities effectively.</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a:xfrm>
          <a:off x="8089313" y="1799237"/>
          <a:ext cx="1487709" cy="1487709"/>
        </a:xfrm>
        <a:prstGeom prst="downArrow">
          <a:avLst>
            <a:gd name="adj1" fmla="val 55000"/>
            <a:gd name="adj2" fmla="val 45000"/>
          </a:avLst>
        </a:prstGeom>
        <a:solidFill>
          <a:srgbClr val="E97132">
            <a:tint val="40000"/>
            <a:alpha val="90000"/>
            <a:hueOff val="0"/>
            <a:satOff val="0"/>
            <a:lumOff val="0"/>
            <a:alphaOff val="0"/>
          </a:srgbClr>
        </a:solidFill>
        <a:ln w="19050" cap="flat" cmpd="sng" algn="ctr">
          <a:solidFill>
            <a:srgbClr val="E97132">
              <a:tint val="40000"/>
              <a:alpha val="90000"/>
              <a:hueOff val="0"/>
              <a:satOff val="0"/>
              <a:lumOff val="0"/>
              <a:alphaOff val="0"/>
            </a:srgbClr>
          </a:solidFill>
          <a:prstDash val="solid"/>
          <a:miter lim="800000"/>
        </a:ln>
        <a:effectLst/>
      </dgm:spPr>
      <dgm:t>
        <a:bodyPr/>
        <a:lstStyle/>
        <a:p>
          <a:pPr>
            <a:buNone/>
          </a:pPr>
          <a:endParaRPr lang="en-US">
            <a:solidFill>
              <a:sysClr val="windowText" lastClr="000000">
                <a:hueOff val="0"/>
                <a:satOff val="0"/>
                <a:lumOff val="0"/>
                <a:alphaOff val="0"/>
              </a:sysClr>
            </a:solidFill>
            <a:latin typeface="Aptos" panose="02110004020202020204"/>
            <a:ea typeface="+mn-ea"/>
            <a:cs typeface="+mn-cs"/>
          </a:endParaRPr>
        </a:p>
      </dgm:t>
    </dgm:pt>
    <dgm:pt modelId="{A3B4F848-7886-4B10-8E34-39E0B844A474}">
      <dgm:prSet/>
      <dgm:spPr>
        <a:xfrm>
          <a:off x="1690062" y="2797401"/>
          <a:ext cx="9577022" cy="2288783"/>
        </a:xfrm>
        <a:prstGeom prst="roundRect">
          <a:avLst>
            <a:gd name="adj" fmla="val 10000"/>
          </a:avLst>
        </a:prstGeom>
        <a:solidFill>
          <a:srgbClr val="E97132">
            <a:hueOff val="6443614"/>
            <a:satOff val="-18493"/>
            <a:lumOff val="-29609"/>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n-IN" b="1" dirty="0">
              <a:solidFill>
                <a:sysClr val="window" lastClr="FFFFFF"/>
              </a:solidFill>
              <a:latin typeface="Aptos" panose="02110004020202020204"/>
              <a:ea typeface="+mn-ea"/>
              <a:cs typeface="+mn-cs"/>
            </a:rPr>
            <a:t>Learning Outcome 2</a:t>
          </a:r>
          <a:r>
            <a:rPr lang="en-IN" dirty="0">
              <a:solidFill>
                <a:sysClr val="window" lastClr="FFFFFF"/>
              </a:solidFill>
              <a:latin typeface="Aptos" panose="02110004020202020204"/>
              <a:ea typeface="+mn-ea"/>
              <a:cs typeface="+mn-cs"/>
            </a:rPr>
            <a:t>: </a:t>
          </a:r>
          <a:r>
            <a:rPr lang="en-US" dirty="0">
              <a:solidFill>
                <a:sysClr val="window" lastClr="FFFFFF"/>
              </a:solidFill>
              <a:latin typeface="Aptos" panose="02110004020202020204"/>
              <a:ea typeface="+mn-ea"/>
              <a:cs typeface="+mn-cs"/>
            </a:rPr>
            <a:t>Solve problems based on direct and inverse proportions in real-life and aptitude scenarios.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0F4C2421-F3A3-4200-BBF6-50F7035E4870}" type="pres">
      <dgm:prSet presAssocID="{B7ED251F-A7A3-4D25-B004-4241BE03EDC3}" presName="TwoNodes_1" presStyleLbl="node1" presStyleIdx="0" presStyleCnt="2">
        <dgm:presLayoutVars>
          <dgm:bulletEnabled val="1"/>
        </dgm:presLayoutVars>
      </dgm:prSet>
      <dgm:spPr/>
    </dgm:pt>
    <dgm:pt modelId="{687FE10D-FB81-4F02-9A29-A6BD7CCF9CE9}" type="pres">
      <dgm:prSet presAssocID="{B7ED251F-A7A3-4D25-B004-4241BE03EDC3}" presName="TwoNodes_2" presStyleLbl="node1" presStyleIdx="1" presStyleCnt="2">
        <dgm:presLayoutVars>
          <dgm:bulletEnabled val="1"/>
        </dgm:presLayoutVars>
      </dgm:prSet>
      <dgm:spPr/>
    </dgm:pt>
    <dgm:pt modelId="{85E4B9ED-CF8D-48C8-8CEA-F45055B5E99C}" type="pres">
      <dgm:prSet presAssocID="{B7ED251F-A7A3-4D25-B004-4241BE03EDC3}" presName="TwoConn_1-2" presStyleLbl="fgAccFollowNode1" presStyleIdx="0" presStyleCnt="1">
        <dgm:presLayoutVars>
          <dgm:bulletEnabled val="1"/>
        </dgm:presLayoutVars>
      </dgm:prSet>
      <dgm:spPr/>
    </dgm:pt>
    <dgm:pt modelId="{1735EC21-4E96-4A72-952C-C10F22ABF4D2}" type="pres">
      <dgm:prSet presAssocID="{B7ED251F-A7A3-4D25-B004-4241BE03EDC3}" presName="TwoNodes_1_text" presStyleLbl="node1" presStyleIdx="1" presStyleCnt="2">
        <dgm:presLayoutVars>
          <dgm:bulletEnabled val="1"/>
        </dgm:presLayoutVars>
      </dgm:prSet>
      <dgm:spPr/>
    </dgm:pt>
    <dgm:pt modelId="{EE4F9BE7-38F3-46EB-BBD0-B4E9BFE64613}" type="pres">
      <dgm:prSet presAssocID="{B7ED251F-A7A3-4D25-B004-4241BE03EDC3}" presName="TwoNodes_2_text" presStyleLbl="node1" presStyleIdx="1" presStyleCnt="2">
        <dgm:presLayoutVars>
          <dgm:bulletEnabled val="1"/>
        </dgm:presLayoutVars>
      </dgm:prSet>
      <dgm:spPr/>
    </dgm:pt>
  </dgm:ptLst>
  <dgm:cxnLst>
    <dgm:cxn modelId="{5283D30E-4C18-42F8-8035-086302904573}" type="presOf" srcId="{A3B4F848-7886-4B10-8E34-39E0B844A474}" destId="{687FE10D-FB81-4F02-9A29-A6BD7CCF9CE9}" srcOrd="0" destOrd="0" presId="urn:microsoft.com/office/officeart/2005/8/layout/vProcess5"/>
    <dgm:cxn modelId="{24C1EE37-FE2B-4231-8885-4BB65E66B4CF}" type="presOf" srcId="{A3B4F848-7886-4B10-8E34-39E0B844A474}" destId="{EE4F9BE7-38F3-46EB-BBD0-B4E9BFE64613}" srcOrd="1" destOrd="0" presId="urn:microsoft.com/office/officeart/2005/8/layout/vProcess5"/>
    <dgm:cxn modelId="{9EFDAA60-B991-44DA-811B-E88EA5D2F32F}" type="presOf" srcId="{B7ED251F-A7A3-4D25-B004-4241BE03EDC3}" destId="{E218E0F1-97EC-4D60-8F4A-A6E21D910199}" srcOrd="0" destOrd="0" presId="urn:microsoft.com/office/officeart/2005/8/layout/vProcess5"/>
    <dgm:cxn modelId="{51C36365-356C-4051-AEDD-A86CE7F62F10}" type="presOf" srcId="{DFBD6BAB-0140-48B9-9073-E08FDCB01885}" destId="{1735EC21-4E96-4A72-952C-C10F22ABF4D2}" srcOrd="1" destOrd="0" presId="urn:microsoft.com/office/officeart/2005/8/layout/vProcess5"/>
    <dgm:cxn modelId="{B6C9ADC0-DFCF-41A6-964B-3586676C2254}" type="presOf" srcId="{DFBD6BAB-0140-48B9-9073-E08FDCB01885}" destId="{0F4C2421-F3A3-4200-BBF6-50F7035E4870}" srcOrd="0" destOrd="0" presId="urn:microsoft.com/office/officeart/2005/8/layout/vProcess5"/>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822115F6-1416-4FEC-9071-AB797B07F57A}" type="presOf" srcId="{0715BA3E-6351-4C71-A2A0-855403651045}" destId="{85E4B9ED-CF8D-48C8-8CEA-F45055B5E99C}" srcOrd="0" destOrd="0" presId="urn:microsoft.com/office/officeart/2005/8/layout/vProcess5"/>
    <dgm:cxn modelId="{CFC0369C-974A-4403-82E6-649B0DD5C81E}" type="presParOf" srcId="{E218E0F1-97EC-4D60-8F4A-A6E21D910199}" destId="{353F2BDB-A1CE-4ECD-BC0F-35AD5A327550}" srcOrd="0" destOrd="0" presId="urn:microsoft.com/office/officeart/2005/8/layout/vProcess5"/>
    <dgm:cxn modelId="{FA6A93F1-5671-423D-BF06-5A501EE8F699}" type="presParOf" srcId="{E218E0F1-97EC-4D60-8F4A-A6E21D910199}" destId="{0F4C2421-F3A3-4200-BBF6-50F7035E4870}" srcOrd="1" destOrd="0" presId="urn:microsoft.com/office/officeart/2005/8/layout/vProcess5"/>
    <dgm:cxn modelId="{831AFA67-F33C-4606-8C5D-9DB3356BAC5E}" type="presParOf" srcId="{E218E0F1-97EC-4D60-8F4A-A6E21D910199}" destId="{687FE10D-FB81-4F02-9A29-A6BD7CCF9CE9}" srcOrd="2" destOrd="0" presId="urn:microsoft.com/office/officeart/2005/8/layout/vProcess5"/>
    <dgm:cxn modelId="{0B916F0E-8150-4CB4-8F03-B4E2BD80C3AD}" type="presParOf" srcId="{E218E0F1-97EC-4D60-8F4A-A6E21D910199}" destId="{85E4B9ED-CF8D-48C8-8CEA-F45055B5E99C}" srcOrd="3" destOrd="0" presId="urn:microsoft.com/office/officeart/2005/8/layout/vProcess5"/>
    <dgm:cxn modelId="{D8F0B54D-E396-40BF-BBB5-0F77E1D0CF80}" type="presParOf" srcId="{E218E0F1-97EC-4D60-8F4A-A6E21D910199}" destId="{1735EC21-4E96-4A72-952C-C10F22ABF4D2}" srcOrd="4" destOrd="0" presId="urn:microsoft.com/office/officeart/2005/8/layout/vProcess5"/>
    <dgm:cxn modelId="{86266CF9-5F53-418A-A7DA-3FCFCD444BA6}" type="presParOf" srcId="{E218E0F1-97EC-4D60-8F4A-A6E21D910199}" destId="{EE4F9BE7-38F3-46EB-BBD0-B4E9BFE64613}"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4DB52A-CA4F-4852-B41E-6A1F43CC58F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8BD7C71-8F1B-400D-96A3-6B553A93EB7F}">
      <dgm:prSet custT="1"/>
      <dgm:spPr>
        <a:xfrm>
          <a:off x="0" y="961"/>
          <a:ext cx="6900512" cy="1114229"/>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1 Quick “Think Pair Share” on prior knowledge.</a:t>
          </a:r>
          <a:endParaRPr lang="en-US" sz="2400" dirty="0">
            <a:solidFill>
              <a:sysClr val="windowText" lastClr="000000">
                <a:hueOff val="0"/>
                <a:satOff val="0"/>
                <a:lumOff val="0"/>
                <a:alphaOff val="0"/>
              </a:sysClr>
            </a:solidFill>
            <a:latin typeface="Aptos" panose="02110004020202020204"/>
            <a:ea typeface="+mn-ea"/>
            <a:cs typeface="+mn-cs"/>
          </a:endParaRPr>
        </a:p>
      </dgm:t>
    </dgm:pt>
    <dgm:pt modelId="{BBCFB319-5299-4310-B646-22472DABF40A}" type="parTrans" cxnId="{942D76EB-4E8A-49F9-9193-131FE6139044}">
      <dgm:prSet/>
      <dgm:spPr/>
      <dgm:t>
        <a:bodyPr/>
        <a:lstStyle/>
        <a:p>
          <a:endParaRPr lang="en-US"/>
        </a:p>
      </dgm:t>
    </dgm:pt>
    <dgm:pt modelId="{AF1C4F3A-D240-4EB1-9ECB-2ED225CCC019}" type="sibTrans" cxnId="{942D76EB-4E8A-49F9-9193-131FE6139044}">
      <dgm:prSet/>
      <dgm:spPr/>
      <dgm:t>
        <a:bodyPr/>
        <a:lstStyle/>
        <a:p>
          <a:endParaRPr lang="en-US"/>
        </a:p>
      </dgm:t>
    </dgm:pt>
    <dgm:pt modelId="{311F9A05-A7F4-4328-B319-DBCDF0DF0E82}">
      <dgm:prSet custT="1"/>
      <dgm:spPr>
        <a:xfrm>
          <a:off x="0" y="1115191"/>
          <a:ext cx="6900512" cy="621501"/>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2 Brainstorm real life example.</a:t>
          </a:r>
          <a:endParaRPr lang="en-US" sz="2400" dirty="0">
            <a:solidFill>
              <a:sysClr val="windowText" lastClr="000000">
                <a:hueOff val="0"/>
                <a:satOff val="0"/>
                <a:lumOff val="0"/>
                <a:alphaOff val="0"/>
              </a:sysClr>
            </a:solidFill>
            <a:latin typeface="Aptos" panose="02110004020202020204"/>
            <a:ea typeface="+mn-ea"/>
            <a:cs typeface="+mn-cs"/>
          </a:endParaRPr>
        </a:p>
      </dgm:t>
    </dgm:pt>
    <dgm:pt modelId="{23B85C74-2F21-4685-BD89-BB563657B099}" type="parTrans" cxnId="{6DCFA649-9D6E-469B-AACA-1BA847263E9A}">
      <dgm:prSet/>
      <dgm:spPr/>
      <dgm:t>
        <a:bodyPr/>
        <a:lstStyle/>
        <a:p>
          <a:endParaRPr lang="en-US"/>
        </a:p>
      </dgm:t>
    </dgm:pt>
    <dgm:pt modelId="{91F4A534-BBDE-4EB5-BAE5-EACEB7D0B868}" type="sibTrans" cxnId="{6DCFA649-9D6E-469B-AACA-1BA847263E9A}">
      <dgm:prSet/>
      <dgm:spPr/>
      <dgm:t>
        <a:bodyPr/>
        <a:lstStyle/>
        <a:p>
          <a:endParaRPr lang="en-US"/>
        </a:p>
      </dgm:t>
    </dgm:pt>
    <dgm:pt modelId="{81CB55E0-0FB6-485C-B15D-9BD278F78C6F}">
      <dgm:prSet custT="1"/>
      <dgm:spPr>
        <a:xfrm>
          <a:off x="0" y="1736692"/>
          <a:ext cx="6900512" cy="959083"/>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3 Group work on Ratio, Proportion &amp; Variation, Partnership</a:t>
          </a:r>
          <a:endParaRPr lang="en-US" sz="2400" b="0" dirty="0">
            <a:solidFill>
              <a:sysClr val="windowText" lastClr="000000">
                <a:hueOff val="0"/>
                <a:satOff val="0"/>
                <a:lumOff val="0"/>
                <a:alphaOff val="0"/>
              </a:sysClr>
            </a:solidFill>
            <a:latin typeface="Aptos" panose="02110004020202020204"/>
            <a:ea typeface="+mn-ea"/>
            <a:cs typeface="+mn-cs"/>
          </a:endParaRPr>
        </a:p>
      </dgm:t>
    </dgm:pt>
    <dgm:pt modelId="{81E23C2F-5B75-4C87-B80F-F92D751EF2D3}" type="parTrans" cxnId="{B28E7539-702F-4403-B38C-CCE2EC9E181E}">
      <dgm:prSet/>
      <dgm:spPr/>
      <dgm:t>
        <a:bodyPr/>
        <a:lstStyle/>
        <a:p>
          <a:endParaRPr lang="en-US"/>
        </a:p>
      </dgm:t>
    </dgm:pt>
    <dgm:pt modelId="{CA453529-0F48-4EF3-8F16-E732FB1811C3}" type="sibTrans" cxnId="{B28E7539-702F-4403-B38C-CCE2EC9E181E}">
      <dgm:prSet/>
      <dgm:spPr/>
      <dgm:t>
        <a:bodyPr/>
        <a:lstStyle/>
        <a:p>
          <a:endParaRPr lang="en-US"/>
        </a:p>
      </dgm:t>
    </dgm:pt>
    <dgm:pt modelId="{51474CA9-1ADD-4331-9534-6780C3A18768}">
      <dgm:prSet custT="1"/>
      <dgm:spPr>
        <a:xfrm>
          <a:off x="0" y="2695775"/>
          <a:ext cx="6900512" cy="1306937"/>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4 Solve &amp; discuss word problem on Permutation and Combination</a:t>
          </a:r>
          <a:endParaRPr lang="en-US" sz="2400" dirty="0">
            <a:solidFill>
              <a:sysClr val="windowText" lastClr="000000">
                <a:hueOff val="0"/>
                <a:satOff val="0"/>
                <a:lumOff val="0"/>
                <a:alphaOff val="0"/>
              </a:sysClr>
            </a:solidFill>
            <a:latin typeface="Aptos" panose="02110004020202020204"/>
            <a:ea typeface="+mn-ea"/>
            <a:cs typeface="+mn-cs"/>
          </a:endParaRPr>
        </a:p>
      </dgm:t>
    </dgm:pt>
    <dgm:pt modelId="{BD15203B-A2C4-421B-84CE-AC22CC6E237F}" type="parTrans" cxnId="{C10A2E97-40D9-4123-9647-358E1A64D6C9}">
      <dgm:prSet/>
      <dgm:spPr/>
      <dgm:t>
        <a:bodyPr/>
        <a:lstStyle/>
        <a:p>
          <a:endParaRPr lang="en-US"/>
        </a:p>
      </dgm:t>
    </dgm:pt>
    <dgm:pt modelId="{5FA359DE-6932-424A-BDE2-579D3E29B33A}" type="sibTrans" cxnId="{C10A2E97-40D9-4123-9647-358E1A64D6C9}">
      <dgm:prSet/>
      <dgm:spPr/>
      <dgm:t>
        <a:bodyPr/>
        <a:lstStyle/>
        <a:p>
          <a:endParaRPr lang="en-US"/>
        </a:p>
      </dgm:t>
    </dgm:pt>
    <dgm:pt modelId="{BA2E5375-FD77-47B4-A888-7387932E6D62}">
      <dgm:prSet custT="1"/>
      <dgm:spPr>
        <a:xfrm>
          <a:off x="0" y="4002713"/>
          <a:ext cx="6900512" cy="674941"/>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5 Summarize key takeaways.</a:t>
          </a:r>
          <a:endParaRPr lang="en-US" sz="2400" dirty="0">
            <a:solidFill>
              <a:sysClr val="windowText" lastClr="000000">
                <a:hueOff val="0"/>
                <a:satOff val="0"/>
                <a:lumOff val="0"/>
                <a:alphaOff val="0"/>
              </a:sysClr>
            </a:solidFill>
            <a:latin typeface="Aptos" panose="02110004020202020204"/>
            <a:ea typeface="+mn-ea"/>
            <a:cs typeface="+mn-cs"/>
          </a:endParaRPr>
        </a:p>
      </dgm:t>
    </dgm:pt>
    <dgm:pt modelId="{9F77997F-5AC0-4D93-89AC-B37B7BDB43EF}" type="parTrans" cxnId="{285F19B7-0DE6-4516-940F-56080AC841F9}">
      <dgm:prSet/>
      <dgm:spPr/>
      <dgm:t>
        <a:bodyPr/>
        <a:lstStyle/>
        <a:p>
          <a:endParaRPr lang="en-US"/>
        </a:p>
      </dgm:t>
    </dgm:pt>
    <dgm:pt modelId="{60B3BF56-C21F-456B-A5AC-F5C3D1CA9305}" type="sibTrans" cxnId="{285F19B7-0DE6-4516-940F-56080AC841F9}">
      <dgm:prSet/>
      <dgm:spPr/>
      <dgm:t>
        <a:bodyPr/>
        <a:lstStyle/>
        <a:p>
          <a:endParaRPr lang="en-US"/>
        </a:p>
      </dgm:t>
    </dgm:pt>
    <dgm:pt modelId="{B3A5C720-F6BA-415B-BACC-D6E1E00A3E9C}">
      <dgm:prSet custT="1"/>
      <dgm:spPr>
        <a:xfrm>
          <a:off x="0" y="4677655"/>
          <a:ext cx="6900512" cy="761644"/>
        </a:xfrm>
        <a:prstGeom prst="rect">
          <a:avLst/>
        </a:prstGeom>
        <a:noFill/>
        <a:ln>
          <a:noFill/>
        </a:ln>
        <a:effectLst/>
      </dgm:spPr>
      <dgm:t>
        <a:bodyPr/>
        <a:lstStyle/>
        <a:p>
          <a:pPr>
            <a:buNone/>
          </a:pPr>
          <a:r>
            <a:rPr lang="en-IN" sz="2400" dirty="0">
              <a:solidFill>
                <a:sysClr val="windowText" lastClr="000000">
                  <a:hueOff val="0"/>
                  <a:satOff val="0"/>
                  <a:lumOff val="0"/>
                  <a:alphaOff val="0"/>
                </a:sysClr>
              </a:solidFill>
              <a:latin typeface="Aptos" panose="02110004020202020204"/>
              <a:ea typeface="+mn-ea"/>
              <a:cs typeface="+mn-cs"/>
            </a:rPr>
            <a:t>6 Reinforce learning with quick recap.</a:t>
          </a:r>
          <a:endParaRPr lang="en-US" sz="2400" dirty="0">
            <a:solidFill>
              <a:sysClr val="windowText" lastClr="000000">
                <a:hueOff val="0"/>
                <a:satOff val="0"/>
                <a:lumOff val="0"/>
                <a:alphaOff val="0"/>
              </a:sysClr>
            </a:solidFill>
            <a:latin typeface="Aptos" panose="02110004020202020204"/>
            <a:ea typeface="+mn-ea"/>
            <a:cs typeface="+mn-cs"/>
          </a:endParaRPr>
        </a:p>
      </dgm:t>
    </dgm:pt>
    <dgm:pt modelId="{F429E385-C516-4FAE-9D81-A0D8E294980B}" type="parTrans" cxnId="{0929CE6D-F2B1-4F6D-A0E5-1B096EB2DD2D}">
      <dgm:prSet/>
      <dgm:spPr/>
      <dgm:t>
        <a:bodyPr/>
        <a:lstStyle/>
        <a:p>
          <a:endParaRPr lang="en-US"/>
        </a:p>
      </dgm:t>
    </dgm:pt>
    <dgm:pt modelId="{70FFF6AF-5C8B-41F5-90C8-E0C6F35FD649}" type="sibTrans" cxnId="{0929CE6D-F2B1-4F6D-A0E5-1B096EB2DD2D}">
      <dgm:prSet/>
      <dgm:spPr/>
      <dgm:t>
        <a:bodyPr/>
        <a:lstStyle/>
        <a:p>
          <a:endParaRPr lang="en-US"/>
        </a:p>
      </dgm:t>
    </dgm:pt>
    <dgm:pt modelId="{573103A9-89AC-4873-8CB5-0F4B7370B2E1}" type="pres">
      <dgm:prSet presAssocID="{B64DB52A-CA4F-4852-B41E-6A1F43CC58F9}" presName="vert0" presStyleCnt="0">
        <dgm:presLayoutVars>
          <dgm:dir/>
          <dgm:animOne val="branch"/>
          <dgm:animLvl val="lvl"/>
        </dgm:presLayoutVars>
      </dgm:prSet>
      <dgm:spPr/>
    </dgm:pt>
    <dgm:pt modelId="{6FF76B5C-2320-4CB5-9844-D984662B1716}" type="pres">
      <dgm:prSet presAssocID="{C8BD7C71-8F1B-400D-96A3-6B553A93EB7F}" presName="thickLine" presStyleLbl="alignNode1" presStyleIdx="0" presStyleCnt="6"/>
      <dgm:spPr>
        <a:xfrm>
          <a:off x="0" y="961"/>
          <a:ext cx="6900512" cy="0"/>
        </a:xfrm>
        <a:prstGeom prst="line">
          <a:avLst/>
        </a:prstGeom>
        <a:solidFill>
          <a:srgbClr val="E97132">
            <a:hueOff val="0"/>
            <a:satOff val="0"/>
            <a:lumOff val="0"/>
            <a:alphaOff val="0"/>
          </a:srgbClr>
        </a:solidFill>
        <a:ln w="19050" cap="flat" cmpd="sng" algn="ctr">
          <a:solidFill>
            <a:srgbClr val="E97132">
              <a:hueOff val="0"/>
              <a:satOff val="0"/>
              <a:lumOff val="0"/>
              <a:alphaOff val="0"/>
            </a:srgbClr>
          </a:solidFill>
          <a:prstDash val="solid"/>
          <a:miter lim="800000"/>
        </a:ln>
        <a:effectLst/>
      </dgm:spPr>
    </dgm:pt>
    <dgm:pt modelId="{41C87863-73DE-4F9B-A76B-880D805954CA}" type="pres">
      <dgm:prSet presAssocID="{C8BD7C71-8F1B-400D-96A3-6B553A93EB7F}" presName="horz1" presStyleCnt="0"/>
      <dgm:spPr/>
    </dgm:pt>
    <dgm:pt modelId="{CBF4003A-096B-4C8D-8E4F-9D9EAB681D72}" type="pres">
      <dgm:prSet presAssocID="{C8BD7C71-8F1B-400D-96A3-6B553A93EB7F}" presName="tx1" presStyleLbl="revTx" presStyleIdx="0" presStyleCnt="6" custScaleY="85255"/>
      <dgm:spPr/>
    </dgm:pt>
    <dgm:pt modelId="{608B7948-37DA-4DDD-A56D-16AA8CC3AD50}" type="pres">
      <dgm:prSet presAssocID="{C8BD7C71-8F1B-400D-96A3-6B553A93EB7F}" presName="vert1" presStyleCnt="0"/>
      <dgm:spPr/>
    </dgm:pt>
    <dgm:pt modelId="{F83A5B86-9D43-4C81-A6D4-87875817B689}" type="pres">
      <dgm:prSet presAssocID="{311F9A05-A7F4-4328-B319-DBCDF0DF0E82}" presName="thickLine" presStyleLbl="alignNode1" presStyleIdx="1" presStyleCnt="6"/>
      <dgm:spPr>
        <a:xfrm>
          <a:off x="0" y="1115191"/>
          <a:ext cx="6900512" cy="0"/>
        </a:xfrm>
        <a:prstGeom prst="line">
          <a:avLst/>
        </a:prstGeom>
        <a:solidFill>
          <a:srgbClr val="196B24">
            <a:hueOff val="0"/>
            <a:satOff val="0"/>
            <a:lumOff val="0"/>
            <a:alphaOff val="0"/>
          </a:srgbClr>
        </a:solidFill>
        <a:ln w="19050" cap="flat" cmpd="sng" algn="ctr">
          <a:solidFill>
            <a:srgbClr val="196B24">
              <a:hueOff val="0"/>
              <a:satOff val="0"/>
              <a:lumOff val="0"/>
              <a:alphaOff val="0"/>
            </a:srgbClr>
          </a:solidFill>
          <a:prstDash val="solid"/>
          <a:miter lim="800000"/>
        </a:ln>
        <a:effectLst/>
      </dgm:spPr>
    </dgm:pt>
    <dgm:pt modelId="{3BC975C1-0C99-4F97-8C52-C1CFA0BAF551}" type="pres">
      <dgm:prSet presAssocID="{311F9A05-A7F4-4328-B319-DBCDF0DF0E82}" presName="horz1" presStyleCnt="0"/>
      <dgm:spPr/>
    </dgm:pt>
    <dgm:pt modelId="{7BF0A7F7-0F37-4B11-9AED-B46FE7E128D8}" type="pres">
      <dgm:prSet presAssocID="{311F9A05-A7F4-4328-B319-DBCDF0DF0E82}" presName="tx1" presStyleLbl="revTx" presStyleIdx="1" presStyleCnt="6" custScaleY="47554"/>
      <dgm:spPr/>
    </dgm:pt>
    <dgm:pt modelId="{AA11931C-C560-424D-BE37-4872DC1B2048}" type="pres">
      <dgm:prSet presAssocID="{311F9A05-A7F4-4328-B319-DBCDF0DF0E82}" presName="vert1" presStyleCnt="0"/>
      <dgm:spPr/>
    </dgm:pt>
    <dgm:pt modelId="{7EE56E18-6978-43E9-9D4D-E31AA5BEE441}" type="pres">
      <dgm:prSet presAssocID="{81CB55E0-0FB6-485C-B15D-9BD278F78C6F}" presName="thickLine" presStyleLbl="alignNode1" presStyleIdx="2" presStyleCnt="6"/>
      <dgm:spPr>
        <a:xfrm>
          <a:off x="0" y="1736692"/>
          <a:ext cx="6900512" cy="0"/>
        </a:xfrm>
        <a:prstGeom prst="line">
          <a:avLst/>
        </a:prstGeom>
        <a:solidFill>
          <a:srgbClr val="0F9ED5">
            <a:hueOff val="0"/>
            <a:satOff val="0"/>
            <a:lumOff val="0"/>
            <a:alphaOff val="0"/>
          </a:srgbClr>
        </a:solidFill>
        <a:ln w="19050" cap="flat" cmpd="sng" algn="ctr">
          <a:solidFill>
            <a:srgbClr val="0F9ED5">
              <a:hueOff val="0"/>
              <a:satOff val="0"/>
              <a:lumOff val="0"/>
              <a:alphaOff val="0"/>
            </a:srgbClr>
          </a:solidFill>
          <a:prstDash val="solid"/>
          <a:miter lim="800000"/>
        </a:ln>
        <a:effectLst/>
      </dgm:spPr>
    </dgm:pt>
    <dgm:pt modelId="{447FCB44-517C-43F4-BE59-391C36D21C9C}" type="pres">
      <dgm:prSet presAssocID="{81CB55E0-0FB6-485C-B15D-9BD278F78C6F}" presName="horz1" presStyleCnt="0"/>
      <dgm:spPr/>
    </dgm:pt>
    <dgm:pt modelId="{89436931-860B-40AD-8DCE-CEE0F56E60ED}" type="pres">
      <dgm:prSet presAssocID="{81CB55E0-0FB6-485C-B15D-9BD278F78C6F}" presName="tx1" presStyleLbl="revTx" presStyleIdx="2" presStyleCnt="6" custScaleY="73384"/>
      <dgm:spPr/>
    </dgm:pt>
    <dgm:pt modelId="{0E51C315-1B46-45D6-B4D4-E44AF2F7FE47}" type="pres">
      <dgm:prSet presAssocID="{81CB55E0-0FB6-485C-B15D-9BD278F78C6F}" presName="vert1" presStyleCnt="0"/>
      <dgm:spPr/>
    </dgm:pt>
    <dgm:pt modelId="{B514687E-679F-4404-A929-C733AA004539}" type="pres">
      <dgm:prSet presAssocID="{51474CA9-1ADD-4331-9534-6780C3A18768}" presName="thickLine" presStyleLbl="alignNode1" presStyleIdx="3" presStyleCnt="6"/>
      <dgm:spPr>
        <a:xfrm>
          <a:off x="0" y="2695775"/>
          <a:ext cx="6900512" cy="0"/>
        </a:xfrm>
        <a:prstGeom prst="line">
          <a:avLst/>
        </a:prstGeom>
        <a:solidFill>
          <a:srgbClr val="A02B93">
            <a:hueOff val="0"/>
            <a:satOff val="0"/>
            <a:lumOff val="0"/>
            <a:alphaOff val="0"/>
          </a:srgbClr>
        </a:solidFill>
        <a:ln w="19050" cap="flat" cmpd="sng" algn="ctr">
          <a:solidFill>
            <a:srgbClr val="A02B93">
              <a:hueOff val="0"/>
              <a:satOff val="0"/>
              <a:lumOff val="0"/>
              <a:alphaOff val="0"/>
            </a:srgbClr>
          </a:solidFill>
          <a:prstDash val="solid"/>
          <a:miter lim="800000"/>
        </a:ln>
        <a:effectLst/>
      </dgm:spPr>
    </dgm:pt>
    <dgm:pt modelId="{80414A13-977F-40A0-BF88-8AEFF7DE361E}" type="pres">
      <dgm:prSet presAssocID="{51474CA9-1ADD-4331-9534-6780C3A18768}" presName="horz1" presStyleCnt="0"/>
      <dgm:spPr/>
    </dgm:pt>
    <dgm:pt modelId="{3E95DC57-D848-494F-A343-6CBABA986252}" type="pres">
      <dgm:prSet presAssocID="{51474CA9-1ADD-4331-9534-6780C3A18768}" presName="tx1" presStyleLbl="revTx" presStyleIdx="3" presStyleCnt="6"/>
      <dgm:spPr/>
    </dgm:pt>
    <dgm:pt modelId="{42E34139-9E2B-4ED7-9D4C-0E180FD5C739}" type="pres">
      <dgm:prSet presAssocID="{51474CA9-1ADD-4331-9534-6780C3A18768}" presName="vert1" presStyleCnt="0"/>
      <dgm:spPr/>
    </dgm:pt>
    <dgm:pt modelId="{0B062B2C-FD23-461E-89A1-3ECDF7A567C2}" type="pres">
      <dgm:prSet presAssocID="{BA2E5375-FD77-47B4-A888-7387932E6D62}" presName="thickLine" presStyleLbl="alignNode1" presStyleIdx="4" presStyleCnt="6" custLinFactNeighborY="-52726"/>
      <dgm:spPr>
        <a:xfrm>
          <a:off x="0" y="3646843"/>
          <a:ext cx="6900512" cy="0"/>
        </a:xfrm>
        <a:prstGeom prst="line">
          <a:avLst/>
        </a:prstGeom>
        <a:solidFill>
          <a:srgbClr val="4EA72E">
            <a:hueOff val="0"/>
            <a:satOff val="0"/>
            <a:lumOff val="0"/>
            <a:alphaOff val="0"/>
          </a:srgbClr>
        </a:solidFill>
        <a:ln w="19050" cap="flat" cmpd="sng" algn="ctr">
          <a:solidFill>
            <a:srgbClr val="4EA72E">
              <a:hueOff val="0"/>
              <a:satOff val="0"/>
              <a:lumOff val="0"/>
              <a:alphaOff val="0"/>
            </a:srgbClr>
          </a:solidFill>
          <a:prstDash val="solid"/>
          <a:miter lim="800000"/>
        </a:ln>
        <a:effectLst/>
      </dgm:spPr>
    </dgm:pt>
    <dgm:pt modelId="{1BF4D050-06E8-4B19-AEB8-E6957BD50750}" type="pres">
      <dgm:prSet presAssocID="{BA2E5375-FD77-47B4-A888-7387932E6D62}" presName="horz1" presStyleCnt="0"/>
      <dgm:spPr/>
    </dgm:pt>
    <dgm:pt modelId="{D26876CA-709E-4928-AAF2-4734D1DACD6D}" type="pres">
      <dgm:prSet presAssocID="{BA2E5375-FD77-47B4-A888-7387932E6D62}" presName="tx1" presStyleLbl="revTx" presStyleIdx="4" presStyleCnt="6" custScaleY="51643"/>
      <dgm:spPr/>
    </dgm:pt>
    <dgm:pt modelId="{88DBC881-0983-4C91-8705-CB8A16D50941}" type="pres">
      <dgm:prSet presAssocID="{BA2E5375-FD77-47B4-A888-7387932E6D62}" presName="vert1" presStyleCnt="0"/>
      <dgm:spPr/>
    </dgm:pt>
    <dgm:pt modelId="{2B37DFBD-1045-417A-89DD-348147EAB4F5}" type="pres">
      <dgm:prSet presAssocID="{B3A5C720-F6BA-415B-BACC-D6E1E00A3E9C}" presName="thickLine" presStyleLbl="alignNode1" presStyleIdx="5" presStyleCnt="6" custLinFactNeighborX="648" custLinFactNeighborY="-15472"/>
      <dgm:spPr>
        <a:xfrm>
          <a:off x="0" y="4559813"/>
          <a:ext cx="6900512" cy="0"/>
        </a:xfrm>
        <a:prstGeom prst="line">
          <a:avLst/>
        </a:prstGeom>
        <a:solidFill>
          <a:srgbClr val="E97132">
            <a:hueOff val="0"/>
            <a:satOff val="0"/>
            <a:lumOff val="0"/>
            <a:alphaOff val="0"/>
          </a:srgbClr>
        </a:solidFill>
        <a:ln w="19050" cap="flat" cmpd="sng" algn="ctr">
          <a:solidFill>
            <a:srgbClr val="E97132">
              <a:hueOff val="0"/>
              <a:satOff val="0"/>
              <a:lumOff val="0"/>
              <a:alphaOff val="0"/>
            </a:srgbClr>
          </a:solidFill>
          <a:prstDash val="solid"/>
          <a:miter lim="800000"/>
        </a:ln>
        <a:effectLst/>
      </dgm:spPr>
    </dgm:pt>
    <dgm:pt modelId="{37DCFB0B-1A16-4C35-A117-077E4A9AB132}" type="pres">
      <dgm:prSet presAssocID="{B3A5C720-F6BA-415B-BACC-D6E1E00A3E9C}" presName="horz1" presStyleCnt="0"/>
      <dgm:spPr/>
    </dgm:pt>
    <dgm:pt modelId="{1DE32878-1683-410B-AEEA-0DF09EA5FA62}" type="pres">
      <dgm:prSet presAssocID="{B3A5C720-F6BA-415B-BACC-D6E1E00A3E9C}" presName="tx1" presStyleLbl="revTx" presStyleIdx="5" presStyleCnt="6" custScaleY="58277"/>
      <dgm:spPr/>
    </dgm:pt>
    <dgm:pt modelId="{41D82D7D-82CC-403F-8FAA-7EF8B4434DBF}" type="pres">
      <dgm:prSet presAssocID="{B3A5C720-F6BA-415B-BACC-D6E1E00A3E9C}" presName="vert1" presStyleCnt="0"/>
      <dgm:spPr/>
    </dgm:pt>
  </dgm:ptLst>
  <dgm:cxnLst>
    <dgm:cxn modelId="{3B1CB311-EF72-4E26-8EA0-6E9C87F189B2}" type="presOf" srcId="{BA2E5375-FD77-47B4-A888-7387932E6D62}" destId="{D26876CA-709E-4928-AAF2-4734D1DACD6D}" srcOrd="0" destOrd="0" presId="urn:microsoft.com/office/officeart/2008/layout/LinedList"/>
    <dgm:cxn modelId="{95975833-F91F-4D04-9B09-5E1249A0E271}" type="presOf" srcId="{81CB55E0-0FB6-485C-B15D-9BD278F78C6F}" destId="{89436931-860B-40AD-8DCE-CEE0F56E60ED}" srcOrd="0" destOrd="0" presId="urn:microsoft.com/office/officeart/2008/layout/LinedList"/>
    <dgm:cxn modelId="{B28E7539-702F-4403-B38C-CCE2EC9E181E}" srcId="{B64DB52A-CA4F-4852-B41E-6A1F43CC58F9}" destId="{81CB55E0-0FB6-485C-B15D-9BD278F78C6F}" srcOrd="2" destOrd="0" parTransId="{81E23C2F-5B75-4C87-B80F-F92D751EF2D3}" sibTransId="{CA453529-0F48-4EF3-8F16-E732FB1811C3}"/>
    <dgm:cxn modelId="{6DCFA649-9D6E-469B-AACA-1BA847263E9A}" srcId="{B64DB52A-CA4F-4852-B41E-6A1F43CC58F9}" destId="{311F9A05-A7F4-4328-B319-DBCDF0DF0E82}" srcOrd="1" destOrd="0" parTransId="{23B85C74-2F21-4685-BD89-BB563657B099}" sibTransId="{91F4A534-BBDE-4EB5-BAE5-EACEB7D0B868}"/>
    <dgm:cxn modelId="{0929CE6D-F2B1-4F6D-A0E5-1B096EB2DD2D}" srcId="{B64DB52A-CA4F-4852-B41E-6A1F43CC58F9}" destId="{B3A5C720-F6BA-415B-BACC-D6E1E00A3E9C}" srcOrd="5" destOrd="0" parTransId="{F429E385-C516-4FAE-9D81-A0D8E294980B}" sibTransId="{70FFF6AF-5C8B-41F5-90C8-E0C6F35FD649}"/>
    <dgm:cxn modelId="{C35FD970-9787-4280-8407-38C626919E95}" type="presOf" srcId="{311F9A05-A7F4-4328-B319-DBCDF0DF0E82}" destId="{7BF0A7F7-0F37-4B11-9AED-B46FE7E128D8}" srcOrd="0" destOrd="0" presId="urn:microsoft.com/office/officeart/2008/layout/LinedList"/>
    <dgm:cxn modelId="{5FF99A79-9937-437B-8095-1EF259A87DAA}" type="presOf" srcId="{C8BD7C71-8F1B-400D-96A3-6B553A93EB7F}" destId="{CBF4003A-096B-4C8D-8E4F-9D9EAB681D72}" srcOrd="0" destOrd="0" presId="urn:microsoft.com/office/officeart/2008/layout/LinedList"/>
    <dgm:cxn modelId="{C10A2E97-40D9-4123-9647-358E1A64D6C9}" srcId="{B64DB52A-CA4F-4852-B41E-6A1F43CC58F9}" destId="{51474CA9-1ADD-4331-9534-6780C3A18768}" srcOrd="3" destOrd="0" parTransId="{BD15203B-A2C4-421B-84CE-AC22CC6E237F}" sibTransId="{5FA359DE-6932-424A-BDE2-579D3E29B33A}"/>
    <dgm:cxn modelId="{285F19B7-0DE6-4516-940F-56080AC841F9}" srcId="{B64DB52A-CA4F-4852-B41E-6A1F43CC58F9}" destId="{BA2E5375-FD77-47B4-A888-7387932E6D62}" srcOrd="4" destOrd="0" parTransId="{9F77997F-5AC0-4D93-89AC-B37B7BDB43EF}" sibTransId="{60B3BF56-C21F-456B-A5AC-F5C3D1CA9305}"/>
    <dgm:cxn modelId="{0330C0C7-6F52-4EDF-ADAB-04DD4FA2F850}" type="presOf" srcId="{B3A5C720-F6BA-415B-BACC-D6E1E00A3E9C}" destId="{1DE32878-1683-410B-AEEA-0DF09EA5FA62}" srcOrd="0" destOrd="0" presId="urn:microsoft.com/office/officeart/2008/layout/LinedList"/>
    <dgm:cxn modelId="{A4C535C9-34F3-4A13-AD31-29EDCE7118F1}" type="presOf" srcId="{B64DB52A-CA4F-4852-B41E-6A1F43CC58F9}" destId="{573103A9-89AC-4873-8CB5-0F4B7370B2E1}" srcOrd="0" destOrd="0" presId="urn:microsoft.com/office/officeart/2008/layout/LinedList"/>
    <dgm:cxn modelId="{942D76EB-4E8A-49F9-9193-131FE6139044}" srcId="{B64DB52A-CA4F-4852-B41E-6A1F43CC58F9}" destId="{C8BD7C71-8F1B-400D-96A3-6B553A93EB7F}" srcOrd="0" destOrd="0" parTransId="{BBCFB319-5299-4310-B646-22472DABF40A}" sibTransId="{AF1C4F3A-D240-4EB1-9ECB-2ED225CCC019}"/>
    <dgm:cxn modelId="{DF92ADFD-4B01-4BA4-B8F6-85619019D8FA}" type="presOf" srcId="{51474CA9-1ADD-4331-9534-6780C3A18768}" destId="{3E95DC57-D848-494F-A343-6CBABA986252}" srcOrd="0" destOrd="0" presId="urn:microsoft.com/office/officeart/2008/layout/LinedList"/>
    <dgm:cxn modelId="{C78FEE47-53C0-4EE0-AF0F-8FC7772FA1B0}" type="presParOf" srcId="{573103A9-89AC-4873-8CB5-0F4B7370B2E1}" destId="{6FF76B5C-2320-4CB5-9844-D984662B1716}" srcOrd="0" destOrd="0" presId="urn:microsoft.com/office/officeart/2008/layout/LinedList"/>
    <dgm:cxn modelId="{B4763E87-5724-4987-B5C4-418BA22DD416}" type="presParOf" srcId="{573103A9-89AC-4873-8CB5-0F4B7370B2E1}" destId="{41C87863-73DE-4F9B-A76B-880D805954CA}" srcOrd="1" destOrd="0" presId="urn:microsoft.com/office/officeart/2008/layout/LinedList"/>
    <dgm:cxn modelId="{35FD4A6D-A9EE-4EC9-8E2D-1C9F54BD7B03}" type="presParOf" srcId="{41C87863-73DE-4F9B-A76B-880D805954CA}" destId="{CBF4003A-096B-4C8D-8E4F-9D9EAB681D72}" srcOrd="0" destOrd="0" presId="urn:microsoft.com/office/officeart/2008/layout/LinedList"/>
    <dgm:cxn modelId="{BC10CDC7-0A23-4BB4-8DD6-2E979F4509C5}" type="presParOf" srcId="{41C87863-73DE-4F9B-A76B-880D805954CA}" destId="{608B7948-37DA-4DDD-A56D-16AA8CC3AD50}" srcOrd="1" destOrd="0" presId="urn:microsoft.com/office/officeart/2008/layout/LinedList"/>
    <dgm:cxn modelId="{195C4955-5317-4B22-8D2C-48A21CCE3EDE}" type="presParOf" srcId="{573103A9-89AC-4873-8CB5-0F4B7370B2E1}" destId="{F83A5B86-9D43-4C81-A6D4-87875817B689}" srcOrd="2" destOrd="0" presId="urn:microsoft.com/office/officeart/2008/layout/LinedList"/>
    <dgm:cxn modelId="{ABD0AF5F-37EE-42B7-9099-7FDFF356E16E}" type="presParOf" srcId="{573103A9-89AC-4873-8CB5-0F4B7370B2E1}" destId="{3BC975C1-0C99-4F97-8C52-C1CFA0BAF551}" srcOrd="3" destOrd="0" presId="urn:microsoft.com/office/officeart/2008/layout/LinedList"/>
    <dgm:cxn modelId="{7BC3D897-A0F0-4A7B-A9A6-848001EDD3D2}" type="presParOf" srcId="{3BC975C1-0C99-4F97-8C52-C1CFA0BAF551}" destId="{7BF0A7F7-0F37-4B11-9AED-B46FE7E128D8}" srcOrd="0" destOrd="0" presId="urn:microsoft.com/office/officeart/2008/layout/LinedList"/>
    <dgm:cxn modelId="{A84EDA8A-FCAA-481E-B2E8-F12F956BCEC7}" type="presParOf" srcId="{3BC975C1-0C99-4F97-8C52-C1CFA0BAF551}" destId="{AA11931C-C560-424D-BE37-4872DC1B2048}" srcOrd="1" destOrd="0" presId="urn:microsoft.com/office/officeart/2008/layout/LinedList"/>
    <dgm:cxn modelId="{E8767153-6780-4602-8F0D-40258D6BB60C}" type="presParOf" srcId="{573103A9-89AC-4873-8CB5-0F4B7370B2E1}" destId="{7EE56E18-6978-43E9-9D4D-E31AA5BEE441}" srcOrd="4" destOrd="0" presId="urn:microsoft.com/office/officeart/2008/layout/LinedList"/>
    <dgm:cxn modelId="{A088281E-B65D-4A83-BC70-7A47B3FADE05}" type="presParOf" srcId="{573103A9-89AC-4873-8CB5-0F4B7370B2E1}" destId="{447FCB44-517C-43F4-BE59-391C36D21C9C}" srcOrd="5" destOrd="0" presId="urn:microsoft.com/office/officeart/2008/layout/LinedList"/>
    <dgm:cxn modelId="{31586E95-8E0D-4E74-BA58-BE9F696A6F46}" type="presParOf" srcId="{447FCB44-517C-43F4-BE59-391C36D21C9C}" destId="{89436931-860B-40AD-8DCE-CEE0F56E60ED}" srcOrd="0" destOrd="0" presId="urn:microsoft.com/office/officeart/2008/layout/LinedList"/>
    <dgm:cxn modelId="{18CFC8CA-261D-4C49-AA52-616CEC7CBF73}" type="presParOf" srcId="{447FCB44-517C-43F4-BE59-391C36D21C9C}" destId="{0E51C315-1B46-45D6-B4D4-E44AF2F7FE47}" srcOrd="1" destOrd="0" presId="urn:microsoft.com/office/officeart/2008/layout/LinedList"/>
    <dgm:cxn modelId="{EA975E0B-DD8B-4752-BCFB-7353890EF54F}" type="presParOf" srcId="{573103A9-89AC-4873-8CB5-0F4B7370B2E1}" destId="{B514687E-679F-4404-A929-C733AA004539}" srcOrd="6" destOrd="0" presId="urn:microsoft.com/office/officeart/2008/layout/LinedList"/>
    <dgm:cxn modelId="{EA756B3C-AF5C-4AD3-A5E7-56B0A49BA8E4}" type="presParOf" srcId="{573103A9-89AC-4873-8CB5-0F4B7370B2E1}" destId="{80414A13-977F-40A0-BF88-8AEFF7DE361E}" srcOrd="7" destOrd="0" presId="urn:microsoft.com/office/officeart/2008/layout/LinedList"/>
    <dgm:cxn modelId="{74311ACC-A973-41CE-AA06-4277A874A547}" type="presParOf" srcId="{80414A13-977F-40A0-BF88-8AEFF7DE361E}" destId="{3E95DC57-D848-494F-A343-6CBABA986252}" srcOrd="0" destOrd="0" presId="urn:microsoft.com/office/officeart/2008/layout/LinedList"/>
    <dgm:cxn modelId="{CF2CA873-3C23-47BC-BE53-70DC707FF614}" type="presParOf" srcId="{80414A13-977F-40A0-BF88-8AEFF7DE361E}" destId="{42E34139-9E2B-4ED7-9D4C-0E180FD5C739}" srcOrd="1" destOrd="0" presId="urn:microsoft.com/office/officeart/2008/layout/LinedList"/>
    <dgm:cxn modelId="{2958CE81-6359-4165-98E2-0A6289A97A40}" type="presParOf" srcId="{573103A9-89AC-4873-8CB5-0F4B7370B2E1}" destId="{0B062B2C-FD23-461E-89A1-3ECDF7A567C2}" srcOrd="8" destOrd="0" presId="urn:microsoft.com/office/officeart/2008/layout/LinedList"/>
    <dgm:cxn modelId="{8BBF5EFC-1017-4AFF-A075-B4F0A5546313}" type="presParOf" srcId="{573103A9-89AC-4873-8CB5-0F4B7370B2E1}" destId="{1BF4D050-06E8-4B19-AEB8-E6957BD50750}" srcOrd="9" destOrd="0" presId="urn:microsoft.com/office/officeart/2008/layout/LinedList"/>
    <dgm:cxn modelId="{3103604C-292B-40A4-BE5D-32B482F67E7B}" type="presParOf" srcId="{1BF4D050-06E8-4B19-AEB8-E6957BD50750}" destId="{D26876CA-709E-4928-AAF2-4734D1DACD6D}" srcOrd="0" destOrd="0" presId="urn:microsoft.com/office/officeart/2008/layout/LinedList"/>
    <dgm:cxn modelId="{2B2C6BF7-100E-4CF1-8B14-D4214F33F58A}" type="presParOf" srcId="{1BF4D050-06E8-4B19-AEB8-E6957BD50750}" destId="{88DBC881-0983-4C91-8705-CB8A16D50941}" srcOrd="1" destOrd="0" presId="urn:microsoft.com/office/officeart/2008/layout/LinedList"/>
    <dgm:cxn modelId="{AD9B03A8-D676-472E-8FDB-8906721A259E}" type="presParOf" srcId="{573103A9-89AC-4873-8CB5-0F4B7370B2E1}" destId="{2B37DFBD-1045-417A-89DD-348147EAB4F5}" srcOrd="10" destOrd="0" presId="urn:microsoft.com/office/officeart/2008/layout/LinedList"/>
    <dgm:cxn modelId="{C0BBABAA-46CA-4FC6-A254-411FE0D96B80}" type="presParOf" srcId="{573103A9-89AC-4873-8CB5-0F4B7370B2E1}" destId="{37DCFB0B-1A16-4C35-A117-077E4A9AB132}" srcOrd="11" destOrd="0" presId="urn:microsoft.com/office/officeart/2008/layout/LinedList"/>
    <dgm:cxn modelId="{A65638F8-E963-4670-B7B9-05C009E87562}" type="presParOf" srcId="{37DCFB0B-1A16-4C35-A117-077E4A9AB132}" destId="{1DE32878-1683-410B-AEEA-0DF09EA5FA62}" srcOrd="0" destOrd="0" presId="urn:microsoft.com/office/officeart/2008/layout/LinedList"/>
    <dgm:cxn modelId="{AFF465F2-B3D5-499A-9204-87B42927E860}" type="presParOf" srcId="{37DCFB0B-1A16-4C35-A117-077E4A9AB132}" destId="{41D82D7D-82CC-403F-8FAA-7EF8B4434DB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C2421-F3A3-4200-BBF6-50F7035E4870}">
      <dsp:nvSpPr>
        <dsp:cNvPr id="0" name=""/>
        <dsp:cNvSpPr/>
      </dsp:nvSpPr>
      <dsp:spPr>
        <a:xfrm>
          <a:off x="0" y="0"/>
          <a:ext cx="9577022" cy="2288783"/>
        </a:xfrm>
        <a:prstGeom prst="roundRect">
          <a:avLst>
            <a:gd name="adj" fmla="val 10000"/>
          </a:avLst>
        </a:prstGeom>
        <a:solidFill>
          <a:srgbClr val="E97132">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dirty="0">
              <a:solidFill>
                <a:sysClr val="window" lastClr="FFFFFF"/>
              </a:solidFill>
              <a:latin typeface="Aptos" panose="02110004020202020204"/>
              <a:ea typeface="+mn-ea"/>
              <a:cs typeface="+mn-cs"/>
            </a:rPr>
            <a:t>Learning Outcome 1</a:t>
          </a:r>
          <a:r>
            <a:rPr lang="en-IN" sz="3300" kern="1200" dirty="0">
              <a:solidFill>
                <a:sysClr val="window" lastClr="FFFFFF"/>
              </a:solidFill>
              <a:latin typeface="Aptos" panose="02110004020202020204"/>
              <a:ea typeface="+mn-ea"/>
              <a:cs typeface="+mn-cs"/>
            </a:rPr>
            <a:t>:</a:t>
          </a:r>
          <a:r>
            <a:rPr lang="en-US" sz="3300" kern="1200" dirty="0">
              <a:solidFill>
                <a:sysClr val="window" lastClr="FFFFFF"/>
              </a:solidFill>
              <a:latin typeface="Aptos" panose="02110004020202020204"/>
              <a:ea typeface="+mn-ea"/>
              <a:cs typeface="+mn-cs"/>
            </a:rPr>
            <a:t>Understand the concepts of ratio and proportion, and apply them to compare quantities effectively.</a:t>
          </a:r>
        </a:p>
      </dsp:txBody>
      <dsp:txXfrm>
        <a:off x="67036" y="67036"/>
        <a:ext cx="7211386" cy="2154711"/>
      </dsp:txXfrm>
    </dsp:sp>
    <dsp:sp modelId="{687FE10D-FB81-4F02-9A29-A6BD7CCF9CE9}">
      <dsp:nvSpPr>
        <dsp:cNvPr id="0" name=""/>
        <dsp:cNvSpPr/>
      </dsp:nvSpPr>
      <dsp:spPr>
        <a:xfrm>
          <a:off x="1690062" y="2797401"/>
          <a:ext cx="9577022" cy="2288783"/>
        </a:xfrm>
        <a:prstGeom prst="roundRect">
          <a:avLst>
            <a:gd name="adj" fmla="val 10000"/>
          </a:avLst>
        </a:prstGeom>
        <a:solidFill>
          <a:srgbClr val="E97132">
            <a:hueOff val="6443614"/>
            <a:satOff val="-18493"/>
            <a:lumOff val="-29609"/>
            <a:alphaOff val="0"/>
          </a:srgbClr>
        </a:solidFill>
        <a:ln w="1905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dirty="0">
              <a:solidFill>
                <a:sysClr val="window" lastClr="FFFFFF"/>
              </a:solidFill>
              <a:latin typeface="Aptos" panose="02110004020202020204"/>
              <a:ea typeface="+mn-ea"/>
              <a:cs typeface="+mn-cs"/>
            </a:rPr>
            <a:t>Learning Outcome 2</a:t>
          </a:r>
          <a:r>
            <a:rPr lang="en-IN" sz="3300" kern="1200" dirty="0">
              <a:solidFill>
                <a:sysClr val="window" lastClr="FFFFFF"/>
              </a:solidFill>
              <a:latin typeface="Aptos" panose="02110004020202020204"/>
              <a:ea typeface="+mn-ea"/>
              <a:cs typeface="+mn-cs"/>
            </a:rPr>
            <a:t>: </a:t>
          </a:r>
          <a:r>
            <a:rPr lang="en-US" sz="3300" kern="1200" dirty="0">
              <a:solidFill>
                <a:sysClr val="window" lastClr="FFFFFF"/>
              </a:solidFill>
              <a:latin typeface="Aptos" panose="02110004020202020204"/>
              <a:ea typeface="+mn-ea"/>
              <a:cs typeface="+mn-cs"/>
            </a:rPr>
            <a:t>Solve problems based on direct and inverse proportions in real-life and aptitude scenarios.</a:t>
          </a:r>
        </a:p>
      </dsp:txBody>
      <dsp:txXfrm>
        <a:off x="1757098" y="2864437"/>
        <a:ext cx="6265178" cy="2154711"/>
      </dsp:txXfrm>
    </dsp:sp>
    <dsp:sp modelId="{85E4B9ED-CF8D-48C8-8CEA-F45055B5E99C}">
      <dsp:nvSpPr>
        <dsp:cNvPr id="0" name=""/>
        <dsp:cNvSpPr/>
      </dsp:nvSpPr>
      <dsp:spPr>
        <a:xfrm>
          <a:off x="8089313" y="1799237"/>
          <a:ext cx="1487709" cy="1487709"/>
        </a:xfrm>
        <a:prstGeom prst="downArrow">
          <a:avLst>
            <a:gd name="adj1" fmla="val 55000"/>
            <a:gd name="adj2" fmla="val 45000"/>
          </a:avLst>
        </a:prstGeom>
        <a:solidFill>
          <a:srgbClr val="E97132">
            <a:tint val="40000"/>
            <a:alpha val="90000"/>
            <a:hueOff val="0"/>
            <a:satOff val="0"/>
            <a:lumOff val="0"/>
            <a:alphaOff val="0"/>
          </a:srgbClr>
        </a:solidFill>
        <a:ln w="19050" cap="flat" cmpd="sng" algn="ctr">
          <a:solidFill>
            <a:srgbClr val="E97132">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solidFill>
              <a:sysClr val="windowText" lastClr="000000">
                <a:hueOff val="0"/>
                <a:satOff val="0"/>
                <a:lumOff val="0"/>
                <a:alphaOff val="0"/>
              </a:sysClr>
            </a:solidFill>
            <a:latin typeface="Aptos" panose="02110004020202020204"/>
            <a:ea typeface="+mn-ea"/>
            <a:cs typeface="+mn-cs"/>
          </a:endParaRPr>
        </a:p>
      </dsp:txBody>
      <dsp:txXfrm>
        <a:off x="8424048" y="1799237"/>
        <a:ext cx="818239" cy="11195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76B5C-2320-4CB5-9844-D984662B1716}">
      <dsp:nvSpPr>
        <dsp:cNvPr id="0" name=""/>
        <dsp:cNvSpPr/>
      </dsp:nvSpPr>
      <dsp:spPr>
        <a:xfrm>
          <a:off x="0" y="961"/>
          <a:ext cx="6900512" cy="0"/>
        </a:xfrm>
        <a:prstGeom prst="line">
          <a:avLst/>
        </a:prstGeom>
        <a:solidFill>
          <a:srgbClr val="E97132">
            <a:hueOff val="0"/>
            <a:satOff val="0"/>
            <a:lumOff val="0"/>
            <a:alphaOff val="0"/>
          </a:srgbClr>
        </a:solidFill>
        <a:ln w="19050" cap="flat" cmpd="sng" algn="ctr">
          <a:solidFill>
            <a:srgbClr val="E9713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003A-096B-4C8D-8E4F-9D9EAB681D72}">
      <dsp:nvSpPr>
        <dsp:cNvPr id="0" name=""/>
        <dsp:cNvSpPr/>
      </dsp:nvSpPr>
      <dsp:spPr>
        <a:xfrm>
          <a:off x="0" y="961"/>
          <a:ext cx="6900512" cy="11142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1 Quick “Think Pair Share” on prior knowledge.</a:t>
          </a:r>
          <a:endParaRPr lang="en-US" sz="2400" kern="1200" dirty="0">
            <a:solidFill>
              <a:sysClr val="windowText" lastClr="000000">
                <a:hueOff val="0"/>
                <a:satOff val="0"/>
                <a:lumOff val="0"/>
                <a:alphaOff val="0"/>
              </a:sysClr>
            </a:solidFill>
            <a:latin typeface="Aptos" panose="02110004020202020204"/>
            <a:ea typeface="+mn-ea"/>
            <a:cs typeface="+mn-cs"/>
          </a:endParaRPr>
        </a:p>
      </dsp:txBody>
      <dsp:txXfrm>
        <a:off x="0" y="961"/>
        <a:ext cx="6900512" cy="1114229"/>
      </dsp:txXfrm>
    </dsp:sp>
    <dsp:sp modelId="{F83A5B86-9D43-4C81-A6D4-87875817B689}">
      <dsp:nvSpPr>
        <dsp:cNvPr id="0" name=""/>
        <dsp:cNvSpPr/>
      </dsp:nvSpPr>
      <dsp:spPr>
        <a:xfrm>
          <a:off x="0" y="1115191"/>
          <a:ext cx="6900512" cy="0"/>
        </a:xfrm>
        <a:prstGeom prst="line">
          <a:avLst/>
        </a:prstGeom>
        <a:solidFill>
          <a:srgbClr val="196B24">
            <a:hueOff val="0"/>
            <a:satOff val="0"/>
            <a:lumOff val="0"/>
            <a:alphaOff val="0"/>
          </a:srgbClr>
        </a:solidFill>
        <a:ln w="19050" cap="flat" cmpd="sng" algn="ctr">
          <a:solidFill>
            <a:srgbClr val="196B2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0A7F7-0F37-4B11-9AED-B46FE7E128D8}">
      <dsp:nvSpPr>
        <dsp:cNvPr id="0" name=""/>
        <dsp:cNvSpPr/>
      </dsp:nvSpPr>
      <dsp:spPr>
        <a:xfrm>
          <a:off x="0" y="1115191"/>
          <a:ext cx="6900512" cy="621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2 Brainstorm real life example.</a:t>
          </a:r>
          <a:endParaRPr lang="en-US" sz="2400" kern="1200" dirty="0">
            <a:solidFill>
              <a:sysClr val="windowText" lastClr="000000">
                <a:hueOff val="0"/>
                <a:satOff val="0"/>
                <a:lumOff val="0"/>
                <a:alphaOff val="0"/>
              </a:sysClr>
            </a:solidFill>
            <a:latin typeface="Aptos" panose="02110004020202020204"/>
            <a:ea typeface="+mn-ea"/>
            <a:cs typeface="+mn-cs"/>
          </a:endParaRPr>
        </a:p>
      </dsp:txBody>
      <dsp:txXfrm>
        <a:off x="0" y="1115191"/>
        <a:ext cx="6900512" cy="621501"/>
      </dsp:txXfrm>
    </dsp:sp>
    <dsp:sp modelId="{7EE56E18-6978-43E9-9D4D-E31AA5BEE441}">
      <dsp:nvSpPr>
        <dsp:cNvPr id="0" name=""/>
        <dsp:cNvSpPr/>
      </dsp:nvSpPr>
      <dsp:spPr>
        <a:xfrm>
          <a:off x="0" y="1736692"/>
          <a:ext cx="6900512" cy="0"/>
        </a:xfrm>
        <a:prstGeom prst="line">
          <a:avLst/>
        </a:prstGeom>
        <a:solidFill>
          <a:srgbClr val="0F9ED5">
            <a:hueOff val="0"/>
            <a:satOff val="0"/>
            <a:lumOff val="0"/>
            <a:alphaOff val="0"/>
          </a:srgbClr>
        </a:solidFill>
        <a:ln w="19050" cap="flat" cmpd="sng" algn="ctr">
          <a:solidFill>
            <a:srgbClr val="0F9ED5">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36931-860B-40AD-8DCE-CEE0F56E60ED}">
      <dsp:nvSpPr>
        <dsp:cNvPr id="0" name=""/>
        <dsp:cNvSpPr/>
      </dsp:nvSpPr>
      <dsp:spPr>
        <a:xfrm>
          <a:off x="0" y="1736692"/>
          <a:ext cx="6900512" cy="9590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3 Group work on Ratio, Proportion &amp; Variation, Partnership</a:t>
          </a:r>
          <a:endParaRPr lang="en-US" sz="2400" b="0" kern="1200" dirty="0">
            <a:solidFill>
              <a:sysClr val="windowText" lastClr="000000">
                <a:hueOff val="0"/>
                <a:satOff val="0"/>
                <a:lumOff val="0"/>
                <a:alphaOff val="0"/>
              </a:sysClr>
            </a:solidFill>
            <a:latin typeface="Aptos" panose="02110004020202020204"/>
            <a:ea typeface="+mn-ea"/>
            <a:cs typeface="+mn-cs"/>
          </a:endParaRPr>
        </a:p>
      </dsp:txBody>
      <dsp:txXfrm>
        <a:off x="0" y="1736692"/>
        <a:ext cx="6900512" cy="959083"/>
      </dsp:txXfrm>
    </dsp:sp>
    <dsp:sp modelId="{B514687E-679F-4404-A929-C733AA004539}">
      <dsp:nvSpPr>
        <dsp:cNvPr id="0" name=""/>
        <dsp:cNvSpPr/>
      </dsp:nvSpPr>
      <dsp:spPr>
        <a:xfrm>
          <a:off x="0" y="2695775"/>
          <a:ext cx="6900512" cy="0"/>
        </a:xfrm>
        <a:prstGeom prst="line">
          <a:avLst/>
        </a:prstGeom>
        <a:solidFill>
          <a:srgbClr val="A02B93">
            <a:hueOff val="0"/>
            <a:satOff val="0"/>
            <a:lumOff val="0"/>
            <a:alphaOff val="0"/>
          </a:srgbClr>
        </a:solidFill>
        <a:ln w="19050" cap="flat" cmpd="sng" algn="ctr">
          <a:solidFill>
            <a:srgbClr val="A02B93">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95DC57-D848-494F-A343-6CBABA986252}">
      <dsp:nvSpPr>
        <dsp:cNvPr id="0" name=""/>
        <dsp:cNvSpPr/>
      </dsp:nvSpPr>
      <dsp:spPr>
        <a:xfrm>
          <a:off x="0" y="2695775"/>
          <a:ext cx="6900512" cy="1306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4 Solve &amp; discuss word problem on Permutation and Combination</a:t>
          </a:r>
          <a:endParaRPr lang="en-US" sz="2400" kern="1200" dirty="0">
            <a:solidFill>
              <a:sysClr val="windowText" lastClr="000000">
                <a:hueOff val="0"/>
                <a:satOff val="0"/>
                <a:lumOff val="0"/>
                <a:alphaOff val="0"/>
              </a:sysClr>
            </a:solidFill>
            <a:latin typeface="Aptos" panose="02110004020202020204"/>
            <a:ea typeface="+mn-ea"/>
            <a:cs typeface="+mn-cs"/>
          </a:endParaRPr>
        </a:p>
      </dsp:txBody>
      <dsp:txXfrm>
        <a:off x="0" y="2695775"/>
        <a:ext cx="6900512" cy="1306937"/>
      </dsp:txXfrm>
    </dsp:sp>
    <dsp:sp modelId="{0B062B2C-FD23-461E-89A1-3ECDF7A567C2}">
      <dsp:nvSpPr>
        <dsp:cNvPr id="0" name=""/>
        <dsp:cNvSpPr/>
      </dsp:nvSpPr>
      <dsp:spPr>
        <a:xfrm>
          <a:off x="0" y="3646843"/>
          <a:ext cx="6900512" cy="0"/>
        </a:xfrm>
        <a:prstGeom prst="line">
          <a:avLst/>
        </a:prstGeom>
        <a:solidFill>
          <a:srgbClr val="4EA72E">
            <a:hueOff val="0"/>
            <a:satOff val="0"/>
            <a:lumOff val="0"/>
            <a:alphaOff val="0"/>
          </a:srgbClr>
        </a:solidFill>
        <a:ln w="19050" cap="flat" cmpd="sng" algn="ctr">
          <a:solidFill>
            <a:srgbClr val="4EA72E">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876CA-709E-4928-AAF2-4734D1DACD6D}">
      <dsp:nvSpPr>
        <dsp:cNvPr id="0" name=""/>
        <dsp:cNvSpPr/>
      </dsp:nvSpPr>
      <dsp:spPr>
        <a:xfrm>
          <a:off x="0" y="4002713"/>
          <a:ext cx="6900512" cy="674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5 Summarize key takeaways.</a:t>
          </a:r>
          <a:endParaRPr lang="en-US" sz="2400" kern="1200" dirty="0">
            <a:solidFill>
              <a:sysClr val="windowText" lastClr="000000">
                <a:hueOff val="0"/>
                <a:satOff val="0"/>
                <a:lumOff val="0"/>
                <a:alphaOff val="0"/>
              </a:sysClr>
            </a:solidFill>
            <a:latin typeface="Aptos" panose="02110004020202020204"/>
            <a:ea typeface="+mn-ea"/>
            <a:cs typeface="+mn-cs"/>
          </a:endParaRPr>
        </a:p>
      </dsp:txBody>
      <dsp:txXfrm>
        <a:off x="0" y="4002713"/>
        <a:ext cx="6900512" cy="674941"/>
      </dsp:txXfrm>
    </dsp:sp>
    <dsp:sp modelId="{2B37DFBD-1045-417A-89DD-348147EAB4F5}">
      <dsp:nvSpPr>
        <dsp:cNvPr id="0" name=""/>
        <dsp:cNvSpPr/>
      </dsp:nvSpPr>
      <dsp:spPr>
        <a:xfrm>
          <a:off x="0" y="4559813"/>
          <a:ext cx="6900512" cy="0"/>
        </a:xfrm>
        <a:prstGeom prst="line">
          <a:avLst/>
        </a:prstGeom>
        <a:solidFill>
          <a:srgbClr val="E97132">
            <a:hueOff val="0"/>
            <a:satOff val="0"/>
            <a:lumOff val="0"/>
            <a:alphaOff val="0"/>
          </a:srgbClr>
        </a:solidFill>
        <a:ln w="19050" cap="flat" cmpd="sng" algn="ctr">
          <a:solidFill>
            <a:srgbClr val="E97132">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E32878-1683-410B-AEEA-0DF09EA5FA62}">
      <dsp:nvSpPr>
        <dsp:cNvPr id="0" name=""/>
        <dsp:cNvSpPr/>
      </dsp:nvSpPr>
      <dsp:spPr>
        <a:xfrm>
          <a:off x="0" y="4677655"/>
          <a:ext cx="6900512" cy="7616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solidFill>
                <a:sysClr val="windowText" lastClr="000000">
                  <a:hueOff val="0"/>
                  <a:satOff val="0"/>
                  <a:lumOff val="0"/>
                  <a:alphaOff val="0"/>
                </a:sysClr>
              </a:solidFill>
              <a:latin typeface="Aptos" panose="02110004020202020204"/>
              <a:ea typeface="+mn-ea"/>
              <a:cs typeface="+mn-cs"/>
            </a:rPr>
            <a:t>6 Reinforce learning with quick recap.</a:t>
          </a:r>
          <a:endParaRPr lang="en-US" sz="2400" kern="1200" dirty="0">
            <a:solidFill>
              <a:sysClr val="windowText" lastClr="000000">
                <a:hueOff val="0"/>
                <a:satOff val="0"/>
                <a:lumOff val="0"/>
                <a:alphaOff val="0"/>
              </a:sysClr>
            </a:solidFill>
            <a:latin typeface="Aptos" panose="02110004020202020204"/>
            <a:ea typeface="+mn-ea"/>
            <a:cs typeface="+mn-cs"/>
          </a:endParaRPr>
        </a:p>
      </dsp:txBody>
      <dsp:txXfrm>
        <a:off x="0" y="4677655"/>
        <a:ext cx="6900512" cy="76164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None/>
            </a:pPr>
            <a:fld id="{00000000-1234-1234-1234-123412341234}" type="slidenum">
              <a:rPr lang="en-IN" sz="1400" b="0" i="0" u="none" strike="noStrike" cap="none">
                <a:solidFill>
                  <a:schemeClr val="dk1"/>
                </a:solidFill>
                <a:latin typeface="Times New Roman"/>
                <a:ea typeface="Times New Roman"/>
                <a:cs typeface="Times New Roman"/>
                <a:sym typeface="Times New Roman"/>
              </a:rPr>
              <a:t>‹#›</a:t>
            </a:fld>
            <a:endParaRPr sz="14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None/>
            </a:pPr>
            <a:endParaRPr sz="2000" b="0" strike="noStrike">
              <a:latin typeface="Arial"/>
              <a:ea typeface="Arial"/>
              <a:cs typeface="Arial"/>
              <a:sym typeface="Arial"/>
            </a:endParaRPr>
          </a:p>
        </p:txBody>
      </p:sp>
      <p:sp>
        <p:nvSpPr>
          <p:cNvPr id="135" name="Google Shape;135;p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i="0" u="none" strike="noStrike" cap="none">
                <a:solidFill>
                  <a:srgbClr val="000000"/>
                </a:solidFill>
                <a:latin typeface="Arial"/>
                <a:ea typeface="Arial"/>
                <a:cs typeface="Arial"/>
                <a:sym typeface="Arial"/>
              </a:rPr>
              <a:t>1</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 name="Google Shape;142;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8E50BDA-A0E6-6DBF-F828-DA466F888AB2}"/>
            </a:ext>
          </a:extLst>
        </p:cNvPr>
        <p:cNvGrpSpPr/>
        <p:nvPr/>
      </p:nvGrpSpPr>
      <p:grpSpPr>
        <a:xfrm>
          <a:off x="0" y="0"/>
          <a:ext cx="0" cy="0"/>
          <a:chOff x="0" y="0"/>
          <a:chExt cx="0" cy="0"/>
        </a:xfrm>
      </p:grpSpPr>
      <p:sp>
        <p:nvSpPr>
          <p:cNvPr id="141" name="Google Shape;141;p2:notes">
            <a:extLst>
              <a:ext uri="{FF2B5EF4-FFF2-40B4-BE49-F238E27FC236}">
                <a16:creationId xmlns:a16="http://schemas.microsoft.com/office/drawing/2014/main" id="{A76AD0E9-553F-30E6-5703-87C4C3A51C14}"/>
              </a:ext>
            </a:extLst>
          </p:cNvPr>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 name="Google Shape;142;p2:notes">
            <a:extLst>
              <a:ext uri="{FF2B5EF4-FFF2-40B4-BE49-F238E27FC236}">
                <a16:creationId xmlns:a16="http://schemas.microsoft.com/office/drawing/2014/main" id="{A43B5033-41A3-2CA0-60EA-1340573E7AFE}"/>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010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3" name="Google Shape;163;p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dirty="0">
                <a:solidFill>
                  <a:srgbClr val="000000"/>
                </a:solidFill>
                <a:latin typeface="Arial"/>
                <a:ea typeface="Arial"/>
                <a:cs typeface="Arial"/>
                <a:sym typeface="Arial"/>
              </a:rPr>
              <a:t>Answer- </a:t>
            </a:r>
            <a:r>
              <a:rPr lang="en-US" sz="1200" b="0" strike="noStrike" dirty="0">
                <a:solidFill>
                  <a:srgbClr val="000000"/>
                </a:solidFill>
                <a:latin typeface="Arial"/>
                <a:ea typeface="Arial"/>
                <a:cs typeface="Arial"/>
                <a:sym typeface="Arial"/>
              </a:rPr>
              <a:t>A</a:t>
            </a:r>
            <a:endParaRPr sz="2000" b="0" strike="noStrike" dirty="0">
              <a:latin typeface="Arial"/>
              <a:ea typeface="Arial"/>
              <a:cs typeface="Arial"/>
              <a:sym typeface="Arial"/>
            </a:endParaRPr>
          </a:p>
        </p:txBody>
      </p:sp>
      <p:sp>
        <p:nvSpPr>
          <p:cNvPr id="260" name="Google Shape;260;p1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8</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4233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15: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 B (Easy)</a:t>
            </a:r>
            <a:endParaRPr/>
          </a:p>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Compounded Ratio ::</a:t>
            </a:r>
            <a:r>
              <a:rPr lang="en-IN" sz="1200" b="0" strike="noStrike">
                <a:solidFill>
                  <a:srgbClr val="000000"/>
                </a:solidFill>
                <a:latin typeface="Arial"/>
                <a:ea typeface="Arial"/>
                <a:cs typeface="Arial"/>
                <a:sym typeface="Arial"/>
              </a:rPr>
              <a:t> When we compound two or more ratio's with each other through product or multiplication, the result is simply a compound ratio.</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Thus, the product of two or more ratios; i.e, </a:t>
            </a:r>
            <a:r>
              <a:rPr lang="en-IN" sz="1200" b="1" strike="noStrike">
                <a:solidFill>
                  <a:srgbClr val="000000"/>
                </a:solidFill>
                <a:latin typeface="Arial"/>
                <a:ea typeface="Arial"/>
                <a:cs typeface="Arial"/>
                <a:sym typeface="Arial"/>
              </a:rPr>
              <a:t>ab:cd</a:t>
            </a:r>
            <a:r>
              <a:rPr lang="en-IN" sz="1200" b="0" strike="noStrike">
                <a:solidFill>
                  <a:srgbClr val="000000"/>
                </a:solidFill>
                <a:latin typeface="Arial"/>
                <a:ea typeface="Arial"/>
                <a:cs typeface="Arial"/>
                <a:sym typeface="Arial"/>
              </a:rPr>
              <a:t> is a ratio compounded of the simple ratios </a:t>
            </a:r>
            <a:r>
              <a:rPr lang="en-IN" sz="1200" b="1" strike="noStrike">
                <a:solidFill>
                  <a:srgbClr val="000000"/>
                </a:solidFill>
                <a:latin typeface="Arial"/>
                <a:ea typeface="Arial"/>
                <a:cs typeface="Arial"/>
                <a:sym typeface="Arial"/>
              </a:rPr>
              <a:t>a:c </a:t>
            </a:r>
            <a:r>
              <a:rPr lang="en-IN" sz="1200" b="0" strike="noStrike">
                <a:solidFill>
                  <a:srgbClr val="000000"/>
                </a:solidFill>
                <a:latin typeface="Arial"/>
                <a:ea typeface="Arial"/>
                <a:cs typeface="Arial"/>
                <a:sym typeface="Arial"/>
              </a:rPr>
              <a:t>and</a:t>
            </a:r>
            <a:r>
              <a:rPr lang="en-IN" sz="1200" b="1" strike="noStrike">
                <a:solidFill>
                  <a:srgbClr val="000000"/>
                </a:solidFill>
                <a:latin typeface="Arial"/>
                <a:ea typeface="Arial"/>
                <a:cs typeface="Arial"/>
                <a:sym typeface="Arial"/>
              </a:rPr>
              <a:t> b:d.</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Required compounded ratio = (2/3</a:t>
            </a:r>
            <a:r>
              <a:rPr lang="en-IN" sz="1200" b="1" strike="noStrike">
                <a:solidFill>
                  <a:srgbClr val="000000"/>
                </a:solidFill>
                <a:latin typeface="Arial"/>
                <a:ea typeface="Arial"/>
                <a:cs typeface="Arial"/>
                <a:sym typeface="Arial"/>
              </a:rPr>
              <a:t> x</a:t>
            </a:r>
            <a:r>
              <a:rPr lang="en-IN" sz="1200" b="0" strike="noStrike">
                <a:solidFill>
                  <a:srgbClr val="000000"/>
                </a:solidFill>
                <a:latin typeface="Arial"/>
                <a:ea typeface="Arial"/>
                <a:cs typeface="Arial"/>
                <a:sym typeface="Arial"/>
              </a:rPr>
              <a:t> 6/11 </a:t>
            </a:r>
            <a:r>
              <a:rPr lang="en-IN" sz="1200" b="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11/2) = </a:t>
            </a:r>
            <a:r>
              <a:rPr lang="en-IN" sz="1200" b="1" strike="noStrike">
                <a:solidFill>
                  <a:srgbClr val="000000"/>
                </a:solidFill>
                <a:latin typeface="Arial"/>
                <a:ea typeface="Arial"/>
                <a:cs typeface="Arial"/>
                <a:sym typeface="Arial"/>
              </a:rPr>
              <a:t>2/1. </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br>
              <a:rPr lang="en-IN"/>
            </a:br>
            <a:endParaRPr sz="1200" b="0" strike="noStrike">
              <a:latin typeface="Arial"/>
              <a:ea typeface="Arial"/>
              <a:cs typeface="Arial"/>
              <a:sym typeface="Arial"/>
            </a:endParaRPr>
          </a:p>
        </p:txBody>
      </p:sp>
      <p:sp>
        <p:nvSpPr>
          <p:cNvPr id="269" name="Google Shape;269;p15: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9</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dirty="0">
                <a:solidFill>
                  <a:srgbClr val="000000"/>
                </a:solidFill>
                <a:latin typeface="Arial"/>
                <a:ea typeface="Arial"/>
                <a:cs typeface="Arial"/>
                <a:sym typeface="Arial"/>
              </a:rPr>
              <a:t>Answer- </a:t>
            </a:r>
            <a:r>
              <a:rPr lang="en-US" sz="1200" b="0" strike="noStrike" dirty="0">
                <a:solidFill>
                  <a:srgbClr val="000000"/>
                </a:solidFill>
                <a:latin typeface="Arial"/>
                <a:ea typeface="Arial"/>
                <a:cs typeface="Arial"/>
                <a:sym typeface="Arial"/>
              </a:rPr>
              <a:t>D</a:t>
            </a:r>
            <a:endParaRPr sz="2000" b="0" strike="noStrike" dirty="0">
              <a:latin typeface="Arial"/>
              <a:ea typeface="Arial"/>
              <a:cs typeface="Arial"/>
              <a:sym typeface="Arial"/>
            </a:endParaRPr>
          </a:p>
        </p:txBody>
      </p:sp>
      <p:sp>
        <p:nvSpPr>
          <p:cNvPr id="260" name="Google Shape;260;p1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10</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94798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 name="Google Shape;173;p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 B(Easy)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fourth proportional to 5, 8, 15 be </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Then, 5 : 8 : 15 : </a:t>
            </a:r>
            <a:r>
              <a:rPr lang="en-IN" sz="1200" b="0" i="1" strike="noStrike">
                <a:solidFill>
                  <a:srgbClr val="000000"/>
                </a:solidFill>
                <a:latin typeface="Arial"/>
                <a:ea typeface="Arial"/>
                <a:cs typeface="Arial"/>
                <a:sym typeface="Arial"/>
              </a:rPr>
              <a:t>x</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(8 x 15)</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=(8 x 15) /5= 24</a:t>
            </a:r>
            <a:endParaRPr sz="2000" b="0" strike="noStrike">
              <a:latin typeface="Arial"/>
              <a:ea typeface="Arial"/>
              <a:cs typeface="Arial"/>
              <a:sym typeface="Arial"/>
            </a:endParaRPr>
          </a:p>
        </p:txBody>
      </p:sp>
      <p:sp>
        <p:nvSpPr>
          <p:cNvPr id="260" name="Google Shape;260;p1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16</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37953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mc:AlternateContent xmlns:mc="http://schemas.openxmlformats.org/markup-compatibility/2006" xmlns:a14="http://schemas.microsoft.com/office/drawing/2010/main">
        <mc:Choice Requires="a14">
          <p:sp>
            <p:nvSpPr>
              <p:cNvPr id="259" name="Google Shape;259;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US" sz="1200" b="0" strike="noStrike" dirty="0">
                    <a:solidFill>
                      <a:srgbClr val="000000"/>
                    </a:solidFill>
                    <a:latin typeface="Arial"/>
                    <a:ea typeface="Arial"/>
                    <a:cs typeface="Arial"/>
                    <a:sym typeface="Arial"/>
                  </a:rPr>
                  <a:t>Answer- D(Moderate)</a:t>
                </a:r>
                <a:endParaRPr lang="en-US" dirty="0"/>
              </a:p>
              <a:p>
                <a:pPr algn="l"/>
                <a:r>
                  <a:rPr lang="en-US" sz="1800" b="0" i="0" u="none" strike="noStrike" baseline="0" dirty="0">
                    <a:latin typeface="TimesNewRomanPSMT"/>
                  </a:rPr>
                  <a:t>Third proportional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9</m:t>
                        </m:r>
                        <m:r>
                          <a:rPr lang="en-US" sz="1800" b="0" i="1" u="none" strike="noStrike" baseline="0" smtClean="0">
                            <a:latin typeface="Cambria Math" panose="02040503050406030204" pitchFamily="18" charset="0"/>
                          </a:rPr>
                          <m:t>𝑋</m:t>
                        </m:r>
                        <m:r>
                          <a:rPr lang="en-US" sz="1800" b="0" i="1" u="none" strike="noStrike" baseline="0" smtClean="0">
                            <a:latin typeface="Cambria Math" panose="02040503050406030204" pitchFamily="18" charset="0"/>
                          </a:rPr>
                          <m:t>9</m:t>
                        </m:r>
                      </m:num>
                      <m:den>
                        <m:r>
                          <a:rPr lang="en-US" sz="1800" b="0" i="1" u="none" strike="noStrike" baseline="0" smtClean="0">
                            <a:latin typeface="Cambria Math" panose="02040503050406030204" pitchFamily="18" charset="0"/>
                          </a:rPr>
                          <m:t>3</m:t>
                        </m:r>
                      </m:den>
                    </m:f>
                  </m:oMath>
                </a14:m>
                <a:endParaRPr lang="en-US" sz="1800" b="0" i="0" u="none" strike="noStrike" baseline="0" dirty="0">
                  <a:latin typeface="TimesNewRomanPSMT"/>
                </a:endParaRPr>
              </a:p>
              <a:p>
                <a:pPr algn="l"/>
                <a:r>
                  <a:rPr lang="en-US" sz="1800" b="0" i="0" u="none" strike="noStrike" baseline="0" dirty="0">
                    <a:latin typeface="TimesNewRomanPSMT"/>
                  </a:rPr>
                  <a:t>Fourth proportional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6</m:t>
                        </m:r>
                      </m:num>
                      <m:den>
                        <m:r>
                          <a:rPr lang="en-US" sz="1800" b="0" i="1" u="none" strike="noStrike" baseline="0" smtClean="0">
                            <a:latin typeface="Cambria Math" panose="02040503050406030204" pitchFamily="18" charset="0"/>
                          </a:rPr>
                          <m:t>27</m:t>
                        </m:r>
                      </m:den>
                    </m:f>
                  </m:oMath>
                </a14:m>
                <a:r>
                  <a:rPr lang="en-US" sz="1800" b="0" i="0" u="none" strike="noStrike" baseline="0" dirty="0">
                    <a:latin typeface="TimesNewRomanPSMT"/>
                  </a:rPr>
                  <a:t> = </a:t>
                </a:r>
                <a14:m>
                  <m:oMath xmlns:m="http://schemas.openxmlformats.org/officeDocument/2006/math">
                    <m:f>
                      <m:fPr>
                        <m:ctrlPr>
                          <a:rPr lang="en-US" sz="1800" b="0" i="1" u="none" strike="noStrike" baseline="0" smtClean="0">
                            <a:latin typeface="Cambria Math" panose="02040503050406030204" pitchFamily="18" charset="0"/>
                          </a:rPr>
                        </m:ctrlPr>
                      </m:fPr>
                      <m:num>
                        <m:r>
                          <a:rPr lang="en-US" sz="1800" b="0" i="1" u="none" strike="noStrike" baseline="0" smtClean="0">
                            <a:latin typeface="Cambria Math" panose="02040503050406030204" pitchFamily="18" charset="0"/>
                          </a:rPr>
                          <m:t>4</m:t>
                        </m:r>
                      </m:num>
                      <m:den>
                        <m:r>
                          <a:rPr lang="en-US" sz="1800" b="0" i="1" u="none" strike="noStrike" baseline="0" smtClean="0">
                            <a:latin typeface="Cambria Math" panose="02040503050406030204" pitchFamily="18" charset="0"/>
                          </a:rPr>
                          <m:t>𝑥</m:t>
                        </m:r>
                      </m:den>
                    </m:f>
                  </m:oMath>
                </a14:m>
                <a:endParaRPr lang="en-US" sz="1800" b="0" i="0" u="none" strike="noStrike" baseline="0" dirty="0">
                  <a:latin typeface="CambriaMath"/>
                </a:endParaRPr>
              </a:p>
              <a:p>
                <a:pPr algn="l"/>
                <a:r>
                  <a:rPr lang="en-US" sz="1800" b="0" i="0" u="none" strike="noStrike" baseline="0" dirty="0">
                    <a:latin typeface="TimesNewRomanPSMT"/>
                  </a:rPr>
                  <a:t>x = 18</a:t>
                </a:r>
                <a:endParaRPr sz="2000" b="0" strike="noStrike" dirty="0">
                  <a:latin typeface="Arial"/>
                  <a:ea typeface="Arial"/>
                  <a:cs typeface="Arial"/>
                  <a:sym typeface="Arial"/>
                </a:endParaRPr>
              </a:p>
            </p:txBody>
          </p:sp>
        </mc:Choice>
        <mc:Fallback xmlns="">
          <p:sp>
            <p:nvSpPr>
              <p:cNvPr id="259" name="Google Shape;259;p1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US" sz="1200" b="0" strike="noStrike" dirty="0">
                    <a:solidFill>
                      <a:srgbClr val="000000"/>
                    </a:solidFill>
                    <a:latin typeface="Arial"/>
                    <a:ea typeface="Arial"/>
                    <a:cs typeface="Arial"/>
                    <a:sym typeface="Arial"/>
                  </a:rPr>
                  <a:t>Answer- D(Moderate)</a:t>
                </a:r>
                <a:endParaRPr lang="en-US" dirty="0"/>
              </a:p>
              <a:p>
                <a:pPr algn="l"/>
                <a:r>
                  <a:rPr lang="en-US" sz="1800" b="0" i="0" u="none" strike="noStrike" baseline="0" dirty="0">
                    <a:latin typeface="TimesNewRomanPSMT"/>
                  </a:rPr>
                  <a:t>Third proportional =</a:t>
                </a:r>
                <a:r>
                  <a:rPr lang="en-US" sz="1800" b="0" i="0" u="none" strike="noStrike" baseline="0">
                    <a:latin typeface="Cambria Math" panose="02040503050406030204" pitchFamily="18" charset="0"/>
                  </a:rPr>
                  <a:t>9𝑋9/3</a:t>
                </a:r>
                <a:endParaRPr lang="en-US" sz="1800" b="0" i="0" u="none" strike="noStrike" baseline="0" dirty="0">
                  <a:latin typeface="TimesNewRomanPSMT"/>
                </a:endParaRPr>
              </a:p>
              <a:p>
                <a:pPr algn="l"/>
                <a:r>
                  <a:rPr lang="en-US" sz="1800" b="0" i="0" u="none" strike="noStrike" baseline="0" dirty="0">
                    <a:latin typeface="TimesNewRomanPSMT"/>
                  </a:rPr>
                  <a:t>Fourth proportional =</a:t>
                </a:r>
                <a:r>
                  <a:rPr lang="en-US" sz="1800" b="0" i="0" u="none" strike="noStrike" baseline="0">
                    <a:latin typeface="Cambria Math" panose="02040503050406030204" pitchFamily="18" charset="0"/>
                  </a:rPr>
                  <a:t>6/27</a:t>
                </a:r>
                <a:r>
                  <a:rPr lang="en-US" sz="1800" b="0" i="0" u="none" strike="noStrike" baseline="0" dirty="0">
                    <a:latin typeface="TimesNewRomanPSMT"/>
                  </a:rPr>
                  <a:t> = </a:t>
                </a:r>
                <a:r>
                  <a:rPr lang="en-US" sz="1800" b="0" i="0" u="none" strike="noStrike" baseline="0">
                    <a:latin typeface="Cambria Math" panose="02040503050406030204" pitchFamily="18" charset="0"/>
                  </a:rPr>
                  <a:t>4/𝑥</a:t>
                </a:r>
                <a:endParaRPr lang="en-US" sz="1800" b="0" i="0" u="none" strike="noStrike" baseline="0" dirty="0">
                  <a:latin typeface="CambriaMath"/>
                </a:endParaRPr>
              </a:p>
              <a:p>
                <a:pPr algn="l"/>
                <a:r>
                  <a:rPr lang="en-US" sz="1800" b="0" i="0" u="none" strike="noStrike" baseline="0" dirty="0">
                    <a:latin typeface="TimesNewRomanPSMT"/>
                  </a:rPr>
                  <a:t>x = 18</a:t>
                </a:r>
                <a:endParaRPr sz="2000" b="0" strike="noStrike" dirty="0">
                  <a:latin typeface="Arial"/>
                  <a:ea typeface="Arial"/>
                  <a:cs typeface="Arial"/>
                  <a:sym typeface="Arial"/>
                </a:endParaRPr>
              </a:p>
            </p:txBody>
          </p:sp>
        </mc:Fallback>
      </mc:AlternateContent>
      <p:sp>
        <p:nvSpPr>
          <p:cNvPr id="260" name="Google Shape;260;p1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17</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63904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4" name="Google Shape;184;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5" name="Google Shape;195;p7: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3: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2000" b="0" strike="noStrike">
                <a:latin typeface="Arial"/>
                <a:ea typeface="Arial"/>
                <a:cs typeface="Arial"/>
                <a:sym typeface="Arial"/>
              </a:rPr>
              <a:t>Answer- C</a:t>
            </a:r>
            <a:endParaRPr sz="2000" b="0" strike="noStrike" dirty="0">
              <a:latin typeface="Arial"/>
              <a:ea typeface="Arial"/>
              <a:cs typeface="Arial"/>
              <a:sym typeface="Arial"/>
            </a:endParaRPr>
          </a:p>
        </p:txBody>
      </p:sp>
      <p:sp>
        <p:nvSpPr>
          <p:cNvPr id="251" name="Google Shape;251;p13: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20</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3E957371-D301-747B-07B0-036F15AE77FE}"/>
            </a:ext>
          </a:extLst>
        </p:cNvPr>
        <p:cNvGrpSpPr/>
        <p:nvPr/>
      </p:nvGrpSpPr>
      <p:grpSpPr>
        <a:xfrm>
          <a:off x="0" y="0"/>
          <a:ext cx="0" cy="0"/>
          <a:chOff x="0" y="0"/>
          <a:chExt cx="0" cy="0"/>
        </a:xfrm>
      </p:grpSpPr>
      <p:sp>
        <p:nvSpPr>
          <p:cNvPr id="249" name="Google Shape;249;p13:notes">
            <a:extLst>
              <a:ext uri="{FF2B5EF4-FFF2-40B4-BE49-F238E27FC236}">
                <a16:creationId xmlns:a16="http://schemas.microsoft.com/office/drawing/2014/main" id="{C7F794A9-8EAD-E045-EBFC-6BE3DE25D9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3:notes">
            <a:extLst>
              <a:ext uri="{FF2B5EF4-FFF2-40B4-BE49-F238E27FC236}">
                <a16:creationId xmlns:a16="http://schemas.microsoft.com/office/drawing/2014/main" id="{97DDC2B8-2CD4-41BA-4A0F-DDAD8F6E11BC}"/>
              </a:ext>
            </a:extLst>
          </p:cNvPr>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2000" b="0" strike="noStrike">
                <a:latin typeface="Arial"/>
                <a:ea typeface="Arial"/>
                <a:cs typeface="Arial"/>
                <a:sym typeface="Arial"/>
              </a:rPr>
              <a:t>Answer- C</a:t>
            </a:r>
            <a:endParaRPr sz="2000" b="0" strike="noStrike" dirty="0">
              <a:latin typeface="Arial"/>
              <a:ea typeface="Arial"/>
              <a:cs typeface="Arial"/>
              <a:sym typeface="Arial"/>
            </a:endParaRPr>
          </a:p>
        </p:txBody>
      </p:sp>
      <p:sp>
        <p:nvSpPr>
          <p:cNvPr id="251" name="Google Shape;251;p13:notes">
            <a:extLst>
              <a:ext uri="{FF2B5EF4-FFF2-40B4-BE49-F238E27FC236}">
                <a16:creationId xmlns:a16="http://schemas.microsoft.com/office/drawing/2014/main" id="{DAA5C479-BCC3-2543-FF60-D286897AA79C}"/>
              </a:ext>
            </a:extLst>
          </p:cNvPr>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21</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1062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DCBD7DC-921E-0628-CC9B-3BB9CAF48415}"/>
            </a:ext>
          </a:extLst>
        </p:cNvPr>
        <p:cNvGrpSpPr/>
        <p:nvPr/>
      </p:nvGrpSpPr>
      <p:grpSpPr>
        <a:xfrm>
          <a:off x="0" y="0"/>
          <a:ext cx="0" cy="0"/>
          <a:chOff x="0" y="0"/>
          <a:chExt cx="0" cy="0"/>
        </a:xfrm>
      </p:grpSpPr>
      <p:sp>
        <p:nvSpPr>
          <p:cNvPr id="249" name="Google Shape;249;p13:notes">
            <a:extLst>
              <a:ext uri="{FF2B5EF4-FFF2-40B4-BE49-F238E27FC236}">
                <a16:creationId xmlns:a16="http://schemas.microsoft.com/office/drawing/2014/main" id="{01696682-BC3D-37BD-8EB9-235B711193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3:notes">
            <a:extLst>
              <a:ext uri="{FF2B5EF4-FFF2-40B4-BE49-F238E27FC236}">
                <a16:creationId xmlns:a16="http://schemas.microsoft.com/office/drawing/2014/main" id="{87607759-27F6-E649-1DD1-5735CE0A6B5A}"/>
              </a:ext>
            </a:extLst>
          </p:cNvPr>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2000" b="0" strike="noStrike" dirty="0">
                <a:latin typeface="Arial"/>
                <a:ea typeface="Arial"/>
                <a:cs typeface="Arial"/>
                <a:sym typeface="Arial"/>
              </a:rPr>
              <a:t>Answer- B(Easy)</a:t>
            </a:r>
            <a:endParaRPr dirty="0"/>
          </a:p>
          <a:p>
            <a:pPr marL="216000" lvl="0" indent="-216000" algn="l" rtl="0">
              <a:lnSpc>
                <a:spcPct val="100000"/>
              </a:lnSpc>
              <a:spcBef>
                <a:spcPts val="0"/>
              </a:spcBef>
              <a:spcAft>
                <a:spcPts val="0"/>
              </a:spcAft>
              <a:buNone/>
            </a:pPr>
            <a:r>
              <a:rPr lang="en-IN" sz="2000" b="0" strike="noStrike" dirty="0">
                <a:latin typeface="Arial"/>
                <a:ea typeface="Arial"/>
                <a:cs typeface="Arial"/>
                <a:sym typeface="Arial"/>
              </a:rPr>
              <a:t>(</a:t>
            </a:r>
            <a:r>
              <a:rPr lang="en-IN" sz="1200" b="0" i="1" strike="noStrike" dirty="0">
                <a:solidFill>
                  <a:srgbClr val="000000"/>
                </a:solidFill>
                <a:latin typeface="Arial"/>
                <a:ea typeface="Arial"/>
                <a:cs typeface="Arial"/>
                <a:sym typeface="Arial"/>
              </a:rPr>
              <a:t>X </a:t>
            </a:r>
            <a:r>
              <a:rPr lang="en-IN" sz="2000" b="0" strike="noStrike" dirty="0" err="1">
                <a:solidFill>
                  <a:srgbClr val="000000"/>
                </a:solidFill>
                <a:latin typeface="Arial"/>
                <a:ea typeface="Arial"/>
                <a:cs typeface="Arial"/>
                <a:sym typeface="Arial"/>
              </a:rPr>
              <a:t>x</a:t>
            </a:r>
            <a:r>
              <a:rPr lang="en-IN" sz="2000" b="0" strike="noStrike" dirty="0">
                <a:solidFill>
                  <a:srgbClr val="000000"/>
                </a:solidFill>
                <a:latin typeface="Arial"/>
                <a:ea typeface="Arial"/>
                <a:cs typeface="Arial"/>
                <a:sym typeface="Arial"/>
              </a:rPr>
              <a:t> 5) = (0.75 x 8)    </a:t>
            </a:r>
            <a:r>
              <a:rPr lang="en-IN" sz="1200" b="0" i="1" strike="noStrike" dirty="0">
                <a:solidFill>
                  <a:srgbClr val="000000"/>
                </a:solidFill>
                <a:latin typeface="Arial"/>
                <a:ea typeface="Arial"/>
                <a:cs typeface="Arial"/>
                <a:sym typeface="Arial"/>
              </a:rPr>
              <a:t>x</a:t>
            </a:r>
            <a:r>
              <a:rPr lang="en-IN" sz="2000" b="0" strike="noStrike" dirty="0">
                <a:solidFill>
                  <a:srgbClr val="000000"/>
                </a:solidFill>
                <a:latin typeface="Arial"/>
                <a:ea typeface="Arial"/>
                <a:cs typeface="Arial"/>
                <a:sym typeface="Arial"/>
              </a:rPr>
              <a:t> =6= 1.20</a:t>
            </a:r>
            <a:endParaRPr sz="2000" b="0" strike="noStrike" dirty="0">
              <a:latin typeface="Arial"/>
              <a:ea typeface="Arial"/>
              <a:cs typeface="Arial"/>
              <a:sym typeface="Arial"/>
            </a:endParaRPr>
          </a:p>
        </p:txBody>
      </p:sp>
      <p:sp>
        <p:nvSpPr>
          <p:cNvPr id="251" name="Google Shape;251;p13:notes">
            <a:extLst>
              <a:ext uri="{FF2B5EF4-FFF2-40B4-BE49-F238E27FC236}">
                <a16:creationId xmlns:a16="http://schemas.microsoft.com/office/drawing/2014/main" id="{348C463B-157F-ABB0-23C0-8ED87BCFF545}"/>
              </a:ext>
            </a:extLst>
          </p:cNvPr>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22</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96653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2: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B) 3:2:4 (Easy)</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Given, y/(x - z) = (y + x)/z = x/y</a:t>
            </a:r>
            <a:br>
              <a:rPr lang="en-IN"/>
            </a:br>
            <a:r>
              <a:rPr lang="en-IN" sz="1200" b="0" strike="noStrike">
                <a:solidFill>
                  <a:srgbClr val="000000"/>
                </a:solidFill>
                <a:latin typeface="Arial"/>
                <a:ea typeface="Arial"/>
                <a:cs typeface="Arial"/>
                <a:sym typeface="Arial"/>
              </a:rPr>
              <a:t>yz = xy + x</a:t>
            </a:r>
            <a:r>
              <a:rPr lang="en-IN"/>
              <a:t>2</a:t>
            </a:r>
            <a:r>
              <a:rPr lang="en-IN" sz="1200" b="0" strike="noStrike">
                <a:solidFill>
                  <a:srgbClr val="000000"/>
                </a:solidFill>
                <a:latin typeface="Arial"/>
                <a:ea typeface="Arial"/>
                <a:cs typeface="Arial"/>
                <a:sym typeface="Arial"/>
              </a:rPr>
              <a:t> − yz − xz ..(1)</a:t>
            </a:r>
            <a:br>
              <a:rPr lang="en-IN"/>
            </a:br>
            <a:r>
              <a:rPr lang="en-IN" sz="1200" b="0" strike="noStrike">
                <a:solidFill>
                  <a:srgbClr val="000000"/>
                </a:solidFill>
                <a:latin typeface="Arial"/>
                <a:ea typeface="Arial"/>
                <a:cs typeface="Arial"/>
                <a:sym typeface="Arial"/>
              </a:rPr>
              <a:t>Also x2 −xz = y2 ....(2)</a:t>
            </a:r>
            <a:br>
              <a:rPr lang="en-IN"/>
            </a:br>
            <a:r>
              <a:rPr lang="en-IN" sz="1200" b="0" strike="noStrike">
                <a:solidFill>
                  <a:srgbClr val="000000"/>
                </a:solidFill>
                <a:latin typeface="Arial"/>
                <a:ea typeface="Arial"/>
                <a:cs typeface="Arial"/>
                <a:sym typeface="Arial"/>
              </a:rPr>
              <a:t>2yz = xy + y2</a:t>
            </a:r>
            <a:br>
              <a:rPr lang="en-IN"/>
            </a:br>
            <a:r>
              <a:rPr lang="en-IN" sz="1200" b="0" strike="noStrike">
                <a:solidFill>
                  <a:srgbClr val="000000"/>
                </a:solidFill>
                <a:latin typeface="Arial"/>
                <a:ea typeface="Arial"/>
                <a:cs typeface="Arial"/>
                <a:sym typeface="Arial"/>
              </a:rPr>
              <a:t>2z = x + y</a:t>
            </a:r>
            <a:br>
              <a:rPr lang="en-IN"/>
            </a:br>
            <a:r>
              <a:rPr lang="en-IN" sz="1200" b="0" strike="noStrike">
                <a:solidFill>
                  <a:srgbClr val="000000"/>
                </a:solidFill>
                <a:latin typeface="Arial"/>
                <a:ea typeface="Arial"/>
                <a:cs typeface="Arial"/>
                <a:sym typeface="Arial"/>
              </a:rPr>
              <a:t>Only option (B) satisfies the equation.</a:t>
            </a:r>
            <a:endParaRPr sz="1200" b="0" strike="noStrike">
              <a:latin typeface="Arial"/>
              <a:ea typeface="Arial"/>
              <a:cs typeface="Arial"/>
              <a:sym typeface="Arial"/>
            </a:endParaRPr>
          </a:p>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242" name="Google Shape;242;p12: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23</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10: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Answe-B (Easy)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three parts be A, B, C. Then,</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A : B = 2 : 3 and B : C = 5 : 8 =5 x3:8 x3= 3 :24555</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A : B : C = 2 : 3 :24= 10 : 15 : 245</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B =98 x15/49= 30</a:t>
            </a:r>
            <a:endParaRPr sz="2000" b="0" strike="noStrike">
              <a:latin typeface="Arial"/>
              <a:ea typeface="Arial"/>
              <a:cs typeface="Arial"/>
              <a:sym typeface="Arial"/>
            </a:endParaRPr>
          </a:p>
        </p:txBody>
      </p:sp>
      <p:sp>
        <p:nvSpPr>
          <p:cNvPr id="224" name="Google Shape;224;p10: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24</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 name="Google Shape;205;p8: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Answer-C (Easy)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third number be </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Then, first number = 120% of </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=120</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=6</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100/5</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Second number = 150% of </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=150</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100/2</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Ratio of first two numbers =6</a:t>
            </a:r>
            <a:r>
              <a:rPr lang="en-IN" sz="1200" b="0" i="1" strike="noStrike">
                <a:solidFill>
                  <a:srgbClr val="000000"/>
                </a:solidFill>
                <a:latin typeface="Arial"/>
                <a:ea typeface="Arial"/>
                <a:cs typeface="Arial"/>
                <a:sym typeface="Arial"/>
              </a:rPr>
              <a:t>x </a:t>
            </a:r>
            <a:r>
              <a:rPr lang="en-IN" sz="2000" b="0" strike="noStrike">
                <a:solidFill>
                  <a:srgbClr val="000000"/>
                </a:solidFill>
                <a:latin typeface="Arial"/>
                <a:ea typeface="Arial"/>
                <a:cs typeface="Arial"/>
                <a:sym typeface="Arial"/>
              </a:rPr>
              <a:t>:3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12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15</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 : 5</a:t>
            </a:r>
            <a:endParaRPr sz="2000" b="0" strike="noStrike">
              <a:latin typeface="Arial"/>
              <a:ea typeface="Arial"/>
              <a:cs typeface="Arial"/>
              <a:sym typeface="Arial"/>
            </a:endParaRPr>
          </a:p>
        </p:txBody>
      </p:sp>
      <p:sp>
        <p:nvSpPr>
          <p:cNvPr id="206" name="Google Shape;206;p8: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25</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9: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2000" b="0" strike="noStrike">
                <a:latin typeface="Arial"/>
                <a:ea typeface="Arial"/>
                <a:cs typeface="Arial"/>
                <a:sym typeface="Arial"/>
              </a:rPr>
              <a:t>Answer- C (Easy)</a:t>
            </a:r>
            <a:endParaRPr/>
          </a:p>
          <a:p>
            <a:pPr marL="216000" lvl="0" indent="-216000" algn="l" rtl="0">
              <a:lnSpc>
                <a:spcPct val="100000"/>
              </a:lnSpc>
              <a:spcBef>
                <a:spcPts val="0"/>
              </a:spcBef>
              <a:spcAft>
                <a:spcPts val="0"/>
              </a:spcAft>
              <a:buNone/>
            </a:pPr>
            <a:r>
              <a:rPr lang="en-IN" sz="2000" b="0" strike="noStrike">
                <a:latin typeface="Arial"/>
                <a:ea typeface="Arial"/>
                <a:cs typeface="Arial"/>
                <a:sym typeface="Arial"/>
              </a:rPr>
              <a:t>Let 40% of A =</a:t>
            </a:r>
            <a:r>
              <a:rPr lang="en-IN" sz="2000"/>
              <a:t>⅔</a:t>
            </a:r>
            <a:r>
              <a:rPr lang="en-IN" sz="2000" b="0" strike="noStrike">
                <a:latin typeface="Arial"/>
                <a:ea typeface="Arial"/>
                <a:cs typeface="Arial"/>
                <a:sym typeface="Arial"/>
              </a:rPr>
              <a:t> of B</a:t>
            </a:r>
            <a:endParaRPr/>
          </a:p>
          <a:p>
            <a:pPr marL="216000" lvl="0" indent="-216000" algn="l" rtl="0">
              <a:lnSpc>
                <a:spcPct val="100000"/>
              </a:lnSpc>
              <a:spcBef>
                <a:spcPts val="0"/>
              </a:spcBef>
              <a:spcAft>
                <a:spcPts val="0"/>
              </a:spcAft>
              <a:buNone/>
            </a:pPr>
            <a:r>
              <a:rPr lang="en-IN" sz="2000" b="0" strike="noStrike">
                <a:latin typeface="Arial"/>
                <a:ea typeface="Arial"/>
                <a:cs typeface="Arial"/>
                <a:sym typeface="Arial"/>
              </a:rPr>
              <a:t>Then,40A=2B1003</a:t>
            </a:r>
            <a:endParaRPr/>
          </a:p>
          <a:p>
            <a:pPr marL="216000" lvl="0" indent="-216000" algn="l" rtl="0">
              <a:lnSpc>
                <a:spcPct val="100000"/>
              </a:lnSpc>
              <a:spcBef>
                <a:spcPts val="0"/>
              </a:spcBef>
              <a:spcAft>
                <a:spcPts val="0"/>
              </a:spcAft>
              <a:buNone/>
            </a:pPr>
            <a:r>
              <a:rPr lang="en-IN" sz="2000" b="0" strike="noStrike">
                <a:latin typeface="Arial"/>
                <a:ea typeface="Arial"/>
                <a:cs typeface="Arial"/>
                <a:sym typeface="Arial"/>
              </a:rPr>
              <a:t>2A=2B53</a:t>
            </a:r>
            <a:endParaRPr/>
          </a:p>
          <a:p>
            <a:pPr marL="216000" lvl="0" indent="-216000" algn="l" rtl="0">
              <a:lnSpc>
                <a:spcPct val="100000"/>
              </a:lnSpc>
              <a:spcBef>
                <a:spcPts val="0"/>
              </a:spcBef>
              <a:spcAft>
                <a:spcPts val="0"/>
              </a:spcAft>
              <a:buNone/>
            </a:pPr>
            <a:r>
              <a:rPr lang="en-IN" sz="2000" b="0" strike="noStrike">
                <a:latin typeface="Arial"/>
                <a:ea typeface="Arial"/>
                <a:cs typeface="Arial"/>
                <a:sym typeface="Arial"/>
              </a:rPr>
              <a:t>A=2x5=5B323</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A : B = 5 : 3.</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215" name="Google Shape;215;p9: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rgbClr val="000000"/>
                </a:solidFill>
                <a:latin typeface="Arial"/>
                <a:ea typeface="Arial"/>
                <a:cs typeface="Arial"/>
                <a:sym typeface="Arial"/>
              </a:rPr>
              <a:t>26</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1: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 A(Easy)</a:t>
            </a:r>
            <a:endParaRPr/>
          </a:p>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1/2:1/3:1/4 = 6:4:3</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As the difference is 3</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=&gt; 3/13x2600 = 600</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233" name="Google Shape;233;p1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27</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8" name="Google Shape;278;p16: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 B (Easy)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shares of A, B, C and D be Rs. 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Rs. 2</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Rs. 4</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Rs. 3</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respectively.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Then, 4</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- 3</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1000</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1000.</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B's share = Rs. 2</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Rs. (2 x 1000) = Rs. 2000</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279" name="Google Shape;279;p16: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28</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p3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IN" b="0" i="0">
                <a:solidFill>
                  <a:srgbClr val="1A73E8"/>
                </a:solidFill>
                <a:latin typeface="Roboto"/>
                <a:ea typeface="Roboto"/>
                <a:cs typeface="Roboto"/>
                <a:sym typeface="Roboto"/>
              </a:rPr>
              <a:t>Ans: C (Expert)</a:t>
            </a:r>
            <a:endParaRPr/>
          </a:p>
          <a:p>
            <a:pPr marL="0" lvl="0" indent="0" algn="l" rtl="0">
              <a:spcBef>
                <a:spcPts val="0"/>
              </a:spcBef>
              <a:spcAft>
                <a:spcPts val="0"/>
              </a:spcAft>
              <a:buNone/>
            </a:pPr>
            <a:r>
              <a:rPr lang="en-IN" b="0" i="0">
                <a:solidFill>
                  <a:srgbClr val="1A73E8"/>
                </a:solidFill>
                <a:latin typeface="Roboto"/>
                <a:ea typeface="Roboto"/>
                <a:cs typeface="Roboto"/>
                <a:sym typeface="Roboto"/>
              </a:rPr>
              <a:t>Second son’s share = Rs. (10800×412) = Rs. 3600.</a:t>
            </a:r>
            <a:endParaRPr/>
          </a:p>
          <a:p>
            <a:pPr marL="0" lvl="0" indent="0" algn="l" rtl="0">
              <a:spcBef>
                <a:spcPts val="0"/>
              </a:spcBef>
              <a:spcAft>
                <a:spcPts val="0"/>
              </a:spcAft>
              <a:buNone/>
            </a:pPr>
            <a:r>
              <a:rPr lang="en-IN" b="0" i="0">
                <a:solidFill>
                  <a:srgbClr val="1A73E8"/>
                </a:solidFill>
                <a:latin typeface="Roboto"/>
                <a:ea typeface="Roboto"/>
                <a:cs typeface="Roboto"/>
                <a:sym typeface="Roboto"/>
              </a:rPr>
              <a:t>Money distributed between the two daughters</a:t>
            </a:r>
            <a:endParaRPr/>
          </a:p>
          <a:p>
            <a:pPr marL="0" lvl="0" indent="0" algn="l" rtl="0">
              <a:spcBef>
                <a:spcPts val="0"/>
              </a:spcBef>
              <a:spcAft>
                <a:spcPts val="0"/>
              </a:spcAft>
              <a:buNone/>
            </a:pPr>
            <a:r>
              <a:rPr lang="en-IN" b="0" i="0">
                <a:solidFill>
                  <a:srgbClr val="1A73E8"/>
                </a:solidFill>
                <a:latin typeface="Roboto"/>
                <a:ea typeface="Roboto"/>
                <a:cs typeface="Roboto"/>
                <a:sym typeface="Roboto"/>
              </a:rPr>
              <a:t>= Rs. [3600 – (1000 + 600)] = Rs. 2000.</a:t>
            </a:r>
            <a:endParaRPr/>
          </a:p>
          <a:p>
            <a:pPr marL="0" lvl="0" indent="0" algn="l" rtl="0">
              <a:spcBef>
                <a:spcPts val="0"/>
              </a:spcBef>
              <a:spcAft>
                <a:spcPts val="0"/>
              </a:spcAft>
              <a:buNone/>
            </a:pPr>
            <a:r>
              <a:rPr lang="en-IN" b="0" i="0">
                <a:solidFill>
                  <a:srgbClr val="1A73E8"/>
                </a:solidFill>
                <a:latin typeface="Roboto"/>
                <a:ea typeface="Roboto"/>
                <a:cs typeface="Roboto"/>
                <a:sym typeface="Roboto"/>
              </a:rPr>
              <a:t>First daughter’s share = Rs. (2000×11/20) = Rs. 1100.</a:t>
            </a:r>
            <a:endParaRPr/>
          </a:p>
          <a:p>
            <a:pPr marL="0" lvl="0" indent="0" algn="l" rtl="0">
              <a:spcBef>
                <a:spcPts val="0"/>
              </a:spcBef>
              <a:spcAft>
                <a:spcPts val="0"/>
              </a:spcAft>
              <a:buNone/>
            </a:pPr>
            <a:r>
              <a:rPr lang="en-IN" b="0" i="0">
                <a:solidFill>
                  <a:srgbClr val="1A73E8"/>
                </a:solidFill>
                <a:latin typeface="Roboto"/>
                <a:ea typeface="Roboto"/>
                <a:cs typeface="Roboto"/>
                <a:sym typeface="Roboto"/>
              </a:rPr>
              <a:t>Second daughter’s share = Rs. (2000×9/20) = Rs. 900.</a:t>
            </a:r>
            <a:endParaRPr/>
          </a:p>
          <a:p>
            <a:pPr marL="0" lvl="0" indent="0" algn="l" rtl="0">
              <a:spcBef>
                <a:spcPts val="0"/>
              </a:spcBef>
              <a:spcAft>
                <a:spcPts val="0"/>
              </a:spcAft>
              <a:buNone/>
            </a:pPr>
            <a:endParaRPr/>
          </a:p>
        </p:txBody>
      </p:sp>
      <p:sp>
        <p:nvSpPr>
          <p:cNvPr id="455" name="Google Shape;455;p3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IN" sz="1400" b="0" strike="noStrike">
                <a:latin typeface="Times New Roman"/>
                <a:ea typeface="Times New Roman"/>
                <a:cs typeface="Times New Roman"/>
                <a:sym typeface="Times New Roman"/>
              </a:rPr>
              <a:t>29</a:t>
            </a:fld>
            <a:endParaRPr sz="1400" b="0" strike="noStrike">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7" name="Google Shape;287;p17: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Answer-C (Easy)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Originally, let the number of boys and girls in the college be 7</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8</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respectively.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Their increased number is (120% of 7</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(110% of 8</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120x 7</a:t>
            </a:r>
            <a:r>
              <a:rPr lang="en-IN" sz="1200" b="0" i="1" strike="noStrike">
                <a:solidFill>
                  <a:srgbClr val="000000"/>
                </a:solidFill>
                <a:latin typeface="Arial"/>
                <a:ea typeface="Arial"/>
                <a:cs typeface="Arial"/>
                <a:sym typeface="Arial"/>
              </a:rPr>
              <a:t>x /100 </a:t>
            </a:r>
            <a:r>
              <a:rPr lang="en-IN" sz="2000" b="0" strike="noStrike">
                <a:solidFill>
                  <a:srgbClr val="000000"/>
                </a:solidFill>
                <a:latin typeface="Arial"/>
                <a:ea typeface="Arial"/>
                <a:cs typeface="Arial"/>
                <a:sym typeface="Arial"/>
              </a:rPr>
              <a:t>and 110x 8</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100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42</a:t>
            </a:r>
            <a:r>
              <a:rPr lang="en-IN" sz="1200" b="0" i="1" strike="noStrike">
                <a:solidFill>
                  <a:srgbClr val="000000"/>
                </a:solidFill>
                <a:latin typeface="Arial"/>
                <a:ea typeface="Arial"/>
                <a:cs typeface="Arial"/>
                <a:sym typeface="Arial"/>
              </a:rPr>
              <a:t>x  </a:t>
            </a:r>
            <a:r>
              <a:rPr lang="en-IN" sz="2000" b="0" strike="noStrike">
                <a:solidFill>
                  <a:srgbClr val="000000"/>
                </a:solidFill>
                <a:latin typeface="Arial"/>
                <a:ea typeface="Arial"/>
                <a:cs typeface="Arial"/>
                <a:sym typeface="Arial"/>
              </a:rPr>
              <a:t>and 44</a:t>
            </a:r>
            <a:r>
              <a:rPr lang="en-IN" sz="1200" b="0" i="1" strike="noStrike">
                <a:solidFill>
                  <a:srgbClr val="000000"/>
                </a:solidFill>
                <a:latin typeface="Arial"/>
                <a:ea typeface="Arial"/>
                <a:cs typeface="Arial"/>
                <a:sym typeface="Arial"/>
              </a:rPr>
              <a:t>x</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The required ratio =42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:44</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21 : 22</a:t>
            </a:r>
            <a:endParaRPr sz="2000" b="0" strike="noStrike">
              <a:latin typeface="Arial"/>
              <a:ea typeface="Arial"/>
              <a:cs typeface="Arial"/>
              <a:sym typeface="Arial"/>
            </a:endParaRPr>
          </a:p>
        </p:txBody>
      </p:sp>
      <p:sp>
        <p:nvSpPr>
          <p:cNvPr id="288" name="Google Shape;288;p17: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30</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18: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 A(Easy)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Originally, let the number of seats for Mathematics, Physics and Biology be 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7</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8</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respectively.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Number of increased seats are (140% of 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(150% of 7</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(175% of 8</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7</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,21</a:t>
            </a:r>
            <a:r>
              <a:rPr lang="en-IN" sz="1200" b="0" i="1" strike="noStrike">
                <a:solidFill>
                  <a:srgbClr val="000000"/>
                </a:solidFill>
                <a:latin typeface="Arial"/>
                <a:ea typeface="Arial"/>
                <a:cs typeface="Arial"/>
                <a:sym typeface="Arial"/>
              </a:rPr>
              <a:t>x </a:t>
            </a:r>
            <a:r>
              <a:rPr lang="en-IN" sz="2000" b="0" strike="noStrike">
                <a:solidFill>
                  <a:srgbClr val="000000"/>
                </a:solidFill>
                <a:latin typeface="Arial"/>
                <a:ea typeface="Arial"/>
                <a:cs typeface="Arial"/>
                <a:sym typeface="Arial"/>
              </a:rPr>
              <a:t>and 14</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.2</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The required ratio</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14</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21</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28</a:t>
            </a:r>
            <a:r>
              <a:rPr lang="en-IN" sz="1200" b="0" i="1" strike="noStrike">
                <a:solidFill>
                  <a:srgbClr val="000000"/>
                </a:solidFill>
                <a:latin typeface="Arial"/>
                <a:ea typeface="Arial"/>
                <a:cs typeface="Arial"/>
                <a:sym typeface="Arial"/>
              </a:rPr>
              <a:t>x</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2 : 3 : 4.</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297" name="Google Shape;297;p18: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31</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4" name="Google Shape;314;p20: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 B (Easy)</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numbers be 3</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and 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Then,3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- 9=125</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- 923</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23(3</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- 9) = 12(5</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- 9)</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9</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99</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 11.</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The smaller number = (3 x 11) = 33.</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315" name="Google Shape;315;p20: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32</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19: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2000" b="0" strike="noStrike">
                <a:latin typeface="Arial"/>
                <a:ea typeface="Arial"/>
                <a:cs typeface="Arial"/>
                <a:sym typeface="Arial"/>
              </a:rPr>
              <a:t>Answer(D) (Moderate)</a:t>
            </a:r>
            <a:endParaRPr/>
          </a:p>
          <a:p>
            <a:pPr marL="216000" lvl="0" indent="-216000" algn="l" rtl="0">
              <a:lnSpc>
                <a:spcPct val="100000"/>
              </a:lnSpc>
              <a:spcBef>
                <a:spcPts val="0"/>
              </a:spcBef>
              <a:spcAft>
                <a:spcPts val="0"/>
              </a:spcAft>
              <a:buNone/>
            </a:pPr>
            <a:r>
              <a:rPr lang="en-IN" sz="2000" b="0" strike="noStrike">
                <a:latin typeface="Arial"/>
                <a:ea typeface="Arial"/>
                <a:cs typeface="Arial"/>
                <a:sym typeface="Arial"/>
              </a:rPr>
              <a:t>Let the original salaries of Ravi and Sumit be Rs. 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and Rs. 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respectively.</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Then,2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+ 4000=3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+ 4000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57(2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+ 4000) = 40(3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+ 4000)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6</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68,000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 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34,000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Sumit's present salary = (3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+ 4000) = Rs.(34000 + 4000) = Rs. 38,000.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br>
              <a:rPr lang="en-IN"/>
            </a:br>
            <a:endParaRPr sz="2000" b="0" strike="noStrike">
              <a:latin typeface="Arial"/>
              <a:ea typeface="Arial"/>
              <a:cs typeface="Arial"/>
              <a:sym typeface="Arial"/>
            </a:endParaRPr>
          </a:p>
        </p:txBody>
      </p:sp>
      <p:sp>
        <p:nvSpPr>
          <p:cNvPr id="306" name="Google Shape;306;p19: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33</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21: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Answer- C (Moderate)</a:t>
            </a:r>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Let the number of 25 p, 10 p and 5 p coins be </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2</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3</a:t>
            </a:r>
            <a:r>
              <a:rPr lang="en-IN" sz="1200" b="0" i="1" strike="noStrike">
                <a:solidFill>
                  <a:srgbClr val="000000"/>
                </a:solidFill>
                <a:latin typeface="Arial"/>
                <a:ea typeface="Arial"/>
                <a:cs typeface="Arial"/>
                <a:sym typeface="Arial"/>
              </a:rPr>
              <a:t>x</a:t>
            </a:r>
            <a:r>
              <a:rPr lang="en-IN" sz="1200" b="0" strike="noStrike">
                <a:solidFill>
                  <a:srgbClr val="000000"/>
                </a:solidFill>
                <a:latin typeface="Arial"/>
                <a:ea typeface="Arial"/>
                <a:cs typeface="Arial"/>
                <a:sym typeface="Arial"/>
              </a:rPr>
              <a:t> respectively.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Then, sum of their values = Rs.0.25</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+0.10 x 2</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+0.5 x 3</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Rs.0.60</a:t>
            </a:r>
            <a:r>
              <a:rPr lang="en-IN" sz="1200" b="0" i="1" strike="noStrike">
                <a:solidFill>
                  <a:srgbClr val="000000"/>
                </a:solidFill>
                <a:latin typeface="Arial"/>
                <a:ea typeface="Arial"/>
                <a:cs typeface="Arial"/>
                <a:sym typeface="Arial"/>
              </a:rPr>
              <a:t>x</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2000" b="0" strike="noStrike">
                <a:solidFill>
                  <a:srgbClr val="000000"/>
                </a:solidFill>
                <a:latin typeface="Arial"/>
                <a:ea typeface="Arial"/>
                <a:cs typeface="Arial"/>
                <a:sym typeface="Arial"/>
              </a:rPr>
              <a:t>0.60</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30    </a:t>
            </a:r>
            <a:r>
              <a:rPr lang="en-IN" sz="1200" b="0" i="1" strike="noStrike">
                <a:solidFill>
                  <a:srgbClr val="000000"/>
                </a:solidFill>
                <a:latin typeface="Arial"/>
                <a:ea typeface="Arial"/>
                <a:cs typeface="Arial"/>
                <a:sym typeface="Arial"/>
              </a:rPr>
              <a:t>x</a:t>
            </a:r>
            <a:r>
              <a:rPr lang="en-IN" sz="2000" b="0" strike="noStrike">
                <a:solidFill>
                  <a:srgbClr val="000000"/>
                </a:solidFill>
                <a:latin typeface="Arial"/>
                <a:ea typeface="Arial"/>
                <a:cs typeface="Arial"/>
                <a:sym typeface="Arial"/>
              </a:rPr>
              <a:t> =50</a:t>
            </a:r>
            <a:endParaRPr sz="20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Hence, the number of 5 p coins = (3 x 50) = 150.</a:t>
            </a:r>
            <a:endParaRPr sz="1200" b="0" strike="noStrike">
              <a:latin typeface="Arial"/>
              <a:ea typeface="Arial"/>
              <a:cs typeface="Arial"/>
              <a:sym typeface="Arial"/>
            </a:endParaRPr>
          </a:p>
        </p:txBody>
      </p:sp>
      <p:sp>
        <p:nvSpPr>
          <p:cNvPr id="324" name="Google Shape;324;p2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34</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21: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0" strike="noStrike" dirty="0">
                <a:solidFill>
                  <a:srgbClr val="000000"/>
                </a:solidFill>
                <a:latin typeface="Arial"/>
                <a:ea typeface="Arial"/>
                <a:cs typeface="Arial"/>
                <a:sym typeface="Arial"/>
              </a:rPr>
              <a:t>Answer- B (Moderate)</a:t>
            </a:r>
          </a:p>
          <a:p>
            <a:pPr marL="216000" lvl="0" indent="-216000" algn="l" rtl="0">
              <a:lnSpc>
                <a:spcPct val="100000"/>
              </a:lnSpc>
              <a:spcBef>
                <a:spcPts val="0"/>
              </a:spcBef>
              <a:spcAft>
                <a:spcPts val="0"/>
              </a:spcAft>
              <a:buNone/>
            </a:pPr>
            <a:r>
              <a:rPr lang="en-US" dirty="0"/>
              <a:t>		Rs 1	50p	25p</a:t>
            </a:r>
          </a:p>
          <a:p>
            <a:pPr marL="216000" lvl="0" indent="-216000" algn="l" rtl="0">
              <a:lnSpc>
                <a:spcPct val="100000"/>
              </a:lnSpc>
              <a:spcBef>
                <a:spcPts val="0"/>
              </a:spcBef>
              <a:spcAft>
                <a:spcPts val="0"/>
              </a:spcAft>
              <a:buNone/>
            </a:pPr>
            <a:r>
              <a:rPr lang="en-US" dirty="0"/>
              <a:t>Value	8	4	3</a:t>
            </a:r>
          </a:p>
          <a:p>
            <a:pPr marL="216000" lvl="0" indent="-216000" algn="l" rtl="0">
              <a:lnSpc>
                <a:spcPct val="100000"/>
              </a:lnSpc>
              <a:spcBef>
                <a:spcPts val="0"/>
              </a:spcBef>
              <a:spcAft>
                <a:spcPts val="0"/>
              </a:spcAft>
              <a:buNone/>
            </a:pPr>
            <a:endParaRPr lang="en-US" dirty="0"/>
          </a:p>
          <a:p>
            <a:pPr marL="216000" lvl="0" indent="-216000" algn="l" rtl="0">
              <a:lnSpc>
                <a:spcPct val="100000"/>
              </a:lnSpc>
              <a:spcBef>
                <a:spcPts val="0"/>
              </a:spcBef>
              <a:spcAft>
                <a:spcPts val="0"/>
              </a:spcAft>
              <a:buNone/>
            </a:pPr>
            <a:r>
              <a:rPr lang="en-US" dirty="0"/>
              <a:t>No. of coins	8	8	12</a:t>
            </a:r>
          </a:p>
          <a:p>
            <a:r>
              <a:rPr lang="en-US" sz="1800" b="0" i="0" u="none" strike="noStrike" baseline="0" dirty="0">
                <a:solidFill>
                  <a:srgbClr val="000000"/>
                </a:solidFill>
                <a:latin typeface="Times New Roman" panose="02020603050405020304" pitchFamily="18" charset="0"/>
              </a:rPr>
              <a:t>Total no of coins=28 </a:t>
            </a:r>
          </a:p>
          <a:p>
            <a:r>
              <a:rPr lang="en-IN" sz="1800" b="0" i="0" u="none" strike="noStrike" baseline="0" dirty="0">
                <a:solidFill>
                  <a:srgbClr val="000000"/>
                </a:solidFill>
                <a:latin typeface="Times New Roman" panose="02020603050405020304" pitchFamily="18" charset="0"/>
              </a:rPr>
              <a:t>28 coins =280 </a:t>
            </a:r>
          </a:p>
          <a:p>
            <a:r>
              <a:rPr lang="en-IN" sz="1800" b="0" i="0" u="none" strike="noStrike" baseline="0" dirty="0">
                <a:solidFill>
                  <a:srgbClr val="000000"/>
                </a:solidFill>
                <a:latin typeface="Times New Roman" panose="02020603050405020304" pitchFamily="18" charset="0"/>
              </a:rPr>
              <a:t>1 coins = 10 </a:t>
            </a:r>
          </a:p>
          <a:p>
            <a:r>
              <a:rPr lang="en-US" sz="1800" b="0" i="0" u="none" strike="noStrike" baseline="0" dirty="0">
                <a:solidFill>
                  <a:srgbClr val="000000"/>
                </a:solidFill>
                <a:latin typeface="Times New Roman" panose="02020603050405020304" pitchFamily="18" charset="0"/>
              </a:rPr>
              <a:t>No. of 50 paise coins = 8×10 =80 Ans. </a:t>
            </a:r>
            <a:r>
              <a:rPr lang="en-US" dirty="0"/>
              <a:t>	</a:t>
            </a:r>
            <a:endParaRPr dirty="0"/>
          </a:p>
        </p:txBody>
      </p:sp>
      <p:sp>
        <p:nvSpPr>
          <p:cNvPr id="324" name="Google Shape;324;p2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35</a:t>
            </a:fld>
            <a:endParaRPr sz="1200" b="0" strike="noStrik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99958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23: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A) Rs. 1600 (Moderate)</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Let the salaries of Maneela and Shanthi one year before be </a:t>
            </a:r>
            <a:r>
              <a:rPr lang="en-IN" sz="1200" b="1" strike="noStrike">
                <a:solidFill>
                  <a:srgbClr val="000000"/>
                </a:solidFill>
                <a:latin typeface="Arial"/>
                <a:ea typeface="Arial"/>
                <a:cs typeface="Arial"/>
                <a:sym typeface="Arial"/>
              </a:rPr>
              <a:t>M1, S1</a:t>
            </a:r>
            <a:r>
              <a:rPr lang="en-IN" sz="1200" b="0" strike="noStrike">
                <a:solidFill>
                  <a:srgbClr val="000000"/>
                </a:solidFill>
                <a:latin typeface="Arial"/>
                <a:ea typeface="Arial"/>
                <a:cs typeface="Arial"/>
                <a:sym typeface="Arial"/>
              </a:rPr>
              <a:t> &amp; now be </a:t>
            </a:r>
            <a:r>
              <a:rPr lang="en-IN" sz="1200" b="1" strike="noStrike">
                <a:solidFill>
                  <a:srgbClr val="000000"/>
                </a:solidFill>
                <a:latin typeface="Arial"/>
                <a:ea typeface="Arial"/>
                <a:cs typeface="Arial"/>
                <a:sym typeface="Arial"/>
              </a:rPr>
              <a:t>M2, S2</a:t>
            </a:r>
            <a:r>
              <a:rPr lang="en-IN" sz="1200" b="0" strike="noStrike">
                <a:solidFill>
                  <a:srgbClr val="000000"/>
                </a:solidFill>
                <a:latin typeface="Arial"/>
                <a:ea typeface="Arial"/>
                <a:cs typeface="Arial"/>
                <a:sym typeface="Arial"/>
              </a:rPr>
              <a:t> respectively.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Then, from the given data,</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M1/S1 = 3/4  .....(1)</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M1/M2 = 4/5 .....(2)</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S1/S2 = 2/3  .....(3)</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and M2 + S2 = 4160  .....(4)</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 </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Solving all these eqtns, we get M2 = Rs. 1600.</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343" name="Google Shape;343;p23: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36</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24: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A) 140:144:147(Moderate)</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Frequency of step of A:B:C = 5 : 6 : 7</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But in terms of size of step, 6A = 7B = 8C</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Therefore, Ratio of speeds of A, B and C = 5/6 : 6/7 : 7/8 = 140 : 144 : 147</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352" name="Google Shape;352;p24: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37</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33: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D) 150 lit (Expert)</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To cover a distance of 800 kms using a 800 cc engine, the amount of diesel required = 80 litres.</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=&gt; the amount of diesel required to cover a distance of 1000 kms = 1000 x 80/800 = 100 litres</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However, the vehicle uses a 1200 cc engine and it is given that the amount of diesel required varies directly as the engine capacity.</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i.e., for instance, if the capacity of engine doubles, the diesel requirement will double too.</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Therefore, with a 1200 cc engine, quantity of diesel required = 1200/800 x 100 = 150 litres.</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437" name="Google Shape;437;p33: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38</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0" name="Google Shape;380;p27: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C) 528 (Expert)</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Assume x soldiers join the fort. 1200 soldiers have provision for 1200 (days for which provisions last them)(rate of consumption of each soldier)</a:t>
            </a:r>
            <a:br>
              <a:rPr lang="en-IN"/>
            </a:br>
            <a:r>
              <a:rPr lang="en-IN" sz="1200" b="0" strike="noStrike">
                <a:solidFill>
                  <a:srgbClr val="000000"/>
                </a:solidFill>
                <a:latin typeface="Arial"/>
                <a:ea typeface="Arial"/>
                <a:cs typeface="Arial"/>
                <a:sym typeface="Arial"/>
              </a:rPr>
              <a:t>= (1200)(30)(3) kg.</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Also provisions available for (1200 + x) soldiers is (1200 + x)(25)(2.5) k</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As the same provisions are available</a:t>
            </a:r>
            <a:br>
              <a:rPr lang="en-IN"/>
            </a:br>
            <a:r>
              <a:rPr lang="en-IN" sz="1200" b="0" strike="noStrike">
                <a:solidFill>
                  <a:srgbClr val="000000"/>
                </a:solidFill>
                <a:latin typeface="Arial"/>
                <a:ea typeface="Arial"/>
                <a:cs typeface="Arial"/>
                <a:sym typeface="Arial"/>
              </a:rPr>
              <a:t>=&gt; (1200)(30)(3) = (1200 + x)(25)(2.5)</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x = ([(1200)(30)(3)] / (25)(2.5)) - 1200 =&gt; x = 528.</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381" name="Google Shape;381;p27: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39</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7" name="Google Shape;427;p32: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C) 109 (Moderate)</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From given data,</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R : M = 5 : 7</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M : A = 5 : 7</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R : M : A = 25 : 35 : 49</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25 + 35 + 49 = 109</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428" name="Google Shape;428;p32: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40</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26: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B) 10(Moderate)</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If the person who gets 1/4 of the whole gets thrice of what the others get on an average, each one will get =1/3×1/4=112 of the whole.</a:t>
            </a:r>
            <a:br>
              <a:rPr lang="en-IN"/>
            </a:br>
            <a:r>
              <a:rPr lang="en-IN" sz="1200" b="0" strike="noStrike">
                <a:solidFill>
                  <a:srgbClr val="000000"/>
                </a:solidFill>
                <a:latin typeface="Arial"/>
                <a:ea typeface="Arial"/>
                <a:cs typeface="Arial"/>
                <a:sym typeface="Arial"/>
              </a:rPr>
              <a:t>Therefore, if there are k persons other than the person who gets one-fourth, then 1/4 + k/12 = 1</a:t>
            </a:r>
            <a:br>
              <a:rPr lang="en-IN"/>
            </a:br>
            <a:r>
              <a:rPr lang="en-IN" sz="1200" b="0" strike="noStrike">
                <a:solidFill>
                  <a:srgbClr val="000000"/>
                </a:solidFill>
                <a:latin typeface="Arial"/>
                <a:ea typeface="Arial"/>
                <a:cs typeface="Arial"/>
                <a:sym typeface="Arial"/>
              </a:rPr>
              <a:t>⇒ k=9</a:t>
            </a:r>
            <a:br>
              <a:rPr lang="en-IN"/>
            </a:br>
            <a:br>
              <a:rPr lang="en-IN"/>
            </a:br>
            <a:r>
              <a:rPr lang="en-IN" sz="1200" b="0" strike="noStrike">
                <a:solidFill>
                  <a:srgbClr val="000000"/>
                </a:solidFill>
                <a:latin typeface="Arial"/>
                <a:ea typeface="Arial"/>
                <a:cs typeface="Arial"/>
                <a:sym typeface="Arial"/>
              </a:rPr>
              <a:t>Hence, total number of people = 10.</a:t>
            </a:r>
            <a:endParaRPr sz="1200" b="0" strike="noStrike">
              <a:latin typeface="Arial"/>
              <a:ea typeface="Arial"/>
              <a:cs typeface="Arial"/>
              <a:sym typeface="Arial"/>
            </a:endParaRPr>
          </a:p>
          <a:p>
            <a:pPr marL="0" lvl="0" indent="0" algn="l" rtl="0">
              <a:lnSpc>
                <a:spcPct val="100000"/>
              </a:lnSpc>
              <a:spcBef>
                <a:spcPts val="0"/>
              </a:spcBef>
              <a:spcAft>
                <a:spcPts val="0"/>
              </a:spcAft>
              <a:buNone/>
            </a:pPr>
            <a:endParaRPr sz="1200" b="0" strike="noStrike">
              <a:latin typeface="Arial"/>
              <a:ea typeface="Arial"/>
              <a:cs typeface="Arial"/>
              <a:sym typeface="Arial"/>
            </a:endParaRPr>
          </a:p>
        </p:txBody>
      </p:sp>
      <p:sp>
        <p:nvSpPr>
          <p:cNvPr id="371" name="Google Shape;371;p26: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41</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8" name="Google Shape;418;p31: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rmAutofit/>
          </a:bodyPr>
          <a:lstStyle/>
          <a:p>
            <a:pPr marL="216000" lvl="0" indent="-216000" algn="l" rtl="0">
              <a:lnSpc>
                <a:spcPct val="100000"/>
              </a:lnSpc>
              <a:spcBef>
                <a:spcPts val="0"/>
              </a:spcBef>
              <a:spcAft>
                <a:spcPts val="0"/>
              </a:spcAft>
              <a:buNone/>
            </a:pPr>
            <a:r>
              <a:rPr lang="en-IN" sz="1200" b="1" strike="noStrike">
                <a:solidFill>
                  <a:srgbClr val="000000"/>
                </a:solidFill>
                <a:latin typeface="Arial"/>
                <a:ea typeface="Arial"/>
                <a:cs typeface="Arial"/>
                <a:sym typeface="Arial"/>
              </a:rPr>
              <a:t>Answer:</a:t>
            </a:r>
            <a:r>
              <a:rPr lang="en-IN" sz="1200" b="0" strike="noStrike">
                <a:solidFill>
                  <a:srgbClr val="000000"/>
                </a:solidFill>
                <a:latin typeface="Arial"/>
                <a:ea typeface="Arial"/>
                <a:cs typeface="Arial"/>
                <a:sym typeface="Arial"/>
              </a:rPr>
              <a:t> D) None of these (Expert)</a:t>
            </a:r>
            <a:br>
              <a:rPr lang="en-IN"/>
            </a:br>
            <a:br>
              <a:rPr lang="en-IN"/>
            </a:br>
            <a:r>
              <a:rPr lang="en-IN" sz="1200" b="1" strike="noStrike">
                <a:solidFill>
                  <a:srgbClr val="000000"/>
                </a:solidFill>
                <a:latin typeface="Arial"/>
                <a:ea typeface="Arial"/>
                <a:cs typeface="Arial"/>
                <a:sym typeface="Arial"/>
              </a:rPr>
              <a:t>Explanation:</a:t>
            </a:r>
            <a:br>
              <a:rPr lang="en-IN"/>
            </a:br>
            <a:r>
              <a:rPr lang="en-IN" sz="1200" b="0" strike="noStrike">
                <a:solidFill>
                  <a:srgbClr val="000000"/>
                </a:solidFill>
                <a:latin typeface="Arial"/>
                <a:ea typeface="Arial"/>
                <a:cs typeface="Arial"/>
                <a:sym typeface="Arial"/>
              </a:rPr>
              <a:t>Ratio of fruits (by dozen) = 3:2:7</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Ratio of fruits (by weight) =  120 :150: 24</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r>
              <a:rPr lang="en-IN" sz="1200" b="0" strike="noStrike">
                <a:solidFill>
                  <a:srgbClr val="000000"/>
                </a:solidFill>
                <a:latin typeface="Arial"/>
                <a:ea typeface="Arial"/>
                <a:cs typeface="Arial"/>
                <a:sym typeface="Arial"/>
              </a:rPr>
              <a:t>Therefore, Ratio of fruits (combined) by weight = 3 x 120 : 2 x 150 : 7 x 24 = 30 : 25 : 14 </a:t>
            </a:r>
            <a:endParaRPr sz="1200" b="0" strike="noStrike">
              <a:latin typeface="Arial"/>
              <a:ea typeface="Arial"/>
              <a:cs typeface="Arial"/>
              <a:sym typeface="Arial"/>
            </a:endParaRPr>
          </a:p>
          <a:p>
            <a:pPr marL="216000" lvl="0" indent="-216000" algn="l" rtl="0">
              <a:lnSpc>
                <a:spcPct val="100000"/>
              </a:lnSpc>
              <a:spcBef>
                <a:spcPts val="0"/>
              </a:spcBef>
              <a:spcAft>
                <a:spcPts val="0"/>
              </a:spcAft>
              <a:buNone/>
            </a:pPr>
            <a:endParaRPr sz="1200" b="0" strike="noStrike">
              <a:latin typeface="Arial"/>
              <a:ea typeface="Arial"/>
              <a:cs typeface="Arial"/>
              <a:sym typeface="Arial"/>
            </a:endParaRPr>
          </a:p>
        </p:txBody>
      </p:sp>
      <p:sp>
        <p:nvSpPr>
          <p:cNvPr id="419" name="Google Shape;419;p31: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IN" sz="1200" b="0" strike="noStrike">
                <a:solidFill>
                  <a:srgbClr val="000000"/>
                </a:solidFill>
                <a:latin typeface="Arial"/>
                <a:ea typeface="Arial"/>
                <a:cs typeface="Arial"/>
                <a:sym typeface="Arial"/>
              </a:rPr>
              <a:t>42</a:t>
            </a:fld>
            <a:endParaRPr sz="1200" b="0" strike="noStrik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Slide" type="blank">
  <p:cSld name="BLANK">
    <p:spTree>
      <p:nvGrpSpPr>
        <p:cNvPr id="1" name="Shape 18"/>
        <p:cNvGrpSpPr/>
        <p:nvPr/>
      </p:nvGrpSpPr>
      <p:grpSpPr>
        <a:xfrm>
          <a:off x="0" y="0"/>
          <a:ext cx="0" cy="0"/>
          <a:chOff x="0" y="0"/>
          <a:chExt cx="0" cy="0"/>
        </a:xfrm>
      </p:grpSpPr>
      <p:sp>
        <p:nvSpPr>
          <p:cNvPr id="3" name="Google Shape;108;p3">
            <a:extLst>
              <a:ext uri="{FF2B5EF4-FFF2-40B4-BE49-F238E27FC236}">
                <a16:creationId xmlns:a16="http://schemas.microsoft.com/office/drawing/2014/main" id="{98A67D27-C016-AC4F-F8F0-D3CEEB7CFDF4}"/>
              </a:ext>
            </a:extLst>
          </p:cNvPr>
          <p:cNvSpPr/>
          <p:nvPr userDrawn="1"/>
        </p:nvSpPr>
        <p:spPr>
          <a:xfrm>
            <a:off x="1878064" y="652414"/>
            <a:ext cx="8434552" cy="394138"/>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Palatino Linotype"/>
                <a:ea typeface="Palatino Linotype"/>
                <a:cs typeface="Palatino Linotype"/>
                <a:sym typeface="Palatino Linotype"/>
              </a:rPr>
              <a:t>Ratio and Proportion</a:t>
            </a:r>
            <a:endParaRPr dirty="0"/>
          </a:p>
        </p:txBody>
      </p:sp>
      <p:pic>
        <p:nvPicPr>
          <p:cNvPr id="4" name="Picture 3">
            <a:extLst>
              <a:ext uri="{FF2B5EF4-FFF2-40B4-BE49-F238E27FC236}">
                <a16:creationId xmlns:a16="http://schemas.microsoft.com/office/drawing/2014/main" id="{6B9C722F-5A49-301B-9ABA-13768058A6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931" y="0"/>
            <a:ext cx="3718923" cy="652414"/>
          </a:xfrm>
          <a:prstGeom prst="rect">
            <a:avLst/>
          </a:prstGeom>
        </p:spPr>
      </p:pic>
      <p:pic>
        <p:nvPicPr>
          <p:cNvPr id="5" name="Picture 4" descr="A blue circle with text and words&#10;&#10;Description automatically generated">
            <a:extLst>
              <a:ext uri="{FF2B5EF4-FFF2-40B4-BE49-F238E27FC236}">
                <a16:creationId xmlns:a16="http://schemas.microsoft.com/office/drawing/2014/main" id="{F1D1514F-C400-5AAD-DC9A-DF399812855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57726" y="58787"/>
            <a:ext cx="1160414" cy="104655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19"/>
        <p:cNvGrpSpPr/>
        <p:nvPr/>
      </p:nvGrpSpPr>
      <p:grpSpPr>
        <a:xfrm>
          <a:off x="0" y="0"/>
          <a:ext cx="0" cy="0"/>
          <a:chOff x="0" y="0"/>
          <a:chExt cx="0" cy="0"/>
        </a:xfrm>
      </p:grpSpPr>
      <p:sp>
        <p:nvSpPr>
          <p:cNvPr id="21" name="Google Shape;21;p41"/>
          <p:cNvSpPr txBox="1">
            <a:spLocks noGrp="1"/>
          </p:cNvSpPr>
          <p:nvPr>
            <p:ph type="body" idx="1"/>
          </p:nvPr>
        </p:nvSpPr>
        <p:spPr>
          <a:xfrm>
            <a:off x="797625" y="1825560"/>
            <a:ext cx="10515240" cy="435096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41"/>
          <p:cNvSpPr txBox="1">
            <a:spLocks noGrp="1"/>
          </p:cNvSpPr>
          <p:nvPr>
            <p:ph type="dt" idx="10"/>
          </p:nvPr>
        </p:nvSpPr>
        <p:spPr>
          <a:xfrm>
            <a:off x="837720" y="6356520"/>
            <a:ext cx="2742840" cy="3646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1"/>
          <p:cNvSpPr txBox="1">
            <a:spLocks noGrp="1"/>
          </p:cNvSpPr>
          <p:nvPr>
            <p:ph type="ftr" idx="11"/>
          </p:nvPr>
        </p:nvSpPr>
        <p:spPr>
          <a:xfrm>
            <a:off x="4038120" y="6356520"/>
            <a:ext cx="4114440" cy="3646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1"/>
          <p:cNvSpPr txBox="1">
            <a:spLocks noGrp="1"/>
          </p:cNvSpPr>
          <p:nvPr>
            <p:ph type="sldNum" idx="12"/>
          </p:nvPr>
        </p:nvSpPr>
        <p:spPr>
          <a:xfrm>
            <a:off x="8610120" y="6356520"/>
            <a:ext cx="2742840" cy="36468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8"/>
        <p:cNvGrpSpPr/>
        <p:nvPr/>
      </p:nvGrpSpPr>
      <p:grpSpPr>
        <a:xfrm>
          <a:off x="0" y="0"/>
          <a:ext cx="0" cy="0"/>
          <a:chOff x="0" y="0"/>
          <a:chExt cx="0" cy="0"/>
        </a:xfrm>
      </p:grpSpPr>
      <p:sp>
        <p:nvSpPr>
          <p:cNvPr id="29" name="Google Shape;29;p44"/>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0" name="Google Shape;30;p44"/>
          <p:cNvSpPr txBox="1">
            <a:spLocks noGrp="1"/>
          </p:cNvSpPr>
          <p:nvPr>
            <p:ph type="subTitle" idx="1"/>
          </p:nvPr>
        </p:nvSpPr>
        <p:spPr>
          <a:xfrm>
            <a:off x="609120" y="1604520"/>
            <a:ext cx="10972440" cy="3977280"/>
          </a:xfrm>
          <a:prstGeom prst="rect">
            <a:avLst/>
          </a:prstGeom>
          <a:noFill/>
          <a:ln>
            <a:noFill/>
          </a:ln>
        </p:spPr>
        <p:txBody>
          <a:bodyPr spcFirstLastPara="1" wrap="square" lIns="0" tIns="0" rIns="0" bIns="0" anchor="ctr" anchorCtr="0">
            <a:sp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31"/>
        <p:cNvGrpSpPr/>
        <p:nvPr/>
      </p:nvGrpSpPr>
      <p:grpSpPr>
        <a:xfrm>
          <a:off x="0" y="0"/>
          <a:ext cx="0" cy="0"/>
          <a:chOff x="0" y="0"/>
          <a:chExt cx="0" cy="0"/>
        </a:xfrm>
      </p:grpSpPr>
      <p:sp>
        <p:nvSpPr>
          <p:cNvPr id="32" name="Google Shape;32;p45"/>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3" name="Google Shape;33;p45"/>
          <p:cNvSpPr txBox="1">
            <a:spLocks noGrp="1"/>
          </p:cNvSpPr>
          <p:nvPr>
            <p:ph type="body" idx="1"/>
          </p:nvPr>
        </p:nvSpPr>
        <p:spPr>
          <a:xfrm>
            <a:off x="609120" y="1604520"/>
            <a:ext cx="109724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6" name="Google Shape;36;p46"/>
          <p:cNvSpPr txBox="1">
            <a:spLocks noGrp="1"/>
          </p:cNvSpPr>
          <p:nvPr>
            <p:ph type="body" idx="1"/>
          </p:nvPr>
        </p:nvSpPr>
        <p:spPr>
          <a:xfrm>
            <a:off x="609120" y="1604520"/>
            <a:ext cx="535428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6"/>
          <p:cNvSpPr txBox="1">
            <a:spLocks noGrp="1"/>
          </p:cNvSpPr>
          <p:nvPr>
            <p:ph type="body" idx="2"/>
          </p:nvPr>
        </p:nvSpPr>
        <p:spPr>
          <a:xfrm>
            <a:off x="6231600" y="1604520"/>
            <a:ext cx="535428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47"/>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0"/>
        <p:cNvGrpSpPr/>
        <p:nvPr/>
      </p:nvGrpSpPr>
      <p:grpSpPr>
        <a:xfrm>
          <a:off x="0" y="0"/>
          <a:ext cx="0" cy="0"/>
          <a:chOff x="0" y="0"/>
          <a:chExt cx="0" cy="0"/>
        </a:xfrm>
      </p:grpSpPr>
      <p:sp>
        <p:nvSpPr>
          <p:cNvPr id="41" name="Google Shape;41;p48"/>
          <p:cNvSpPr txBox="1">
            <a:spLocks noGrp="1"/>
          </p:cNvSpPr>
          <p:nvPr>
            <p:ph type="subTitle" idx="1"/>
          </p:nvPr>
        </p:nvSpPr>
        <p:spPr>
          <a:xfrm>
            <a:off x="609120" y="273600"/>
            <a:ext cx="10972440" cy="5307840"/>
          </a:xfrm>
          <a:prstGeom prst="rect">
            <a:avLst/>
          </a:prstGeom>
          <a:noFill/>
          <a:ln>
            <a:noFill/>
          </a:ln>
        </p:spPr>
        <p:txBody>
          <a:bodyPr spcFirstLastPara="1" wrap="square" lIns="0" tIns="0" rIns="0" bIns="0" anchor="ctr" anchorCtr="0">
            <a:sp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2"/>
        <p:cNvGrpSpPr/>
        <p:nvPr/>
      </p:nvGrpSpPr>
      <p:grpSpPr>
        <a:xfrm>
          <a:off x="0" y="0"/>
          <a:ext cx="0" cy="0"/>
          <a:chOff x="0" y="0"/>
          <a:chExt cx="0" cy="0"/>
        </a:xfrm>
      </p:grpSpPr>
      <p:sp>
        <p:nvSpPr>
          <p:cNvPr id="43" name="Google Shape;43;p49"/>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4" name="Google Shape;44;p49"/>
          <p:cNvSpPr txBox="1">
            <a:spLocks noGrp="1"/>
          </p:cNvSpPr>
          <p:nvPr>
            <p:ph type="body" idx="1"/>
          </p:nvPr>
        </p:nvSpPr>
        <p:spPr>
          <a:xfrm>
            <a:off x="60912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49"/>
          <p:cNvSpPr txBox="1">
            <a:spLocks noGrp="1"/>
          </p:cNvSpPr>
          <p:nvPr>
            <p:ph type="body" idx="2"/>
          </p:nvPr>
        </p:nvSpPr>
        <p:spPr>
          <a:xfrm>
            <a:off x="6231600" y="1604520"/>
            <a:ext cx="535428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9"/>
          <p:cNvSpPr txBox="1">
            <a:spLocks noGrp="1"/>
          </p:cNvSpPr>
          <p:nvPr>
            <p:ph type="body" idx="3"/>
          </p:nvPr>
        </p:nvSpPr>
        <p:spPr>
          <a:xfrm>
            <a:off x="609120" y="368208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7"/>
        <p:cNvGrpSpPr/>
        <p:nvPr/>
      </p:nvGrpSpPr>
      <p:grpSpPr>
        <a:xfrm>
          <a:off x="0" y="0"/>
          <a:ext cx="0" cy="0"/>
          <a:chOff x="0" y="0"/>
          <a:chExt cx="0" cy="0"/>
        </a:xfrm>
      </p:grpSpPr>
      <p:sp>
        <p:nvSpPr>
          <p:cNvPr id="48" name="Google Shape;48;p50"/>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50"/>
          <p:cNvSpPr txBox="1">
            <a:spLocks noGrp="1"/>
          </p:cNvSpPr>
          <p:nvPr>
            <p:ph type="body" idx="1"/>
          </p:nvPr>
        </p:nvSpPr>
        <p:spPr>
          <a:xfrm>
            <a:off x="609120" y="1604520"/>
            <a:ext cx="535428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0"/>
          <p:cNvSpPr txBox="1">
            <a:spLocks noGrp="1"/>
          </p:cNvSpPr>
          <p:nvPr>
            <p:ph type="body" idx="2"/>
          </p:nvPr>
        </p:nvSpPr>
        <p:spPr>
          <a:xfrm>
            <a:off x="623160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50"/>
          <p:cNvSpPr txBox="1">
            <a:spLocks noGrp="1"/>
          </p:cNvSpPr>
          <p:nvPr>
            <p:ph type="body" idx="3"/>
          </p:nvPr>
        </p:nvSpPr>
        <p:spPr>
          <a:xfrm>
            <a:off x="6231600" y="368208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2"/>
        <p:cNvGrpSpPr/>
        <p:nvPr/>
      </p:nvGrpSpPr>
      <p:grpSpPr>
        <a:xfrm>
          <a:off x="0" y="0"/>
          <a:ext cx="0" cy="0"/>
          <a:chOff x="0" y="0"/>
          <a:chExt cx="0" cy="0"/>
        </a:xfrm>
      </p:grpSpPr>
      <p:sp>
        <p:nvSpPr>
          <p:cNvPr id="53" name="Google Shape;53;p51"/>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51"/>
          <p:cNvSpPr txBox="1">
            <a:spLocks noGrp="1"/>
          </p:cNvSpPr>
          <p:nvPr>
            <p:ph type="body" idx="1"/>
          </p:nvPr>
        </p:nvSpPr>
        <p:spPr>
          <a:xfrm>
            <a:off x="60912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1"/>
          <p:cNvSpPr txBox="1">
            <a:spLocks noGrp="1"/>
          </p:cNvSpPr>
          <p:nvPr>
            <p:ph type="body" idx="2"/>
          </p:nvPr>
        </p:nvSpPr>
        <p:spPr>
          <a:xfrm>
            <a:off x="623160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1"/>
          <p:cNvSpPr txBox="1">
            <a:spLocks noGrp="1"/>
          </p:cNvSpPr>
          <p:nvPr>
            <p:ph type="body" idx="3"/>
          </p:nvPr>
        </p:nvSpPr>
        <p:spPr>
          <a:xfrm>
            <a:off x="609120" y="3682080"/>
            <a:ext cx="109724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7"/>
        <p:cNvGrpSpPr/>
        <p:nvPr/>
      </p:nvGrpSpPr>
      <p:grpSpPr>
        <a:xfrm>
          <a:off x="0" y="0"/>
          <a:ext cx="0" cy="0"/>
          <a:chOff x="0" y="0"/>
          <a:chExt cx="0" cy="0"/>
        </a:xfrm>
      </p:grpSpPr>
      <p:sp>
        <p:nvSpPr>
          <p:cNvPr id="58" name="Google Shape;58;p52"/>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9" name="Google Shape;59;p52"/>
          <p:cNvSpPr txBox="1">
            <a:spLocks noGrp="1"/>
          </p:cNvSpPr>
          <p:nvPr>
            <p:ph type="body" idx="1"/>
          </p:nvPr>
        </p:nvSpPr>
        <p:spPr>
          <a:xfrm>
            <a:off x="609120" y="1604520"/>
            <a:ext cx="109724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2"/>
          <p:cNvSpPr txBox="1">
            <a:spLocks noGrp="1"/>
          </p:cNvSpPr>
          <p:nvPr>
            <p:ph type="body" idx="2"/>
          </p:nvPr>
        </p:nvSpPr>
        <p:spPr>
          <a:xfrm>
            <a:off x="609120" y="3682080"/>
            <a:ext cx="109724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1"/>
        <p:cNvGrpSpPr/>
        <p:nvPr/>
      </p:nvGrpSpPr>
      <p:grpSpPr>
        <a:xfrm>
          <a:off x="0" y="0"/>
          <a:ext cx="0" cy="0"/>
          <a:chOff x="0" y="0"/>
          <a:chExt cx="0" cy="0"/>
        </a:xfrm>
      </p:grpSpPr>
      <p:sp>
        <p:nvSpPr>
          <p:cNvPr id="62" name="Google Shape;62;p53"/>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53"/>
          <p:cNvSpPr txBox="1">
            <a:spLocks noGrp="1"/>
          </p:cNvSpPr>
          <p:nvPr>
            <p:ph type="body" idx="1"/>
          </p:nvPr>
        </p:nvSpPr>
        <p:spPr>
          <a:xfrm>
            <a:off x="60912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53"/>
          <p:cNvSpPr txBox="1">
            <a:spLocks noGrp="1"/>
          </p:cNvSpPr>
          <p:nvPr>
            <p:ph type="body" idx="2"/>
          </p:nvPr>
        </p:nvSpPr>
        <p:spPr>
          <a:xfrm>
            <a:off x="6231600" y="160452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3"/>
          <p:cNvSpPr txBox="1">
            <a:spLocks noGrp="1"/>
          </p:cNvSpPr>
          <p:nvPr>
            <p:ph type="body" idx="3"/>
          </p:nvPr>
        </p:nvSpPr>
        <p:spPr>
          <a:xfrm>
            <a:off x="609120" y="368208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3"/>
          <p:cNvSpPr txBox="1">
            <a:spLocks noGrp="1"/>
          </p:cNvSpPr>
          <p:nvPr>
            <p:ph type="body" idx="4"/>
          </p:nvPr>
        </p:nvSpPr>
        <p:spPr>
          <a:xfrm>
            <a:off x="6231600" y="3682080"/>
            <a:ext cx="535428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7"/>
        <p:cNvGrpSpPr/>
        <p:nvPr/>
      </p:nvGrpSpPr>
      <p:grpSpPr>
        <a:xfrm>
          <a:off x="0" y="0"/>
          <a:ext cx="0" cy="0"/>
          <a:chOff x="0" y="0"/>
          <a:chExt cx="0" cy="0"/>
        </a:xfrm>
      </p:grpSpPr>
      <p:sp>
        <p:nvSpPr>
          <p:cNvPr id="68" name="Google Shape;68;p54"/>
          <p:cNvSpPr txBox="1">
            <a:spLocks noGrp="1"/>
          </p:cNvSpPr>
          <p:nvPr>
            <p:ph type="title"/>
          </p:nvPr>
        </p:nvSpPr>
        <p:spPr>
          <a:xfrm>
            <a:off x="609120" y="273600"/>
            <a:ext cx="10972440" cy="1144800"/>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4"/>
          <p:cNvSpPr txBox="1">
            <a:spLocks noGrp="1"/>
          </p:cNvSpPr>
          <p:nvPr>
            <p:ph type="body" idx="1"/>
          </p:nvPr>
        </p:nvSpPr>
        <p:spPr>
          <a:xfrm>
            <a:off x="609120" y="160452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4"/>
          <p:cNvSpPr txBox="1">
            <a:spLocks noGrp="1"/>
          </p:cNvSpPr>
          <p:nvPr>
            <p:ph type="body" idx="2"/>
          </p:nvPr>
        </p:nvSpPr>
        <p:spPr>
          <a:xfrm>
            <a:off x="4319280" y="160452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4"/>
          <p:cNvSpPr txBox="1">
            <a:spLocks noGrp="1"/>
          </p:cNvSpPr>
          <p:nvPr>
            <p:ph type="body" idx="3"/>
          </p:nvPr>
        </p:nvSpPr>
        <p:spPr>
          <a:xfrm>
            <a:off x="8029440" y="160452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4"/>
          <p:cNvSpPr txBox="1">
            <a:spLocks noGrp="1"/>
          </p:cNvSpPr>
          <p:nvPr>
            <p:ph type="body" idx="4"/>
          </p:nvPr>
        </p:nvSpPr>
        <p:spPr>
          <a:xfrm>
            <a:off x="609120" y="368208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4"/>
          <p:cNvSpPr txBox="1">
            <a:spLocks noGrp="1"/>
          </p:cNvSpPr>
          <p:nvPr>
            <p:ph type="body" idx="5"/>
          </p:nvPr>
        </p:nvSpPr>
        <p:spPr>
          <a:xfrm>
            <a:off x="4319280" y="368208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4"/>
          <p:cNvSpPr txBox="1">
            <a:spLocks noGrp="1"/>
          </p:cNvSpPr>
          <p:nvPr>
            <p:ph type="body" idx="6"/>
          </p:nvPr>
        </p:nvSpPr>
        <p:spPr>
          <a:xfrm>
            <a:off x="8029440" y="3682080"/>
            <a:ext cx="35330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2" name="Google Shape;12;p39"/>
          <p:cNvSpPr txBox="1">
            <a:spLocks noGrp="1"/>
          </p:cNvSpPr>
          <p:nvPr>
            <p:ph type="dt" idx="10"/>
          </p:nvPr>
        </p:nvSpPr>
        <p:spPr>
          <a:xfrm>
            <a:off x="837720" y="6356520"/>
            <a:ext cx="274284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9"/>
          <p:cNvSpPr txBox="1">
            <a:spLocks noGrp="1"/>
          </p:cNvSpPr>
          <p:nvPr>
            <p:ph type="ftr" idx="11"/>
          </p:nvPr>
        </p:nvSpPr>
        <p:spPr>
          <a:xfrm>
            <a:off x="4038120" y="6356520"/>
            <a:ext cx="411444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9"/>
          <p:cNvSpPr txBox="1">
            <a:spLocks noGrp="1"/>
          </p:cNvSpPr>
          <p:nvPr>
            <p:ph type="sldNum" idx="12"/>
          </p:nvPr>
        </p:nvSpPr>
        <p:spPr>
          <a:xfrm>
            <a:off x="8610120" y="6356520"/>
            <a:ext cx="274284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B8B8B"/>
                </a:solidFill>
                <a:latin typeface="Cambria"/>
                <a:ea typeface="Cambria"/>
                <a:cs typeface="Cambria"/>
                <a:sym typeface="Cambria"/>
              </a:defRPr>
            </a:lvl1pPr>
            <a:lvl2pPr marL="0" marR="0" lvl="1" indent="0" algn="r" rtl="0">
              <a:lnSpc>
                <a:spcPct val="100000"/>
              </a:lnSpc>
              <a:spcBef>
                <a:spcPts val="0"/>
              </a:spcBef>
              <a:buNone/>
              <a:defRPr sz="1200" b="0" i="0" u="none" strike="noStrike" cap="none">
                <a:solidFill>
                  <a:srgbClr val="8B8B8B"/>
                </a:solidFill>
                <a:latin typeface="Cambria"/>
                <a:ea typeface="Cambria"/>
                <a:cs typeface="Cambria"/>
                <a:sym typeface="Cambria"/>
              </a:defRPr>
            </a:lvl2pPr>
            <a:lvl3pPr marL="0" marR="0" lvl="2" indent="0" algn="r" rtl="0">
              <a:lnSpc>
                <a:spcPct val="100000"/>
              </a:lnSpc>
              <a:spcBef>
                <a:spcPts val="0"/>
              </a:spcBef>
              <a:buNone/>
              <a:defRPr sz="1200" b="0" i="0" u="none" strike="noStrike" cap="none">
                <a:solidFill>
                  <a:srgbClr val="8B8B8B"/>
                </a:solidFill>
                <a:latin typeface="Cambria"/>
                <a:ea typeface="Cambria"/>
                <a:cs typeface="Cambria"/>
                <a:sym typeface="Cambria"/>
              </a:defRPr>
            </a:lvl3pPr>
            <a:lvl4pPr marL="0" marR="0" lvl="3" indent="0" algn="r" rtl="0">
              <a:lnSpc>
                <a:spcPct val="100000"/>
              </a:lnSpc>
              <a:spcBef>
                <a:spcPts val="0"/>
              </a:spcBef>
              <a:buNone/>
              <a:defRPr sz="1200" b="0" i="0" u="none" strike="noStrike" cap="none">
                <a:solidFill>
                  <a:srgbClr val="8B8B8B"/>
                </a:solidFill>
                <a:latin typeface="Cambria"/>
                <a:ea typeface="Cambria"/>
                <a:cs typeface="Cambria"/>
                <a:sym typeface="Cambria"/>
              </a:defRPr>
            </a:lvl4pPr>
            <a:lvl5pPr marL="0" marR="0" lvl="4" indent="0" algn="r" rtl="0">
              <a:lnSpc>
                <a:spcPct val="100000"/>
              </a:lnSpc>
              <a:spcBef>
                <a:spcPts val="0"/>
              </a:spcBef>
              <a:buNone/>
              <a:defRPr sz="1200" b="0" i="0" u="none" strike="noStrike" cap="none">
                <a:solidFill>
                  <a:srgbClr val="8B8B8B"/>
                </a:solidFill>
                <a:latin typeface="Cambria"/>
                <a:ea typeface="Cambria"/>
                <a:cs typeface="Cambria"/>
                <a:sym typeface="Cambria"/>
              </a:defRPr>
            </a:lvl5pPr>
            <a:lvl6pPr marL="0" marR="0" lvl="5" indent="0" algn="r" rtl="0">
              <a:lnSpc>
                <a:spcPct val="100000"/>
              </a:lnSpc>
              <a:spcBef>
                <a:spcPts val="0"/>
              </a:spcBef>
              <a:buNone/>
              <a:defRPr sz="1200" b="0" i="0" u="none" strike="noStrike" cap="none">
                <a:solidFill>
                  <a:srgbClr val="8B8B8B"/>
                </a:solidFill>
                <a:latin typeface="Cambria"/>
                <a:ea typeface="Cambria"/>
                <a:cs typeface="Cambria"/>
                <a:sym typeface="Cambria"/>
              </a:defRPr>
            </a:lvl6pPr>
            <a:lvl7pPr marL="0" marR="0" lvl="6" indent="0" algn="r" rtl="0">
              <a:lnSpc>
                <a:spcPct val="100000"/>
              </a:lnSpc>
              <a:spcBef>
                <a:spcPts val="0"/>
              </a:spcBef>
              <a:buNone/>
              <a:defRPr sz="1200" b="0" i="0" u="none" strike="noStrike" cap="none">
                <a:solidFill>
                  <a:srgbClr val="8B8B8B"/>
                </a:solidFill>
                <a:latin typeface="Cambria"/>
                <a:ea typeface="Cambria"/>
                <a:cs typeface="Cambria"/>
                <a:sym typeface="Cambria"/>
              </a:defRPr>
            </a:lvl7pPr>
            <a:lvl8pPr marL="0" marR="0" lvl="7" indent="0" algn="r" rtl="0">
              <a:lnSpc>
                <a:spcPct val="100000"/>
              </a:lnSpc>
              <a:spcBef>
                <a:spcPts val="0"/>
              </a:spcBef>
              <a:buNone/>
              <a:defRPr sz="1200" b="0" i="0" u="none" strike="noStrike" cap="none">
                <a:solidFill>
                  <a:srgbClr val="8B8B8B"/>
                </a:solidFill>
                <a:latin typeface="Cambria"/>
                <a:ea typeface="Cambria"/>
                <a:cs typeface="Cambria"/>
                <a:sym typeface="Cambria"/>
              </a:defRPr>
            </a:lvl8pPr>
            <a:lvl9pPr marL="0" marR="0" lvl="8" indent="0" algn="r" rtl="0">
              <a:lnSpc>
                <a:spcPct val="100000"/>
              </a:lnSpc>
              <a:spcBef>
                <a:spcPts val="0"/>
              </a:spcBef>
              <a:buNone/>
              <a:defRPr sz="1200" b="0" i="0" u="none" strike="noStrike" cap="none">
                <a:solidFill>
                  <a:srgbClr val="8B8B8B"/>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IN"/>
              <a:t>‹#›</a:t>
            </a:fld>
            <a:endParaRPr>
              <a:solidFill>
                <a:schemeClr val="dk1"/>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172B099F-85A9-D716-2250-4C770E18FCD0}"/>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4931" y="0"/>
            <a:ext cx="3718923" cy="652414"/>
          </a:xfrm>
          <a:prstGeom prst="rect">
            <a:avLst/>
          </a:prstGeom>
        </p:spPr>
      </p:pic>
      <p:pic>
        <p:nvPicPr>
          <p:cNvPr id="6" name="Picture 5" descr="A blue circle with text and words&#10;&#10;Description automatically generated">
            <a:extLst>
              <a:ext uri="{FF2B5EF4-FFF2-40B4-BE49-F238E27FC236}">
                <a16:creationId xmlns:a16="http://schemas.microsoft.com/office/drawing/2014/main" id="{7B838294-4763-3561-1F3C-812127EF2C88}"/>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57726" y="58787"/>
            <a:ext cx="1160414" cy="1046552"/>
          </a:xfrm>
          <a:prstGeom prst="rect">
            <a:avLst/>
          </a:prstGeom>
        </p:spPr>
      </p:pic>
      <p:sp>
        <p:nvSpPr>
          <p:cNvPr id="2" name="Google Shape;108;p3">
            <a:extLst>
              <a:ext uri="{FF2B5EF4-FFF2-40B4-BE49-F238E27FC236}">
                <a16:creationId xmlns:a16="http://schemas.microsoft.com/office/drawing/2014/main" id="{4EA62CA0-6C3F-3E98-1924-1DEC7B467D65}"/>
              </a:ext>
            </a:extLst>
          </p:cNvPr>
          <p:cNvSpPr/>
          <p:nvPr userDrawn="1"/>
        </p:nvSpPr>
        <p:spPr>
          <a:xfrm>
            <a:off x="1878064" y="652414"/>
            <a:ext cx="8434552" cy="394138"/>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Palatino Linotype"/>
                <a:ea typeface="Palatino Linotype"/>
                <a:cs typeface="Palatino Linotype"/>
                <a:sym typeface="Palatino Linotype"/>
              </a:rPr>
              <a:t>Ratio and Proportion</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9" name="Google Shape;139;p1"/>
          <p:cNvSpPr/>
          <p:nvPr/>
        </p:nvSpPr>
        <p:spPr>
          <a:xfrm>
            <a:off x="543267" y="1621315"/>
            <a:ext cx="11648733" cy="2460758"/>
          </a:xfrm>
          <a:prstGeom prst="rect">
            <a:avLst/>
          </a:prstGeom>
          <a:noFill/>
          <a:ln>
            <a:noFill/>
          </a:ln>
        </p:spPr>
        <p:txBody>
          <a:bodyPr spcFirstLastPara="1" wrap="square" lIns="90000" tIns="45000" rIns="90000" bIns="45000" anchor="t" anchorCtr="0">
            <a:spAutoFit/>
          </a:bodyPr>
          <a:lstStyle/>
          <a:p>
            <a:pPr lvl="0" algn="ctr"/>
            <a:br>
              <a:rPr lang="en-IN" sz="3400" b="1">
                <a:latin typeface="Arial" panose="020B0604020202020204" pitchFamily="34" charset="0"/>
                <a:cs typeface="Arial" panose="020B0604020202020204" pitchFamily="34" charset="0"/>
              </a:rPr>
            </a:br>
            <a:r>
              <a:rPr lang="en-US" sz="2000" b="1">
                <a:latin typeface="Arial" panose="020B0604020202020204" pitchFamily="34" charset="0"/>
                <a:ea typeface="Georgia"/>
                <a:cs typeface="Arial" panose="020B0604020202020204" pitchFamily="34" charset="0"/>
                <a:sym typeface="Georgia"/>
              </a:rPr>
              <a:t>Session No.: 1</a:t>
            </a:r>
            <a:br>
              <a:rPr lang="en-US" sz="2000" b="1">
                <a:latin typeface="Arial" panose="020B0604020202020204" pitchFamily="34" charset="0"/>
                <a:ea typeface="Georgia"/>
                <a:cs typeface="Arial" panose="020B0604020202020204" pitchFamily="34" charset="0"/>
                <a:sym typeface="Georgia"/>
              </a:rPr>
            </a:br>
            <a:r>
              <a:rPr lang="en-US" sz="2000" b="1">
                <a:latin typeface="Arial" panose="020B0604020202020204" pitchFamily="34" charset="0"/>
                <a:ea typeface="Georgia"/>
                <a:cs typeface="Arial" panose="020B0604020202020204" pitchFamily="34" charset="0"/>
                <a:sym typeface="Georgia"/>
              </a:rPr>
              <a:t>Course Name: </a:t>
            </a:r>
            <a:r>
              <a:rPr lang="en-SG" sz="2000" b="1">
                <a:latin typeface="Arial" panose="020B0604020202020204" pitchFamily="34" charset="0"/>
                <a:ea typeface="Georgia"/>
                <a:cs typeface="Arial" panose="020B0604020202020204" pitchFamily="34" charset="0"/>
                <a:sym typeface="Georgia"/>
              </a:rPr>
              <a:t>Aptitude proficiency</a:t>
            </a:r>
            <a:br>
              <a:rPr lang="en-US" sz="2000" b="1">
                <a:latin typeface="Arial" panose="020B0604020202020204" pitchFamily="34" charset="0"/>
                <a:ea typeface="Georgia"/>
                <a:cs typeface="Arial" panose="020B0604020202020204" pitchFamily="34" charset="0"/>
                <a:sym typeface="Georgia"/>
              </a:rPr>
            </a:br>
            <a:r>
              <a:rPr lang="en-US" sz="2000" b="1">
                <a:latin typeface="Arial" panose="020B0604020202020204" pitchFamily="34" charset="0"/>
                <a:ea typeface="Georgia"/>
                <a:cs typeface="Arial" panose="020B0604020202020204" pitchFamily="34" charset="0"/>
                <a:sym typeface="Georgia"/>
              </a:rPr>
              <a:t>Course Code: </a:t>
            </a:r>
            <a:r>
              <a:rPr lang="en-IN" sz="2000" b="1"/>
              <a:t>R1UC425L</a:t>
            </a:r>
            <a:br>
              <a:rPr lang="en-US" sz="2000" b="1">
                <a:latin typeface="Arial" panose="020B0604020202020204" pitchFamily="34" charset="0"/>
                <a:ea typeface="Georgia"/>
                <a:cs typeface="Arial" panose="020B0604020202020204" pitchFamily="34" charset="0"/>
                <a:sym typeface="Georgia"/>
              </a:rPr>
            </a:br>
            <a:r>
              <a:rPr lang="en-US" sz="2000" b="1">
                <a:latin typeface="Arial" panose="020B0604020202020204" pitchFamily="34" charset="0"/>
                <a:ea typeface="Georgia"/>
                <a:cs typeface="Arial" panose="020B0604020202020204" pitchFamily="34" charset="0"/>
                <a:sym typeface="Georgia"/>
              </a:rPr>
              <a:t>Instructor Name: Ashish kumar</a:t>
            </a:r>
            <a:br>
              <a:rPr lang="en-US" sz="2000" b="1">
                <a:latin typeface="Arial" panose="020B0604020202020204" pitchFamily="34" charset="0"/>
                <a:ea typeface="Georgia"/>
                <a:cs typeface="Arial" panose="020B0604020202020204" pitchFamily="34" charset="0"/>
                <a:sym typeface="Georgia"/>
              </a:rPr>
            </a:br>
            <a:r>
              <a:rPr lang="en-US" sz="2000" b="1">
                <a:latin typeface="Arial" panose="020B0604020202020204" pitchFamily="34" charset="0"/>
                <a:ea typeface="Georgia"/>
                <a:cs typeface="Arial" panose="020B0604020202020204" pitchFamily="34" charset="0"/>
                <a:sym typeface="Georgia"/>
              </a:rPr>
              <a:t>Duration: 50 Mins</a:t>
            </a:r>
            <a:br>
              <a:rPr lang="en-US" sz="2000" b="1">
                <a:latin typeface="Arial" panose="020B0604020202020204" pitchFamily="34" charset="0"/>
                <a:ea typeface="Georgia"/>
                <a:cs typeface="Arial" panose="020B0604020202020204" pitchFamily="34" charset="0"/>
                <a:sym typeface="Georgia"/>
              </a:rPr>
            </a:br>
            <a:r>
              <a:rPr lang="en-US" sz="2000" b="1">
                <a:latin typeface="Arial" panose="020B0604020202020204" pitchFamily="34" charset="0"/>
                <a:ea typeface="Georgia"/>
                <a:cs typeface="Arial" panose="020B0604020202020204" pitchFamily="34" charset="0"/>
                <a:sym typeface="Georgia"/>
              </a:rPr>
              <a:t>Date of Conduction of Class: 16/02/2026</a:t>
            </a:r>
            <a:endParaRPr sz="2000" b="1">
              <a:solidFill>
                <a:srgbClr val="C00000"/>
              </a:solidFill>
              <a:latin typeface="+mj-lt"/>
              <a:ea typeface="Cambria"/>
              <a:cs typeface="Cambria"/>
              <a:sym typeface="Cambria"/>
            </a:endParaRPr>
          </a:p>
        </p:txBody>
      </p:sp>
      <p:pic>
        <p:nvPicPr>
          <p:cNvPr id="3" name="Picture 2" descr="A blue circle with text and words&#10;&#10;Description automatically generated">
            <a:extLst>
              <a:ext uri="{FF2B5EF4-FFF2-40B4-BE49-F238E27FC236}">
                <a16:creationId xmlns:a16="http://schemas.microsoft.com/office/drawing/2014/main" id="{91B2C68D-217C-5F41-0C2A-7A9D435722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F30FD-D940-24AA-8594-C76A1533ECD8}"/>
            </a:ext>
          </a:extLst>
        </p:cNvPr>
        <p:cNvGrpSpPr/>
        <p:nvPr/>
      </p:nvGrpSpPr>
      <p:grpSpPr>
        <a:xfrm>
          <a:off x="0" y="0"/>
          <a:ext cx="0" cy="0"/>
          <a:chOff x="0" y="0"/>
          <a:chExt cx="0" cy="0"/>
        </a:xfrm>
      </p:grpSpPr>
      <p:graphicFrame>
        <p:nvGraphicFramePr>
          <p:cNvPr id="2" name="Title 1">
            <a:extLst>
              <a:ext uri="{FF2B5EF4-FFF2-40B4-BE49-F238E27FC236}">
                <a16:creationId xmlns:a16="http://schemas.microsoft.com/office/drawing/2014/main" id="{73EAF55E-C3A1-4A2E-C790-F9AEE7BEE6DF}"/>
              </a:ext>
            </a:extLst>
          </p:cNvPr>
          <p:cNvGraphicFramePr/>
          <p:nvPr>
            <p:extLst>
              <p:ext uri="{D42A27DB-BD31-4B8C-83A1-F6EECF244321}">
                <p14:modId xmlns:p14="http://schemas.microsoft.com/office/powerpoint/2010/main" val="2159042722"/>
              </p:ext>
            </p:extLst>
          </p:nvPr>
        </p:nvGraphicFramePr>
        <p:xfrm>
          <a:off x="304800" y="1219200"/>
          <a:ext cx="11267085" cy="50861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0921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6EDB6-6B2C-7F38-5448-A8378C355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23507-47D0-3174-26A3-635E826A8E74}"/>
              </a:ext>
            </a:extLst>
          </p:cNvPr>
          <p:cNvSpPr>
            <a:spLocks noGrp="1"/>
          </p:cNvSpPr>
          <p:nvPr>
            <p:ph type="title"/>
          </p:nvPr>
        </p:nvSpPr>
        <p:spPr>
          <a:xfrm>
            <a:off x="635000" y="640823"/>
            <a:ext cx="3418659" cy="5583148"/>
          </a:xfrm>
        </p:spPr>
        <p:txBody>
          <a:bodyPr anchor="ctr">
            <a:normAutofit/>
          </a:bodyPr>
          <a:lstStyle/>
          <a:p>
            <a:r>
              <a:rPr lang="en-IN" sz="5400" dirty="0"/>
              <a:t>Session Outline</a:t>
            </a:r>
          </a:p>
        </p:txBody>
      </p:sp>
      <p:graphicFrame>
        <p:nvGraphicFramePr>
          <p:cNvPr id="5" name="Content Placeholder 2">
            <a:extLst>
              <a:ext uri="{FF2B5EF4-FFF2-40B4-BE49-F238E27FC236}">
                <a16:creationId xmlns:a16="http://schemas.microsoft.com/office/drawing/2014/main" id="{24D13F38-BBAE-145A-6FDE-8135EE13331D}"/>
              </a:ext>
            </a:extLst>
          </p:cNvPr>
          <p:cNvGraphicFramePr>
            <a:graphicFrameLocks/>
          </p:cNvGraphicFramePr>
          <p:nvPr/>
        </p:nvGraphicFramePr>
        <p:xfrm>
          <a:off x="4688087" y="1155411"/>
          <a:ext cx="6900512" cy="5440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743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AA9DC343-245B-0616-A7BD-04722D43A6F7}"/>
                  </a:ext>
                </a:extLst>
              </p:cNvPr>
              <p:cNvGraphicFramePr>
                <a:graphicFrameLocks noGrp="1"/>
              </p:cNvGraphicFramePr>
              <p:nvPr>
                <p:extLst>
                  <p:ext uri="{D42A27DB-BD31-4B8C-83A1-F6EECF244321}">
                    <p14:modId xmlns:p14="http://schemas.microsoft.com/office/powerpoint/2010/main" val="2570634514"/>
                  </p:ext>
                </p:extLst>
              </p:nvPr>
            </p:nvGraphicFramePr>
            <p:xfrm>
              <a:off x="474133" y="2077155"/>
              <a:ext cx="11288890" cy="4518220"/>
            </p:xfrm>
            <a:graphic>
              <a:graphicData uri="http://schemas.openxmlformats.org/drawingml/2006/table">
                <a:tbl>
                  <a:tblPr/>
                  <a:tblGrid>
                    <a:gridCol w="5644445">
                      <a:extLst>
                        <a:ext uri="{9D8B030D-6E8A-4147-A177-3AD203B41FA5}">
                          <a16:colId xmlns:a16="http://schemas.microsoft.com/office/drawing/2014/main" val="2149956384"/>
                        </a:ext>
                      </a:extLst>
                    </a:gridCol>
                    <a:gridCol w="5644445">
                      <a:extLst>
                        <a:ext uri="{9D8B030D-6E8A-4147-A177-3AD203B41FA5}">
                          <a16:colId xmlns:a16="http://schemas.microsoft.com/office/drawing/2014/main" val="1642560635"/>
                        </a:ext>
                      </a:extLst>
                    </a:gridCol>
                  </a:tblGrid>
                  <a:tr h="600453">
                    <a:tc>
                      <a:txBody>
                        <a:bodyPr/>
                        <a:lstStyle/>
                        <a:p>
                          <a:r>
                            <a:rPr lang="en-IN" sz="2800" b="1" dirty="0">
                              <a:solidFill>
                                <a:srgbClr val="C00000"/>
                              </a:solidFill>
                              <a:latin typeface="Times New Roman" panose="02020603050405020304" pitchFamily="18" charset="0"/>
                              <a:cs typeface="Times New Roman" panose="02020603050405020304" pitchFamily="18" charset="0"/>
                            </a:rPr>
                            <a:t>Fraction</a:t>
                          </a:r>
                        </a:p>
                      </a:txBody>
                      <a:tcPr anchor="ctr">
                        <a:lnL>
                          <a:noFill/>
                        </a:lnL>
                        <a:lnR>
                          <a:noFill/>
                        </a:lnR>
                        <a:lnT>
                          <a:noFill/>
                        </a:lnT>
                        <a:lnB>
                          <a:noFill/>
                        </a:lnB>
                        <a:noFill/>
                      </a:tcPr>
                    </a:tc>
                    <a:tc>
                      <a:txBody>
                        <a:bodyPr/>
                        <a:lstStyle/>
                        <a:p>
                          <a:r>
                            <a:rPr lang="en-IN" sz="2800" b="1" dirty="0">
                              <a:solidFill>
                                <a:srgbClr val="C00000"/>
                              </a:solidFill>
                              <a:latin typeface="Times New Roman" panose="02020603050405020304" pitchFamily="18" charset="0"/>
                              <a:cs typeface="Times New Roman" panose="02020603050405020304" pitchFamily="18" charset="0"/>
                            </a:rPr>
                            <a:t>Ratio</a:t>
                          </a:r>
                        </a:p>
                      </a:txBody>
                      <a:tcPr anchor="ctr">
                        <a:lnL>
                          <a:noFill/>
                        </a:lnL>
                        <a:lnR>
                          <a:noFill/>
                        </a:lnR>
                        <a:lnT>
                          <a:noFill/>
                        </a:lnT>
                        <a:lnB>
                          <a:noFill/>
                        </a:lnB>
                        <a:noFill/>
                      </a:tcPr>
                    </a:tc>
                    <a:extLst>
                      <a:ext uri="{0D108BD9-81ED-4DB2-BD59-A6C34878D82A}">
                        <a16:rowId xmlns:a16="http://schemas.microsoft.com/office/drawing/2014/main" val="3156799516"/>
                      </a:ext>
                    </a:extLst>
                  </a:tr>
                  <a:tr h="1020770">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A fraction is defined as a part of a whole.</a:t>
                          </a:r>
                        </a:p>
                      </a:txBody>
                      <a:tcPr anchor="ctr">
                        <a:lnL>
                          <a:noFill/>
                        </a:lnL>
                        <a:lnR>
                          <a:noFill/>
                        </a:lnR>
                        <a:lnT>
                          <a:noFill/>
                        </a:lnT>
                        <a:lnB>
                          <a:noFill/>
                        </a:lnB>
                        <a:no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Ratio compares the size of two or more quantity in relation to each other.</a:t>
                          </a:r>
                        </a:p>
                      </a:txBody>
                      <a:tcPr anchor="ctr">
                        <a:lnL>
                          <a:noFill/>
                        </a:lnL>
                        <a:lnR>
                          <a:noFill/>
                        </a:lnR>
                        <a:lnT>
                          <a:noFill/>
                        </a:lnT>
                        <a:lnB>
                          <a:noFill/>
                        </a:lnB>
                        <a:noFill/>
                      </a:tcPr>
                    </a:tc>
                    <a:extLst>
                      <a:ext uri="{0D108BD9-81ED-4DB2-BD59-A6C34878D82A}">
                        <a16:rowId xmlns:a16="http://schemas.microsoft.com/office/drawing/2014/main" val="1716677486"/>
                      </a:ext>
                    </a:extLst>
                  </a:tr>
                  <a:tr h="815790">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A fraction is used to show a part of or compare to something.</a:t>
                          </a:r>
                        </a:p>
                      </a:txBody>
                      <a:tcPr anchor="ctr">
                        <a:lnL>
                          <a:noFill/>
                        </a:lnL>
                        <a:lnR>
                          <a:noFill/>
                        </a:lnR>
                        <a:lnT>
                          <a:noFill/>
                        </a:lnT>
                        <a:lnB>
                          <a:noFill/>
                        </a:lnB>
                        <a:no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It shows the relation among items.</a:t>
                          </a:r>
                        </a:p>
                      </a:txBody>
                      <a:tcPr anchor="ctr">
                        <a:lnL>
                          <a:noFill/>
                        </a:lnL>
                        <a:lnR>
                          <a:noFill/>
                        </a:lnR>
                        <a:lnT>
                          <a:noFill/>
                        </a:lnT>
                        <a:lnB>
                          <a:noFill/>
                        </a:lnB>
                        <a:noFill/>
                      </a:tcPr>
                    </a:tc>
                    <a:extLst>
                      <a:ext uri="{0D108BD9-81ED-4DB2-BD59-A6C34878D82A}">
                        <a16:rowId xmlns:a16="http://schemas.microsoft.com/office/drawing/2014/main" val="1489579761"/>
                      </a:ext>
                    </a:extLst>
                  </a:tr>
                  <a:tr h="2055965">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For example: Two out of five pens are defective (So here we have only information that is defective pens)</a:t>
                          </a:r>
                        </a:p>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In fraction form, it can be written as </a:t>
                          </a:r>
                          <a14:m>
                            <m:oMath xmlns:m="http://schemas.openxmlformats.org/officeDocument/2006/math">
                              <m:f>
                                <m:fPr>
                                  <m:ctrlPr>
                                    <a:rPr lang="en-US" sz="2400" b="1" i="1" u="none" strike="noStrike" cap="none" dirty="0" smtClean="0">
                                      <a:solidFill>
                                        <a:schemeClr val="tx1"/>
                                      </a:solidFill>
                                      <a:latin typeface="Cambria Math" panose="02040503050406030204" pitchFamily="18" charset="0"/>
                                      <a:cs typeface="Times New Roman" panose="02020603050405020304" pitchFamily="18" charset="0"/>
                                      <a:sym typeface="Arial"/>
                                    </a:rPr>
                                  </m:ctrlPr>
                                </m:fPr>
                                <m:num>
                                  <m:r>
                                    <a:rPr lang="en-US" sz="2400" b="1" i="0" u="none" strike="noStrike" cap="none" dirty="0" smtClean="0">
                                      <a:solidFill>
                                        <a:schemeClr val="tx1"/>
                                      </a:solidFill>
                                      <a:latin typeface="Cambria Math" panose="02040503050406030204" pitchFamily="18" charset="0"/>
                                      <a:cs typeface="Times New Roman" panose="02020603050405020304" pitchFamily="18" charset="0"/>
                                      <a:sym typeface="Arial"/>
                                    </a:rPr>
                                    <m:t>2</m:t>
                                  </m:r>
                                </m:num>
                                <m:den>
                                  <m:r>
                                    <a:rPr lang="en-US" sz="2400" b="1" i="0" u="none" strike="noStrike" cap="none" dirty="0" smtClean="0">
                                      <a:solidFill>
                                        <a:schemeClr val="tx1"/>
                                      </a:solidFill>
                                      <a:latin typeface="Cambria Math" panose="02040503050406030204" pitchFamily="18" charset="0"/>
                                      <a:cs typeface="Times New Roman" panose="02020603050405020304" pitchFamily="18" charset="0"/>
                                      <a:sym typeface="Arial"/>
                                    </a:rPr>
                                    <m:t>5</m:t>
                                  </m:r>
                                </m:den>
                              </m:f>
                            </m:oMath>
                          </a14:m>
                          <a:endPar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endParaRPr>
                        </a:p>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a:t>
                          </a:r>
                        </a:p>
                      </a:txBody>
                      <a:tcPr anchor="ctr">
                        <a:lnL>
                          <a:noFill/>
                        </a:lnL>
                        <a:lnR>
                          <a:noFill/>
                        </a:lnR>
                        <a:lnT>
                          <a:noFill/>
                        </a:lnT>
                        <a:lnB>
                          <a:noFill/>
                        </a:lnB>
                        <a:no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For example: In a Bag, there are two red balls and five Pink balls</a:t>
                          </a:r>
                        </a:p>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Then, the ratio of the Red balls and Pink balls is represented as 2:5.</a:t>
                          </a:r>
                        </a:p>
                      </a:txBody>
                      <a:tcPr anchor="ctr">
                        <a:lnL>
                          <a:noFill/>
                        </a:lnL>
                        <a:lnR>
                          <a:noFill/>
                        </a:lnR>
                        <a:lnT>
                          <a:noFill/>
                        </a:lnT>
                        <a:lnB>
                          <a:noFill/>
                        </a:lnB>
                        <a:noFill/>
                      </a:tcPr>
                    </a:tc>
                    <a:extLst>
                      <a:ext uri="{0D108BD9-81ED-4DB2-BD59-A6C34878D82A}">
                        <a16:rowId xmlns:a16="http://schemas.microsoft.com/office/drawing/2014/main" val="1246673751"/>
                      </a:ext>
                    </a:extLst>
                  </a:tr>
                </a:tbl>
              </a:graphicData>
            </a:graphic>
          </p:graphicFrame>
        </mc:Choice>
        <mc:Fallback xmlns="">
          <p:graphicFrame>
            <p:nvGraphicFramePr>
              <p:cNvPr id="5" name="Table 4">
                <a:extLst>
                  <a:ext uri="{FF2B5EF4-FFF2-40B4-BE49-F238E27FC236}">
                    <a16:creationId xmlns:a16="http://schemas.microsoft.com/office/drawing/2014/main" id="{AA9DC343-245B-0616-A7BD-04722D43A6F7}"/>
                  </a:ext>
                </a:extLst>
              </p:cNvPr>
              <p:cNvGraphicFramePr>
                <a:graphicFrameLocks noGrp="1"/>
              </p:cNvGraphicFramePr>
              <p:nvPr>
                <p:extLst>
                  <p:ext uri="{D42A27DB-BD31-4B8C-83A1-F6EECF244321}">
                    <p14:modId xmlns:p14="http://schemas.microsoft.com/office/powerpoint/2010/main" val="2570634514"/>
                  </p:ext>
                </p:extLst>
              </p:nvPr>
            </p:nvGraphicFramePr>
            <p:xfrm>
              <a:off x="474133" y="2077155"/>
              <a:ext cx="11288890" cy="4518220"/>
            </p:xfrm>
            <a:graphic>
              <a:graphicData uri="http://schemas.openxmlformats.org/drawingml/2006/table">
                <a:tbl>
                  <a:tblPr/>
                  <a:tblGrid>
                    <a:gridCol w="5644445">
                      <a:extLst>
                        <a:ext uri="{9D8B030D-6E8A-4147-A177-3AD203B41FA5}">
                          <a16:colId xmlns:a16="http://schemas.microsoft.com/office/drawing/2014/main" val="2149956384"/>
                        </a:ext>
                      </a:extLst>
                    </a:gridCol>
                    <a:gridCol w="5644445">
                      <a:extLst>
                        <a:ext uri="{9D8B030D-6E8A-4147-A177-3AD203B41FA5}">
                          <a16:colId xmlns:a16="http://schemas.microsoft.com/office/drawing/2014/main" val="1642560635"/>
                        </a:ext>
                      </a:extLst>
                    </a:gridCol>
                  </a:tblGrid>
                  <a:tr h="600453">
                    <a:tc>
                      <a:txBody>
                        <a:bodyPr/>
                        <a:lstStyle/>
                        <a:p>
                          <a:r>
                            <a:rPr lang="en-IN" sz="2800" b="1" dirty="0">
                              <a:solidFill>
                                <a:srgbClr val="C00000"/>
                              </a:solidFill>
                              <a:latin typeface="Times New Roman" panose="02020603050405020304" pitchFamily="18" charset="0"/>
                              <a:cs typeface="Times New Roman" panose="02020603050405020304" pitchFamily="18" charset="0"/>
                            </a:rPr>
                            <a:t>Fraction</a:t>
                          </a:r>
                        </a:p>
                      </a:txBody>
                      <a:tcPr anchor="ctr">
                        <a:lnL>
                          <a:noFill/>
                        </a:lnL>
                        <a:lnR>
                          <a:noFill/>
                        </a:lnR>
                        <a:lnT>
                          <a:noFill/>
                        </a:lnT>
                        <a:lnB>
                          <a:noFill/>
                        </a:lnB>
                        <a:noFill/>
                      </a:tcPr>
                    </a:tc>
                    <a:tc>
                      <a:txBody>
                        <a:bodyPr/>
                        <a:lstStyle/>
                        <a:p>
                          <a:r>
                            <a:rPr lang="en-IN" sz="2800" b="1" dirty="0">
                              <a:solidFill>
                                <a:srgbClr val="C00000"/>
                              </a:solidFill>
                              <a:latin typeface="Times New Roman" panose="02020603050405020304" pitchFamily="18" charset="0"/>
                              <a:cs typeface="Times New Roman" panose="02020603050405020304" pitchFamily="18" charset="0"/>
                            </a:rPr>
                            <a:t>Ratio</a:t>
                          </a:r>
                        </a:p>
                      </a:txBody>
                      <a:tcPr anchor="ctr">
                        <a:lnL>
                          <a:noFill/>
                        </a:lnL>
                        <a:lnR>
                          <a:noFill/>
                        </a:lnR>
                        <a:lnT>
                          <a:noFill/>
                        </a:lnT>
                        <a:lnB>
                          <a:noFill/>
                        </a:lnB>
                        <a:noFill/>
                      </a:tcPr>
                    </a:tc>
                    <a:extLst>
                      <a:ext uri="{0D108BD9-81ED-4DB2-BD59-A6C34878D82A}">
                        <a16:rowId xmlns:a16="http://schemas.microsoft.com/office/drawing/2014/main" val="3156799516"/>
                      </a:ext>
                    </a:extLst>
                  </a:tr>
                  <a:tr h="1020770">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A fraction is defined as a part of a whole.</a:t>
                          </a:r>
                        </a:p>
                      </a:txBody>
                      <a:tcPr anchor="ctr">
                        <a:lnL>
                          <a:noFill/>
                        </a:lnL>
                        <a:lnR>
                          <a:noFill/>
                        </a:lnR>
                        <a:lnT>
                          <a:noFill/>
                        </a:lnT>
                        <a:lnB>
                          <a:noFill/>
                        </a:lnB>
                        <a:no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Ratio compares the size of two or more quantity in relation to each other.</a:t>
                          </a:r>
                        </a:p>
                      </a:txBody>
                      <a:tcPr anchor="ctr">
                        <a:lnL>
                          <a:noFill/>
                        </a:lnL>
                        <a:lnR>
                          <a:noFill/>
                        </a:lnR>
                        <a:lnT>
                          <a:noFill/>
                        </a:lnT>
                        <a:lnB>
                          <a:noFill/>
                        </a:lnB>
                        <a:noFill/>
                      </a:tcPr>
                    </a:tc>
                    <a:extLst>
                      <a:ext uri="{0D108BD9-81ED-4DB2-BD59-A6C34878D82A}">
                        <a16:rowId xmlns:a16="http://schemas.microsoft.com/office/drawing/2014/main" val="1716677486"/>
                      </a:ext>
                    </a:extLst>
                  </a:tr>
                  <a:tr h="822960">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A fraction is used to show a part of or compare to something.</a:t>
                          </a:r>
                        </a:p>
                      </a:txBody>
                      <a:tcPr anchor="ctr">
                        <a:lnL>
                          <a:noFill/>
                        </a:lnL>
                        <a:lnR>
                          <a:noFill/>
                        </a:lnR>
                        <a:lnT>
                          <a:noFill/>
                        </a:lnT>
                        <a:lnB>
                          <a:noFill/>
                        </a:lnB>
                        <a:no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It shows the relation among items.</a:t>
                          </a:r>
                        </a:p>
                      </a:txBody>
                      <a:tcPr anchor="ctr">
                        <a:lnL>
                          <a:noFill/>
                        </a:lnL>
                        <a:lnR>
                          <a:noFill/>
                        </a:lnR>
                        <a:lnT>
                          <a:noFill/>
                        </a:lnT>
                        <a:lnB>
                          <a:noFill/>
                        </a:lnB>
                        <a:noFill/>
                      </a:tcPr>
                    </a:tc>
                    <a:extLst>
                      <a:ext uri="{0D108BD9-81ED-4DB2-BD59-A6C34878D82A}">
                        <a16:rowId xmlns:a16="http://schemas.microsoft.com/office/drawing/2014/main" val="1489579761"/>
                      </a:ext>
                    </a:extLst>
                  </a:tr>
                  <a:tr h="2074037">
                    <a:tc>
                      <a:txBody>
                        <a:bodyPr/>
                        <a:lstStyle/>
                        <a:p>
                          <a:endParaRPr lang="en-US"/>
                        </a:p>
                      </a:txBody>
                      <a:tcPr anchor="ctr">
                        <a:lnL>
                          <a:noFill/>
                        </a:lnL>
                        <a:lnR>
                          <a:noFill/>
                        </a:lnR>
                        <a:lnT>
                          <a:noFill/>
                        </a:lnT>
                        <a:lnB>
                          <a:noFill/>
                        </a:lnB>
                        <a:blipFill>
                          <a:blip r:embed="rId3"/>
                          <a:stretch>
                            <a:fillRect t="-118475" r="-99892" b="-7038"/>
                          </a:stretch>
                        </a:blipFill>
                      </a:tcPr>
                    </a:tc>
                    <a:tc>
                      <a:txBody>
                        <a:bodyPr/>
                        <a:lstStyle/>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For example: In a Bag, there are two red balls and five Pink balls</a:t>
                          </a:r>
                        </a:p>
                        <a:p>
                          <a:r>
                            <a:rPr lang="en-US" sz="2400" b="1" i="0" u="none" strike="noStrike" cap="none" dirty="0">
                              <a:solidFill>
                                <a:schemeClr val="tx1"/>
                              </a:solidFill>
                              <a:latin typeface="Times New Roman" panose="02020603050405020304" pitchFamily="18" charset="0"/>
                              <a:ea typeface="Cambria"/>
                              <a:cs typeface="Times New Roman" panose="02020603050405020304" pitchFamily="18" charset="0"/>
                              <a:sym typeface="Arial"/>
                            </a:rPr>
                            <a:t>Then, the ratio of the Red balls and Pink balls is represented as 2:5.</a:t>
                          </a:r>
                        </a:p>
                      </a:txBody>
                      <a:tcPr anchor="ctr">
                        <a:lnL>
                          <a:noFill/>
                        </a:lnL>
                        <a:lnR>
                          <a:noFill/>
                        </a:lnR>
                        <a:lnT>
                          <a:noFill/>
                        </a:lnT>
                        <a:lnB>
                          <a:noFill/>
                        </a:lnB>
                        <a:noFill/>
                      </a:tcPr>
                    </a:tc>
                    <a:extLst>
                      <a:ext uri="{0D108BD9-81ED-4DB2-BD59-A6C34878D82A}">
                        <a16:rowId xmlns:a16="http://schemas.microsoft.com/office/drawing/2014/main" val="1246673751"/>
                      </a:ext>
                    </a:extLst>
                  </a:tr>
                </a:tbl>
              </a:graphicData>
            </a:graphic>
          </p:graphicFrame>
        </mc:Fallback>
      </mc:AlternateContent>
      <p:sp>
        <p:nvSpPr>
          <p:cNvPr id="7" name="TextBox 6">
            <a:extLst>
              <a:ext uri="{FF2B5EF4-FFF2-40B4-BE49-F238E27FC236}">
                <a16:creationId xmlns:a16="http://schemas.microsoft.com/office/drawing/2014/main" id="{F0FF060D-D9FA-2928-E1D1-64987964E9E0}"/>
              </a:ext>
            </a:extLst>
          </p:cNvPr>
          <p:cNvSpPr txBox="1"/>
          <p:nvPr/>
        </p:nvSpPr>
        <p:spPr>
          <a:xfrm>
            <a:off x="1783644" y="1403978"/>
            <a:ext cx="8195734" cy="584775"/>
          </a:xfrm>
          <a:prstGeom prst="rect">
            <a:avLst/>
          </a:prstGeom>
          <a:noFill/>
        </p:spPr>
        <p:txBody>
          <a:bodyPr wrap="square">
            <a:spAutoFit/>
          </a:bodyPr>
          <a:lstStyle/>
          <a:p>
            <a:r>
              <a:rPr lang="en-US" sz="3200" b="1">
                <a:solidFill>
                  <a:srgbClr val="C00000"/>
                </a:solidFill>
              </a:rPr>
              <a:t>Difference between  Fraction and Ratio</a:t>
            </a:r>
            <a:endParaRPr lang="en-US" sz="3200" b="1"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73E79F2-8C35-184E-0EB1-0374CE7F3171}"/>
            </a:ext>
          </a:extLst>
        </p:cNvPr>
        <p:cNvGrpSpPr/>
        <p:nvPr/>
      </p:nvGrpSpPr>
      <p:grpSpPr>
        <a:xfrm>
          <a:off x="0" y="0"/>
          <a:ext cx="0" cy="0"/>
          <a:chOff x="0" y="0"/>
          <a:chExt cx="0" cy="0"/>
        </a:xfrm>
      </p:grpSpPr>
      <p:sp>
        <p:nvSpPr>
          <p:cNvPr id="145" name="Google Shape;145;p2">
            <a:extLst>
              <a:ext uri="{FF2B5EF4-FFF2-40B4-BE49-F238E27FC236}">
                <a16:creationId xmlns:a16="http://schemas.microsoft.com/office/drawing/2014/main" id="{961ACF25-C958-6323-AC02-68D33B55CFD9}"/>
              </a:ext>
            </a:extLst>
          </p:cNvPr>
          <p:cNvSpPr txBox="1">
            <a:spLocks noGrp="1"/>
          </p:cNvSpPr>
          <p:nvPr>
            <p:ph type="body" idx="1"/>
          </p:nvPr>
        </p:nvSpPr>
        <p:spPr>
          <a:xfrm>
            <a:off x="633045" y="1666467"/>
            <a:ext cx="7543840" cy="469079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200"/>
              <a:buNone/>
            </a:pPr>
            <a:r>
              <a:rPr lang="en-IN" sz="2200" b="1" dirty="0">
                <a:latin typeface="Cambria"/>
                <a:ea typeface="Cambria"/>
                <a:cs typeface="Cambria"/>
                <a:sym typeface="Cambria"/>
              </a:rPr>
              <a:t>RATIO: </a:t>
            </a:r>
            <a:endParaRPr dirty="0"/>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When two or more similar quantities are compared, then to represent this comparison, ratios are used.</a:t>
            </a:r>
            <a:endParaRPr sz="2400" b="1" dirty="0">
              <a:solidFill>
                <a:schemeClr val="tx1"/>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The sign used to denote a ratio is ‘:’</a:t>
            </a:r>
            <a:endParaRPr sz="2400" b="1" dirty="0">
              <a:solidFill>
                <a:schemeClr val="tx1"/>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A fraction can be  represented in the form of ratio a:b and vice versa.</a:t>
            </a:r>
            <a:endParaRPr sz="2400" b="1" dirty="0">
              <a:solidFill>
                <a:schemeClr val="tx1"/>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The ratio should exist between the quantities of the same kind</a:t>
            </a:r>
            <a:endParaRPr sz="2400" b="1" dirty="0">
              <a:solidFill>
                <a:schemeClr val="tx1"/>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While comparing two things, the units should be similar</a:t>
            </a:r>
            <a:endParaRPr sz="2400" b="1" dirty="0">
              <a:solidFill>
                <a:schemeClr val="tx1"/>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The comparison of two ratios can be performed, if the ratios are equivalent like the fractions</a:t>
            </a:r>
            <a:endParaRPr sz="2400" b="1" dirty="0">
              <a:solidFill>
                <a:schemeClr val="tx1"/>
              </a:solidFill>
              <a:latin typeface="Times New Roman" panose="02020603050405020304" pitchFamily="18" charset="0"/>
              <a:ea typeface="Cambria"/>
              <a:cs typeface="Times New Roman" panose="02020603050405020304" pitchFamily="18" charset="0"/>
              <a:sym typeface="Cambria"/>
            </a:endParaRPr>
          </a:p>
        </p:txBody>
      </p:sp>
      <p:pic>
        <p:nvPicPr>
          <p:cNvPr id="146" name="Google Shape;146;p2">
            <a:extLst>
              <a:ext uri="{FF2B5EF4-FFF2-40B4-BE49-F238E27FC236}">
                <a16:creationId xmlns:a16="http://schemas.microsoft.com/office/drawing/2014/main" id="{92D1E63C-2EE7-24DE-10EF-0C0E0C143E4C}"/>
              </a:ext>
            </a:extLst>
          </p:cNvPr>
          <p:cNvPicPr preferRelativeResize="0"/>
          <p:nvPr/>
        </p:nvPicPr>
        <p:blipFill rotWithShape="1">
          <a:blip r:embed="rId3">
            <a:alphaModFix/>
          </a:blip>
          <a:srcRect/>
          <a:stretch/>
        </p:blipFill>
        <p:spPr>
          <a:xfrm>
            <a:off x="8325853" y="2502569"/>
            <a:ext cx="3233103" cy="2192996"/>
          </a:xfrm>
          <a:prstGeom prst="rect">
            <a:avLst/>
          </a:prstGeom>
          <a:noFill/>
          <a:ln>
            <a:noFill/>
          </a:ln>
        </p:spPr>
      </p:pic>
    </p:spTree>
    <p:extLst>
      <p:ext uri="{BB962C8B-B14F-4D97-AF65-F5344CB8AC3E}">
        <p14:creationId xmlns:p14="http://schemas.microsoft.com/office/powerpoint/2010/main" val="1104383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BDCA2C4-E193-71C7-2336-49BACD6B196D}"/>
                  </a:ext>
                </a:extLst>
              </p:cNvPr>
              <p:cNvSpPr>
                <a:spLocks noGrp="1"/>
              </p:cNvSpPr>
              <p:nvPr>
                <p:ph type="body" idx="1"/>
              </p:nvPr>
            </p:nvSpPr>
            <p:spPr>
              <a:xfrm>
                <a:off x="442450" y="1619082"/>
                <a:ext cx="11307097" cy="5032440"/>
              </a:xfrm>
            </p:spPr>
            <p:txBody>
              <a:bodyPr/>
              <a:lstStyle/>
              <a:p>
                <a:pPr marL="114300" indent="0" algn="just">
                  <a:buNone/>
                </a:pPr>
                <a:r>
                  <a:rPr lang="en-US" sz="2000" b="1">
                    <a:solidFill>
                      <a:srgbClr val="C00000"/>
                    </a:solidFill>
                    <a:latin typeface="Times New Roman" panose="02020603050405020304" pitchFamily="18" charset="0"/>
                    <a:ea typeface="Cambria"/>
                    <a:cs typeface="Times New Roman" panose="02020603050405020304" pitchFamily="18" charset="0"/>
                  </a:rPr>
                  <a:t>1. Duplicate Ratio :- </a:t>
                </a:r>
                <a:r>
                  <a:rPr lang="en-US" sz="2000" b="1">
                    <a:latin typeface="Times New Roman" panose="02020603050405020304" pitchFamily="18" charset="0"/>
                    <a:ea typeface="Cambria"/>
                    <a:cs typeface="Times New Roman" panose="02020603050405020304" pitchFamily="18" charset="0"/>
                  </a:rPr>
                  <a:t>If </a:t>
                </a:r>
                <a:r>
                  <a:rPr lang="en-US" sz="2000" b="1" dirty="0">
                    <a:latin typeface="Times New Roman" panose="02020603050405020304" pitchFamily="18" charset="0"/>
                    <a:ea typeface="Cambria"/>
                    <a:cs typeface="Times New Roman" panose="02020603050405020304" pitchFamily="18" charset="0"/>
                  </a:rPr>
                  <a:t>two numbers are in ratio, then the ratio of their squares is called duplicate ratio. If a and b are two numbers, then the duplicate ratio of a and b would </a:t>
                </a:r>
                <a:r>
                  <a:rPr lang="en-US" sz="2000" b="1">
                    <a:latin typeface="Times New Roman" panose="02020603050405020304" pitchFamily="18" charset="0"/>
                    <a:ea typeface="Cambria"/>
                    <a:cs typeface="Times New Roman" panose="02020603050405020304" pitchFamily="18" charset="0"/>
                  </a:rPr>
                  <a:t>be a² : b².</a:t>
                </a:r>
                <a:endParaRPr lang="en-US" sz="2000" b="1" dirty="0">
                  <a:latin typeface="Times New Roman" panose="02020603050405020304" pitchFamily="18" charset="0"/>
                  <a:ea typeface="Cambria"/>
                  <a:cs typeface="Times New Roman" panose="02020603050405020304" pitchFamily="18" charset="0"/>
                </a:endParaRPr>
              </a:p>
              <a:p>
                <a:pPr marL="114300" indent="0" algn="just">
                  <a:buNone/>
                </a:pPr>
                <a:r>
                  <a:rPr lang="en-US" sz="2000" b="1" dirty="0">
                    <a:latin typeface="Times New Roman" panose="02020603050405020304" pitchFamily="18" charset="0"/>
                    <a:ea typeface="Cambria"/>
                    <a:cs typeface="Times New Roman" panose="02020603050405020304" pitchFamily="18" charset="0"/>
                  </a:rPr>
                  <a:t> </a:t>
                </a:r>
                <a:r>
                  <a:rPr lang="en-US" sz="2000" b="1" dirty="0" err="1">
                    <a:latin typeface="Times New Roman" panose="02020603050405020304" pitchFamily="18" charset="0"/>
                    <a:ea typeface="Cambria"/>
                    <a:cs typeface="Times New Roman" panose="02020603050405020304" pitchFamily="18" charset="0"/>
                  </a:rPr>
                  <a:t>Eg.</a:t>
                </a:r>
                <a:r>
                  <a:rPr lang="en-US" sz="2000" b="1" dirty="0">
                    <a:latin typeface="Times New Roman" panose="02020603050405020304" pitchFamily="18" charset="0"/>
                    <a:ea typeface="Cambria"/>
                    <a:cs typeface="Times New Roman" panose="02020603050405020304" pitchFamily="18" charset="0"/>
                  </a:rPr>
                  <a:t> Duplicate ratio of 3 : 4 = </a:t>
                </a:r>
                <a14:m>
                  <m:oMath xmlns:m="http://schemas.openxmlformats.org/officeDocument/2006/math">
                    <m:sSup>
                      <m:sSupPr>
                        <m:ctrlPr>
                          <a:rPr lang="en-US" sz="2000" b="1" i="1">
                            <a:latin typeface="Cambria Math" panose="02040503050406030204" pitchFamily="18" charset="0"/>
                            <a:ea typeface="Cambria"/>
                            <a:cs typeface="Times New Roman" panose="02020603050405020304" pitchFamily="18" charset="0"/>
                          </a:rPr>
                        </m:ctrlPr>
                      </m:sSupPr>
                      <m:e>
                        <m:r>
                          <a:rPr lang="en-US" sz="2000" b="1" i="1">
                            <a:latin typeface="Cambria Math" panose="02040503050406030204" pitchFamily="18" charset="0"/>
                            <a:ea typeface="Cambria"/>
                            <a:cs typeface="Times New Roman" panose="02020603050405020304" pitchFamily="18" charset="0"/>
                          </a:rPr>
                          <m:t>𝟑</m:t>
                        </m:r>
                      </m:e>
                      <m:sup>
                        <m:r>
                          <a:rPr lang="en-US" sz="2000" b="1" i="1">
                            <a:latin typeface="Cambria Math" panose="02040503050406030204" pitchFamily="18" charset="0"/>
                            <a:ea typeface="Cambria"/>
                            <a:cs typeface="Times New Roman" panose="02020603050405020304" pitchFamily="18" charset="0"/>
                          </a:rPr>
                          <m:t>𝟐</m:t>
                        </m:r>
                      </m:sup>
                    </m:sSup>
                  </m:oMath>
                </a14:m>
                <a:r>
                  <a:rPr lang="en-US" sz="2000" b="1" dirty="0">
                    <a:latin typeface="Times New Roman" panose="02020603050405020304" pitchFamily="18" charset="0"/>
                    <a:ea typeface="Cambria"/>
                    <a:cs typeface="Times New Roman" panose="02020603050405020304" pitchFamily="18" charset="0"/>
                  </a:rPr>
                  <a:t>:</a:t>
                </a:r>
                <a:r>
                  <a:rPr lang="en-US" sz="2000" b="1" dirty="0">
                    <a:ea typeface="Cambria"/>
                    <a:cs typeface="Times New Roman" panose="02020603050405020304" pitchFamily="18" charset="0"/>
                  </a:rPr>
                  <a:t> </a:t>
                </a:r>
                <a14:m>
                  <m:oMath xmlns:m="http://schemas.openxmlformats.org/officeDocument/2006/math">
                    <m:sSup>
                      <m:sSupPr>
                        <m:ctrlPr>
                          <a:rPr lang="en-US" sz="2000" b="1" i="1">
                            <a:latin typeface="Cambria Math" panose="02040503050406030204" pitchFamily="18" charset="0"/>
                            <a:ea typeface="Cambria"/>
                            <a:cs typeface="Times New Roman" panose="02020603050405020304" pitchFamily="18" charset="0"/>
                          </a:rPr>
                        </m:ctrlPr>
                      </m:sSupPr>
                      <m:e>
                        <m:r>
                          <a:rPr lang="en-US" sz="2000" b="1" i="1">
                            <a:latin typeface="Cambria Math" panose="02040503050406030204" pitchFamily="18" charset="0"/>
                            <a:ea typeface="Cambria"/>
                            <a:cs typeface="Times New Roman" panose="02020603050405020304" pitchFamily="18" charset="0"/>
                          </a:rPr>
                          <m:t>𝟒</m:t>
                        </m:r>
                      </m:e>
                      <m:sup>
                        <m:r>
                          <a:rPr lang="en-US" sz="2000" b="1" i="1">
                            <a:latin typeface="Cambria Math" panose="02040503050406030204" pitchFamily="18" charset="0"/>
                            <a:ea typeface="Cambria"/>
                            <a:cs typeface="Times New Roman" panose="02020603050405020304" pitchFamily="18" charset="0"/>
                          </a:rPr>
                          <m:t>𝟐</m:t>
                        </m:r>
                      </m:sup>
                    </m:sSup>
                  </m:oMath>
                </a14:m>
                <a:r>
                  <a:rPr lang="en-US" sz="2000" b="1" dirty="0">
                    <a:latin typeface="Times New Roman" panose="02020603050405020304" pitchFamily="18" charset="0"/>
                    <a:ea typeface="Cambria"/>
                    <a:cs typeface="Times New Roman" panose="02020603050405020304" pitchFamily="18" charset="0"/>
                  </a:rPr>
                  <a:t> =9:16</a:t>
                </a:r>
              </a:p>
              <a:p>
                <a:pPr marL="114300" indent="0" algn="just">
                  <a:buFont typeface="Arial" panose="020B0604020202020204" pitchFamily="34" charset="0"/>
                  <a:buNone/>
                </a:pPr>
                <a:r>
                  <a:rPr lang="en-US" sz="2000" b="1" dirty="0">
                    <a:solidFill>
                      <a:srgbClr val="C00000"/>
                    </a:solidFill>
                    <a:latin typeface="Times New Roman" panose="02020603050405020304" pitchFamily="18" charset="0"/>
                    <a:ea typeface="Cambria"/>
                    <a:cs typeface="Times New Roman" panose="02020603050405020304" pitchFamily="18" charset="0"/>
                  </a:rPr>
                  <a:t>2. Triplicate </a:t>
                </a:r>
                <a:r>
                  <a:rPr lang="en-US" sz="2000" b="1">
                    <a:solidFill>
                      <a:srgbClr val="C00000"/>
                    </a:solidFill>
                    <a:latin typeface="Times New Roman" panose="02020603050405020304" pitchFamily="18" charset="0"/>
                    <a:ea typeface="Cambria"/>
                    <a:cs typeface="Times New Roman" panose="02020603050405020304" pitchFamily="18" charset="0"/>
                  </a:rPr>
                  <a:t>Ratio :- </a:t>
                </a:r>
                <a:r>
                  <a:rPr lang="en-US" sz="2000" b="1">
                    <a:latin typeface="Times New Roman" panose="02020603050405020304" pitchFamily="18" charset="0"/>
                    <a:ea typeface="Cambria"/>
                    <a:cs typeface="Times New Roman" panose="02020603050405020304" pitchFamily="18" charset="0"/>
                  </a:rPr>
                  <a:t>If </a:t>
                </a:r>
                <a:r>
                  <a:rPr lang="en-US" sz="2000" b="1" dirty="0">
                    <a:latin typeface="Times New Roman" panose="02020603050405020304" pitchFamily="18" charset="0"/>
                    <a:ea typeface="Cambria"/>
                    <a:cs typeface="Times New Roman" panose="02020603050405020304" pitchFamily="18" charset="0"/>
                  </a:rPr>
                  <a:t>two numbers are in ratio, then the ratio of their cubes is called triplicate ratio. If a and b are two numbers, then the triplicate ratio of a and b would </a:t>
                </a:r>
                <a:r>
                  <a:rPr lang="en-US" sz="2000" b="1">
                    <a:latin typeface="Times New Roman" panose="02020603050405020304" pitchFamily="18" charset="0"/>
                    <a:ea typeface="Cambria"/>
                    <a:cs typeface="Times New Roman" panose="02020603050405020304" pitchFamily="18" charset="0"/>
                  </a:rPr>
                  <a:t>be a³: b³</a:t>
                </a:r>
                <a:r>
                  <a:rPr lang="en-US" sz="2000" b="1" dirty="0">
                    <a:latin typeface="Times New Roman" panose="02020603050405020304" pitchFamily="18" charset="0"/>
                    <a:ea typeface="Cambria"/>
                    <a:cs typeface="Times New Roman" panose="02020603050405020304" pitchFamily="18" charset="0"/>
                  </a:rPr>
                  <a:t>. </a:t>
                </a:r>
              </a:p>
              <a:p>
                <a:pPr marL="114300" indent="0" algn="just">
                  <a:buFont typeface="Arial" panose="020B0604020202020204" pitchFamily="34" charset="0"/>
                  <a:buNone/>
                </a:pPr>
                <a:r>
                  <a:rPr lang="en-US" sz="2000" b="1" dirty="0" err="1">
                    <a:latin typeface="Times New Roman" panose="02020603050405020304" pitchFamily="18" charset="0"/>
                    <a:ea typeface="Cambria"/>
                    <a:cs typeface="Times New Roman" panose="02020603050405020304" pitchFamily="18" charset="0"/>
                  </a:rPr>
                  <a:t>Eg.</a:t>
                </a:r>
                <a:r>
                  <a:rPr lang="en-US" sz="2000" b="1" dirty="0">
                    <a:latin typeface="Times New Roman" panose="02020603050405020304" pitchFamily="18" charset="0"/>
                    <a:ea typeface="Cambria"/>
                    <a:cs typeface="Times New Roman" panose="02020603050405020304" pitchFamily="18" charset="0"/>
                  </a:rPr>
                  <a:t> Triplicate ratio of </a:t>
                </a:r>
                <a:r>
                  <a:rPr lang="en-US" sz="2000" b="1">
                    <a:latin typeface="Times New Roman" panose="02020603050405020304" pitchFamily="18" charset="0"/>
                    <a:ea typeface="Cambria"/>
                    <a:cs typeface="Times New Roman" panose="02020603050405020304" pitchFamily="18" charset="0"/>
                  </a:rPr>
                  <a:t>2 : 3 </a:t>
                </a:r>
                <a:r>
                  <a:rPr lang="en-US" sz="2000" b="1" dirty="0">
                    <a:latin typeface="Times New Roman" panose="02020603050405020304" pitchFamily="18" charset="0"/>
                    <a:ea typeface="Cambria"/>
                    <a:cs typeface="Times New Roman" panose="02020603050405020304" pitchFamily="18" charset="0"/>
                  </a:rPr>
                  <a:t>= </a:t>
                </a:r>
                <a14:m>
                  <m:oMath xmlns:m="http://schemas.openxmlformats.org/officeDocument/2006/math">
                    <m:sSup>
                      <m:sSupPr>
                        <m:ctrlPr>
                          <a:rPr lang="en-US" sz="2000" b="1" i="1">
                            <a:latin typeface="Cambria Math" panose="02040503050406030204" pitchFamily="18" charset="0"/>
                            <a:ea typeface="Cambria"/>
                            <a:cs typeface="Times New Roman" panose="02020603050405020304" pitchFamily="18" charset="0"/>
                          </a:rPr>
                        </m:ctrlPr>
                      </m:sSupPr>
                      <m:e>
                        <m:r>
                          <a:rPr lang="en-US" sz="2000" b="1" i="1">
                            <a:latin typeface="Cambria Math" panose="02040503050406030204" pitchFamily="18" charset="0"/>
                            <a:ea typeface="Cambria"/>
                            <a:cs typeface="Times New Roman" panose="02020603050405020304" pitchFamily="18" charset="0"/>
                          </a:rPr>
                          <m:t>𝟐</m:t>
                        </m:r>
                      </m:e>
                      <m:sup>
                        <m:r>
                          <a:rPr lang="en-US" sz="2000" b="1" i="1">
                            <a:latin typeface="Cambria Math" panose="02040503050406030204" pitchFamily="18" charset="0"/>
                            <a:ea typeface="Cambria"/>
                            <a:cs typeface="Times New Roman" panose="02020603050405020304" pitchFamily="18" charset="0"/>
                          </a:rPr>
                          <m:t>𝟑</m:t>
                        </m:r>
                      </m:sup>
                    </m:sSup>
                  </m:oMath>
                </a14:m>
                <a:r>
                  <a:rPr lang="en-US" sz="2000" b="1" dirty="0">
                    <a:latin typeface="Times New Roman" panose="02020603050405020304" pitchFamily="18" charset="0"/>
                    <a:ea typeface="Cambria"/>
                    <a:cs typeface="Times New Roman" panose="02020603050405020304" pitchFamily="18" charset="0"/>
                  </a:rPr>
                  <a:t>:</a:t>
                </a:r>
                <a:r>
                  <a:rPr lang="en-US" sz="2000" b="1" dirty="0">
                    <a:ea typeface="Cambria"/>
                    <a:cs typeface="Times New Roman" panose="02020603050405020304" pitchFamily="18" charset="0"/>
                  </a:rPr>
                  <a:t> </a:t>
                </a:r>
                <a14:m>
                  <m:oMath xmlns:m="http://schemas.openxmlformats.org/officeDocument/2006/math">
                    <m:sSup>
                      <m:sSupPr>
                        <m:ctrlPr>
                          <a:rPr lang="en-US" sz="2000" b="1" i="1">
                            <a:latin typeface="Cambria Math" panose="02040503050406030204" pitchFamily="18" charset="0"/>
                            <a:ea typeface="Cambria"/>
                            <a:cs typeface="Times New Roman" panose="02020603050405020304" pitchFamily="18" charset="0"/>
                          </a:rPr>
                        </m:ctrlPr>
                      </m:sSupPr>
                      <m:e>
                        <m:r>
                          <a:rPr lang="en-US" sz="2000" b="1" i="1">
                            <a:latin typeface="Cambria Math" panose="02040503050406030204" pitchFamily="18" charset="0"/>
                            <a:ea typeface="Cambria"/>
                            <a:cs typeface="Times New Roman" panose="02020603050405020304" pitchFamily="18" charset="0"/>
                          </a:rPr>
                          <m:t>𝟑</m:t>
                        </m:r>
                      </m:e>
                      <m:sup>
                        <m:r>
                          <a:rPr lang="en-US" sz="2000" b="1" i="1">
                            <a:latin typeface="Cambria Math" panose="02040503050406030204" pitchFamily="18" charset="0"/>
                            <a:ea typeface="Cambria"/>
                            <a:cs typeface="Times New Roman" panose="02020603050405020304" pitchFamily="18" charset="0"/>
                          </a:rPr>
                          <m:t>𝟑</m:t>
                        </m:r>
                      </m:sup>
                    </m:sSup>
                    <m:r>
                      <a:rPr lang="en-US" sz="2000" b="1" i="1">
                        <a:latin typeface="Cambria Math" panose="02040503050406030204" pitchFamily="18" charset="0"/>
                        <a:ea typeface="Cambria"/>
                        <a:cs typeface="Times New Roman" panose="02020603050405020304" pitchFamily="18" charset="0"/>
                      </a:rPr>
                      <m:t> </m:t>
                    </m:r>
                  </m:oMath>
                </a14:m>
                <a:r>
                  <a:rPr lang="en-US" sz="2000" b="1" dirty="0">
                    <a:latin typeface="Times New Roman" panose="02020603050405020304" pitchFamily="18" charset="0"/>
                    <a:ea typeface="Cambria"/>
                    <a:cs typeface="Times New Roman" panose="02020603050405020304" pitchFamily="18" charset="0"/>
                  </a:rPr>
                  <a:t>= 8:27</a:t>
                </a:r>
              </a:p>
              <a:p>
                <a:pPr marL="114300" indent="0" algn="just">
                  <a:buNone/>
                </a:pPr>
                <a:r>
                  <a:rPr lang="en-US" sz="2000" b="1" dirty="0">
                    <a:latin typeface="Times New Roman" panose="02020603050405020304" pitchFamily="18" charset="0"/>
                    <a:ea typeface="Cambria"/>
                    <a:cs typeface="Times New Roman" panose="02020603050405020304" pitchFamily="18" charset="0"/>
                  </a:rPr>
                  <a:t> </a:t>
                </a:r>
                <a:r>
                  <a:rPr lang="en-US" sz="2000" b="1" dirty="0">
                    <a:solidFill>
                      <a:srgbClr val="C00000"/>
                    </a:solidFill>
                    <a:latin typeface="Times New Roman" panose="02020603050405020304" pitchFamily="18" charset="0"/>
                    <a:ea typeface="Cambria"/>
                    <a:cs typeface="Times New Roman" panose="02020603050405020304" pitchFamily="18" charset="0"/>
                  </a:rPr>
                  <a:t>3. Sub-duplicate </a:t>
                </a:r>
                <a:r>
                  <a:rPr lang="en-US" sz="2000" b="1">
                    <a:solidFill>
                      <a:srgbClr val="C00000"/>
                    </a:solidFill>
                    <a:latin typeface="Times New Roman" panose="02020603050405020304" pitchFamily="18" charset="0"/>
                    <a:ea typeface="Cambria"/>
                    <a:cs typeface="Times New Roman" panose="02020603050405020304" pitchFamily="18" charset="0"/>
                  </a:rPr>
                  <a:t>Ratio :- </a:t>
                </a:r>
                <a:r>
                  <a:rPr lang="en-US" sz="2000" b="1">
                    <a:latin typeface="Times New Roman" panose="02020603050405020304" pitchFamily="18" charset="0"/>
                    <a:ea typeface="Cambria"/>
                    <a:cs typeface="Times New Roman" panose="02020603050405020304" pitchFamily="18" charset="0"/>
                  </a:rPr>
                  <a:t>If </a:t>
                </a:r>
                <a:r>
                  <a:rPr lang="en-US" sz="2000" b="1" dirty="0">
                    <a:latin typeface="Times New Roman" panose="02020603050405020304" pitchFamily="18" charset="0"/>
                    <a:ea typeface="Cambria"/>
                    <a:cs typeface="Times New Roman" panose="02020603050405020304" pitchFamily="18" charset="0"/>
                  </a:rPr>
                  <a:t>two numbers are in ratio, then the ratio of their square roots is called sub-duplicate ratio. If a and b are two numbers, then the sub-duplicate ratio of a and b would </a:t>
                </a:r>
                <a:r>
                  <a:rPr lang="en-US" sz="2000" b="1">
                    <a:latin typeface="Times New Roman" panose="02020603050405020304" pitchFamily="18" charset="0"/>
                    <a:ea typeface="Cambria"/>
                    <a:cs typeface="Times New Roman" panose="02020603050405020304" pitchFamily="18" charset="0"/>
                  </a:rPr>
                  <a:t>be √a:√b</a:t>
                </a:r>
                <a:endParaRPr lang="en-US" sz="2000" b="1" dirty="0">
                  <a:latin typeface="Times New Roman" panose="02020603050405020304" pitchFamily="18" charset="0"/>
                  <a:ea typeface="Cambria"/>
                  <a:cs typeface="Times New Roman" panose="02020603050405020304" pitchFamily="18" charset="0"/>
                </a:endParaRPr>
              </a:p>
              <a:p>
                <a:pPr marL="114300" indent="0" algn="just">
                  <a:buFont typeface="Arial" panose="020B0604020202020204" pitchFamily="34" charset="0"/>
                  <a:buNone/>
                </a:pPr>
                <a:r>
                  <a:rPr lang="en-US" sz="2000" b="1" dirty="0">
                    <a:solidFill>
                      <a:srgbClr val="C00000"/>
                    </a:solidFill>
                    <a:latin typeface="Times New Roman" panose="02020603050405020304" pitchFamily="18" charset="0"/>
                    <a:ea typeface="Cambria"/>
                    <a:cs typeface="Times New Roman" panose="02020603050405020304" pitchFamily="18" charset="0"/>
                  </a:rPr>
                  <a:t>4. Sub-triplicate </a:t>
                </a:r>
                <a:r>
                  <a:rPr lang="en-US" sz="2000" b="1">
                    <a:solidFill>
                      <a:srgbClr val="C00000"/>
                    </a:solidFill>
                    <a:latin typeface="Times New Roman" panose="02020603050405020304" pitchFamily="18" charset="0"/>
                    <a:ea typeface="Cambria"/>
                    <a:cs typeface="Times New Roman" panose="02020603050405020304" pitchFamily="18" charset="0"/>
                  </a:rPr>
                  <a:t>Ratio :- </a:t>
                </a:r>
                <a:r>
                  <a:rPr lang="en-US" sz="2000" b="1">
                    <a:latin typeface="Times New Roman" panose="02020603050405020304" pitchFamily="18" charset="0"/>
                    <a:ea typeface="Cambria"/>
                    <a:cs typeface="Times New Roman" panose="02020603050405020304" pitchFamily="18" charset="0"/>
                  </a:rPr>
                  <a:t>If </a:t>
                </a:r>
                <a:r>
                  <a:rPr lang="en-US" sz="2000" b="1" dirty="0">
                    <a:latin typeface="Times New Roman" panose="02020603050405020304" pitchFamily="18" charset="0"/>
                    <a:ea typeface="Cambria"/>
                    <a:cs typeface="Times New Roman" panose="02020603050405020304" pitchFamily="18" charset="0"/>
                  </a:rPr>
                  <a:t>two numbers are in ratio, then the ratio of their cube roots is called sub-triplicate ratio. If a and b are two numbers, then the sub- triplicate ratio of a and b would be </a:t>
                </a:r>
                <a14:m>
                  <m:oMath xmlns:m="http://schemas.openxmlformats.org/officeDocument/2006/math">
                    <m:rad>
                      <m:radPr>
                        <m:ctrlPr>
                          <a:rPr lang="en-US" sz="2000" b="1" i="1" dirty="0">
                            <a:latin typeface="Cambria Math" panose="02040503050406030204" pitchFamily="18" charset="0"/>
                            <a:ea typeface="Cambria Math" panose="02040503050406030204" pitchFamily="18" charset="0"/>
                            <a:cs typeface="Times New Roman" panose="02020603050405020304" pitchFamily="18" charset="0"/>
                          </a:rPr>
                        </m:ctrlPr>
                      </m:radPr>
                      <m:deg>
                        <m:r>
                          <a:rPr lang="en-US" sz="2000" b="1" dirty="0">
                            <a:latin typeface="Cambria Math" panose="02040503050406030204" pitchFamily="18" charset="0"/>
                            <a:ea typeface="Cambria Math" panose="02040503050406030204" pitchFamily="18" charset="0"/>
                            <a:cs typeface="Times New Roman" panose="02020603050405020304" pitchFamily="18" charset="0"/>
                          </a:rPr>
                          <m:t>3</m:t>
                        </m:r>
                      </m:deg>
                      <m:e>
                        <m:r>
                          <a:rPr lang="en-US" sz="2000" b="1" i="1" dirty="0">
                            <a:latin typeface="Cambria Math" panose="02040503050406030204" pitchFamily="18" charset="0"/>
                            <a:ea typeface="Cambria Math" panose="02040503050406030204" pitchFamily="18" charset="0"/>
                            <a:cs typeface="Times New Roman" panose="02020603050405020304" pitchFamily="18" charset="0"/>
                          </a:rPr>
                          <m:t>𝒂</m:t>
                        </m:r>
                      </m:e>
                    </m:rad>
                    <m:r>
                      <a:rPr lang="en-US" sz="2000" b="1" i="1" dirty="0">
                        <a:latin typeface="Cambria Math" panose="02040503050406030204" pitchFamily="18" charset="0"/>
                        <a:ea typeface="Cambria Math" panose="02040503050406030204" pitchFamily="18" charset="0"/>
                        <a:cs typeface="Times New Roman" panose="02020603050405020304" pitchFamily="18" charset="0"/>
                      </a:rPr>
                      <m:t>:∛</m:t>
                    </m:r>
                    <m:r>
                      <a:rPr lang="en-US" sz="2000" b="1" i="1" dirty="0">
                        <a:latin typeface="Cambria Math" panose="02040503050406030204" pitchFamily="18" charset="0"/>
                        <a:ea typeface="Cambria Math" panose="02040503050406030204" pitchFamily="18" charset="0"/>
                        <a:cs typeface="Times New Roman" panose="02020603050405020304" pitchFamily="18" charset="0"/>
                      </a:rPr>
                      <m:t>𝒃</m:t>
                    </m:r>
                  </m:oMath>
                </a14:m>
                <a:endParaRPr lang="en-IN" sz="2000" b="1" dirty="0">
                  <a:latin typeface="Times New Roman" panose="02020603050405020304" pitchFamily="18" charset="0"/>
                  <a:ea typeface="Cambria"/>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1BDCA2C4-E193-71C7-2336-49BACD6B196D}"/>
                  </a:ext>
                </a:extLst>
              </p:cNvPr>
              <p:cNvSpPr>
                <a:spLocks noGrp="1" noRot="1" noChangeAspect="1" noMove="1" noResize="1" noEditPoints="1" noAdjustHandles="1" noChangeArrowheads="1" noChangeShapeType="1" noTextEdit="1"/>
              </p:cNvSpPr>
              <p:nvPr>
                <p:ph type="body" idx="1"/>
              </p:nvPr>
            </p:nvSpPr>
            <p:spPr>
              <a:xfrm>
                <a:off x="442450" y="1619082"/>
                <a:ext cx="11307097" cy="5032440"/>
              </a:xfrm>
              <a:blipFill>
                <a:blip r:embed="rId2"/>
                <a:stretch>
                  <a:fillRect r="-593"/>
                </a:stretch>
              </a:blipFill>
            </p:spPr>
            <p:txBody>
              <a:bodyPr/>
              <a:lstStyle/>
              <a:p>
                <a:r>
                  <a:rPr lang="en-IN">
                    <a:noFill/>
                  </a:rPr>
                  <a:t> </a:t>
                </a:r>
              </a:p>
            </p:txBody>
          </p:sp>
        </mc:Fallback>
      </mc:AlternateContent>
      <p:sp>
        <p:nvSpPr>
          <p:cNvPr id="2" name="TextBox 1">
            <a:extLst>
              <a:ext uri="{FF2B5EF4-FFF2-40B4-BE49-F238E27FC236}">
                <a16:creationId xmlns:a16="http://schemas.microsoft.com/office/drawing/2014/main" id="{05714127-B52C-C4C3-7801-FA39545CA108}"/>
              </a:ext>
            </a:extLst>
          </p:cNvPr>
          <p:cNvSpPr txBox="1"/>
          <p:nvPr/>
        </p:nvSpPr>
        <p:spPr>
          <a:xfrm>
            <a:off x="541866" y="1095862"/>
            <a:ext cx="2863284" cy="523220"/>
          </a:xfrm>
          <a:prstGeom prst="rect">
            <a:avLst/>
          </a:prstGeom>
          <a:noFill/>
        </p:spPr>
        <p:txBody>
          <a:bodyPr wrap="none" rtlCol="0">
            <a:spAutoFit/>
          </a:bodyPr>
          <a:lstStyle/>
          <a:p>
            <a:r>
              <a:rPr lang="en-IN" sz="2800" b="1">
                <a:solidFill>
                  <a:schemeClr val="tx1"/>
                </a:solidFill>
              </a:rPr>
              <a:t>Types of ratios:</a:t>
            </a:r>
          </a:p>
        </p:txBody>
      </p:sp>
    </p:spTree>
    <p:extLst>
      <p:ext uri="{BB962C8B-B14F-4D97-AF65-F5344CB8AC3E}">
        <p14:creationId xmlns:p14="http://schemas.microsoft.com/office/powerpoint/2010/main" val="1127286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D594EC46-341E-5888-1637-5CE58FBD885D}"/>
                  </a:ext>
                </a:extLst>
              </p:cNvPr>
              <p:cNvSpPr>
                <a:spLocks noGrp="1"/>
              </p:cNvSpPr>
              <p:nvPr>
                <p:ph type="body" idx="1"/>
              </p:nvPr>
            </p:nvSpPr>
            <p:spPr>
              <a:xfrm>
                <a:off x="718603" y="1103071"/>
                <a:ext cx="10515240" cy="4350960"/>
              </a:xfrm>
            </p:spPr>
            <p:txBody>
              <a:bodyPr/>
              <a:lstStyle/>
              <a:p>
                <a:pPr marL="114300" indent="0" algn="just">
                  <a:buFont typeface="Arial" panose="020B0604020202020204" pitchFamily="34" charset="0"/>
                  <a:buNone/>
                </a:pPr>
                <a:r>
                  <a:rPr lang="en-US" sz="2000" b="1" dirty="0">
                    <a:solidFill>
                      <a:srgbClr val="C00000"/>
                    </a:solidFill>
                    <a:latin typeface="Times New Roman" panose="02020603050405020304" pitchFamily="18" charset="0"/>
                    <a:ea typeface="Cambria"/>
                    <a:cs typeface="Times New Roman" panose="02020603050405020304" pitchFamily="18" charset="0"/>
                    <a:sym typeface="Cambria"/>
                  </a:rPr>
                  <a:t>5. Inverse Ratio:- </a:t>
                </a:r>
                <a:r>
                  <a:rPr lang="en-US" sz="2000" b="1" dirty="0">
                    <a:latin typeface="Times New Roman" panose="02020603050405020304" pitchFamily="18" charset="0"/>
                    <a:ea typeface="Cambria"/>
                    <a:cs typeface="Times New Roman" panose="02020603050405020304" pitchFamily="18" charset="0"/>
                    <a:sym typeface="Cambria"/>
                  </a:rPr>
                  <a:t>If two numbers are in ratio, then their antecedent and consequent are interchanged and the ratio obtained is called inverse ratio, If a and b are two numbers and their ratio is a : b, then its inverse ratio will be y:x. Example :-</a:t>
                </a:r>
              </a:p>
              <a:p>
                <a:pPr marL="114300" indent="0">
                  <a:buFont typeface="Arial" panose="020B0604020202020204" pitchFamily="34" charset="0"/>
                  <a:buNone/>
                </a:pPr>
                <a:r>
                  <a:rPr lang="en-US" sz="2000" b="1" dirty="0">
                    <a:latin typeface="Times New Roman" panose="02020603050405020304" pitchFamily="18" charset="0"/>
                    <a:ea typeface="Cambria"/>
                    <a:cs typeface="Times New Roman" panose="02020603050405020304" pitchFamily="18" charset="0"/>
                    <a:sym typeface="Cambria"/>
                  </a:rPr>
                  <a:t>Inverse ratio of 4 :5 is 5 :4</a:t>
                </a:r>
                <a:endParaRPr lang="en-US" sz="2000" b="1" dirty="0">
                  <a:latin typeface="Times New Roman" panose="02020603050405020304" pitchFamily="18" charset="0"/>
                  <a:ea typeface="Cambria"/>
                  <a:cs typeface="Times New Roman" panose="02020603050405020304" pitchFamily="18" charset="0"/>
                </a:endParaRPr>
              </a:p>
              <a:p>
                <a:pPr marL="114300" indent="0" algn="just">
                  <a:buFont typeface="Arial" panose="020B0604020202020204" pitchFamily="34" charset="0"/>
                  <a:buNone/>
                </a:pPr>
                <a:r>
                  <a:rPr lang="en-US" sz="2000" b="1" dirty="0">
                    <a:solidFill>
                      <a:srgbClr val="C00000"/>
                    </a:solidFill>
                    <a:latin typeface="Times New Roman" panose="02020603050405020304" pitchFamily="18" charset="0"/>
                    <a:ea typeface="Cambria"/>
                    <a:cs typeface="Times New Roman" panose="02020603050405020304" pitchFamily="18" charset="0"/>
                    <a:sym typeface="Cambria"/>
                  </a:rPr>
                  <a:t>6. Compound Ratio:- </a:t>
                </a:r>
                <a:r>
                  <a:rPr lang="en-US" sz="2000" b="1" dirty="0">
                    <a:latin typeface="Times New Roman" panose="02020603050405020304" pitchFamily="18" charset="0"/>
                    <a:ea typeface="Cambria"/>
                    <a:cs typeface="Times New Roman" panose="02020603050405020304" pitchFamily="18" charset="0"/>
                    <a:sym typeface="Cambria"/>
                  </a:rPr>
                  <a:t>If two or more ratios are given, then the antecedent of one is multiplied with antecedent of other and respective consequents are also multiplied. If a : b, c : d and e : f are three ratios, then their compound ratio will be ace: </a:t>
                </a:r>
                <a:r>
                  <a:rPr lang="en-US" sz="2000" b="1" dirty="0" err="1">
                    <a:latin typeface="Times New Roman" panose="02020603050405020304" pitchFamily="18" charset="0"/>
                    <a:ea typeface="Cambria"/>
                    <a:cs typeface="Times New Roman" panose="02020603050405020304" pitchFamily="18" charset="0"/>
                    <a:sym typeface="Cambria"/>
                  </a:rPr>
                  <a:t>bdf</a:t>
                </a:r>
                <a:r>
                  <a:rPr lang="en-US" sz="2000" b="1" dirty="0">
                    <a:latin typeface="Times New Roman" panose="02020603050405020304" pitchFamily="18" charset="0"/>
                    <a:ea typeface="Cambria"/>
                    <a:cs typeface="Times New Roman" panose="02020603050405020304" pitchFamily="18" charset="0"/>
                    <a:sym typeface="Cambria"/>
                  </a:rPr>
                  <a:t> </a:t>
                </a:r>
                <a:endParaRPr lang="en-US" sz="2000" b="1" dirty="0">
                  <a:latin typeface="Times New Roman" panose="02020603050405020304" pitchFamily="18" charset="0"/>
                  <a:ea typeface="Cambria"/>
                  <a:cs typeface="Times New Roman" panose="02020603050405020304" pitchFamily="18" charset="0"/>
                </a:endParaRPr>
              </a:p>
              <a:p>
                <a:pPr marL="114300" indent="0">
                  <a:buFont typeface="Arial" panose="020B0604020202020204" pitchFamily="34" charset="0"/>
                  <a:buNone/>
                </a:pPr>
                <a:r>
                  <a:rPr lang="en-US" sz="2000" b="1" dirty="0">
                    <a:latin typeface="Times New Roman" panose="02020603050405020304" pitchFamily="18" charset="0"/>
                    <a:ea typeface="Cambria"/>
                    <a:cs typeface="Times New Roman" panose="02020603050405020304" pitchFamily="18" charset="0"/>
                    <a:sym typeface="Cambria"/>
                  </a:rPr>
                  <a:t>		         The compound ratio of </a:t>
                </a:r>
                <a:r>
                  <a:rPr lang="en-US" sz="2000" b="1">
                    <a:latin typeface="Times New Roman" panose="02020603050405020304" pitchFamily="18" charset="0"/>
                    <a:ea typeface="Cambria"/>
                    <a:cs typeface="Times New Roman" panose="02020603050405020304" pitchFamily="18" charset="0"/>
                    <a:sym typeface="Cambria"/>
                  </a:rPr>
                  <a:t>2:5, 6:7, 9:13= </a:t>
                </a:r>
                <a14:m>
                  <m:oMath xmlns:m="http://schemas.openxmlformats.org/officeDocument/2006/math">
                    <m:f>
                      <m:fPr>
                        <m:ctrlPr>
                          <a:rPr lang="en-US" sz="2000" b="1" i="1">
                            <a:latin typeface="Cambria Math" panose="02040503050406030204" pitchFamily="18" charset="0"/>
                            <a:ea typeface="Cambria"/>
                            <a:cs typeface="Times New Roman" panose="02020603050405020304" pitchFamily="18" charset="0"/>
                            <a:sym typeface="Cambria"/>
                          </a:rPr>
                        </m:ctrlPr>
                      </m:fPr>
                      <m:num>
                        <m:r>
                          <a:rPr lang="en-IN" sz="2000" b="1" i="1">
                            <a:latin typeface="Cambria Math" panose="02040503050406030204" pitchFamily="18" charset="0"/>
                            <a:ea typeface="Cambria"/>
                            <a:cs typeface="Times New Roman" panose="02020603050405020304" pitchFamily="18" charset="0"/>
                            <a:sym typeface="Cambria"/>
                          </a:rPr>
                          <m:t>𝟏𝟎𝟖</m:t>
                        </m:r>
                      </m:num>
                      <m:den>
                        <m:r>
                          <a:rPr lang="en-IN" sz="2000" b="1" i="1">
                            <a:latin typeface="Cambria Math" panose="02040503050406030204" pitchFamily="18" charset="0"/>
                            <a:ea typeface="Cambria"/>
                            <a:cs typeface="Times New Roman" panose="02020603050405020304" pitchFamily="18" charset="0"/>
                            <a:sym typeface="Cambria"/>
                          </a:rPr>
                          <m:t>𝟒𝟓𝟓</m:t>
                        </m:r>
                      </m:den>
                    </m:f>
                  </m:oMath>
                </a14:m>
                <a:endParaRPr lang="en-US" sz="2000" b="1" dirty="0">
                  <a:latin typeface="Times New Roman" panose="02020603050405020304" pitchFamily="18" charset="0"/>
                  <a:ea typeface="Cambria"/>
                  <a:cs typeface="Times New Roman" panose="02020603050405020304" pitchFamily="18" charset="0"/>
                </a:endParaRPr>
              </a:p>
            </p:txBody>
          </p:sp>
        </mc:Choice>
        <mc:Fallback xmlns="">
          <p:sp>
            <p:nvSpPr>
              <p:cNvPr id="7" name="Text Placeholder 6">
                <a:extLst>
                  <a:ext uri="{FF2B5EF4-FFF2-40B4-BE49-F238E27FC236}">
                    <a16:creationId xmlns:a16="http://schemas.microsoft.com/office/drawing/2014/main" id="{D594EC46-341E-5888-1637-5CE58FBD885D}"/>
                  </a:ext>
                </a:extLst>
              </p:cNvPr>
              <p:cNvSpPr>
                <a:spLocks noGrp="1" noRot="1" noChangeAspect="1" noMove="1" noResize="1" noEditPoints="1" noAdjustHandles="1" noChangeArrowheads="1" noChangeShapeType="1" noTextEdit="1"/>
              </p:cNvSpPr>
              <p:nvPr>
                <p:ph type="body" idx="1"/>
              </p:nvPr>
            </p:nvSpPr>
            <p:spPr>
              <a:xfrm>
                <a:off x="718603" y="1103071"/>
                <a:ext cx="10515240" cy="4350960"/>
              </a:xfrm>
              <a:blipFill>
                <a:blip r:embed="rId3"/>
                <a:stretch>
                  <a:fillRect r="-580"/>
                </a:stretch>
              </a:blipFill>
            </p:spPr>
            <p:txBody>
              <a:bodyPr/>
              <a:lstStyle/>
              <a:p>
                <a:r>
                  <a:rPr lang="en-IN">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5" name="Google Shape;265;p14"/>
          <p:cNvSpPr/>
          <p:nvPr/>
        </p:nvSpPr>
        <p:spPr>
          <a:xfrm>
            <a:off x="588780" y="1054899"/>
            <a:ext cx="10680120" cy="1937538"/>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1</a:t>
            </a:r>
            <a:r>
              <a:rPr lang="en-IN" sz="2400" b="1">
                <a:latin typeface="Times New Roman" panose="02020603050405020304" pitchFamily="18" charset="0"/>
                <a:ea typeface="Cambria"/>
                <a:cs typeface="Times New Roman" panose="02020603050405020304" pitchFamily="18" charset="0"/>
                <a:sym typeface="Cambria"/>
              </a:rPr>
              <a:t>. </a:t>
            </a:r>
            <a:r>
              <a:rPr lang="en-US" sz="2400" b="1" dirty="0">
                <a:latin typeface="Times New Roman" panose="02020603050405020304" pitchFamily="18" charset="0"/>
                <a:ea typeface="Cambria"/>
                <a:cs typeface="Times New Roman" panose="02020603050405020304" pitchFamily="18" charset="0"/>
              </a:rPr>
              <a:t>If a:b=2:3 and b:c=2:4 then a:b:c=? </a:t>
            </a: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a:t>
            </a:r>
            <a:r>
              <a:rPr lang="en-IN" sz="2400" b="1" dirty="0">
                <a:latin typeface="Times New Roman" panose="02020603050405020304" pitchFamily="18" charset="0"/>
                <a:ea typeface="Cambria"/>
                <a:cs typeface="Times New Roman" panose="02020603050405020304" pitchFamily="18" charset="0"/>
              </a:rPr>
              <a:t>2:3:6 </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2:4:8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1:3:8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4:9:12</a:t>
            </a:r>
            <a:endParaRPr sz="2400" b="1" dirty="0">
              <a:latin typeface="Times New Roman" panose="02020603050405020304" pitchFamily="18" charset="0"/>
              <a:ea typeface="Cambria"/>
              <a:cs typeface="Times New Roman" panose="02020603050405020304" pitchFamily="18" charset="0"/>
            </a:endParaRPr>
          </a:p>
        </p:txBody>
      </p:sp>
    </p:spTree>
    <p:extLst>
      <p:ext uri="{BB962C8B-B14F-4D97-AF65-F5344CB8AC3E}">
        <p14:creationId xmlns:p14="http://schemas.microsoft.com/office/powerpoint/2010/main" val="263013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4" name="Google Shape;274;p15"/>
          <p:cNvSpPr/>
          <p:nvPr/>
        </p:nvSpPr>
        <p:spPr>
          <a:xfrm>
            <a:off x="624060" y="1054486"/>
            <a:ext cx="10942560" cy="1937538"/>
          </a:xfrm>
          <a:prstGeom prst="rect">
            <a:avLst/>
          </a:prstGeom>
          <a:noFill/>
          <a:ln>
            <a:noFill/>
          </a:ln>
        </p:spPr>
        <p:txBody>
          <a:bodyPr spcFirstLastPara="1" wrap="square" lIns="90000" tIns="45000" rIns="90000" bIns="45000" anchor="t" anchorCtr="0">
            <a:spAutoFit/>
          </a:bodyPr>
          <a:lstStyle/>
          <a:p>
            <a:r>
              <a:rPr lang="en-IN" sz="2400" b="1" dirty="0">
                <a:latin typeface="Times New Roman" panose="02020603050405020304" pitchFamily="18" charset="0"/>
                <a:ea typeface="Cambria"/>
                <a:cs typeface="Times New Roman" panose="02020603050405020304" pitchFamily="18" charset="0"/>
                <a:sym typeface="Cambria"/>
              </a:rPr>
              <a:t>2</a:t>
            </a:r>
            <a:r>
              <a:rPr lang="en-IN" sz="2400" b="1">
                <a:latin typeface="Times New Roman" panose="02020603050405020304" pitchFamily="18" charset="0"/>
                <a:ea typeface="Cambria"/>
                <a:cs typeface="Times New Roman" panose="02020603050405020304" pitchFamily="18" charset="0"/>
                <a:sym typeface="Cambria"/>
              </a:rPr>
              <a:t>. </a:t>
            </a:r>
            <a:r>
              <a:rPr lang="en-IN" sz="2400" b="1" dirty="0">
                <a:latin typeface="Times New Roman" panose="02020603050405020304" pitchFamily="18" charset="0"/>
                <a:ea typeface="Cambria"/>
                <a:cs typeface="Times New Roman" panose="02020603050405020304" pitchFamily="18" charset="0"/>
                <a:sym typeface="Cambria"/>
              </a:rPr>
              <a:t>The compounded ratio of (2 : 3), (6: 11) and (11 :2) is</a:t>
            </a:r>
            <a:endParaRPr sz="2400" b="1" dirty="0">
              <a:latin typeface="Times New Roman" panose="02020603050405020304" pitchFamily="18" charset="0"/>
              <a:ea typeface="Cambria"/>
              <a:cs typeface="Times New Roman" panose="02020603050405020304" pitchFamily="18" charset="0"/>
              <a:sym typeface="Cambria"/>
            </a:endParaRPr>
          </a:p>
          <a:p>
            <a:pPr marL="457200" indent="-457200">
              <a:buSzPts val="2800"/>
              <a:buFont typeface="+mj-lt"/>
              <a:buAutoNum type="alphaLcParenR"/>
            </a:pPr>
            <a:r>
              <a:rPr lang="en-IN" sz="2400" b="1" dirty="0">
                <a:latin typeface="Times New Roman" panose="02020603050405020304" pitchFamily="18" charset="0"/>
                <a:ea typeface="Cambria"/>
                <a:cs typeface="Times New Roman" panose="02020603050405020304" pitchFamily="18" charset="0"/>
                <a:sym typeface="Cambria"/>
              </a:rPr>
              <a:t>1:2</a:t>
            </a:r>
            <a:endParaRPr lang="en-IN" sz="2400" b="1" dirty="0">
              <a:latin typeface="Times New Roman" panose="02020603050405020304" pitchFamily="18" charset="0"/>
              <a:ea typeface="Cambria"/>
              <a:cs typeface="Times New Roman" panose="02020603050405020304" pitchFamily="18" charset="0"/>
            </a:endParaRPr>
          </a:p>
          <a:p>
            <a:pPr marL="457200" indent="-457200">
              <a:buSzPts val="2800"/>
              <a:buFont typeface="+mj-lt"/>
              <a:buAutoNum type="alphaLcParenR"/>
            </a:pPr>
            <a:r>
              <a:rPr lang="en-IN" sz="2400" b="1" dirty="0">
                <a:latin typeface="Times New Roman" panose="02020603050405020304" pitchFamily="18" charset="0"/>
                <a:ea typeface="Cambria"/>
                <a:cs typeface="Times New Roman" panose="02020603050405020304" pitchFamily="18" charset="0"/>
                <a:sym typeface="Cambria"/>
              </a:rPr>
              <a:t>2:1</a:t>
            </a:r>
            <a:endParaRPr lang="en-IN" sz="2400" b="1" dirty="0">
              <a:latin typeface="Times New Roman" panose="02020603050405020304" pitchFamily="18" charset="0"/>
              <a:ea typeface="Cambria"/>
              <a:cs typeface="Times New Roman" panose="02020603050405020304" pitchFamily="18" charset="0"/>
            </a:endParaRPr>
          </a:p>
          <a:p>
            <a:pPr marL="457200" indent="-457200">
              <a:buSzPts val="2800"/>
              <a:buFont typeface="+mj-lt"/>
              <a:buAutoNum type="alphaLcParenR"/>
            </a:pPr>
            <a:r>
              <a:rPr lang="en-IN" sz="2400" b="1" dirty="0">
                <a:latin typeface="Times New Roman" panose="02020603050405020304" pitchFamily="18" charset="0"/>
                <a:ea typeface="Cambria"/>
                <a:cs typeface="Times New Roman" panose="02020603050405020304" pitchFamily="18" charset="0"/>
                <a:sym typeface="Cambria"/>
              </a:rPr>
              <a:t>11:24</a:t>
            </a:r>
            <a:endParaRPr lang="en-IN" sz="2400" b="1" dirty="0">
              <a:latin typeface="Times New Roman" panose="02020603050405020304" pitchFamily="18" charset="0"/>
              <a:ea typeface="Cambria"/>
              <a:cs typeface="Times New Roman" panose="02020603050405020304" pitchFamily="18" charset="0"/>
            </a:endParaRPr>
          </a:p>
          <a:p>
            <a:pPr marL="457200" indent="-457200">
              <a:buSzPts val="2800"/>
              <a:buFont typeface="+mj-lt"/>
              <a:buAutoNum type="alphaLcParenR"/>
            </a:pPr>
            <a:r>
              <a:rPr lang="en-IN" sz="2400" b="1" dirty="0">
                <a:latin typeface="Times New Roman" panose="02020603050405020304" pitchFamily="18" charset="0"/>
                <a:ea typeface="Cambria"/>
                <a:cs typeface="Times New Roman" panose="02020603050405020304" pitchFamily="18" charset="0"/>
                <a:sym typeface="Cambria"/>
              </a:rPr>
              <a:t>36:121</a:t>
            </a:r>
            <a:endParaRPr sz="2400" b="1" dirty="0">
              <a:latin typeface="Times New Roman" panose="02020603050405020304" pitchFamily="18" charset="0"/>
              <a:ea typeface="Cambria"/>
              <a:cs typeface="Times New Roman" panose="02020603050405020304" pitchFamily="18" charset="0"/>
              <a:sym typeface="Cambria"/>
            </a:endParaRPr>
          </a:p>
        </p:txBody>
      </p:sp>
      <p:sp>
        <p:nvSpPr>
          <p:cNvPr id="275" name="Google Shape;275;p15"/>
          <p:cNvSpPr/>
          <p:nvPr/>
        </p:nvSpPr>
        <p:spPr>
          <a:xfrm>
            <a:off x="6003360" y="-91080"/>
            <a:ext cx="183960" cy="63936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br>
              <a:rPr lang="en-IN" sz="1800">
                <a:solidFill>
                  <a:schemeClr val="dk1"/>
                </a:solidFill>
                <a:latin typeface="Arial"/>
                <a:ea typeface="Arial"/>
                <a:cs typeface="Arial"/>
                <a:sym typeface="Arial"/>
              </a:rPr>
            </a:br>
            <a:endParaRPr sz="1800" b="0"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5" name="Google Shape;265;p14"/>
          <p:cNvSpPr/>
          <p:nvPr/>
        </p:nvSpPr>
        <p:spPr>
          <a:xfrm>
            <a:off x="588780" y="1054899"/>
            <a:ext cx="10680120" cy="1937538"/>
          </a:xfrm>
          <a:prstGeom prst="rect">
            <a:avLst/>
          </a:prstGeom>
          <a:noFill/>
          <a:ln>
            <a:noFill/>
          </a:ln>
        </p:spPr>
        <p:txBody>
          <a:bodyPr spcFirstLastPara="1" wrap="square" lIns="90000" tIns="45000" rIns="90000" bIns="45000" anchor="t" anchorCtr="0">
            <a:spAutoFit/>
          </a:bodyPr>
          <a:lstStyle/>
          <a:p>
            <a:r>
              <a:rPr lang="en-IN" sz="2400" b="1" dirty="0">
                <a:latin typeface="Times New Roman" panose="02020603050405020304" pitchFamily="18" charset="0"/>
                <a:ea typeface="Cambria"/>
                <a:cs typeface="Times New Roman" panose="02020603050405020304" pitchFamily="18" charset="0"/>
                <a:sym typeface="Cambria"/>
              </a:rPr>
              <a:t>3</a:t>
            </a:r>
            <a:r>
              <a:rPr lang="en-IN" sz="2400" b="1">
                <a:latin typeface="Times New Roman" panose="02020603050405020304" pitchFamily="18" charset="0"/>
                <a:ea typeface="Cambria"/>
                <a:cs typeface="Times New Roman" panose="02020603050405020304" pitchFamily="18" charset="0"/>
                <a:sym typeface="Cambria"/>
              </a:rPr>
              <a:t>. </a:t>
            </a:r>
            <a:r>
              <a:rPr lang="en-US" sz="2400" b="1" dirty="0">
                <a:latin typeface="Times New Roman" panose="02020603050405020304" pitchFamily="18" charset="0"/>
                <a:ea typeface="Cambria"/>
                <a:cs typeface="Times New Roman" panose="02020603050405020304" pitchFamily="18" charset="0"/>
              </a:rPr>
              <a:t>If a:b:c=2:3:4 and 2a-3b+4c=33, then the value of c is. </a:t>
            </a:r>
          </a:p>
          <a:p>
            <a:r>
              <a:rPr lang="en-IN" sz="2400" b="1" dirty="0">
                <a:latin typeface="Times New Roman" panose="02020603050405020304" pitchFamily="18" charset="0"/>
                <a:ea typeface="Cambria"/>
                <a:cs typeface="Times New Roman" panose="02020603050405020304" pitchFamily="18" charset="0"/>
                <a:sym typeface="Cambria"/>
              </a:rPr>
              <a:t>A. </a:t>
            </a:r>
            <a:r>
              <a:rPr lang="en-IN" sz="2400" b="1" dirty="0">
                <a:latin typeface="Times New Roman" panose="02020603050405020304" pitchFamily="18" charset="0"/>
                <a:ea typeface="Cambria"/>
                <a:cs typeface="Times New Roman" panose="02020603050405020304" pitchFamily="18" charset="0"/>
              </a:rPr>
              <a:t>6 </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9</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12</a:t>
            </a:r>
            <a:endParaRPr sz="2400" b="1" dirty="0">
              <a:latin typeface="Times New Roman" panose="02020603050405020304" pitchFamily="18" charset="0"/>
              <a:ea typeface="Cambria"/>
              <a:cs typeface="Times New Roman" panose="02020603050405020304" pitchFamily="18" charset="0"/>
            </a:endParaRPr>
          </a:p>
        </p:txBody>
      </p:sp>
    </p:spTree>
    <p:extLst>
      <p:ext uri="{BB962C8B-B14F-4D97-AF65-F5344CB8AC3E}">
        <p14:creationId xmlns:p14="http://schemas.microsoft.com/office/powerpoint/2010/main" val="149272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5"/>
          <p:cNvPicPr preferRelativeResize="0"/>
          <p:nvPr/>
        </p:nvPicPr>
        <p:blipFill rotWithShape="1">
          <a:blip r:embed="rId3">
            <a:alphaModFix/>
          </a:blip>
          <a:srcRect/>
          <a:stretch/>
        </p:blipFill>
        <p:spPr>
          <a:xfrm>
            <a:off x="7112000" y="2162629"/>
            <a:ext cx="4451640" cy="3309257"/>
          </a:xfrm>
          <a:prstGeom prst="rect">
            <a:avLst/>
          </a:prstGeom>
          <a:noFill/>
          <a:ln>
            <a:noFill/>
          </a:ln>
        </p:spPr>
      </p:pic>
      <p:sp>
        <p:nvSpPr>
          <p:cNvPr id="177" name="Google Shape;177;p5"/>
          <p:cNvSpPr txBox="1">
            <a:spLocks noGrp="1"/>
          </p:cNvSpPr>
          <p:nvPr>
            <p:ph type="body" idx="1"/>
          </p:nvPr>
        </p:nvSpPr>
        <p:spPr>
          <a:xfrm>
            <a:off x="633045" y="1666467"/>
            <a:ext cx="6653126" cy="469079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200"/>
              <a:buNone/>
            </a:pPr>
            <a:r>
              <a:rPr lang="en-IN" sz="3600" b="1" dirty="0">
                <a:solidFill>
                  <a:srgbClr val="C00000"/>
                </a:solidFill>
                <a:latin typeface="Times New Roman" panose="02020603050405020304" pitchFamily="18" charset="0"/>
                <a:cs typeface="Times New Roman" panose="02020603050405020304" pitchFamily="18" charset="0"/>
                <a:sym typeface="Cambria"/>
              </a:rPr>
              <a:t>PROPORTION:- </a:t>
            </a:r>
            <a:endParaRPr sz="3600" b="1" dirty="0">
              <a:solidFill>
                <a:srgbClr val="C00000"/>
              </a:solidFill>
              <a:latin typeface="Times New Roman" panose="02020603050405020304" pitchFamily="18" charset="0"/>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Proportion is an equation that defines that the two given ratios are equivalent to each other. </a:t>
            </a:r>
            <a:endParaRPr sz="2400" b="1" dirty="0">
              <a:solidFill>
                <a:schemeClr val="tx1"/>
              </a:solidFill>
              <a:latin typeface="Times New Roman" panose="02020603050405020304" pitchFamily="18" charset="0"/>
              <a:ea typeface="Cambria"/>
              <a:cs typeface="Times New Roman" panose="02020603050405020304" pitchFamily="18" charset="0"/>
            </a:endParaRPr>
          </a:p>
          <a:p>
            <a:pPr marL="228600" lvl="0" indent="-228600" algn="l" rtl="0">
              <a:lnSpc>
                <a:spcPct val="90000"/>
              </a:lnSpc>
              <a:spcBef>
                <a:spcPts val="1000"/>
              </a:spcBef>
              <a:spcAft>
                <a:spcPts val="0"/>
              </a:spcAft>
              <a:buClr>
                <a:schemeClr val="dk1"/>
              </a:buClr>
              <a:buSzPts val="2200"/>
              <a:buFont typeface="Noto Sans Symbols"/>
              <a:buChar char="⮚"/>
            </a:pPr>
            <a:r>
              <a:rPr lang="en-IN" sz="2400" b="1" dirty="0">
                <a:solidFill>
                  <a:schemeClr val="tx1"/>
                </a:solidFill>
                <a:latin typeface="Times New Roman" panose="02020603050405020304" pitchFamily="18" charset="0"/>
                <a:ea typeface="Cambria"/>
                <a:cs typeface="Times New Roman" panose="02020603050405020304" pitchFamily="18" charset="0"/>
                <a:sym typeface="Cambria"/>
              </a:rPr>
              <a:t>When two ratios are equal in value, then they are said to be in proportion. In simple words, it compares two ratios. Proportions are denoted by the symbol  ‘::’ or ‘=’</a:t>
            </a:r>
            <a:endParaRPr sz="2400" b="1" dirty="0">
              <a:solidFill>
                <a:schemeClr val="tx1"/>
              </a:solidFill>
              <a:latin typeface="Times New Roman" panose="02020603050405020304" pitchFamily="18" charset="0"/>
              <a:ea typeface="Cambria"/>
              <a:cs typeface="Times New Roman" panose="02020603050405020304" pitchFamily="18" charset="0"/>
            </a:endParaRPr>
          </a:p>
        </p:txBody>
      </p:sp>
      <p:sp>
        <p:nvSpPr>
          <p:cNvPr id="178" name="Google Shape;178;p5"/>
          <p:cNvSpPr/>
          <p:nvPr/>
        </p:nvSpPr>
        <p:spPr>
          <a:xfrm>
            <a:off x="633044" y="1666467"/>
            <a:ext cx="10930597" cy="4690794"/>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1438F-DBD8-F154-9D50-2DA75634E70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CFF305-32D8-8130-621B-3D63C902113B}"/>
                  </a:ext>
                </a:extLst>
              </p:cNvPr>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1. Cross Multiplication</a:t>
                </a:r>
                <a:r>
                  <a:rPr kumimoji="0" lang="en-US" sz="2400" b="1" i="0" u="none" strike="noStrike" kern="1200" cap="none" spc="0" normalizeH="0" baseline="0" noProof="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𝒂</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𝒄</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 ad = </a:t>
                </a:r>
                <a:r>
                  <a:rPr kumimoji="0" lang="en-US" sz="2400" b="1" i="0" u="none" strike="noStrike" kern="1200" cap="none" spc="0" normalizeH="0" baseline="0" noProof="0" dirty="0" err="1">
                    <a:ln>
                      <a:noFill/>
                    </a:ln>
                    <a:solidFill>
                      <a:prstClr val="black"/>
                    </a:solidFill>
                    <a:effectLst/>
                    <a:uLnTx/>
                    <a:uFillTx/>
                    <a:latin typeface="Arial"/>
                    <a:ea typeface="+mn-ea"/>
                    <a:cs typeface="+mn-cs"/>
                  </a:rPr>
                  <a:t>bc</a:t>
                </a:r>
                <a:endParaRPr kumimoji="0" lang="en-US"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2. </a:t>
                </a:r>
                <a:r>
                  <a:rPr kumimoji="0" lang="en-US" sz="2400" b="1" i="0" u="none" strike="noStrike" kern="1200" cap="none" spc="0" normalizeH="0" baseline="0" noProof="0" dirty="0" err="1">
                    <a:ln>
                      <a:noFill/>
                    </a:ln>
                    <a:solidFill>
                      <a:prstClr val="black"/>
                    </a:solidFill>
                    <a:effectLst/>
                    <a:uLnTx/>
                    <a:uFillTx/>
                    <a:latin typeface="Arial"/>
                    <a:ea typeface="+mn-ea"/>
                    <a:cs typeface="+mn-cs"/>
                  </a:rPr>
                  <a:t>Invertendo</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𝒄</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𝒃</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𝒂</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𝒄</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3. </a:t>
                </a:r>
                <a:r>
                  <a:rPr kumimoji="0" lang="en-US" sz="2400" b="1" i="0" u="none" strike="noStrike" kern="1200" cap="none" spc="0" normalizeH="0" baseline="0" noProof="0" dirty="0" err="1">
                    <a:ln>
                      <a:noFill/>
                    </a:ln>
                    <a:solidFill>
                      <a:prstClr val="black"/>
                    </a:solidFill>
                    <a:effectLst/>
                    <a:uLnTx/>
                    <a:uFillTx/>
                    <a:latin typeface="Arial"/>
                    <a:ea typeface="+mn-ea"/>
                    <a:cs typeface="+mn-cs"/>
                  </a:rPr>
                  <a:t>Alternendo</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𝒄</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𝒄</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𝒃</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4. Componendo: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𝒃</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𝒄</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5. </a:t>
                </a:r>
                <a:r>
                  <a:rPr kumimoji="0" lang="en-US" sz="2400" b="1" i="0" u="none" strike="noStrike" kern="1200" cap="none" spc="0" normalizeH="0" baseline="0" noProof="0" dirty="0" err="1">
                    <a:ln>
                      <a:noFill/>
                    </a:ln>
                    <a:solidFill>
                      <a:prstClr val="black"/>
                    </a:solidFill>
                    <a:effectLst/>
                    <a:uLnTx/>
                    <a:uFillTx/>
                    <a:latin typeface="Arial"/>
                    <a:ea typeface="+mn-ea"/>
                    <a:cs typeface="+mn-cs"/>
                  </a:rPr>
                  <a:t>Dividendo</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𝒄</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num>
                      <m:den>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a:ea typeface="+mn-ea"/>
                    <a:cs typeface="+mn-cs"/>
                  </a:rPr>
                  <a:t>6. Componendo &amp; </a:t>
                </a:r>
                <a:r>
                  <a:rPr kumimoji="0" lang="en-US" sz="2400" b="1" i="0" u="none" strike="noStrike" kern="1200" cap="none" spc="0" normalizeH="0" baseline="0" noProof="0" err="1">
                    <a:ln>
                      <a:noFill/>
                    </a:ln>
                    <a:solidFill>
                      <a:prstClr val="black"/>
                    </a:solidFill>
                    <a:effectLst/>
                    <a:uLnTx/>
                    <a:uFillTx/>
                    <a:latin typeface="Arial"/>
                    <a:ea typeface="+mn-ea"/>
                    <a:cs typeface="+mn-cs"/>
                  </a:rPr>
                  <a:t>Dividendo</a:t>
                </a:r>
                <a:r>
                  <a:rPr kumimoji="0" lang="en-US" sz="2400" b="1" i="0" u="none" strike="noStrike" kern="1200" cap="none" spc="0" normalizeH="0" baseline="0" noProof="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𝒂</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𝒂</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𝒃</m:t>
                        </m:r>
                      </m:den>
                    </m:f>
                  </m:oMath>
                </a14:m>
                <a:r>
                  <a:rPr kumimoji="0" lang="en-US" sz="2400" b="1" i="0" u="none" strike="noStrike" kern="1200" cap="none" spc="0" normalizeH="0" baseline="0" noProof="0">
                    <a:ln>
                      <a:noFill/>
                    </a:ln>
                    <a:solidFill>
                      <a:prstClr val="black"/>
                    </a:solidFill>
                    <a:effectLst/>
                    <a:uLnTx/>
                    <a:uFillTx/>
                    <a:latin typeface="Arial"/>
                    <a:ea typeface="+mn-ea"/>
                    <a:cs typeface="+mn-cs"/>
                  </a:rPr>
                  <a:t> </a:t>
                </a:r>
                <a:r>
                  <a:rPr kumimoji="0" lang="en-US" sz="2400" b="1" i="0" u="none" strike="noStrike" kern="1200" cap="none" spc="0" normalizeH="0" baseline="0" noProof="0" dirty="0">
                    <a:ln>
                      <a:noFill/>
                    </a:ln>
                    <a:solidFill>
                      <a:prstClr val="black"/>
                    </a:solidFill>
                    <a:effectLst/>
                    <a:uLnTx/>
                    <a:uFillTx/>
                    <a:latin typeface="Arial"/>
                    <a:ea typeface="+mn-ea"/>
                    <a:cs typeface="+mn-cs"/>
                  </a:rPr>
                  <a:t>= </a:t>
                </a:r>
                <a14:m>
                  <m:oMath xmlns:m="http://schemas.openxmlformats.org/officeDocument/2006/math">
                    <m:f>
                      <m:fPr>
                        <m:ctrlPr>
                          <a:rPr kumimoji="0" lang="en-US"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𝒄</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num>
                      <m:den>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𝒄</m:t>
                        </m:r>
                        <m:r>
                          <a:rPr kumimoji="0" lang="en-IN"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IN" sz="2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𝒅</m:t>
                        </m:r>
                      </m:den>
                    </m:f>
                  </m:oMath>
                </a14:m>
                <a:r>
                  <a:rPr kumimoji="0" lang="en-US" sz="2400" b="1" i="0" u="none" strike="noStrike" kern="1200" cap="none" spc="0" normalizeH="0" baseline="0" noProof="0" dirty="0">
                    <a:ln>
                      <a:noFill/>
                    </a:ln>
                    <a:solidFill>
                      <a:prstClr val="black"/>
                    </a:solidFill>
                    <a:effectLst/>
                    <a:uLnTx/>
                    <a:uFillTx/>
                    <a:latin typeface="Arial"/>
                    <a:ea typeface="+mn-ea"/>
                    <a:cs typeface="+mn-cs"/>
                  </a:rPr>
                  <a:t> </a:t>
                </a:r>
              </a:p>
            </p:txBody>
          </p:sp>
        </mc:Choice>
        <mc:Fallback xmlns="">
          <p:sp>
            <p:nvSpPr>
              <p:cNvPr id="3" name="Text Placeholder 2">
                <a:extLst>
                  <a:ext uri="{FF2B5EF4-FFF2-40B4-BE49-F238E27FC236}">
                    <a16:creationId xmlns:a16="http://schemas.microsoft.com/office/drawing/2014/main" id="{E2CFF305-32D8-8130-621B-3D63C902113B}"/>
                  </a:ext>
                </a:extLst>
              </p:cNvPr>
              <p:cNvSpPr>
                <a:spLocks noGrp="1" noRot="1" noChangeAspect="1" noMove="1" noResize="1" noEditPoints="1" noAdjustHandles="1" noChangeArrowheads="1" noChangeShapeType="1" noTextEdit="1"/>
              </p:cNvSpPr>
              <p:nvPr>
                <p:ph type="body" idx="1"/>
              </p:nvPr>
            </p:nvSpPr>
            <p:spPr>
              <a:blipFill>
                <a:blip r:embed="rId2"/>
                <a:stretch>
                  <a:fillRect l="-1722" t="-2297"/>
                </a:stretch>
              </a:blipFill>
            </p:spPr>
            <p:txBody>
              <a:bodyPr/>
              <a:lstStyle/>
              <a:p>
                <a:r>
                  <a:rPr lang="en-IN">
                    <a:noFill/>
                  </a:rPr>
                  <a:t> </a:t>
                </a:r>
              </a:p>
            </p:txBody>
          </p:sp>
        </mc:Fallback>
      </mc:AlternateContent>
    </p:spTree>
    <p:extLst>
      <p:ext uri="{BB962C8B-B14F-4D97-AF65-F5344CB8AC3E}">
        <p14:creationId xmlns:p14="http://schemas.microsoft.com/office/powerpoint/2010/main" val="501630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1441-AF6D-A61B-F765-599396D89B1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381A4F5-7AC0-31CC-3235-AC62B73E3970}"/>
                  </a:ext>
                </a:extLst>
              </p:cNvPr>
              <p:cNvSpPr>
                <a:spLocks noGrp="1"/>
              </p:cNvSpPr>
              <p:nvPr>
                <p:ph type="body" idx="1"/>
              </p:nvPr>
            </p:nvSpPr>
            <p:spPr/>
            <p:txBody>
              <a:bodyPr>
                <a:normAutofit lnSpcReduction="10000"/>
              </a:bodyPr>
              <a:lstStyle/>
              <a:p>
                <a:pPr marL="0" lvl="0" indent="0">
                  <a:lnSpc>
                    <a:spcPct val="100000"/>
                  </a:lnSpc>
                  <a:spcBef>
                    <a:spcPts val="0"/>
                  </a:spcBef>
                  <a:buClrTx/>
                  <a:buSzTx/>
                  <a:buNone/>
                </a:pPr>
                <a:r>
                  <a:rPr lang="en-US" sz="2400" b="1" kern="1200" dirty="0">
                    <a:solidFill>
                      <a:srgbClr val="C00000"/>
                    </a:solidFill>
                    <a:ea typeface="+mn-ea"/>
                    <a:cs typeface="+mn-cs"/>
                  </a:rPr>
                  <a:t>Fourth proportion:- </a:t>
                </a:r>
              </a:p>
              <a:p>
                <a:pPr marL="0" lvl="0" indent="0">
                  <a:lnSpc>
                    <a:spcPct val="100000"/>
                  </a:lnSpc>
                  <a:spcBef>
                    <a:spcPts val="0"/>
                  </a:spcBef>
                  <a:buClrTx/>
                  <a:buSzTx/>
                  <a:buNone/>
                </a:pPr>
                <a:endParaRPr lang="en-US" sz="2400" b="1" kern="1200" dirty="0">
                  <a:solidFill>
                    <a:prstClr val="black"/>
                  </a:solidFill>
                  <a:ea typeface="+mn-ea"/>
                  <a:cs typeface="+mn-cs"/>
                </a:endParaRPr>
              </a:p>
              <a:p>
                <a:pPr marL="0" lvl="0" indent="0" algn="ctr">
                  <a:lnSpc>
                    <a:spcPct val="100000"/>
                  </a:lnSpc>
                  <a:spcBef>
                    <a:spcPts val="0"/>
                  </a:spcBef>
                  <a:buClrTx/>
                  <a:buSzTx/>
                  <a:buNone/>
                </a:pPr>
                <a:r>
                  <a:rPr lang="en-US" sz="2400" kern="1200" dirty="0">
                    <a:solidFill>
                      <a:prstClr val="black"/>
                    </a:solidFill>
                    <a:ea typeface="+mn-ea"/>
                    <a:cs typeface="+mn-cs"/>
                  </a:rPr>
                  <a:t>If a:b:: c:d, </a:t>
                </a:r>
              </a:p>
              <a:p>
                <a:pPr marL="0" lvl="0" indent="0" algn="ctr">
                  <a:lnSpc>
                    <a:spcPct val="100000"/>
                  </a:lnSpc>
                  <a:spcBef>
                    <a:spcPts val="0"/>
                  </a:spcBef>
                  <a:buClrTx/>
                  <a:buSzTx/>
                  <a:buNone/>
                </a:pPr>
                <a:r>
                  <a:rPr lang="en-US" sz="2400" kern="1200" dirty="0">
                    <a:solidFill>
                      <a:prstClr val="black"/>
                    </a:solidFill>
                    <a:ea typeface="+mn-ea"/>
                    <a:cs typeface="+mn-cs"/>
                  </a:rPr>
                  <a:t>d is called the fourth proportional of a, b, c. </a:t>
                </a:r>
              </a:p>
              <a:p>
                <a:pPr marL="0" lvl="0" indent="0" algn="ctr">
                  <a:lnSpc>
                    <a:spcPct val="100000"/>
                  </a:lnSpc>
                  <a:spcBef>
                    <a:spcPts val="0"/>
                  </a:spcBef>
                  <a:buClrTx/>
                  <a:buSzTx/>
                  <a:buNone/>
                </a:pPr>
                <a14:m>
                  <m:oMath xmlns:m="http://schemas.openxmlformats.org/officeDocument/2006/math">
                    <m:f>
                      <m:fPr>
                        <m:ctrlPr>
                          <a:rPr lang="en-US" sz="2400" b="1" i="1" kern="1200">
                            <a:solidFill>
                              <a:prstClr val="black"/>
                            </a:solidFill>
                            <a:latin typeface="Cambria Math" panose="02040503050406030204" pitchFamily="18" charset="0"/>
                            <a:ea typeface="+mn-ea"/>
                            <a:cs typeface="+mn-cs"/>
                          </a:rPr>
                        </m:ctrlPr>
                      </m:fPr>
                      <m:num>
                        <m:r>
                          <a:rPr lang="en-IN" sz="2400" b="1" i="1" kern="1200">
                            <a:solidFill>
                              <a:prstClr val="black"/>
                            </a:solidFill>
                            <a:latin typeface="Cambria Math" panose="02040503050406030204" pitchFamily="18" charset="0"/>
                            <a:ea typeface="+mn-ea"/>
                            <a:cs typeface="+mn-cs"/>
                          </a:rPr>
                          <m:t>𝒂</m:t>
                        </m:r>
                      </m:num>
                      <m:den>
                        <m:r>
                          <a:rPr lang="en-IN" sz="2400" b="1" i="1" kern="1200">
                            <a:solidFill>
                              <a:prstClr val="black"/>
                            </a:solidFill>
                            <a:latin typeface="Cambria Math" panose="02040503050406030204" pitchFamily="18" charset="0"/>
                            <a:ea typeface="+mn-ea"/>
                            <a:cs typeface="+mn-cs"/>
                          </a:rPr>
                          <m:t>𝒃</m:t>
                        </m:r>
                      </m:den>
                    </m:f>
                    <m:r>
                      <a:rPr lang="en-IN" sz="2400" b="1" i="1" kern="1200">
                        <a:solidFill>
                          <a:prstClr val="black"/>
                        </a:solidFill>
                        <a:latin typeface="Cambria Math" panose="02040503050406030204" pitchFamily="18" charset="0"/>
                        <a:ea typeface="+mn-ea"/>
                        <a:cs typeface="+mn-cs"/>
                      </a:rPr>
                      <m:t> </m:t>
                    </m:r>
                  </m:oMath>
                </a14:m>
                <a:r>
                  <a:rPr lang="en-US" sz="2400" kern="1200" dirty="0">
                    <a:solidFill>
                      <a:prstClr val="black"/>
                    </a:solidFill>
                    <a:ea typeface="+mn-ea"/>
                    <a:cs typeface="+mn-cs"/>
                  </a:rPr>
                  <a:t>= </a:t>
                </a:r>
                <a14:m>
                  <m:oMath xmlns:m="http://schemas.openxmlformats.org/officeDocument/2006/math">
                    <m:f>
                      <m:fPr>
                        <m:ctrlPr>
                          <a:rPr lang="en-US" sz="2400" b="1" i="1" kern="1200">
                            <a:solidFill>
                              <a:prstClr val="black"/>
                            </a:solidFill>
                            <a:latin typeface="Cambria Math" panose="02040503050406030204" pitchFamily="18" charset="0"/>
                            <a:ea typeface="+mn-ea"/>
                            <a:cs typeface="+mn-cs"/>
                          </a:rPr>
                        </m:ctrlPr>
                      </m:fPr>
                      <m:num>
                        <m:r>
                          <a:rPr lang="en-IN" sz="2400" b="1" i="1" kern="1200">
                            <a:solidFill>
                              <a:prstClr val="black"/>
                            </a:solidFill>
                            <a:latin typeface="Cambria Math" panose="02040503050406030204" pitchFamily="18" charset="0"/>
                            <a:ea typeface="+mn-ea"/>
                            <a:cs typeface="+mn-cs"/>
                          </a:rPr>
                          <m:t>𝒄</m:t>
                        </m:r>
                      </m:num>
                      <m:den>
                        <m:r>
                          <a:rPr lang="en-IN" sz="2400" b="1" i="1" kern="1200">
                            <a:solidFill>
                              <a:prstClr val="black"/>
                            </a:solidFill>
                            <a:latin typeface="Cambria Math" panose="02040503050406030204" pitchFamily="18" charset="0"/>
                            <a:ea typeface="+mn-ea"/>
                            <a:cs typeface="+mn-cs"/>
                          </a:rPr>
                          <m:t>𝒅</m:t>
                        </m:r>
                      </m:den>
                    </m:f>
                    <m:r>
                      <a:rPr lang="en-IN" sz="2400" b="1" i="1" kern="1200">
                        <a:solidFill>
                          <a:prstClr val="black"/>
                        </a:solidFill>
                        <a:latin typeface="Cambria Math" panose="02040503050406030204" pitchFamily="18" charset="0"/>
                        <a:ea typeface="+mn-ea"/>
                        <a:cs typeface="+mn-cs"/>
                      </a:rPr>
                      <m:t> </m:t>
                    </m:r>
                  </m:oMath>
                </a14:m>
                <a:r>
                  <a:rPr lang="en-US" sz="2400" kern="1200" dirty="0">
                    <a:solidFill>
                      <a:prstClr val="black"/>
                    </a:solidFill>
                    <a:ea typeface="+mn-ea"/>
                    <a:cs typeface="+mn-cs"/>
                  </a:rPr>
                  <a:t> </a:t>
                </a:r>
              </a:p>
              <a:p>
                <a:pPr marL="0" lvl="0" indent="0" algn="ctr">
                  <a:lnSpc>
                    <a:spcPct val="100000"/>
                  </a:lnSpc>
                  <a:spcBef>
                    <a:spcPts val="0"/>
                  </a:spcBef>
                  <a:buClrTx/>
                  <a:buSzTx/>
                  <a:buNone/>
                </a:pPr>
                <a:r>
                  <a:rPr lang="en-US" sz="2400" kern="1200" dirty="0">
                    <a:solidFill>
                      <a:prstClr val="black"/>
                    </a:solidFill>
                    <a:ea typeface="+mn-ea"/>
                    <a:cs typeface="+mn-cs"/>
                  </a:rPr>
                  <a:t>d = </a:t>
                </a:r>
                <a14:m>
                  <m:oMath xmlns:m="http://schemas.openxmlformats.org/officeDocument/2006/math">
                    <m:f>
                      <m:fPr>
                        <m:ctrlPr>
                          <a:rPr lang="en-US" sz="2400" b="1" i="1" kern="1200">
                            <a:solidFill>
                              <a:prstClr val="black"/>
                            </a:solidFill>
                            <a:latin typeface="Cambria Math" panose="02040503050406030204" pitchFamily="18" charset="0"/>
                            <a:ea typeface="+mn-ea"/>
                            <a:cs typeface="+mn-cs"/>
                          </a:rPr>
                        </m:ctrlPr>
                      </m:fPr>
                      <m:num>
                        <m:r>
                          <a:rPr lang="en-IN" sz="2400" b="1" i="1" kern="1200">
                            <a:solidFill>
                              <a:prstClr val="black"/>
                            </a:solidFill>
                            <a:latin typeface="Cambria Math" panose="02040503050406030204" pitchFamily="18" charset="0"/>
                            <a:ea typeface="+mn-ea"/>
                            <a:cs typeface="+mn-cs"/>
                          </a:rPr>
                          <m:t>𝒃</m:t>
                        </m:r>
                        <m:r>
                          <a:rPr lang="en-IN" sz="2400" b="1" i="1" kern="1200">
                            <a:solidFill>
                              <a:prstClr val="black"/>
                            </a:solidFill>
                            <a:latin typeface="Cambria Math" panose="02040503050406030204" pitchFamily="18" charset="0"/>
                            <a:ea typeface="Cambria Math" panose="02040503050406030204" pitchFamily="18" charset="0"/>
                            <a:cs typeface="+mn-cs"/>
                          </a:rPr>
                          <m:t>×</m:t>
                        </m:r>
                        <m:r>
                          <a:rPr lang="en-IN" sz="2400" b="1" i="1" kern="1200">
                            <a:solidFill>
                              <a:prstClr val="black"/>
                            </a:solidFill>
                            <a:latin typeface="Cambria Math" panose="02040503050406030204" pitchFamily="18" charset="0"/>
                            <a:ea typeface="Cambria Math" panose="02040503050406030204" pitchFamily="18" charset="0"/>
                            <a:cs typeface="+mn-cs"/>
                          </a:rPr>
                          <m:t>𝒄</m:t>
                        </m:r>
                      </m:num>
                      <m:den>
                        <m:r>
                          <a:rPr lang="en-IN" sz="2400" b="1" i="1" kern="1200">
                            <a:solidFill>
                              <a:prstClr val="black"/>
                            </a:solidFill>
                            <a:latin typeface="Cambria Math" panose="02040503050406030204" pitchFamily="18" charset="0"/>
                            <a:ea typeface="+mn-ea"/>
                            <a:cs typeface="+mn-cs"/>
                          </a:rPr>
                          <m:t>𝒂</m:t>
                        </m:r>
                      </m:den>
                    </m:f>
                    <m:r>
                      <a:rPr lang="en-IN" sz="2400" b="1" i="1" kern="1200">
                        <a:solidFill>
                          <a:prstClr val="black"/>
                        </a:solidFill>
                        <a:latin typeface="Cambria Math" panose="02040503050406030204" pitchFamily="18" charset="0"/>
                        <a:ea typeface="+mn-ea"/>
                        <a:cs typeface="+mn-cs"/>
                      </a:rPr>
                      <m:t> </m:t>
                    </m:r>
                  </m:oMath>
                </a14:m>
                <a:endParaRPr lang="en-US" sz="2400" kern="1200" dirty="0">
                  <a:solidFill>
                    <a:prstClr val="black"/>
                  </a:solidFill>
                  <a:ea typeface="+mn-ea"/>
                  <a:cs typeface="+mn-cs"/>
                </a:endParaRPr>
              </a:p>
              <a:p>
                <a:pPr marL="0" lvl="0" indent="0" algn="ctr">
                  <a:lnSpc>
                    <a:spcPct val="100000"/>
                  </a:lnSpc>
                  <a:spcBef>
                    <a:spcPts val="0"/>
                  </a:spcBef>
                  <a:buClrTx/>
                  <a:buSzTx/>
                  <a:buNone/>
                </a:pPr>
                <a:r>
                  <a:rPr lang="en-US" sz="2400" kern="1200" dirty="0">
                    <a:solidFill>
                      <a:prstClr val="black"/>
                    </a:solidFill>
                    <a:ea typeface="+mn-ea"/>
                    <a:cs typeface="+mn-cs"/>
                  </a:rPr>
                  <a:t>Thus, fourth proportional of a, b, c is </a:t>
                </a:r>
                <a14:m>
                  <m:oMath xmlns:m="http://schemas.openxmlformats.org/officeDocument/2006/math">
                    <m:f>
                      <m:fPr>
                        <m:ctrlPr>
                          <a:rPr lang="en-US" sz="2400" b="1" i="1" kern="1200">
                            <a:solidFill>
                              <a:prstClr val="black"/>
                            </a:solidFill>
                            <a:latin typeface="Cambria Math" panose="02040503050406030204" pitchFamily="18" charset="0"/>
                            <a:ea typeface="+mn-ea"/>
                            <a:cs typeface="+mn-cs"/>
                          </a:rPr>
                        </m:ctrlPr>
                      </m:fPr>
                      <m:num>
                        <m:r>
                          <a:rPr lang="en-IN" sz="2400" b="1" i="1" kern="1200">
                            <a:solidFill>
                              <a:prstClr val="black"/>
                            </a:solidFill>
                            <a:latin typeface="Cambria Math" panose="02040503050406030204" pitchFamily="18" charset="0"/>
                            <a:ea typeface="+mn-ea"/>
                            <a:cs typeface="+mn-cs"/>
                          </a:rPr>
                          <m:t>(</m:t>
                        </m:r>
                        <m:r>
                          <a:rPr lang="en-IN" sz="2400" b="1" i="1" kern="1200">
                            <a:solidFill>
                              <a:prstClr val="black"/>
                            </a:solidFill>
                            <a:latin typeface="Cambria Math" panose="02040503050406030204" pitchFamily="18" charset="0"/>
                            <a:ea typeface="+mn-ea"/>
                            <a:cs typeface="+mn-cs"/>
                          </a:rPr>
                          <m:t>𝒃</m:t>
                        </m:r>
                        <m:r>
                          <a:rPr lang="en-IN" sz="2400" b="1" i="1" kern="1200">
                            <a:solidFill>
                              <a:prstClr val="black"/>
                            </a:solidFill>
                            <a:latin typeface="Cambria Math" panose="02040503050406030204" pitchFamily="18" charset="0"/>
                            <a:ea typeface="Cambria Math" panose="02040503050406030204" pitchFamily="18" charset="0"/>
                            <a:cs typeface="+mn-cs"/>
                          </a:rPr>
                          <m:t>×</m:t>
                        </m:r>
                        <m:r>
                          <a:rPr lang="en-IN" sz="2400" b="1" i="1" kern="1200">
                            <a:solidFill>
                              <a:prstClr val="black"/>
                            </a:solidFill>
                            <a:latin typeface="Cambria Math" panose="02040503050406030204" pitchFamily="18" charset="0"/>
                            <a:ea typeface="Cambria Math" panose="02040503050406030204" pitchFamily="18" charset="0"/>
                            <a:cs typeface="+mn-cs"/>
                          </a:rPr>
                          <m:t>𝒄</m:t>
                        </m:r>
                        <m:r>
                          <a:rPr lang="en-IN" sz="2400" b="1" i="1" kern="1200">
                            <a:solidFill>
                              <a:prstClr val="black"/>
                            </a:solidFill>
                            <a:latin typeface="Cambria Math" panose="02040503050406030204" pitchFamily="18" charset="0"/>
                            <a:ea typeface="Cambria Math" panose="02040503050406030204" pitchFamily="18" charset="0"/>
                            <a:cs typeface="+mn-cs"/>
                          </a:rPr>
                          <m:t>)</m:t>
                        </m:r>
                      </m:num>
                      <m:den>
                        <m:r>
                          <a:rPr lang="en-IN" sz="2400" b="1" i="1" kern="1200">
                            <a:solidFill>
                              <a:prstClr val="black"/>
                            </a:solidFill>
                            <a:latin typeface="Cambria Math" panose="02040503050406030204" pitchFamily="18" charset="0"/>
                            <a:ea typeface="+mn-ea"/>
                            <a:cs typeface="+mn-cs"/>
                          </a:rPr>
                          <m:t>𝒂</m:t>
                        </m:r>
                      </m:den>
                    </m:f>
                    <m:r>
                      <a:rPr lang="en-IN" sz="2400" b="1" i="1" kern="1200">
                        <a:solidFill>
                          <a:prstClr val="black"/>
                        </a:solidFill>
                        <a:latin typeface="Cambria Math" panose="02040503050406030204" pitchFamily="18" charset="0"/>
                        <a:ea typeface="+mn-ea"/>
                        <a:cs typeface="+mn-cs"/>
                      </a:rPr>
                      <m:t> </m:t>
                    </m:r>
                  </m:oMath>
                </a14:m>
                <a:endParaRPr lang="en-US" sz="2400" kern="1200" dirty="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a:p>
                <a:pPr marL="0" lvl="0" indent="0">
                  <a:lnSpc>
                    <a:spcPct val="100000"/>
                  </a:lnSpc>
                  <a:spcBef>
                    <a:spcPts val="0"/>
                  </a:spcBef>
                  <a:buClrTx/>
                  <a:buSzTx/>
                  <a:buNone/>
                </a:pPr>
                <a:r>
                  <a:rPr lang="en-US" sz="2400" b="1" kern="1200" dirty="0">
                    <a:solidFill>
                      <a:prstClr val="black"/>
                    </a:solidFill>
                    <a:ea typeface="+mn-ea"/>
                    <a:cs typeface="+mn-cs"/>
                  </a:rPr>
                  <a:t>Example: Find fourth proportional to 5, 10, 15</a:t>
                </a:r>
                <a:r>
                  <a:rPr lang="en-US" sz="2400" kern="1200" dirty="0">
                    <a:solidFill>
                      <a:prstClr val="black"/>
                    </a:solidFill>
                    <a:ea typeface="+mn-ea"/>
                    <a:cs typeface="+mn-cs"/>
                  </a:rPr>
                  <a:t>.</a:t>
                </a:r>
              </a:p>
              <a:p>
                <a:pPr marL="0" lvl="0" indent="0">
                  <a:lnSpc>
                    <a:spcPct val="100000"/>
                  </a:lnSpc>
                  <a:spcBef>
                    <a:spcPts val="0"/>
                  </a:spcBef>
                  <a:buClrTx/>
                  <a:buSzTx/>
                  <a:buNone/>
                </a:pPr>
                <a:r>
                  <a:rPr lang="en-US" sz="2400" kern="1200" dirty="0">
                    <a:solidFill>
                      <a:prstClr val="black"/>
                    </a:solidFill>
                    <a:ea typeface="+mn-ea"/>
                    <a:cs typeface="+mn-cs"/>
                  </a:rPr>
                  <a:t>Sol: 5:10 = 15:d ⇒ 5d = 150 ⇒ d = 30</a:t>
                </a:r>
              </a:p>
              <a:p>
                <a:pPr marL="0" lvl="0" indent="0">
                  <a:lnSpc>
                    <a:spcPct val="100000"/>
                  </a:lnSpc>
                  <a:spcBef>
                    <a:spcPts val="0"/>
                  </a:spcBef>
                  <a:buClrTx/>
                  <a:buSzTx/>
                  <a:buNone/>
                </a:pPr>
                <a:endParaRPr lang="en-US" sz="1800" kern="1200" dirty="0">
                  <a:solidFill>
                    <a:prstClr val="black"/>
                  </a:solidFill>
                  <a:ea typeface="+mn-ea"/>
                  <a:cs typeface="+mn-cs"/>
                </a:endParaRPr>
              </a:p>
            </p:txBody>
          </p:sp>
        </mc:Choice>
        <mc:Fallback xmlns="">
          <p:sp>
            <p:nvSpPr>
              <p:cNvPr id="3" name="Text Placeholder 2">
                <a:extLst>
                  <a:ext uri="{FF2B5EF4-FFF2-40B4-BE49-F238E27FC236}">
                    <a16:creationId xmlns:a16="http://schemas.microsoft.com/office/drawing/2014/main" id="{7381A4F5-7AC0-31CC-3235-AC62B73E3970}"/>
                  </a:ext>
                </a:extLst>
              </p:cNvPr>
              <p:cNvSpPr>
                <a:spLocks noGrp="1" noRot="1" noChangeAspect="1" noMove="1" noResize="1" noEditPoints="1" noAdjustHandles="1" noChangeArrowheads="1" noChangeShapeType="1" noTextEdit="1"/>
              </p:cNvSpPr>
              <p:nvPr>
                <p:ph type="body" idx="1"/>
              </p:nvPr>
            </p:nvSpPr>
            <p:spPr>
              <a:blipFill>
                <a:blip r:embed="rId2"/>
                <a:stretch>
                  <a:fillRect l="-1722" t="-3063"/>
                </a:stretch>
              </a:blipFill>
            </p:spPr>
            <p:txBody>
              <a:bodyPr/>
              <a:lstStyle/>
              <a:p>
                <a:r>
                  <a:rPr lang="en-IN">
                    <a:noFill/>
                  </a:rPr>
                  <a:t> </a:t>
                </a:r>
              </a:p>
            </p:txBody>
          </p:sp>
        </mc:Fallback>
      </mc:AlternateContent>
    </p:spTree>
    <p:extLst>
      <p:ext uri="{BB962C8B-B14F-4D97-AF65-F5344CB8AC3E}">
        <p14:creationId xmlns:p14="http://schemas.microsoft.com/office/powerpoint/2010/main" val="122381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1D99-F01F-601F-11A7-41DF6F9BE7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9E845EC-723E-7F0A-D8F2-02D35CE2D475}"/>
                  </a:ext>
                </a:extLst>
              </p:cNvPr>
              <p:cNvSpPr>
                <a:spLocks noGrp="1"/>
              </p:cNvSpPr>
              <p:nvPr>
                <p:ph type="body" idx="1"/>
              </p:nvPr>
            </p:nvSpPr>
            <p:spPr/>
            <p:txBody>
              <a:bodyPr>
                <a:normAutofit/>
              </a:bodyPr>
              <a:lstStyle/>
              <a:p>
                <a:pPr marL="0" lvl="0" indent="0">
                  <a:lnSpc>
                    <a:spcPct val="100000"/>
                  </a:lnSpc>
                  <a:spcBef>
                    <a:spcPts val="0"/>
                  </a:spcBef>
                  <a:buClrTx/>
                  <a:buSzTx/>
                  <a:buNone/>
                </a:pPr>
                <a:r>
                  <a:rPr lang="en-US" sz="2400" b="1" kern="1200" dirty="0">
                    <a:solidFill>
                      <a:srgbClr val="C00000"/>
                    </a:solidFill>
                    <a:ea typeface="+mn-ea"/>
                    <a:cs typeface="+mn-cs"/>
                  </a:rPr>
                  <a:t>Third Proportion</a:t>
                </a:r>
                <a:r>
                  <a:rPr lang="en-US" sz="2400" kern="1200" dirty="0">
                    <a:solidFill>
                      <a:srgbClr val="C00000"/>
                    </a:solidFill>
                    <a:ea typeface="+mn-ea"/>
                    <a:cs typeface="+mn-cs"/>
                  </a:rPr>
                  <a:t>:- </a:t>
                </a:r>
              </a:p>
              <a:p>
                <a:pPr marL="0" lvl="0" indent="0">
                  <a:lnSpc>
                    <a:spcPct val="100000"/>
                  </a:lnSpc>
                  <a:spcBef>
                    <a:spcPts val="0"/>
                  </a:spcBef>
                  <a:buClrTx/>
                  <a:buSzTx/>
                  <a:buNone/>
                </a:pPr>
                <a:r>
                  <a:rPr lang="en-US" sz="2400" kern="1200">
                    <a:solidFill>
                      <a:prstClr val="black"/>
                    </a:solidFill>
                    <a:ea typeface="+mn-ea"/>
                    <a:cs typeface="+mn-cs"/>
                  </a:rPr>
                  <a:t>a:b = b:c ⇒ c = </a:t>
                </a:r>
                <a14:m>
                  <m:oMath xmlns:m="http://schemas.openxmlformats.org/officeDocument/2006/math">
                    <m:f>
                      <m:fPr>
                        <m:ctrlPr>
                          <a:rPr lang="en-US" sz="2400" i="1" kern="1200">
                            <a:solidFill>
                              <a:prstClr val="black"/>
                            </a:solidFill>
                            <a:latin typeface="Cambria Math" panose="02040503050406030204" pitchFamily="18" charset="0"/>
                            <a:ea typeface="+mn-ea"/>
                            <a:cs typeface="+mn-cs"/>
                          </a:rPr>
                        </m:ctrlPr>
                      </m:fPr>
                      <m:num>
                        <m:sSup>
                          <m:sSupPr>
                            <m:ctrlPr>
                              <a:rPr lang="en-US" sz="2400" i="1" kern="1200">
                                <a:solidFill>
                                  <a:prstClr val="black"/>
                                </a:solidFill>
                                <a:latin typeface="Cambria Math" panose="02040503050406030204" pitchFamily="18" charset="0"/>
                                <a:ea typeface="+mn-ea"/>
                                <a:cs typeface="+mn-cs"/>
                              </a:rPr>
                            </m:ctrlPr>
                          </m:sSupPr>
                          <m:e>
                            <m:r>
                              <a:rPr lang="en-IN" sz="2400" i="1" kern="1200">
                                <a:solidFill>
                                  <a:prstClr val="black"/>
                                </a:solidFill>
                                <a:latin typeface="Cambria Math" panose="02040503050406030204" pitchFamily="18" charset="0"/>
                                <a:ea typeface="+mn-ea"/>
                                <a:cs typeface="+mn-cs"/>
                              </a:rPr>
                              <m:t>𝑏</m:t>
                            </m:r>
                          </m:e>
                          <m:sup>
                            <m:r>
                              <a:rPr lang="en-IN" sz="2400" i="1" kern="1200">
                                <a:solidFill>
                                  <a:prstClr val="black"/>
                                </a:solidFill>
                                <a:latin typeface="Cambria Math" panose="02040503050406030204" pitchFamily="18" charset="0"/>
                                <a:ea typeface="+mn-ea"/>
                                <a:cs typeface="+mn-cs"/>
                              </a:rPr>
                              <m:t>2</m:t>
                            </m:r>
                          </m:sup>
                        </m:sSup>
                      </m:num>
                      <m:den>
                        <m:r>
                          <a:rPr lang="en-IN" sz="2400" i="1" kern="1200">
                            <a:solidFill>
                              <a:prstClr val="black"/>
                            </a:solidFill>
                            <a:latin typeface="Cambria Math" panose="02040503050406030204" pitchFamily="18" charset="0"/>
                            <a:ea typeface="+mn-ea"/>
                            <a:cs typeface="+mn-cs"/>
                          </a:rPr>
                          <m:t>𝑎</m:t>
                        </m:r>
                      </m:den>
                    </m:f>
                  </m:oMath>
                </a14:m>
                <a:endParaRPr lang="en-US" sz="2400" kern="120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a:p>
                <a:pPr marL="0" lvl="0" indent="0">
                  <a:lnSpc>
                    <a:spcPct val="100000"/>
                  </a:lnSpc>
                  <a:spcBef>
                    <a:spcPts val="0"/>
                  </a:spcBef>
                  <a:buClrTx/>
                  <a:buSzTx/>
                  <a:buNone/>
                </a:pPr>
                <a:r>
                  <a:rPr lang="en-US" sz="2400" b="1" kern="1200" dirty="0">
                    <a:solidFill>
                      <a:prstClr val="black"/>
                    </a:solidFill>
                    <a:ea typeface="+mn-ea"/>
                    <a:cs typeface="+mn-cs"/>
                  </a:rPr>
                  <a:t>Example:- Find third proportional to 9 </a:t>
                </a:r>
                <a:r>
                  <a:rPr lang="en-US" sz="2400" b="1" kern="1200">
                    <a:solidFill>
                      <a:prstClr val="black"/>
                    </a:solidFill>
                    <a:ea typeface="+mn-ea"/>
                    <a:cs typeface="+mn-cs"/>
                  </a:rPr>
                  <a:t>and 12 ?</a:t>
                </a:r>
                <a:endParaRPr lang="en-US" sz="2400" b="1" kern="1200" dirty="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a:p>
                <a:pPr marL="0" lvl="0" indent="0">
                  <a:lnSpc>
                    <a:spcPct val="100000"/>
                  </a:lnSpc>
                  <a:spcBef>
                    <a:spcPts val="0"/>
                  </a:spcBef>
                  <a:buClrTx/>
                  <a:buSzTx/>
                  <a:buNone/>
                </a:pPr>
                <a:r>
                  <a:rPr lang="en-US" sz="2400" kern="1200" dirty="0">
                    <a:solidFill>
                      <a:prstClr val="black"/>
                    </a:solidFill>
                    <a:ea typeface="+mn-ea"/>
                    <a:cs typeface="+mn-cs"/>
                  </a:rPr>
                  <a:t>Solution:- Third Proportion (c)= </a:t>
                </a:r>
                <a14:m>
                  <m:oMath xmlns:m="http://schemas.openxmlformats.org/officeDocument/2006/math">
                    <m:f>
                      <m:fPr>
                        <m:ctrlPr>
                          <a:rPr lang="en-US" sz="2400" i="1" kern="1200">
                            <a:solidFill>
                              <a:prstClr val="black"/>
                            </a:solidFill>
                            <a:latin typeface="Cambria Math" panose="02040503050406030204" pitchFamily="18" charset="0"/>
                            <a:ea typeface="+mn-ea"/>
                            <a:cs typeface="+mn-cs"/>
                          </a:rPr>
                        </m:ctrlPr>
                      </m:fPr>
                      <m:num>
                        <m:sSup>
                          <m:sSupPr>
                            <m:ctrlPr>
                              <a:rPr lang="en-US" sz="2400" i="1" kern="1200">
                                <a:solidFill>
                                  <a:prstClr val="black"/>
                                </a:solidFill>
                                <a:latin typeface="Cambria Math" panose="02040503050406030204" pitchFamily="18" charset="0"/>
                                <a:ea typeface="+mn-ea"/>
                                <a:cs typeface="+mn-cs"/>
                              </a:rPr>
                            </m:ctrlPr>
                          </m:sSupPr>
                          <m:e>
                            <m:r>
                              <a:rPr lang="en-IN" sz="2400" i="1" kern="1200">
                                <a:solidFill>
                                  <a:prstClr val="black"/>
                                </a:solidFill>
                                <a:latin typeface="Cambria Math" panose="02040503050406030204" pitchFamily="18" charset="0"/>
                                <a:ea typeface="+mn-ea"/>
                                <a:cs typeface="+mn-cs"/>
                              </a:rPr>
                              <m:t>𝑏</m:t>
                            </m:r>
                          </m:e>
                          <m:sup>
                            <m:r>
                              <a:rPr lang="en-IN" sz="2400" i="1" kern="1200">
                                <a:solidFill>
                                  <a:prstClr val="black"/>
                                </a:solidFill>
                                <a:latin typeface="Cambria Math" panose="02040503050406030204" pitchFamily="18" charset="0"/>
                                <a:ea typeface="+mn-ea"/>
                                <a:cs typeface="+mn-cs"/>
                              </a:rPr>
                              <m:t>2</m:t>
                            </m:r>
                          </m:sup>
                        </m:sSup>
                      </m:num>
                      <m:den>
                        <m:r>
                          <a:rPr lang="en-IN" sz="2400" i="1" kern="1200">
                            <a:solidFill>
                              <a:prstClr val="black"/>
                            </a:solidFill>
                            <a:latin typeface="Cambria Math" panose="02040503050406030204" pitchFamily="18" charset="0"/>
                            <a:ea typeface="+mn-ea"/>
                            <a:cs typeface="+mn-cs"/>
                          </a:rPr>
                          <m:t>𝑎</m:t>
                        </m:r>
                      </m:den>
                    </m:f>
                    <m:r>
                      <a:rPr lang="en-IN" sz="2400" i="1" kern="1200">
                        <a:solidFill>
                          <a:prstClr val="black"/>
                        </a:solidFill>
                        <a:latin typeface="Cambria Math" panose="02040503050406030204" pitchFamily="18" charset="0"/>
                        <a:ea typeface="+mn-ea"/>
                        <a:cs typeface="+mn-cs"/>
                      </a:rPr>
                      <m:t> </m:t>
                    </m:r>
                  </m:oMath>
                </a14:m>
                <a:r>
                  <a:rPr lang="en-US" sz="2400" kern="1200" dirty="0">
                    <a:solidFill>
                      <a:prstClr val="black"/>
                    </a:solidFill>
                    <a:ea typeface="+mn-ea"/>
                    <a:cs typeface="+mn-cs"/>
                  </a:rPr>
                  <a:t>=</a:t>
                </a:r>
                <a:r>
                  <a:rPr lang="en-US" sz="2400" kern="1200">
                    <a:solidFill>
                      <a:prstClr val="black"/>
                    </a:solidFill>
                    <a:ea typeface="+mn-ea"/>
                    <a:cs typeface="+mn-cs"/>
                  </a:rPr>
                  <a:t> </a:t>
                </a:r>
                <a14:m>
                  <m:oMath xmlns:m="http://schemas.openxmlformats.org/officeDocument/2006/math">
                    <m:f>
                      <m:fPr>
                        <m:ctrlPr>
                          <a:rPr lang="en-US" sz="2400" i="1" kern="1200">
                            <a:solidFill>
                              <a:prstClr val="black"/>
                            </a:solidFill>
                            <a:latin typeface="Cambria Math" panose="02040503050406030204" pitchFamily="18" charset="0"/>
                            <a:ea typeface="+mn-ea"/>
                            <a:cs typeface="+mn-cs"/>
                          </a:rPr>
                        </m:ctrlPr>
                      </m:fPr>
                      <m:num>
                        <m:sSup>
                          <m:sSupPr>
                            <m:ctrlPr>
                              <a:rPr lang="en-US" sz="2400" i="1" kern="1200">
                                <a:solidFill>
                                  <a:prstClr val="black"/>
                                </a:solidFill>
                                <a:latin typeface="Cambria Math" panose="02040503050406030204" pitchFamily="18" charset="0"/>
                                <a:ea typeface="+mn-ea"/>
                                <a:cs typeface="+mn-cs"/>
                              </a:rPr>
                            </m:ctrlPr>
                          </m:sSupPr>
                          <m:e>
                            <m:r>
                              <a:rPr lang="en-IN" sz="2400" i="1" kern="1200">
                                <a:solidFill>
                                  <a:prstClr val="black"/>
                                </a:solidFill>
                                <a:latin typeface="Cambria Math" panose="02040503050406030204" pitchFamily="18" charset="0"/>
                                <a:ea typeface="+mn-ea"/>
                                <a:cs typeface="+mn-cs"/>
                              </a:rPr>
                              <m:t>(12)</m:t>
                            </m:r>
                          </m:e>
                          <m:sup>
                            <m:r>
                              <a:rPr lang="en-IN" sz="2400" i="1" kern="1200">
                                <a:solidFill>
                                  <a:prstClr val="black"/>
                                </a:solidFill>
                                <a:latin typeface="Cambria Math" panose="02040503050406030204" pitchFamily="18" charset="0"/>
                                <a:ea typeface="+mn-ea"/>
                                <a:cs typeface="+mn-cs"/>
                              </a:rPr>
                              <m:t>2</m:t>
                            </m:r>
                          </m:sup>
                        </m:sSup>
                      </m:num>
                      <m:den>
                        <m:r>
                          <a:rPr lang="en-IN" sz="2400" i="1" kern="1200">
                            <a:solidFill>
                              <a:prstClr val="black"/>
                            </a:solidFill>
                            <a:latin typeface="Cambria Math" panose="02040503050406030204" pitchFamily="18" charset="0"/>
                            <a:ea typeface="+mn-ea"/>
                            <a:cs typeface="+mn-cs"/>
                          </a:rPr>
                          <m:t>9</m:t>
                        </m:r>
                      </m:den>
                    </m:f>
                  </m:oMath>
                </a14:m>
                <a:r>
                  <a:rPr lang="en-US" sz="2400" kern="1200" dirty="0">
                    <a:solidFill>
                      <a:prstClr val="black"/>
                    </a:solidFill>
                    <a:ea typeface="+mn-ea"/>
                    <a:cs typeface="+mn-cs"/>
                  </a:rPr>
                  <a:t> = 16</a:t>
                </a:r>
                <a:endParaRPr lang="en-US" sz="2400" kern="1200" baseline="30000" dirty="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p:txBody>
          </p:sp>
        </mc:Choice>
        <mc:Fallback xmlns="">
          <p:sp>
            <p:nvSpPr>
              <p:cNvPr id="3" name="Text Placeholder 2">
                <a:extLst>
                  <a:ext uri="{FF2B5EF4-FFF2-40B4-BE49-F238E27FC236}">
                    <a16:creationId xmlns:a16="http://schemas.microsoft.com/office/drawing/2014/main" id="{39E845EC-723E-7F0A-D8F2-02D35CE2D475}"/>
                  </a:ext>
                </a:extLst>
              </p:cNvPr>
              <p:cNvSpPr>
                <a:spLocks noGrp="1" noRot="1" noChangeAspect="1" noMove="1" noResize="1" noEditPoints="1" noAdjustHandles="1" noChangeArrowheads="1" noChangeShapeType="1" noTextEdit="1"/>
              </p:cNvSpPr>
              <p:nvPr>
                <p:ph type="body" idx="1"/>
              </p:nvPr>
            </p:nvSpPr>
            <p:spPr>
              <a:blipFill>
                <a:blip r:embed="rId2"/>
                <a:stretch>
                  <a:fillRect l="-1722" t="-2144"/>
                </a:stretch>
              </a:blipFill>
            </p:spPr>
            <p:txBody>
              <a:bodyPr/>
              <a:lstStyle/>
              <a:p>
                <a:r>
                  <a:rPr lang="en-IN">
                    <a:noFill/>
                  </a:rPr>
                  <a:t> </a:t>
                </a:r>
              </a:p>
            </p:txBody>
          </p:sp>
        </mc:Fallback>
      </mc:AlternateContent>
    </p:spTree>
    <p:extLst>
      <p:ext uri="{BB962C8B-B14F-4D97-AF65-F5344CB8AC3E}">
        <p14:creationId xmlns:p14="http://schemas.microsoft.com/office/powerpoint/2010/main" val="377096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64635-CB20-15E3-F426-41C6611CD20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FE2FCA9-C576-98FD-86C6-4E5357DF22F8}"/>
              </a:ext>
            </a:extLst>
          </p:cNvPr>
          <p:cNvSpPr>
            <a:spLocks noGrp="1"/>
          </p:cNvSpPr>
          <p:nvPr>
            <p:ph type="body" idx="1"/>
          </p:nvPr>
        </p:nvSpPr>
        <p:spPr/>
        <p:txBody>
          <a:bodyPr>
            <a:normAutofit/>
          </a:bodyPr>
          <a:lstStyle/>
          <a:p>
            <a:pPr marL="0" lvl="0" indent="0">
              <a:lnSpc>
                <a:spcPct val="100000"/>
              </a:lnSpc>
              <a:spcBef>
                <a:spcPts val="0"/>
              </a:spcBef>
              <a:buClrTx/>
              <a:buSzTx/>
              <a:buNone/>
            </a:pPr>
            <a:endParaRPr lang="en-US" sz="2400" kern="1200">
              <a:solidFill>
                <a:prstClr val="black"/>
              </a:solidFill>
              <a:ea typeface="+mn-ea"/>
              <a:cs typeface="+mn-cs"/>
            </a:endParaRPr>
          </a:p>
          <a:p>
            <a:pPr marL="0" lvl="0" indent="0">
              <a:lnSpc>
                <a:spcPct val="100000"/>
              </a:lnSpc>
              <a:spcBef>
                <a:spcPts val="0"/>
              </a:spcBef>
              <a:buClrTx/>
              <a:buSzTx/>
              <a:buNone/>
            </a:pPr>
            <a:r>
              <a:rPr lang="en-US" sz="2400" b="1" kern="1200">
                <a:solidFill>
                  <a:srgbClr val="C00000"/>
                </a:solidFill>
                <a:ea typeface="+mn-ea"/>
                <a:cs typeface="+mn-cs"/>
              </a:rPr>
              <a:t>Mean Proportional</a:t>
            </a:r>
            <a:r>
              <a:rPr lang="en-US" sz="2400" kern="1200">
                <a:solidFill>
                  <a:srgbClr val="C00000"/>
                </a:solidFill>
                <a:ea typeface="+mn-ea"/>
                <a:cs typeface="+mn-cs"/>
              </a:rPr>
              <a:t>:- </a:t>
            </a:r>
          </a:p>
          <a:p>
            <a:pPr marL="0" lvl="0" indent="0">
              <a:lnSpc>
                <a:spcPct val="100000"/>
              </a:lnSpc>
              <a:spcBef>
                <a:spcPts val="0"/>
              </a:spcBef>
              <a:buClrTx/>
              <a:buSzTx/>
              <a:buNone/>
            </a:pPr>
            <a:r>
              <a:rPr lang="en-US" sz="2400" kern="1200">
                <a:solidFill>
                  <a:prstClr val="black"/>
                </a:solidFill>
                <a:ea typeface="+mn-ea"/>
                <a:cs typeface="+mn-cs"/>
              </a:rPr>
              <a:t>Mean Proportional (b) between a and c:-  b = √(ac)</a:t>
            </a:r>
          </a:p>
          <a:p>
            <a:pPr marL="0" lvl="0" indent="0">
              <a:lnSpc>
                <a:spcPct val="100000"/>
              </a:lnSpc>
              <a:spcBef>
                <a:spcPts val="0"/>
              </a:spcBef>
              <a:buClrTx/>
              <a:buSzTx/>
              <a:buNone/>
            </a:pPr>
            <a:endParaRPr lang="en-US" sz="2400" kern="1200">
              <a:solidFill>
                <a:prstClr val="black"/>
              </a:solidFill>
              <a:ea typeface="+mn-ea"/>
              <a:cs typeface="+mn-cs"/>
            </a:endParaRPr>
          </a:p>
          <a:p>
            <a:pPr marL="0" lvl="0" indent="0">
              <a:lnSpc>
                <a:spcPct val="100000"/>
              </a:lnSpc>
              <a:spcBef>
                <a:spcPts val="0"/>
              </a:spcBef>
              <a:buClrTx/>
              <a:buSzTx/>
              <a:buNone/>
            </a:pPr>
            <a:r>
              <a:rPr lang="en-US" sz="2400" b="1" kern="1200">
                <a:solidFill>
                  <a:prstClr val="black"/>
                </a:solidFill>
                <a:ea typeface="+mn-ea"/>
                <a:cs typeface="+mn-cs"/>
              </a:rPr>
              <a:t>Example: Find mean proportion between 4 and 9 ?</a:t>
            </a:r>
          </a:p>
          <a:p>
            <a:pPr marL="0" lvl="0" indent="0">
              <a:lnSpc>
                <a:spcPct val="100000"/>
              </a:lnSpc>
              <a:spcBef>
                <a:spcPts val="0"/>
              </a:spcBef>
              <a:buClrTx/>
              <a:buSzTx/>
              <a:buNone/>
            </a:pPr>
            <a:r>
              <a:rPr lang="en-US" sz="2400" kern="1200">
                <a:solidFill>
                  <a:prstClr val="black"/>
                </a:solidFill>
                <a:ea typeface="+mn-ea"/>
                <a:cs typeface="+mn-cs"/>
              </a:rPr>
              <a:t> ⇒ √(4×9) = 6</a:t>
            </a:r>
          </a:p>
          <a:p>
            <a:pPr marL="0" lvl="0" indent="0">
              <a:lnSpc>
                <a:spcPct val="100000"/>
              </a:lnSpc>
              <a:spcBef>
                <a:spcPts val="0"/>
              </a:spcBef>
              <a:buClrTx/>
              <a:buSzTx/>
              <a:buNone/>
            </a:pPr>
            <a:endParaRPr lang="en-US" sz="2400" kern="1200">
              <a:solidFill>
                <a:prstClr val="black"/>
              </a:solidFill>
              <a:ea typeface="+mn-ea"/>
              <a:cs typeface="+mn-cs"/>
            </a:endParaRPr>
          </a:p>
          <a:p>
            <a:pPr marL="0" lvl="0" indent="0">
              <a:lnSpc>
                <a:spcPct val="100000"/>
              </a:lnSpc>
              <a:spcBef>
                <a:spcPts val="0"/>
              </a:spcBef>
              <a:buClrTx/>
              <a:buSzTx/>
              <a:buNone/>
            </a:pPr>
            <a:endParaRPr lang="en-US" sz="2400" kern="1200" dirty="0">
              <a:solidFill>
                <a:prstClr val="black"/>
              </a:solidFill>
              <a:ea typeface="+mn-ea"/>
              <a:cs typeface="+mn-cs"/>
            </a:endParaRPr>
          </a:p>
        </p:txBody>
      </p:sp>
    </p:spTree>
    <p:extLst>
      <p:ext uri="{BB962C8B-B14F-4D97-AF65-F5344CB8AC3E}">
        <p14:creationId xmlns:p14="http://schemas.microsoft.com/office/powerpoint/2010/main" val="3884758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5" name="Google Shape;265;p14"/>
          <p:cNvSpPr/>
          <p:nvPr/>
        </p:nvSpPr>
        <p:spPr>
          <a:xfrm>
            <a:off x="588780" y="1054899"/>
            <a:ext cx="10680120" cy="1937538"/>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4</a:t>
            </a:r>
            <a:r>
              <a:rPr lang="en-IN" sz="2400" b="1">
                <a:latin typeface="Times New Roman" panose="02020603050405020304" pitchFamily="18" charset="0"/>
                <a:ea typeface="Cambria"/>
                <a:cs typeface="Times New Roman" panose="02020603050405020304" pitchFamily="18" charset="0"/>
                <a:sym typeface="Cambria"/>
              </a:rPr>
              <a:t>. </a:t>
            </a:r>
            <a:r>
              <a:rPr lang="en-IN" sz="2400" b="1" dirty="0">
                <a:latin typeface="Times New Roman" panose="02020603050405020304" pitchFamily="18" charset="0"/>
                <a:ea typeface="Cambria"/>
                <a:cs typeface="Times New Roman" panose="02020603050405020304" pitchFamily="18" charset="0"/>
                <a:sym typeface="Cambria"/>
              </a:rPr>
              <a:t>The fourth proportional to 5, 8, 15 is:</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18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24</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19</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20</a:t>
            </a:r>
            <a:endParaRPr sz="2400" b="1" dirty="0">
              <a:latin typeface="Times New Roman" panose="02020603050405020304" pitchFamily="18" charset="0"/>
              <a:ea typeface="Cambria"/>
              <a:cs typeface="Times New Roman" panose="02020603050405020304" pitchFamily="18" charset="0"/>
            </a:endParaRPr>
          </a:p>
        </p:txBody>
      </p:sp>
    </p:spTree>
    <p:extLst>
      <p:ext uri="{BB962C8B-B14F-4D97-AF65-F5344CB8AC3E}">
        <p14:creationId xmlns:p14="http://schemas.microsoft.com/office/powerpoint/2010/main" val="1984034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5" name="Google Shape;265;p14"/>
              <p:cNvSpPr/>
              <p:nvPr/>
            </p:nvSpPr>
            <p:spPr>
              <a:xfrm>
                <a:off x="358346" y="1030186"/>
                <a:ext cx="11528853" cy="2127462"/>
              </a:xfrm>
              <a:prstGeom prst="rect">
                <a:avLst/>
              </a:prstGeom>
              <a:noFill/>
              <a:ln>
                <a:noFill/>
              </a:ln>
            </p:spPr>
            <p:txBody>
              <a:bodyPr spcFirstLastPara="1" wrap="square" lIns="90000" tIns="45000" rIns="90000" bIns="45000" anchor="t" anchorCtr="0">
                <a:spAutoFit/>
              </a:bodyPr>
              <a:lstStyle/>
              <a:p>
                <a:r>
                  <a:rPr lang="en-US" sz="2400" b="1" dirty="0">
                    <a:latin typeface="Times New Roman" panose="02020603050405020304" pitchFamily="18" charset="0"/>
                    <a:ea typeface="Cambria"/>
                    <a:cs typeface="Times New Roman" panose="02020603050405020304" pitchFamily="18" charset="0"/>
                  </a:rPr>
                  <a:t>5. If p is the third proportional to 3, 9, then what is the fourth proportional to 6, p, 4?</a:t>
                </a:r>
              </a:p>
              <a:p>
                <a:r>
                  <a:rPr lang="en-US" sz="2400" b="1" dirty="0">
                    <a:latin typeface="Times New Roman" panose="02020603050405020304" pitchFamily="18" charset="0"/>
                    <a:ea typeface="Cambria"/>
                    <a:cs typeface="Times New Roman" panose="02020603050405020304" pitchFamily="18" charset="0"/>
                    <a:sym typeface="Cambria"/>
                  </a:rPr>
                  <a:t>A. </a:t>
                </a:r>
                <a14:m>
                  <m:oMath xmlns:m="http://schemas.openxmlformats.org/officeDocument/2006/math">
                    <m:f>
                      <m:fPr>
                        <m:ctrlPr>
                          <a:rPr lang="en-US" sz="2400" b="1" i="1" dirty="0" smtClean="0">
                            <a:latin typeface="Cambria Math" panose="02040503050406030204" pitchFamily="18" charset="0"/>
                            <a:ea typeface="Cambria"/>
                            <a:cs typeface="Times New Roman" panose="02020603050405020304" pitchFamily="18" charset="0"/>
                            <a:sym typeface="Cambria"/>
                          </a:rPr>
                        </m:ctrlPr>
                      </m:fPr>
                      <m:num>
                        <m:r>
                          <a:rPr lang="en-US" sz="2400" b="1" i="1" dirty="0" smtClean="0">
                            <a:latin typeface="Cambria Math" panose="02040503050406030204" pitchFamily="18" charset="0"/>
                            <a:ea typeface="Cambria"/>
                            <a:cs typeface="Times New Roman" panose="02020603050405020304" pitchFamily="18" charset="0"/>
                            <a:sym typeface="Cambria"/>
                          </a:rPr>
                          <m:t>𝟑</m:t>
                        </m:r>
                      </m:num>
                      <m:den>
                        <m:r>
                          <a:rPr lang="en-US" sz="2400" b="1" i="1" dirty="0" smtClean="0">
                            <a:latin typeface="Cambria Math" panose="02040503050406030204" pitchFamily="18" charset="0"/>
                            <a:ea typeface="Cambria"/>
                            <a:cs typeface="Times New Roman" panose="02020603050405020304" pitchFamily="18" charset="0"/>
                            <a:sym typeface="Cambria"/>
                          </a:rPr>
                          <m:t>𝟐</m:t>
                        </m:r>
                      </m:den>
                    </m:f>
                  </m:oMath>
                </a14:m>
                <a:endParaRPr lang="en-US" sz="2400" b="1" dirty="0">
                  <a:latin typeface="Times New Roman" panose="02020603050405020304" pitchFamily="18" charset="0"/>
                  <a:ea typeface="Cambria"/>
                  <a:cs typeface="Times New Roman" panose="02020603050405020304" pitchFamily="18" charset="0"/>
                </a:endParaRPr>
              </a:p>
              <a:p>
                <a:r>
                  <a:rPr lang="en-US" sz="2400" b="1" dirty="0">
                    <a:latin typeface="Times New Roman" panose="02020603050405020304" pitchFamily="18" charset="0"/>
                    <a:ea typeface="Cambria"/>
                    <a:cs typeface="Times New Roman" panose="02020603050405020304" pitchFamily="18" charset="0"/>
                    <a:sym typeface="Cambria"/>
                  </a:rPr>
                  <a:t>B. 2</a:t>
                </a:r>
                <a14:m>
                  <m:oMath xmlns:m="http://schemas.openxmlformats.org/officeDocument/2006/math">
                    <m:r>
                      <a:rPr lang="en-US" sz="2400" b="1" i="1" smtClean="0">
                        <a:latin typeface="Cambria Math" panose="02040503050406030204" pitchFamily="18" charset="0"/>
                        <a:ea typeface="Cambria Math" panose="02040503050406030204" pitchFamily="18" charset="0"/>
                        <a:cs typeface="Times New Roman" panose="02020603050405020304" pitchFamily="18" charset="0"/>
                        <a:sym typeface="Cambria"/>
                      </a:rPr>
                      <m:t>√</m:t>
                    </m:r>
                    <m:r>
                      <a:rPr lang="en-US" sz="2400" b="1" i="1" smtClean="0">
                        <a:latin typeface="Cambria Math" panose="02040503050406030204" pitchFamily="18" charset="0"/>
                        <a:ea typeface="Cambria Math" panose="02040503050406030204" pitchFamily="18" charset="0"/>
                        <a:cs typeface="Times New Roman" panose="02020603050405020304" pitchFamily="18" charset="0"/>
                        <a:sym typeface="Cambria"/>
                      </a:rPr>
                      <m:t>𝟑</m:t>
                    </m:r>
                  </m:oMath>
                </a14:m>
                <a:endParaRPr lang="en-US"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US" sz="2400" b="1" dirty="0">
                    <a:latin typeface="Times New Roman" panose="02020603050405020304" pitchFamily="18" charset="0"/>
                    <a:ea typeface="Cambria"/>
                    <a:cs typeface="Times New Roman" panose="02020603050405020304" pitchFamily="18" charset="0"/>
                    <a:sym typeface="Cambria"/>
                  </a:rPr>
                  <a:t>C. 10</a:t>
                </a:r>
                <a:endParaRPr lang="en-US"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US" sz="2400" b="1" dirty="0">
                    <a:latin typeface="Times New Roman" panose="02020603050405020304" pitchFamily="18" charset="0"/>
                    <a:ea typeface="Cambria"/>
                    <a:cs typeface="Times New Roman" panose="02020603050405020304" pitchFamily="18" charset="0"/>
                    <a:sym typeface="Cambria"/>
                  </a:rPr>
                  <a:t>D. 18</a:t>
                </a:r>
                <a:endParaRPr sz="2400" b="1" dirty="0">
                  <a:latin typeface="Times New Roman" panose="02020603050405020304" pitchFamily="18" charset="0"/>
                  <a:ea typeface="Cambria"/>
                  <a:cs typeface="Times New Roman" panose="02020603050405020304" pitchFamily="18" charset="0"/>
                </a:endParaRPr>
              </a:p>
            </p:txBody>
          </p:sp>
        </mc:Choice>
        <mc:Fallback xmlns="">
          <p:sp>
            <p:nvSpPr>
              <p:cNvPr id="265" name="Google Shape;265;p14"/>
              <p:cNvSpPr>
                <a:spLocks noRot="1" noChangeAspect="1" noMove="1" noResize="1" noEditPoints="1" noAdjustHandles="1" noChangeArrowheads="1" noChangeShapeType="1" noTextEdit="1"/>
              </p:cNvSpPr>
              <p:nvPr/>
            </p:nvSpPr>
            <p:spPr>
              <a:xfrm>
                <a:off x="358346" y="1030186"/>
                <a:ext cx="11528853" cy="2127462"/>
              </a:xfrm>
              <a:prstGeom prst="rect">
                <a:avLst/>
              </a:prstGeom>
              <a:blipFill>
                <a:blip r:embed="rId3"/>
                <a:stretch>
                  <a:fillRect l="-846" t="-2292" b="-5731"/>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898107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630702" y="1079391"/>
            <a:ext cx="10930597" cy="461665"/>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i="0" u="none" strike="noStrike">
                <a:solidFill>
                  <a:schemeClr val="lt1"/>
                </a:solidFill>
                <a:latin typeface="Cambria"/>
                <a:ea typeface="Cambria"/>
                <a:cs typeface="Cambria"/>
                <a:sym typeface="Cambria"/>
              </a:rPr>
              <a:t>CLASSIFICATION OF PROPORTION </a:t>
            </a:r>
            <a:endParaRPr sz="2400" b="1">
              <a:solidFill>
                <a:schemeClr val="lt1"/>
              </a:solidFill>
              <a:latin typeface="Cambria"/>
              <a:ea typeface="Cambria"/>
              <a:cs typeface="Cambria"/>
              <a:sym typeface="Cambria"/>
            </a:endParaRPr>
          </a:p>
        </p:txBody>
      </p:sp>
      <p:sp>
        <p:nvSpPr>
          <p:cNvPr id="187" name="Google Shape;187;p6"/>
          <p:cNvSpPr txBox="1">
            <a:spLocks noGrp="1"/>
          </p:cNvSpPr>
          <p:nvPr>
            <p:ph type="body" idx="1"/>
          </p:nvPr>
        </p:nvSpPr>
        <p:spPr>
          <a:xfrm>
            <a:off x="630702" y="1651107"/>
            <a:ext cx="10930595" cy="4690794"/>
          </a:xfrm>
          <a:prstGeom prst="rect">
            <a:avLst/>
          </a:prstGeom>
          <a:blipFill rotWithShape="1">
            <a:blip r:embed="rId3">
              <a:alphaModFix/>
            </a:blip>
            <a:stretch>
              <a:fillRect l="-668" t="-1423"/>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SzPts val="2800"/>
              <a:buChar char="•"/>
            </a:pPr>
            <a:r>
              <a:rPr lang="en-IN" dirty="0"/>
              <a:t> </a:t>
            </a:r>
            <a:endParaRPr dirty="0"/>
          </a:p>
        </p:txBody>
      </p:sp>
      <p:sp>
        <p:nvSpPr>
          <p:cNvPr id="188" name="Google Shape;188;p6"/>
          <p:cNvSpPr/>
          <p:nvPr/>
        </p:nvSpPr>
        <p:spPr>
          <a:xfrm>
            <a:off x="633044" y="1666467"/>
            <a:ext cx="10930597" cy="4690794"/>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92" name="Google Shape;192;p6"/>
          <p:cNvPicPr preferRelativeResize="0"/>
          <p:nvPr/>
        </p:nvPicPr>
        <p:blipFill rotWithShape="1">
          <a:blip r:embed="rId4">
            <a:alphaModFix/>
          </a:blip>
          <a:srcRect/>
          <a:stretch/>
        </p:blipFill>
        <p:spPr>
          <a:xfrm>
            <a:off x="4989286" y="2378955"/>
            <a:ext cx="6248400" cy="2781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8" name="Google Shape;198;p7"/>
          <p:cNvPicPr preferRelativeResize="0">
            <a:picLocks noGrp="1"/>
          </p:cNvPicPr>
          <p:nvPr>
            <p:ph type="body" idx="1"/>
          </p:nvPr>
        </p:nvPicPr>
        <p:blipFill rotWithShape="1">
          <a:blip r:embed="rId3">
            <a:alphaModFix/>
          </a:blip>
          <a:srcRect/>
          <a:stretch/>
        </p:blipFill>
        <p:spPr>
          <a:xfrm>
            <a:off x="674049" y="1666875"/>
            <a:ext cx="10877692" cy="4691063"/>
          </a:xfrm>
          <a:prstGeom prst="rect">
            <a:avLst/>
          </a:prstGeom>
          <a:noFill/>
          <a:ln>
            <a:noFill/>
          </a:ln>
        </p:spPr>
      </p:pic>
      <p:sp>
        <p:nvSpPr>
          <p:cNvPr id="199" name="Google Shape;199;p7"/>
          <p:cNvSpPr/>
          <p:nvPr/>
        </p:nvSpPr>
        <p:spPr>
          <a:xfrm>
            <a:off x="633044" y="1666467"/>
            <a:ext cx="10930597" cy="4690794"/>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6" name="Google Shape;256;p13"/>
          <p:cNvSpPr/>
          <p:nvPr/>
        </p:nvSpPr>
        <p:spPr>
          <a:xfrm>
            <a:off x="677280" y="1167195"/>
            <a:ext cx="10837440" cy="1937538"/>
          </a:xfrm>
          <a:prstGeom prst="rect">
            <a:avLst/>
          </a:prstGeom>
          <a:noFill/>
          <a:ln>
            <a:noFill/>
          </a:ln>
        </p:spPr>
        <p:txBody>
          <a:bodyPr spcFirstLastPara="1" wrap="square" lIns="90000" tIns="45000" rIns="90000" bIns="45000" anchor="t" anchorCtr="0">
            <a:spAutoFit/>
          </a:bodyPr>
          <a:lstStyle/>
          <a:p>
            <a:r>
              <a:rPr lang="en-US" sz="2400" b="1"/>
              <a:t>6. If x varies directly as y and x = 15 when y = 5, find x when y = 9. </a:t>
            </a:r>
          </a:p>
          <a:p>
            <a:pPr marL="457200" indent="-457200">
              <a:buAutoNum type="alphaUcPeriod"/>
            </a:pPr>
            <a:r>
              <a:rPr lang="en-US" sz="2400" b="1"/>
              <a:t>18					B. 21</a:t>
            </a:r>
          </a:p>
          <a:p>
            <a:r>
              <a:rPr lang="en-US" sz="2400" b="1"/>
              <a:t>C. 27					D. 30</a:t>
            </a:r>
          </a:p>
          <a:p>
            <a:endParaRPr lang="en-US" sz="2400" b="1"/>
          </a:p>
          <a:p>
            <a:endParaRPr lang="en-US"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a:extLst>
            <a:ext uri="{FF2B5EF4-FFF2-40B4-BE49-F238E27FC236}">
              <a16:creationId xmlns:a16="http://schemas.microsoft.com/office/drawing/2014/main" id="{A3EDF74D-0FB3-387D-F52A-8396EEBD0B45}"/>
            </a:ext>
          </a:extLst>
        </p:cNvPr>
        <p:cNvGrpSpPr/>
        <p:nvPr/>
      </p:nvGrpSpPr>
      <p:grpSpPr>
        <a:xfrm>
          <a:off x="0" y="0"/>
          <a:ext cx="0" cy="0"/>
          <a:chOff x="0" y="0"/>
          <a:chExt cx="0" cy="0"/>
        </a:xfrm>
      </p:grpSpPr>
      <p:sp>
        <p:nvSpPr>
          <p:cNvPr id="256" name="Google Shape;256;p13">
            <a:extLst>
              <a:ext uri="{FF2B5EF4-FFF2-40B4-BE49-F238E27FC236}">
                <a16:creationId xmlns:a16="http://schemas.microsoft.com/office/drawing/2014/main" id="{1F9DA4B5-3081-36B9-4586-44B6F614025B}"/>
              </a:ext>
            </a:extLst>
          </p:cNvPr>
          <p:cNvSpPr/>
          <p:nvPr/>
        </p:nvSpPr>
        <p:spPr>
          <a:xfrm>
            <a:off x="677280" y="1167195"/>
            <a:ext cx="10837440" cy="2306870"/>
          </a:xfrm>
          <a:prstGeom prst="rect">
            <a:avLst/>
          </a:prstGeom>
          <a:noFill/>
          <a:ln>
            <a:noFill/>
          </a:ln>
        </p:spPr>
        <p:txBody>
          <a:bodyPr spcFirstLastPara="1" wrap="square" lIns="90000" tIns="45000" rIns="90000" bIns="45000" anchor="t" anchorCtr="0">
            <a:spAutoFit/>
          </a:bodyPr>
          <a:lstStyle/>
          <a:p>
            <a:r>
              <a:rPr lang="en-US" sz="2400" b="1"/>
              <a:t>7. If x varies inversely as y and x = 10 when y = 6, find y when x = 15. </a:t>
            </a:r>
          </a:p>
          <a:p>
            <a:pPr marL="457200" indent="-457200">
              <a:buAutoNum type="alphaUcPeriod"/>
            </a:pPr>
            <a:r>
              <a:rPr lang="en-US" sz="2400" b="1"/>
              <a:t>2					B. 3</a:t>
            </a:r>
          </a:p>
          <a:p>
            <a:r>
              <a:rPr lang="en-US" sz="2400" b="1"/>
              <a:t>C. 4					D. 6</a:t>
            </a:r>
          </a:p>
          <a:p>
            <a:endParaRPr lang="en-US" sz="2400" b="1"/>
          </a:p>
          <a:p>
            <a:endParaRPr lang="en-US" sz="2400" b="1"/>
          </a:p>
          <a:p>
            <a:endParaRPr lang="en-US" sz="2400" b="1" dirty="0"/>
          </a:p>
        </p:txBody>
      </p:sp>
    </p:spTree>
    <p:extLst>
      <p:ext uri="{BB962C8B-B14F-4D97-AF65-F5344CB8AC3E}">
        <p14:creationId xmlns:p14="http://schemas.microsoft.com/office/powerpoint/2010/main" val="573627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2">
          <a:extLst>
            <a:ext uri="{FF2B5EF4-FFF2-40B4-BE49-F238E27FC236}">
              <a16:creationId xmlns:a16="http://schemas.microsoft.com/office/drawing/2014/main" id="{15CF6C34-5DA6-E9DB-456B-788EA6D3F0BF}"/>
            </a:ext>
          </a:extLst>
        </p:cNvPr>
        <p:cNvGrpSpPr/>
        <p:nvPr/>
      </p:nvGrpSpPr>
      <p:grpSpPr>
        <a:xfrm>
          <a:off x="0" y="0"/>
          <a:ext cx="0" cy="0"/>
          <a:chOff x="0" y="0"/>
          <a:chExt cx="0" cy="0"/>
        </a:xfrm>
      </p:grpSpPr>
      <p:sp>
        <p:nvSpPr>
          <p:cNvPr id="256" name="Google Shape;256;p13">
            <a:extLst>
              <a:ext uri="{FF2B5EF4-FFF2-40B4-BE49-F238E27FC236}">
                <a16:creationId xmlns:a16="http://schemas.microsoft.com/office/drawing/2014/main" id="{4C24104D-9E5A-0E36-F535-A3D9EF8C5C11}"/>
              </a:ext>
            </a:extLst>
          </p:cNvPr>
          <p:cNvSpPr/>
          <p:nvPr/>
        </p:nvSpPr>
        <p:spPr>
          <a:xfrm>
            <a:off x="677280" y="1167195"/>
            <a:ext cx="10837440" cy="1937538"/>
          </a:xfrm>
          <a:prstGeom prst="rect">
            <a:avLst/>
          </a:prstGeom>
          <a:noFill/>
          <a:ln>
            <a:noFill/>
          </a:ln>
        </p:spPr>
        <p:txBody>
          <a:bodyPr spcFirstLastPara="1" wrap="square" lIns="90000" tIns="45000" rIns="90000" bIns="45000" anchor="t" anchorCtr="0">
            <a:spAutoFit/>
          </a:bodyPr>
          <a:lstStyle/>
          <a:p>
            <a:r>
              <a:rPr lang="en-IN" sz="2400" b="1" dirty="0">
                <a:latin typeface="Times New Roman" panose="02020603050405020304" pitchFamily="18" charset="0"/>
                <a:ea typeface="Cambria"/>
                <a:cs typeface="Times New Roman" panose="02020603050405020304" pitchFamily="18" charset="0"/>
                <a:sym typeface="Cambria"/>
              </a:rPr>
              <a:t>8</a:t>
            </a:r>
            <a:r>
              <a:rPr lang="en-IN" sz="2400" b="1">
                <a:latin typeface="Times New Roman" panose="02020603050405020304" pitchFamily="18" charset="0"/>
                <a:ea typeface="Cambria"/>
                <a:cs typeface="Times New Roman" panose="02020603050405020304" pitchFamily="18" charset="0"/>
                <a:sym typeface="Cambria"/>
              </a:rPr>
              <a:t>. </a:t>
            </a:r>
            <a:r>
              <a:rPr lang="en-IN" sz="2400" b="1" dirty="0">
                <a:latin typeface="Times New Roman" panose="02020603050405020304" pitchFamily="18" charset="0"/>
                <a:ea typeface="Cambria"/>
                <a:cs typeface="Times New Roman" panose="02020603050405020304" pitchFamily="18" charset="0"/>
                <a:sym typeface="Cambria"/>
              </a:rPr>
              <a:t>If 0.75 : x :: 5 : 8, then x is equal to:</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A. 1.12</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1.2</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1.25</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1.30</a:t>
            </a:r>
            <a:endParaRPr sz="2400" b="1" dirty="0">
              <a:latin typeface="Times New Roman" panose="02020603050405020304" pitchFamily="18" charset="0"/>
              <a:ea typeface="Cambria"/>
              <a:cs typeface="Times New Roman" panose="02020603050405020304" pitchFamily="18" charset="0"/>
            </a:endParaRPr>
          </a:p>
        </p:txBody>
      </p:sp>
    </p:spTree>
    <p:extLst>
      <p:ext uri="{BB962C8B-B14F-4D97-AF65-F5344CB8AC3E}">
        <p14:creationId xmlns:p14="http://schemas.microsoft.com/office/powerpoint/2010/main" val="1073320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7" name="Google Shape;247;p12"/>
          <p:cNvSpPr/>
          <p:nvPr/>
        </p:nvSpPr>
        <p:spPr>
          <a:xfrm>
            <a:off x="499080" y="1060575"/>
            <a:ext cx="11193839" cy="2368425"/>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9</a:t>
            </a:r>
            <a:r>
              <a:rPr lang="en-IN" sz="2400" b="1">
                <a:latin typeface="Times New Roman" panose="02020603050405020304" pitchFamily="18" charset="0"/>
                <a:ea typeface="Cambria"/>
                <a:cs typeface="Times New Roman" panose="02020603050405020304" pitchFamily="18" charset="0"/>
                <a:sym typeface="Cambria"/>
              </a:rPr>
              <a:t>. </a:t>
            </a:r>
            <a:r>
              <a:rPr lang="en-IN" sz="2400" b="1" dirty="0">
                <a:latin typeface="Times New Roman" panose="02020603050405020304" pitchFamily="18" charset="0"/>
                <a:ea typeface="Cambria"/>
                <a:cs typeface="Times New Roman" panose="02020603050405020304" pitchFamily="18" charset="0"/>
                <a:sym typeface="Cambria"/>
              </a:rPr>
              <a:t>If y/(x - z) = (y + x)/z = x/y then find z : y : x ?</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1:2:3</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3:2:4</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4:3:2</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2:3:4</a:t>
            </a:r>
            <a:endParaRPr sz="2400" b="1" dirty="0">
              <a:latin typeface="Times New Roman" panose="02020603050405020304" pitchFamily="18" charset="0"/>
              <a:ea typeface="Cambria"/>
              <a:cs typeface="Times New Roman" panose="02020603050405020304" pitchFamily="18" charset="0"/>
              <a:sym typeface="Cambria"/>
            </a:endParaRPr>
          </a:p>
          <a:p>
            <a:pPr marL="0" marR="0" lvl="0" indent="0" algn="l" rtl="0">
              <a:lnSpc>
                <a:spcPct val="100000"/>
              </a:lnSpc>
              <a:spcBef>
                <a:spcPts val="0"/>
              </a:spcBef>
              <a:spcAft>
                <a:spcPts val="0"/>
              </a:spcAft>
              <a:buNone/>
            </a:pPr>
            <a:endParaRPr sz="2800" b="0" strike="noStrike" dirty="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9" name="Google Shape;229;p10"/>
          <p:cNvSpPr/>
          <p:nvPr/>
        </p:nvSpPr>
        <p:spPr>
          <a:xfrm>
            <a:off x="397620" y="1122130"/>
            <a:ext cx="11062440" cy="2306870"/>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1</a:t>
            </a:r>
            <a:r>
              <a:rPr lang="en-IN" sz="2400" b="1" dirty="0">
                <a:latin typeface="Times New Roman" panose="02020603050405020304" pitchFamily="18" charset="0"/>
                <a:ea typeface="Cambria"/>
                <a:cs typeface="Times New Roman" panose="02020603050405020304" pitchFamily="18" charset="0"/>
                <a:sym typeface="Cambria"/>
              </a:rPr>
              <a:t>0</a:t>
            </a:r>
            <a:r>
              <a:rPr lang="en-IN" sz="2400" b="1">
                <a:latin typeface="Times New Roman" panose="02020603050405020304" pitchFamily="18" charset="0"/>
                <a:ea typeface="Cambria"/>
                <a:cs typeface="Times New Roman" panose="02020603050405020304" pitchFamily="18" charset="0"/>
                <a:sym typeface="Cambria"/>
              </a:rPr>
              <a:t>. </a:t>
            </a:r>
            <a:r>
              <a:rPr lang="en-IN" sz="2400" b="1" dirty="0">
                <a:latin typeface="Times New Roman" panose="02020603050405020304" pitchFamily="18" charset="0"/>
                <a:ea typeface="Cambria"/>
                <a:cs typeface="Times New Roman" panose="02020603050405020304" pitchFamily="18" charset="0"/>
                <a:sym typeface="Cambria"/>
              </a:rPr>
              <a:t>The sum of three numbers is 98. If the ratio of the first to second is 2 :3 and that of the second to the third is 5 : 8, then the second number is:</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20</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30</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48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58</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11" name="Google Shape;211;p8"/>
          <p:cNvSpPr/>
          <p:nvPr/>
        </p:nvSpPr>
        <p:spPr>
          <a:xfrm>
            <a:off x="534900" y="1122130"/>
            <a:ext cx="11122200" cy="2306870"/>
          </a:xfrm>
          <a:prstGeom prst="rect">
            <a:avLst/>
          </a:prstGeom>
          <a:no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IN" sz="2400" b="1">
                <a:latin typeface="Times New Roman" panose="02020603050405020304" pitchFamily="18" charset="0"/>
                <a:ea typeface="Cambria"/>
                <a:cs typeface="Times New Roman" panose="02020603050405020304" pitchFamily="18" charset="0"/>
                <a:sym typeface="Cambria"/>
              </a:rPr>
              <a:t>1</a:t>
            </a:r>
            <a:r>
              <a:rPr lang="en-IN" sz="2400" b="1" dirty="0">
                <a:latin typeface="Times New Roman" panose="02020603050405020304" pitchFamily="18" charset="0"/>
                <a:ea typeface="Cambria"/>
                <a:cs typeface="Times New Roman" panose="02020603050405020304" pitchFamily="18" charset="0"/>
                <a:sym typeface="Cambria"/>
              </a:rPr>
              <a:t>1</a:t>
            </a:r>
            <a:r>
              <a:rPr lang="en-IN" sz="2400" b="1" strike="noStrike">
                <a:solidFill>
                  <a:srgbClr val="000000"/>
                </a:solidFill>
                <a:latin typeface="Times New Roman" panose="02020603050405020304" pitchFamily="18" charset="0"/>
                <a:ea typeface="Cambria"/>
                <a:cs typeface="Times New Roman" panose="02020603050405020304" pitchFamily="18" charset="0"/>
                <a:sym typeface="Cambria"/>
              </a:rPr>
              <a:t>.</a:t>
            </a:r>
            <a:r>
              <a:rPr lang="en-IN" sz="2400" b="1" strike="noStrike" dirty="0">
                <a:solidFill>
                  <a:srgbClr val="000000"/>
                </a:solidFill>
                <a:latin typeface="Times New Roman" panose="02020603050405020304" pitchFamily="18" charset="0"/>
                <a:ea typeface="Cambria"/>
                <a:cs typeface="Times New Roman" panose="02020603050405020304" pitchFamily="18" charset="0"/>
                <a:sym typeface="Cambria"/>
              </a:rPr>
              <a:t>Two numbers are respectively 20% and 50% more than a third number. The ratio of the two numbers is:</a:t>
            </a:r>
            <a:endParaRPr sz="2400" b="1" strike="noStrik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r>
              <a:rPr lang="en-IN" sz="2400" b="1" strike="noStrike" dirty="0">
                <a:solidFill>
                  <a:srgbClr val="000000"/>
                </a:solidFill>
                <a:latin typeface="Times New Roman" panose="02020603050405020304" pitchFamily="18" charset="0"/>
                <a:ea typeface="Cambria"/>
                <a:cs typeface="Times New Roman" panose="02020603050405020304" pitchFamily="18" charset="0"/>
                <a:sym typeface="Cambria"/>
              </a:rPr>
              <a:t>A. 2 : 5</a:t>
            </a:r>
            <a:endParaRPr sz="2400" b="1" strike="noStrik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r>
              <a:rPr lang="en-IN" sz="2400" b="1" strike="noStrike" dirty="0">
                <a:solidFill>
                  <a:srgbClr val="000000"/>
                </a:solidFill>
                <a:latin typeface="Times New Roman" panose="02020603050405020304" pitchFamily="18" charset="0"/>
                <a:ea typeface="Cambria"/>
                <a:cs typeface="Times New Roman" panose="02020603050405020304" pitchFamily="18" charset="0"/>
                <a:sym typeface="Cambria"/>
              </a:rPr>
              <a:t>B. 3 : 5</a:t>
            </a:r>
            <a:endParaRPr sz="2400" b="1" strike="noStrik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r>
              <a:rPr lang="en-IN" sz="2400" b="1" strike="noStrike" dirty="0">
                <a:solidFill>
                  <a:srgbClr val="000000"/>
                </a:solidFill>
                <a:latin typeface="Times New Roman" panose="02020603050405020304" pitchFamily="18" charset="0"/>
                <a:ea typeface="Cambria"/>
                <a:cs typeface="Times New Roman" panose="02020603050405020304" pitchFamily="18" charset="0"/>
                <a:sym typeface="Cambria"/>
              </a:rPr>
              <a:t>C. 4 : 5</a:t>
            </a:r>
            <a:endParaRPr sz="2400" b="1" strike="noStrik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0"/>
              </a:spcBef>
              <a:spcAft>
                <a:spcPts val="0"/>
              </a:spcAft>
              <a:buNone/>
            </a:pPr>
            <a:r>
              <a:rPr lang="en-IN" sz="2400" b="1" strike="noStrike" dirty="0">
                <a:solidFill>
                  <a:srgbClr val="000000"/>
                </a:solidFill>
                <a:latin typeface="Times New Roman" panose="02020603050405020304" pitchFamily="18" charset="0"/>
                <a:ea typeface="Cambria"/>
                <a:cs typeface="Times New Roman" panose="02020603050405020304" pitchFamily="18" charset="0"/>
                <a:sym typeface="Cambria"/>
              </a:rPr>
              <a:t>D. 6 : 7</a:t>
            </a:r>
            <a:endParaRPr sz="2400" b="1" strike="noStrike" dirty="0">
              <a:solidFill>
                <a:schemeClr val="dk1"/>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20" name="Google Shape;220;p9"/>
          <p:cNvSpPr/>
          <p:nvPr/>
        </p:nvSpPr>
        <p:spPr>
          <a:xfrm>
            <a:off x="499080" y="1122130"/>
            <a:ext cx="11193839" cy="2306870"/>
          </a:xfrm>
          <a:prstGeom prst="rect">
            <a:avLst/>
          </a:prstGeom>
          <a:noFill/>
          <a:ln>
            <a:noFill/>
          </a:ln>
        </p:spPr>
        <p:txBody>
          <a:bodyPr spcFirstLastPara="1" wrap="square" lIns="90000" tIns="45000" rIns="90000" bIns="45000" anchor="t" anchorCtr="0">
            <a:spAutoFit/>
          </a:bodyPr>
          <a:lstStyle/>
          <a:p>
            <a:pPr>
              <a:buSzPts val="1800"/>
            </a:pPr>
            <a:r>
              <a:rPr lang="en-IN" sz="2400" b="1">
                <a:latin typeface="Times New Roman" panose="02020603050405020304" pitchFamily="18" charset="0"/>
                <a:ea typeface="Cambria"/>
                <a:cs typeface="Times New Roman" panose="02020603050405020304" pitchFamily="18" charset="0"/>
                <a:sym typeface="Cambria"/>
              </a:rPr>
              <a:t>12.</a:t>
            </a:r>
            <a:r>
              <a:rPr lang="en-IN" sz="2400" b="1" dirty="0">
                <a:latin typeface="Times New Roman" panose="02020603050405020304" pitchFamily="18" charset="0"/>
                <a:ea typeface="Cambria"/>
                <a:cs typeface="Times New Roman" panose="02020603050405020304" pitchFamily="18" charset="0"/>
                <a:sym typeface="Cambria"/>
              </a:rPr>
              <a:t>If 40% of a number is equal to two-third of another number, what is the ratio of first number to the second number?</a:t>
            </a:r>
            <a:endParaRPr sz="2400" b="1" dirty="0">
              <a:latin typeface="Times New Roman" panose="02020603050405020304" pitchFamily="18" charset="0"/>
              <a:ea typeface="Cambria"/>
              <a:cs typeface="Times New Roman" panose="02020603050405020304" pitchFamily="18" charset="0"/>
            </a:endParaRPr>
          </a:p>
          <a:p>
            <a:pPr>
              <a:buSzPts val="2800"/>
            </a:pPr>
            <a:r>
              <a:rPr lang="en-IN" sz="2400" b="1" dirty="0">
                <a:latin typeface="Times New Roman" panose="02020603050405020304" pitchFamily="18" charset="0"/>
                <a:ea typeface="Cambria"/>
                <a:cs typeface="Times New Roman" panose="02020603050405020304" pitchFamily="18" charset="0"/>
                <a:sym typeface="Cambria"/>
              </a:rPr>
              <a:t>A. 2 : 5</a:t>
            </a:r>
            <a:endParaRPr sz="2400" b="1" dirty="0">
              <a:latin typeface="Times New Roman" panose="02020603050405020304" pitchFamily="18" charset="0"/>
              <a:ea typeface="Cambria"/>
              <a:cs typeface="Times New Roman" panose="02020603050405020304" pitchFamily="18" charset="0"/>
            </a:endParaRPr>
          </a:p>
          <a:p>
            <a:pPr>
              <a:buSzPts val="2800"/>
            </a:pPr>
            <a:r>
              <a:rPr lang="en-IN" sz="2400" b="1" dirty="0">
                <a:latin typeface="Times New Roman" panose="02020603050405020304" pitchFamily="18" charset="0"/>
                <a:ea typeface="Cambria"/>
                <a:cs typeface="Times New Roman" panose="02020603050405020304" pitchFamily="18" charset="0"/>
                <a:sym typeface="Cambria"/>
              </a:rPr>
              <a:t>B. 3 : 7</a:t>
            </a:r>
            <a:endParaRPr sz="2400" b="1" dirty="0">
              <a:latin typeface="Times New Roman" panose="02020603050405020304" pitchFamily="18" charset="0"/>
              <a:ea typeface="Cambria"/>
              <a:cs typeface="Times New Roman" panose="02020603050405020304" pitchFamily="18" charset="0"/>
            </a:endParaRPr>
          </a:p>
          <a:p>
            <a:pPr>
              <a:buSzPts val="2800"/>
            </a:pPr>
            <a:r>
              <a:rPr lang="en-IN" sz="2400" b="1" dirty="0">
                <a:latin typeface="Times New Roman" panose="02020603050405020304" pitchFamily="18" charset="0"/>
                <a:ea typeface="Cambria"/>
                <a:cs typeface="Times New Roman" panose="02020603050405020304" pitchFamily="18" charset="0"/>
                <a:sym typeface="Cambria"/>
              </a:rPr>
              <a:t>C. 5 : 3</a:t>
            </a:r>
            <a:endParaRPr sz="2400" b="1" dirty="0">
              <a:latin typeface="Times New Roman" panose="02020603050405020304" pitchFamily="18" charset="0"/>
              <a:ea typeface="Cambria"/>
              <a:cs typeface="Times New Roman" panose="02020603050405020304" pitchFamily="18" charset="0"/>
            </a:endParaRPr>
          </a:p>
          <a:p>
            <a:pPr>
              <a:buSzPts val="2800"/>
            </a:pPr>
            <a:r>
              <a:rPr lang="en-IN" sz="2400" b="1" dirty="0">
                <a:latin typeface="Times New Roman" panose="02020603050405020304" pitchFamily="18" charset="0"/>
                <a:ea typeface="Cambria"/>
                <a:cs typeface="Times New Roman" panose="02020603050405020304" pitchFamily="18" charset="0"/>
                <a:sym typeface="Cambria"/>
              </a:rPr>
              <a:t>D. 7 : 3</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8" name="Google Shape;238;p11"/>
          <p:cNvSpPr/>
          <p:nvPr/>
        </p:nvSpPr>
        <p:spPr>
          <a:xfrm>
            <a:off x="499080" y="1076072"/>
            <a:ext cx="11193839" cy="2583869"/>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13. </a:t>
            </a:r>
            <a:r>
              <a:rPr lang="en-IN" sz="2400" b="1" dirty="0">
                <a:latin typeface="Times New Roman" panose="02020603050405020304" pitchFamily="18" charset="0"/>
                <a:ea typeface="Cambria"/>
                <a:cs typeface="Times New Roman" panose="02020603050405020304" pitchFamily="18" charset="0"/>
                <a:sym typeface="Cambria"/>
              </a:rPr>
              <a:t>Rs. 2600 is divided into three parts A, B and C. How much A is more than C if their ratio is 1/2:1/3:1/4 ?</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A) 600</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B) 300</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C) 150</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D) 75</a:t>
            </a:r>
            <a:endParaRPr sz="2400" b="1" dirty="0">
              <a:latin typeface="Times New Roman" panose="02020603050405020304" pitchFamily="18" charset="0"/>
              <a:ea typeface="Cambria"/>
              <a:cs typeface="Times New Roman" panose="02020603050405020304" pitchFamily="18" charset="0"/>
              <a:sym typeface="Cambria"/>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4" name="Google Shape;284;p16"/>
          <p:cNvSpPr/>
          <p:nvPr/>
        </p:nvSpPr>
        <p:spPr>
          <a:xfrm>
            <a:off x="375120" y="1116268"/>
            <a:ext cx="11107440" cy="2306870"/>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14. </a:t>
            </a:r>
            <a:r>
              <a:rPr lang="en-IN" sz="2400" b="1" dirty="0">
                <a:latin typeface="Times New Roman" panose="02020603050405020304" pitchFamily="18" charset="0"/>
                <a:ea typeface="Cambria"/>
                <a:cs typeface="Times New Roman" panose="02020603050405020304" pitchFamily="18" charset="0"/>
                <a:sym typeface="Cambria"/>
              </a:rPr>
              <a:t>A sum of money is to be distributed among A, B, C, D in the proportion of 5 : 2 : 4 : 3. If C gets Rs. 1000 more than D, what is B's share?</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Rs. 500</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Rs. 1500</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Rs. 2000</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None of these</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60" name="Google Shape;460;p35"/>
          <p:cNvSpPr txBox="1"/>
          <p:nvPr/>
        </p:nvSpPr>
        <p:spPr>
          <a:xfrm>
            <a:off x="463013" y="1024223"/>
            <a:ext cx="11265973" cy="3231614"/>
          </a:xfrm>
          <a:prstGeom prst="rect">
            <a:avLst/>
          </a:prstGeom>
          <a:noFill/>
          <a:ln>
            <a:noFill/>
          </a:ln>
        </p:spPr>
        <p:txBody>
          <a:bodyPr spcFirstLastPara="1" wrap="square" lIns="91425" tIns="45700" rIns="91425" bIns="457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15. </a:t>
            </a:r>
            <a:r>
              <a:rPr lang="en-IN" sz="2400" b="1" dirty="0">
                <a:latin typeface="Times New Roman" panose="02020603050405020304" pitchFamily="18" charset="0"/>
                <a:ea typeface="Cambria"/>
                <a:cs typeface="Times New Roman" panose="02020603050405020304" pitchFamily="18" charset="0"/>
                <a:sym typeface="Cambria"/>
              </a:rPr>
              <a:t>A person divided Rs. 10800 among his three sons in the ratio 3 : 4 : 5. Second son kept Rs. 1000 for himself, gave Rs. 600 to his wife and divided the remaining money among his two daughters in the ratio 11 : 9. Then one of his daughters received.</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(A) Rs. 1000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Rs. 1050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Rs. 1100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Rs. 1150</a:t>
            </a:r>
            <a:endParaRPr sz="2400" b="1" dirty="0">
              <a:latin typeface="Times New Roman" panose="02020603050405020304" pitchFamily="18" charset="0"/>
              <a:ea typeface="Cambria"/>
              <a:cs typeface="Times New Roman" panose="02020603050405020304" pitchFamily="18" charset="0"/>
            </a:endParaRPr>
          </a:p>
          <a:p>
            <a:pPr marL="0" marR="0" lvl="0" indent="0" algn="l" rtl="0">
              <a:spcBef>
                <a:spcPts val="0"/>
              </a:spcBef>
              <a:spcAft>
                <a:spcPts val="0"/>
              </a:spcAft>
              <a:buNone/>
            </a:pPr>
            <a:br>
              <a:rPr lang="en-IN" sz="1800" b="0" i="0" dirty="0">
                <a:solidFill>
                  <a:srgbClr val="333333"/>
                </a:solidFill>
                <a:latin typeface="Roboto"/>
                <a:ea typeface="Roboto"/>
                <a:cs typeface="Roboto"/>
                <a:sym typeface="Roboto"/>
              </a:rPr>
            </a:br>
            <a:endParaRPr sz="1800" dirty="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3" name="Google Shape;293;p17"/>
          <p:cNvSpPr/>
          <p:nvPr/>
        </p:nvSpPr>
        <p:spPr>
          <a:xfrm>
            <a:off x="471180" y="1062828"/>
            <a:ext cx="11249640" cy="2676202"/>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16. </a:t>
            </a:r>
            <a:r>
              <a:rPr lang="en-IN" sz="2400" b="1" dirty="0">
                <a:latin typeface="Times New Roman" panose="02020603050405020304" pitchFamily="18" charset="0"/>
                <a:ea typeface="Cambria"/>
                <a:cs typeface="Times New Roman" panose="02020603050405020304" pitchFamily="18" charset="0"/>
                <a:sym typeface="Cambria"/>
              </a:rPr>
              <a:t>The ratio of the number of boys and girls in a college is 7 : 8. If the percentage increase in the number of boys and girls be 20% and 10% respectively, what will be the new ratio?</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A. 8 : 9</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B.17 : 18</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21 : 22</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Cannot be determined</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2" name="Google Shape;302;p18"/>
          <p:cNvSpPr/>
          <p:nvPr/>
        </p:nvSpPr>
        <p:spPr>
          <a:xfrm>
            <a:off x="390240" y="1029411"/>
            <a:ext cx="11077200" cy="2676202"/>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17. </a:t>
            </a:r>
            <a:r>
              <a:rPr lang="en-IN" sz="2400" b="1" dirty="0">
                <a:latin typeface="Times New Roman" panose="02020603050405020304" pitchFamily="18" charset="0"/>
                <a:ea typeface="Cambria"/>
                <a:cs typeface="Times New Roman" panose="02020603050405020304" pitchFamily="18" charset="0"/>
                <a:sym typeface="Cambria"/>
              </a:rPr>
              <a:t>Seats for Mathematics, Physics and Biology in a school are in the ratio 5 : 7 : 8. There is a proposal to increase these seats by 40%, 50% and 75% respectively. What will be the ratio of increased seats?</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2 : 3 : 4</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6 : 7 : 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6 : 8 : 9</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None of these</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20" name="Google Shape;320;p20"/>
          <p:cNvSpPr/>
          <p:nvPr/>
        </p:nvSpPr>
        <p:spPr>
          <a:xfrm>
            <a:off x="435060" y="1122130"/>
            <a:ext cx="10987560" cy="2306870"/>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18. </a:t>
            </a:r>
            <a:r>
              <a:rPr lang="en-IN" sz="2400" b="1" dirty="0">
                <a:latin typeface="Times New Roman" panose="02020603050405020304" pitchFamily="18" charset="0"/>
                <a:ea typeface="Cambria"/>
                <a:cs typeface="Times New Roman" panose="02020603050405020304" pitchFamily="18" charset="0"/>
                <a:sym typeface="Cambria"/>
              </a:rPr>
              <a:t>Two number are in the ratio 3 : 5. If 9 is subtracted from each, the new numbers are in the ratio 12 : 23. The smaller number is:</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27</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33</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49</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55</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11" name="Google Shape;311;p19"/>
          <p:cNvSpPr/>
          <p:nvPr/>
        </p:nvSpPr>
        <p:spPr>
          <a:xfrm>
            <a:off x="465120" y="1122130"/>
            <a:ext cx="10927440" cy="2306870"/>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19. </a:t>
            </a:r>
            <a:r>
              <a:rPr lang="en-IN" sz="2400" b="1" dirty="0">
                <a:latin typeface="Times New Roman" panose="02020603050405020304" pitchFamily="18" charset="0"/>
                <a:ea typeface="Cambria"/>
                <a:cs typeface="Times New Roman" panose="02020603050405020304" pitchFamily="18" charset="0"/>
                <a:sym typeface="Cambria"/>
              </a:rPr>
              <a:t>Salaries of Ravi and Sumit are in the ratio 2 : 3. If the salary of each is increased by Rs. 4000, the new ratio becomes 40 : 57. What is Sumit's salary?</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A. Rs. 17,000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Rs. 20,000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Rs. 25,500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Rs. 38,000</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9" name="Google Shape;329;p21"/>
          <p:cNvSpPr/>
          <p:nvPr/>
        </p:nvSpPr>
        <p:spPr>
          <a:xfrm>
            <a:off x="312461" y="1122130"/>
            <a:ext cx="10994760" cy="2306870"/>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20. </a:t>
            </a:r>
            <a:r>
              <a:rPr lang="en-IN" sz="2400" b="1" dirty="0">
                <a:latin typeface="Times New Roman" panose="02020603050405020304" pitchFamily="18" charset="0"/>
                <a:ea typeface="Cambria"/>
                <a:cs typeface="Times New Roman" panose="02020603050405020304" pitchFamily="18" charset="0"/>
                <a:sym typeface="Cambria"/>
              </a:rPr>
              <a:t>In a bag, there are coins of 25 p, 10 p and 5 p in the ratio of 1 : 2 : 3. If there is Rs. 30 in all, how many 5 p coins are there?</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A. 50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100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150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200</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9" name="Google Shape;329;p21"/>
          <p:cNvSpPr/>
          <p:nvPr/>
        </p:nvSpPr>
        <p:spPr>
          <a:xfrm>
            <a:off x="312461" y="1122130"/>
            <a:ext cx="10994760" cy="2676202"/>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21.</a:t>
            </a:r>
            <a:r>
              <a:rPr lang="en-US" sz="2400" b="1">
                <a:latin typeface="Times New Roman" panose="02020603050405020304" pitchFamily="18" charset="0"/>
                <a:ea typeface="Cambria"/>
                <a:cs typeface="Times New Roman" panose="02020603050405020304" pitchFamily="18" charset="0"/>
              </a:rPr>
              <a:t> </a:t>
            </a:r>
            <a:r>
              <a:rPr lang="en-US" sz="2400" b="1" dirty="0">
                <a:latin typeface="Times New Roman" panose="02020603050405020304" pitchFamily="18" charset="0"/>
                <a:ea typeface="Cambria"/>
                <a:cs typeface="Times New Roman" panose="02020603050405020304" pitchFamily="18" charset="0"/>
              </a:rPr>
              <a:t>A box contains 280 coins of one-rupee, 50-paise and 25-paise. The values of each kind of the coins are in the ratio of 8:4:3. Then the number of 50-paise coins is. </a:t>
            </a:r>
          </a:p>
          <a:p>
            <a:r>
              <a:rPr lang="en-IN" sz="2400" b="1" dirty="0">
                <a:latin typeface="Times New Roman" panose="02020603050405020304" pitchFamily="18" charset="0"/>
                <a:ea typeface="Cambria"/>
                <a:cs typeface="Times New Roman" panose="02020603050405020304" pitchFamily="18" charset="0"/>
                <a:sym typeface="Cambria"/>
              </a:rPr>
              <a:t>A. 50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80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120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200</a:t>
            </a:r>
            <a:endParaRPr sz="2400" b="1" dirty="0">
              <a:latin typeface="Times New Roman" panose="02020603050405020304" pitchFamily="18" charset="0"/>
              <a:ea typeface="Cambria"/>
              <a:cs typeface="Times New Roman" panose="02020603050405020304" pitchFamily="18" charset="0"/>
            </a:endParaRPr>
          </a:p>
        </p:txBody>
      </p:sp>
    </p:spTree>
    <p:extLst>
      <p:ext uri="{BB962C8B-B14F-4D97-AF65-F5344CB8AC3E}">
        <p14:creationId xmlns:p14="http://schemas.microsoft.com/office/powerpoint/2010/main" val="1744404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8" name="Google Shape;348;p23"/>
          <p:cNvSpPr/>
          <p:nvPr/>
        </p:nvSpPr>
        <p:spPr>
          <a:xfrm>
            <a:off x="450180" y="989230"/>
            <a:ext cx="10957320" cy="3045534"/>
          </a:xfrm>
          <a:prstGeom prst="rect">
            <a:avLst/>
          </a:prstGeom>
          <a:noFill/>
          <a:ln>
            <a:noFill/>
          </a:ln>
        </p:spPr>
        <p:txBody>
          <a:bodyPr spcFirstLastPara="1" wrap="square" lIns="90000" tIns="45000" rIns="90000" bIns="45000" anchor="t" anchorCtr="0">
            <a:spAutoFit/>
          </a:bodyPr>
          <a:lstStyle/>
          <a:p>
            <a:pPr mar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22. </a:t>
            </a:r>
            <a:r>
              <a:rPr lang="en-IN" sz="2400" b="1" dirty="0">
                <a:latin typeface="Times New Roman" panose="02020603050405020304" pitchFamily="18" charset="0"/>
                <a:ea typeface="Cambria"/>
                <a:cs typeface="Times New Roman" panose="02020603050405020304" pitchFamily="18" charset="0"/>
                <a:sym typeface="Cambria"/>
              </a:rPr>
              <a:t>One year ago the ratio between </a:t>
            </a:r>
            <a:r>
              <a:rPr lang="en-IN" sz="2400" b="1" dirty="0" err="1">
                <a:latin typeface="Times New Roman" panose="02020603050405020304" pitchFamily="18" charset="0"/>
                <a:ea typeface="Cambria"/>
                <a:cs typeface="Times New Roman" panose="02020603050405020304" pitchFamily="18" charset="0"/>
                <a:sym typeface="Cambria"/>
              </a:rPr>
              <a:t>Maneela’s</a:t>
            </a:r>
            <a:r>
              <a:rPr lang="en-IN" sz="2400" b="1" dirty="0">
                <a:latin typeface="Times New Roman" panose="02020603050405020304" pitchFamily="18" charset="0"/>
                <a:ea typeface="Cambria"/>
                <a:cs typeface="Times New Roman" panose="02020603050405020304" pitchFamily="18" charset="0"/>
                <a:sym typeface="Cambria"/>
              </a:rPr>
              <a:t> and Shanthi’s salary was 3 : 4. The ratios of their individual salaries between last year’s and this year’s salaries are 4 : 5 and 2 : 3 respectively. At present the total of their salary is Rs. 4160. The salary of </a:t>
            </a:r>
            <a:r>
              <a:rPr lang="en-IN" sz="2400" b="1" dirty="0" err="1">
                <a:latin typeface="Times New Roman" panose="02020603050405020304" pitchFamily="18" charset="0"/>
                <a:ea typeface="Cambria"/>
                <a:cs typeface="Times New Roman" panose="02020603050405020304" pitchFamily="18" charset="0"/>
                <a:sym typeface="Cambria"/>
              </a:rPr>
              <a:t>Maneela</a:t>
            </a:r>
            <a:r>
              <a:rPr lang="en-IN" sz="2400" b="1" dirty="0">
                <a:latin typeface="Times New Roman" panose="02020603050405020304" pitchFamily="18" charset="0"/>
                <a:ea typeface="Cambria"/>
                <a:cs typeface="Times New Roman" panose="02020603050405020304" pitchFamily="18" charset="0"/>
                <a:sym typeface="Cambria"/>
              </a:rPr>
              <a:t>, now is?</a:t>
            </a:r>
            <a:endParaRPr sz="2400" b="1" dirty="0">
              <a:latin typeface="Times New Roman" panose="02020603050405020304" pitchFamily="18" charset="0"/>
              <a:ea typeface="Cambria"/>
              <a:cs typeface="Times New Roman" panose="02020603050405020304" pitchFamily="18" charset="0"/>
              <a:sym typeface="Cambria"/>
            </a:endParaRPr>
          </a:p>
          <a:p>
            <a:pPr marL="342900" indent="-342900">
              <a:buSzPts val="2800"/>
              <a:buFont typeface="Arial"/>
              <a:buAutoNum type="alphaUcPeriod"/>
            </a:pPr>
            <a:r>
              <a:rPr lang="en-IN" sz="2400" b="1" dirty="0">
                <a:latin typeface="Times New Roman" panose="02020603050405020304" pitchFamily="18" charset="0"/>
                <a:ea typeface="Cambria"/>
                <a:cs typeface="Times New Roman" panose="02020603050405020304" pitchFamily="18" charset="0"/>
                <a:sym typeface="Cambria"/>
              </a:rPr>
              <a:t>Rs. 1600</a:t>
            </a:r>
            <a:endParaRPr sz="2400" b="1" dirty="0">
              <a:latin typeface="Times New Roman" panose="02020603050405020304" pitchFamily="18" charset="0"/>
              <a:ea typeface="Cambria"/>
              <a:cs typeface="Times New Roman" panose="02020603050405020304" pitchFamily="18" charset="0"/>
            </a:endParaRPr>
          </a:p>
          <a:p>
            <a:pPr marL="342900" indent="-342900">
              <a:buSzPts val="2800"/>
              <a:buFont typeface="Arial"/>
              <a:buAutoNum type="alphaUcPeriod"/>
            </a:pPr>
            <a:r>
              <a:rPr lang="en-IN" sz="2400" b="1" dirty="0">
                <a:latin typeface="Times New Roman" panose="02020603050405020304" pitchFamily="18" charset="0"/>
                <a:ea typeface="Cambria"/>
                <a:cs typeface="Times New Roman" panose="02020603050405020304" pitchFamily="18" charset="0"/>
                <a:sym typeface="Cambria"/>
              </a:rPr>
              <a:t>Rs. 1700</a:t>
            </a:r>
            <a:endParaRPr sz="2400" b="1" dirty="0">
              <a:latin typeface="Times New Roman" panose="02020603050405020304" pitchFamily="18" charset="0"/>
              <a:ea typeface="Cambria"/>
              <a:cs typeface="Times New Roman" panose="02020603050405020304" pitchFamily="18" charset="0"/>
            </a:endParaRPr>
          </a:p>
          <a:p>
            <a:pPr marL="342900" indent="-342900">
              <a:buSzPts val="2800"/>
              <a:buFont typeface="Arial"/>
              <a:buAutoNum type="alphaUcPeriod"/>
            </a:pPr>
            <a:r>
              <a:rPr lang="en-IN" sz="2400" b="1" dirty="0">
                <a:latin typeface="Times New Roman" panose="02020603050405020304" pitchFamily="18" charset="0"/>
                <a:ea typeface="Cambria"/>
                <a:cs typeface="Times New Roman" panose="02020603050405020304" pitchFamily="18" charset="0"/>
                <a:sym typeface="Cambria"/>
              </a:rPr>
              <a:t>Rs. 1800</a:t>
            </a:r>
            <a:endParaRPr sz="2400" b="1" dirty="0">
              <a:latin typeface="Times New Roman" panose="02020603050405020304" pitchFamily="18" charset="0"/>
              <a:ea typeface="Cambria"/>
              <a:cs typeface="Times New Roman" panose="02020603050405020304" pitchFamily="18" charset="0"/>
            </a:endParaRPr>
          </a:p>
          <a:p>
            <a:pPr marL="342900" indent="-342900">
              <a:buSzPts val="2800"/>
              <a:buFont typeface="Arial"/>
              <a:buAutoNum type="alphaUcPeriod"/>
            </a:pPr>
            <a:r>
              <a:rPr lang="en-IN" sz="2400" b="1" dirty="0">
                <a:latin typeface="Times New Roman" panose="02020603050405020304" pitchFamily="18" charset="0"/>
                <a:ea typeface="Cambria"/>
                <a:cs typeface="Times New Roman" panose="02020603050405020304" pitchFamily="18" charset="0"/>
                <a:sym typeface="Cambria"/>
              </a:rPr>
              <a:t>Rs. 1900</a:t>
            </a:r>
            <a:endParaRPr sz="2400" b="1" dirty="0">
              <a:latin typeface="Times New Roman" panose="02020603050405020304" pitchFamily="18" charset="0"/>
              <a:ea typeface="Cambria"/>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7" name="Google Shape;357;p24"/>
          <p:cNvSpPr/>
          <p:nvPr/>
        </p:nvSpPr>
        <p:spPr>
          <a:xfrm>
            <a:off x="462337" y="1026343"/>
            <a:ext cx="11062440" cy="3599532"/>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23. </a:t>
            </a:r>
            <a:r>
              <a:rPr lang="en-IN" sz="2400" b="1" dirty="0">
                <a:latin typeface="Times New Roman" panose="02020603050405020304" pitchFamily="18" charset="0"/>
                <a:ea typeface="Cambria"/>
                <a:cs typeface="Times New Roman" panose="02020603050405020304" pitchFamily="18" charset="0"/>
                <a:sym typeface="Cambria"/>
              </a:rPr>
              <a:t>Three cats are roaming in a zoo in such a way that when cat A takes 5 steps, B takes 6 steps and C takes 7 steps. But the 6 steps of A are equal to the 7 steps of B and 8 steps of C. what is the ratio of their speeds? </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140:144:147</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40:44:47</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15:21:28</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252:245:240</a:t>
            </a:r>
            <a:endParaRPr sz="2400" b="1" dirty="0">
              <a:latin typeface="Times New Roman" panose="02020603050405020304" pitchFamily="18" charset="0"/>
              <a:ea typeface="Cambria"/>
              <a:cs typeface="Times New Roman" panose="02020603050405020304" pitchFamily="18" charset="0"/>
              <a:sym typeface="Cambria"/>
            </a:endParaRPr>
          </a:p>
          <a:p>
            <a:pPr marL="0" marR="0" lvl="0" indent="0" algn="l" rtl="0">
              <a:lnSpc>
                <a:spcPct val="100000"/>
              </a:lnSpc>
              <a:spcBef>
                <a:spcPts val="0"/>
              </a:spcBef>
              <a:spcAft>
                <a:spcPts val="0"/>
              </a:spcAft>
              <a:buNone/>
            </a:pPr>
            <a:endParaRPr sz="1800" b="0" strike="noStrike"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pic>
        <p:nvPicPr>
          <p:cNvPr id="358" name="Google Shape;358;p24"/>
          <p:cNvPicPr preferRelativeResize="0"/>
          <p:nvPr/>
        </p:nvPicPr>
        <p:blipFill rotWithShape="1">
          <a:blip r:embed="rId3">
            <a:alphaModFix/>
          </a:blip>
          <a:srcRect/>
          <a:stretch/>
        </p:blipFill>
        <p:spPr>
          <a:xfrm>
            <a:off x="0" y="-20548"/>
            <a:ext cx="924674" cy="23460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42" name="Google Shape;442;p33"/>
          <p:cNvSpPr/>
          <p:nvPr/>
        </p:nvSpPr>
        <p:spPr>
          <a:xfrm>
            <a:off x="331920" y="1101524"/>
            <a:ext cx="11193839" cy="3322533"/>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24. </a:t>
            </a:r>
            <a:r>
              <a:rPr lang="en-IN" sz="2400" b="1" dirty="0">
                <a:latin typeface="Times New Roman" panose="02020603050405020304" pitchFamily="18" charset="0"/>
                <a:ea typeface="Cambria"/>
                <a:cs typeface="Times New Roman" panose="02020603050405020304" pitchFamily="18" charset="0"/>
                <a:sym typeface="Cambria"/>
              </a:rPr>
              <a:t>80 litres of diesel is required to travel 800 km using a 800 cc engine. If the volume of diesel required to cover a distance varies directly as the capacity of the engine, then how many litres of diesel is required to travel 1000 kms using 1200 cc engine ? </a:t>
            </a:r>
            <a:endParaRPr sz="2400" b="1" dirty="0">
              <a:latin typeface="Times New Roman" panose="02020603050405020304" pitchFamily="18" charset="0"/>
              <a:ea typeface="Cambria"/>
              <a:cs typeface="Times New Roman" panose="02020603050405020304" pitchFamily="18" charset="0"/>
            </a:endParaRPr>
          </a:p>
          <a:p>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A) 120 lit</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140 lit</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110 lit</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150 lit</a:t>
            </a:r>
            <a:endParaRPr sz="2400" b="1" dirty="0">
              <a:latin typeface="Times New Roman" panose="02020603050405020304" pitchFamily="18" charset="0"/>
              <a:ea typeface="Cambria"/>
              <a:cs typeface="Times New Roman" panose="02020603050405020304" pitchFamily="18" charset="0"/>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6" name="Google Shape;386;p27"/>
          <p:cNvSpPr/>
          <p:nvPr/>
        </p:nvSpPr>
        <p:spPr>
          <a:xfrm>
            <a:off x="406440" y="1075236"/>
            <a:ext cx="11193839" cy="4338195"/>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25. </a:t>
            </a:r>
            <a:r>
              <a:rPr lang="en-IN" sz="2400" b="1" dirty="0">
                <a:latin typeface="Times New Roman" panose="02020603050405020304" pitchFamily="18" charset="0"/>
                <a:ea typeface="Cambria"/>
                <a:cs typeface="Times New Roman" panose="02020603050405020304" pitchFamily="18" charset="0"/>
                <a:sym typeface="Cambria"/>
              </a:rPr>
              <a:t>In a fort, there are 1200 soldiers. If each soldier consumes 3 kg per day, the provisions available in the fort will last for 30 days. If some more soldiers join, the provisions available will last for 25 days given each soldier consumes 2.5 kg per day. Find the number of soldiers joining the fort in that case ? </a:t>
            </a:r>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A) 693</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741</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528</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654</a:t>
            </a:r>
            <a:endParaRPr sz="2400" b="1" dirty="0">
              <a:latin typeface="Times New Roman" panose="02020603050405020304" pitchFamily="18" charset="0"/>
              <a:ea typeface="Cambria"/>
              <a:cs typeface="Times New Roman" panose="02020603050405020304" pitchFamily="18" charset="0"/>
            </a:endParaRPr>
          </a:p>
          <a:p>
            <a:pPr marL="0" marR="0" lvl="0" indent="0" algn="l" rtl="0">
              <a:lnSpc>
                <a:spcPct val="100000"/>
              </a:lnSpc>
              <a:spcBef>
                <a:spcPts val="0"/>
              </a:spcBef>
              <a:spcAft>
                <a:spcPts val="0"/>
              </a:spcAft>
              <a:buNone/>
            </a:pPr>
            <a:endParaRPr sz="2800" b="0" strike="noStrike"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None/>
            </a:pPr>
            <a:endParaRPr sz="2800"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None/>
            </a:pPr>
            <a:endParaRPr sz="2800" b="0" strike="noStrike" dirty="0">
              <a:solidFill>
                <a:schemeClr val="dk1"/>
              </a:solidFill>
              <a:latin typeface="Arial"/>
              <a:ea typeface="Arial"/>
              <a:cs typeface="Arial"/>
              <a:sym typeface="Arial"/>
            </a:endParaRPr>
          </a:p>
        </p:txBody>
      </p:sp>
      <p:sp>
        <p:nvSpPr>
          <p:cNvPr id="387" name="Google Shape;387;p27"/>
          <p:cNvSpPr/>
          <p:nvPr/>
        </p:nvSpPr>
        <p:spPr>
          <a:xfrm>
            <a:off x="6003360" y="-91080"/>
            <a:ext cx="183960" cy="63936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br>
              <a:rPr lang="en-IN" sz="1800">
                <a:solidFill>
                  <a:schemeClr val="dk1"/>
                </a:solidFill>
                <a:latin typeface="Arial"/>
                <a:ea typeface="Arial"/>
                <a:cs typeface="Arial"/>
                <a:sym typeface="Arial"/>
              </a:rPr>
            </a:br>
            <a:endParaRPr sz="1800" b="0" strike="noStrike">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3" name="Google Shape;433;p32"/>
          <p:cNvSpPr/>
          <p:nvPr/>
        </p:nvSpPr>
        <p:spPr>
          <a:xfrm>
            <a:off x="499080" y="986033"/>
            <a:ext cx="11193839" cy="4061197"/>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26. </a:t>
            </a:r>
            <a:r>
              <a:rPr lang="en-IN" sz="2400" b="1" dirty="0" err="1">
                <a:latin typeface="Times New Roman" panose="02020603050405020304" pitchFamily="18" charset="0"/>
                <a:ea typeface="Cambria"/>
                <a:cs typeface="Times New Roman" panose="02020603050405020304" pitchFamily="18" charset="0"/>
                <a:sym typeface="Cambria"/>
              </a:rPr>
              <a:t>Maneela</a:t>
            </a:r>
            <a:r>
              <a:rPr lang="en-IN" sz="2400" b="1" dirty="0">
                <a:latin typeface="Times New Roman" panose="02020603050405020304" pitchFamily="18" charset="0"/>
                <a:ea typeface="Cambria"/>
                <a:cs typeface="Times New Roman" panose="02020603050405020304" pitchFamily="18" charset="0"/>
                <a:sym typeface="Cambria"/>
              </a:rPr>
              <a:t>, Raghu and Aravind have some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with each of them. Five times the number of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with Raghu equals seven times the number of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with </a:t>
            </a:r>
            <a:r>
              <a:rPr lang="en-IN" sz="2400" b="1" dirty="0" err="1">
                <a:latin typeface="Times New Roman" panose="02020603050405020304" pitchFamily="18" charset="0"/>
                <a:ea typeface="Cambria"/>
                <a:cs typeface="Times New Roman" panose="02020603050405020304" pitchFamily="18" charset="0"/>
                <a:sym typeface="Cambria"/>
              </a:rPr>
              <a:t>Maneela</a:t>
            </a:r>
            <a:r>
              <a:rPr lang="en-IN" sz="2400" b="1" dirty="0">
                <a:latin typeface="Times New Roman" panose="02020603050405020304" pitchFamily="18" charset="0"/>
                <a:ea typeface="Cambria"/>
                <a:cs typeface="Times New Roman" panose="02020603050405020304" pitchFamily="18" charset="0"/>
                <a:sym typeface="Cambria"/>
              </a:rPr>
              <a:t> while five times the number of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with </a:t>
            </a:r>
            <a:r>
              <a:rPr lang="en-IN" sz="2400" b="1" dirty="0" err="1">
                <a:latin typeface="Times New Roman" panose="02020603050405020304" pitchFamily="18" charset="0"/>
                <a:ea typeface="Cambria"/>
                <a:cs typeface="Times New Roman" panose="02020603050405020304" pitchFamily="18" charset="0"/>
                <a:sym typeface="Cambria"/>
              </a:rPr>
              <a:t>Maneela</a:t>
            </a:r>
            <a:r>
              <a:rPr lang="en-IN" sz="2400" b="1" dirty="0">
                <a:latin typeface="Times New Roman" panose="02020603050405020304" pitchFamily="18" charset="0"/>
                <a:ea typeface="Cambria"/>
                <a:cs typeface="Times New Roman" panose="02020603050405020304" pitchFamily="18" charset="0"/>
                <a:sym typeface="Cambria"/>
              </a:rPr>
              <a:t> equals seven times the number of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with Aravind. What is the minimum number of </a:t>
            </a:r>
            <a:r>
              <a:rPr lang="en-IN" sz="2400" b="1" dirty="0" err="1">
                <a:latin typeface="Times New Roman" panose="02020603050405020304" pitchFamily="18" charset="0"/>
                <a:ea typeface="Cambria"/>
                <a:cs typeface="Times New Roman" panose="02020603050405020304" pitchFamily="18" charset="0"/>
                <a:sym typeface="Cambria"/>
              </a:rPr>
              <a:t>jems</a:t>
            </a:r>
            <a:r>
              <a:rPr lang="en-IN" sz="2400" b="1" dirty="0">
                <a:latin typeface="Times New Roman" panose="02020603050405020304" pitchFamily="18" charset="0"/>
                <a:ea typeface="Cambria"/>
                <a:cs typeface="Times New Roman" panose="02020603050405020304" pitchFamily="18" charset="0"/>
                <a:sym typeface="Cambria"/>
              </a:rPr>
              <a:t> that can be there with all three of them put together ?</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A) 108</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107</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109</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110</a:t>
            </a:r>
            <a:endParaRPr sz="2400" b="1" dirty="0">
              <a:latin typeface="Times New Roman" panose="02020603050405020304" pitchFamily="18" charset="0"/>
              <a:ea typeface="Cambria"/>
              <a:cs typeface="Times New Roman" panose="02020603050405020304" pitchFamily="18" charset="0"/>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6" name="Google Shape;376;p26"/>
          <p:cNvSpPr/>
          <p:nvPr/>
        </p:nvSpPr>
        <p:spPr>
          <a:xfrm>
            <a:off x="331920" y="1026343"/>
            <a:ext cx="11193839" cy="3599532"/>
          </a:xfrm>
          <a:prstGeom prst="rect">
            <a:avLst/>
          </a:prstGeom>
          <a:noFill/>
          <a:ln>
            <a:noFill/>
          </a:ln>
        </p:spPr>
        <p:txBody>
          <a:bodyPr spcFirstLastPara="1" wrap="square" lIns="90000" tIns="45000" rIns="90000" bIns="45000" anchor="t" anchorCtr="0">
            <a:spAutoFit/>
          </a:bodyPr>
          <a:lstStyle/>
          <a:p>
            <a:pPr marL="0" lvl="0" indent="0">
              <a:buFont typeface="Arial"/>
              <a:buNone/>
            </a:pPr>
            <a:r>
              <a:rPr lang="en-IN" sz="2400" b="1">
                <a:latin typeface="Times New Roman" panose="02020603050405020304" pitchFamily="18" charset="0"/>
                <a:ea typeface="Cambria"/>
                <a:cs typeface="Times New Roman" panose="02020603050405020304" pitchFamily="18" charset="0"/>
                <a:sym typeface="Cambria"/>
              </a:rPr>
              <a:t>27. </a:t>
            </a:r>
            <a:r>
              <a:rPr lang="en-IN" sz="2400" b="1" dirty="0">
                <a:latin typeface="Times New Roman" panose="02020603050405020304" pitchFamily="18" charset="0"/>
                <a:ea typeface="Cambria"/>
                <a:cs typeface="Times New Roman" panose="02020603050405020304" pitchFamily="18" charset="0"/>
                <a:sym typeface="Cambria"/>
              </a:rPr>
              <a:t>There is certain numbers of toys in the box. They are divided into such a way that the person who gets 1/4 of the whole gets thrice of what the others get on an average. Find the number of people amongst whom the toys are distributed?</a:t>
            </a:r>
            <a:endParaRPr sz="2400" b="1" dirty="0">
              <a:latin typeface="Times New Roman" panose="02020603050405020304" pitchFamily="18" charset="0"/>
              <a:ea typeface="Cambria"/>
              <a:cs typeface="Times New Roman" panose="02020603050405020304" pitchFamily="18" charset="0"/>
            </a:endParaRPr>
          </a:p>
          <a:p>
            <a:pPr marL="0" lvl="0" indent="0">
              <a:buFont typeface="Arial"/>
              <a:buNone/>
            </a:pP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 A) 8</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B) 10</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C) 12</a:t>
            </a:r>
            <a:endParaRPr sz="2400" b="1" dirty="0">
              <a:latin typeface="Times New Roman" panose="02020603050405020304" pitchFamily="18" charset="0"/>
              <a:ea typeface="Cambria"/>
              <a:cs typeface="Times New Roman" panose="02020603050405020304" pitchFamily="18" charset="0"/>
              <a:sym typeface="Cambria"/>
            </a:endParaRPr>
          </a:p>
          <a:p>
            <a:pPr marL="0" lvl="0" indent="0">
              <a:buFont typeface="Arial"/>
              <a:buNone/>
            </a:pPr>
            <a:r>
              <a:rPr lang="en-IN" sz="2400" b="1" dirty="0">
                <a:latin typeface="Times New Roman" panose="02020603050405020304" pitchFamily="18" charset="0"/>
                <a:ea typeface="Cambria"/>
                <a:cs typeface="Times New Roman" panose="02020603050405020304" pitchFamily="18" charset="0"/>
                <a:sym typeface="Cambria"/>
              </a:rPr>
              <a:t>D) 9</a:t>
            </a:r>
            <a:endParaRPr sz="2400" b="1" dirty="0">
              <a:latin typeface="Times New Roman" panose="02020603050405020304" pitchFamily="18" charset="0"/>
              <a:ea typeface="Cambria"/>
              <a:cs typeface="Times New Roman" panose="02020603050405020304" pitchFamily="18" charset="0"/>
              <a:sym typeface="Cambria"/>
            </a:endParaRPr>
          </a:p>
          <a:p>
            <a:pPr marL="0" marR="0" lvl="0" indent="0" algn="l" rtl="0">
              <a:lnSpc>
                <a:spcPct val="100000"/>
              </a:lnSpc>
              <a:spcBef>
                <a:spcPts val="0"/>
              </a:spcBef>
              <a:spcAft>
                <a:spcPts val="0"/>
              </a:spcAft>
              <a:buNone/>
            </a:pPr>
            <a:endParaRPr sz="1800" b="0" strike="noStrike"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sp>
        <p:nvSpPr>
          <p:cNvPr id="377" name="Google Shape;377;p26"/>
          <p:cNvSpPr/>
          <p:nvPr/>
        </p:nvSpPr>
        <p:spPr>
          <a:xfrm>
            <a:off x="6003360" y="-91080"/>
            <a:ext cx="183960" cy="63936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br>
              <a:rPr lang="en-IN" sz="1800">
                <a:solidFill>
                  <a:schemeClr val="dk1"/>
                </a:solidFill>
                <a:latin typeface="Arial"/>
                <a:ea typeface="Arial"/>
                <a:cs typeface="Arial"/>
                <a:sym typeface="Arial"/>
              </a:rPr>
            </a:br>
            <a:endParaRPr sz="1800" b="0" strike="noStrik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4" name="Google Shape;424;p31"/>
          <p:cNvSpPr/>
          <p:nvPr/>
        </p:nvSpPr>
        <p:spPr>
          <a:xfrm>
            <a:off x="331920" y="1006193"/>
            <a:ext cx="11193839" cy="4338195"/>
          </a:xfrm>
          <a:prstGeom prst="rect">
            <a:avLst/>
          </a:prstGeom>
          <a:noFill/>
          <a:ln>
            <a:noFill/>
          </a:ln>
        </p:spPr>
        <p:txBody>
          <a:bodyPr spcFirstLastPara="1" wrap="square" lIns="90000" tIns="45000" rIns="90000" bIns="45000" anchor="t" anchorCtr="0">
            <a:spAutoFit/>
          </a:bodyPr>
          <a:lstStyle/>
          <a:p>
            <a:r>
              <a:rPr lang="en-IN" sz="2400" b="1">
                <a:latin typeface="Times New Roman" panose="02020603050405020304" pitchFamily="18" charset="0"/>
                <a:ea typeface="Cambria"/>
                <a:cs typeface="Times New Roman" panose="02020603050405020304" pitchFamily="18" charset="0"/>
                <a:sym typeface="Cambria"/>
              </a:rPr>
              <a:t>28. </a:t>
            </a:r>
            <a:r>
              <a:rPr lang="en-IN" sz="2400" b="1" dirty="0">
                <a:latin typeface="Times New Roman" panose="02020603050405020304" pitchFamily="18" charset="0"/>
                <a:ea typeface="Cambria"/>
                <a:cs typeface="Times New Roman" panose="02020603050405020304" pitchFamily="18" charset="0"/>
                <a:sym typeface="Cambria"/>
              </a:rPr>
              <a:t>In Maa </a:t>
            </a:r>
            <a:r>
              <a:rPr lang="en-IN" sz="2400" b="1" dirty="0" err="1">
                <a:latin typeface="Times New Roman" panose="02020603050405020304" pitchFamily="18" charset="0"/>
                <a:ea typeface="Cambria"/>
                <a:cs typeface="Times New Roman" panose="02020603050405020304" pitchFamily="18" charset="0"/>
                <a:sym typeface="Cambria"/>
              </a:rPr>
              <a:t>Yatri</a:t>
            </a:r>
            <a:r>
              <a:rPr lang="en-IN" sz="2400" b="1" dirty="0">
                <a:latin typeface="Times New Roman" panose="02020603050405020304" pitchFamily="18" charset="0"/>
                <a:ea typeface="Cambria"/>
                <a:cs typeface="Times New Roman" panose="02020603050405020304" pitchFamily="18" charset="0"/>
                <a:sym typeface="Cambria"/>
              </a:rPr>
              <a:t> Temple every devotee offers fruits to the orphans. Thus every orphan receives bananas, oranges and grapes in the ratio of 3:2:7 in terms of dozens. But the weight of a grape is 24 gm and  weight of a banana and an orange are in the ratio of 4:5, while the weight of an orange is 150gm. Find the ratio of all the three fruits in terms of weight, that an orphan gets</a:t>
            </a:r>
            <a:endParaRPr sz="2400" b="1" dirty="0">
              <a:latin typeface="Times New Roman" panose="02020603050405020304" pitchFamily="18" charset="0"/>
              <a:ea typeface="Cambria"/>
              <a:cs typeface="Times New Roman" panose="02020603050405020304" pitchFamily="18" charset="0"/>
            </a:endParaRPr>
          </a:p>
          <a:p>
            <a:endParaRPr sz="2400" b="1" dirty="0">
              <a:latin typeface="Times New Roman" panose="02020603050405020304" pitchFamily="18" charset="0"/>
              <a:ea typeface="Cambria"/>
              <a:cs typeface="Times New Roman" panose="02020603050405020304" pitchFamily="18" charset="0"/>
              <a:sym typeface="Cambria"/>
            </a:endParaRPr>
          </a:p>
          <a:p>
            <a:r>
              <a:rPr lang="en-IN" sz="2400" b="1" dirty="0">
                <a:latin typeface="Times New Roman" panose="02020603050405020304" pitchFamily="18" charset="0"/>
                <a:ea typeface="Cambria"/>
                <a:cs typeface="Times New Roman" panose="02020603050405020304" pitchFamily="18" charset="0"/>
                <a:sym typeface="Cambria"/>
              </a:rPr>
              <a:t>A) 90:75:42</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B) 180:150:82</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C) 75:42:90</a:t>
            </a:r>
            <a:endParaRPr sz="2400" b="1" dirty="0">
              <a:latin typeface="Times New Roman" panose="02020603050405020304" pitchFamily="18" charset="0"/>
              <a:ea typeface="Cambria"/>
              <a:cs typeface="Times New Roman" panose="02020603050405020304" pitchFamily="18" charset="0"/>
            </a:endParaRPr>
          </a:p>
          <a:p>
            <a:r>
              <a:rPr lang="en-IN" sz="2400" b="1" dirty="0">
                <a:latin typeface="Times New Roman" panose="02020603050405020304" pitchFamily="18" charset="0"/>
                <a:ea typeface="Cambria"/>
                <a:cs typeface="Times New Roman" panose="02020603050405020304" pitchFamily="18" charset="0"/>
                <a:sym typeface="Cambria"/>
              </a:rPr>
              <a:t>D) None of these</a:t>
            </a:r>
            <a:endParaRPr sz="2400" b="1" dirty="0">
              <a:latin typeface="Times New Roman" panose="02020603050405020304" pitchFamily="18" charset="0"/>
              <a:ea typeface="Cambria"/>
              <a:cs typeface="Times New Roman" panose="02020603050405020304" pitchFamily="18" charset="0"/>
            </a:endParaRPr>
          </a:p>
          <a:p>
            <a:pPr marL="0" marR="0" lvl="0" indent="0" algn="l" rtl="0">
              <a:lnSpc>
                <a:spcPct val="100000"/>
              </a:lnSpc>
              <a:spcBef>
                <a:spcPts val="0"/>
              </a:spcBef>
              <a:spcAft>
                <a:spcPts val="0"/>
              </a:spcAft>
              <a:buNone/>
            </a:pPr>
            <a:endParaRPr sz="1800" b="0" strike="noStrike"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None/>
            </a:pPr>
            <a:endParaRPr sz="1800" b="0" strike="noStrike" dirty="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5A331A-59CA-6FB2-3FCB-5298B7504C1D}"/>
              </a:ext>
            </a:extLst>
          </p:cNvPr>
          <p:cNvSpPr txBox="1"/>
          <p:nvPr/>
        </p:nvSpPr>
        <p:spPr>
          <a:xfrm>
            <a:off x="4080865" y="2731911"/>
            <a:ext cx="4030270" cy="1015663"/>
          </a:xfrm>
          <a:prstGeom prst="rect">
            <a:avLst/>
          </a:prstGeom>
          <a:noFill/>
        </p:spPr>
        <p:txBody>
          <a:bodyPr wrap="none" rtlCol="0">
            <a:spAutoFit/>
          </a:bodyPr>
          <a:lstStyle/>
          <a:p>
            <a:r>
              <a:rPr lang="en-IN" sz="6000" b="1"/>
              <a:t>Thank you</a:t>
            </a:r>
          </a:p>
        </p:txBody>
      </p:sp>
    </p:spTree>
    <p:extLst>
      <p:ext uri="{BB962C8B-B14F-4D97-AF65-F5344CB8AC3E}">
        <p14:creationId xmlns:p14="http://schemas.microsoft.com/office/powerpoint/2010/main" val="4156816583"/>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73545"/>
      </a:dk2>
      <a:lt2>
        <a:srgbClr val="CEDBE6"/>
      </a:lt2>
      <a:accent1>
        <a:srgbClr val="3494BA"/>
      </a:accent1>
      <a:accent2>
        <a:srgbClr val="BCE1E5"/>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1630</TotalTime>
  <Words>4059</Words>
  <Application>Microsoft Office PowerPoint</Application>
  <PresentationFormat>Widescreen</PresentationFormat>
  <Paragraphs>378</Paragraphs>
  <Slides>43</Slides>
  <Notes>35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Roboto</vt:lpstr>
      <vt:lpstr>Noto Sans Symbols</vt:lpstr>
      <vt:lpstr>Cambria Math</vt:lpstr>
      <vt:lpstr>Aptos</vt:lpstr>
      <vt:lpstr>CambriaMath</vt:lpstr>
      <vt:lpstr>Cambria</vt:lpstr>
      <vt:lpstr>Times New Roman</vt:lpstr>
      <vt:lpstr>Palatino Linotype</vt:lpstr>
      <vt:lpstr>TimesNewRomanPSMT</vt:lpstr>
      <vt:lpstr>Office Theme</vt:lpstr>
      <vt:lpstr>PowerPoint Presentation</vt:lpstr>
      <vt:lpstr>PowerPoint Presentation</vt:lpstr>
      <vt:lpstr>Session 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Ashish Kumar Rathi</dc:creator>
  <cp:lastModifiedBy>ashish rathi</cp:lastModifiedBy>
  <cp:revision>55</cp:revision>
  <dcterms:created xsi:type="dcterms:W3CDTF">2021-07-29T08:19:54Z</dcterms:created>
  <dcterms:modified xsi:type="dcterms:W3CDTF">2026-02-16T05:36:07Z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32</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38</vt:i4>
  </property>
</Properties>
</file>