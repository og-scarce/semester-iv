
<file path=[Content_Types].xml><?xml version="1.0" encoding="utf-8"?>
<Types xmlns="http://schemas.openxmlformats.org/package/2006/content-types">
  <Default Extension="bin" ContentType="image/unknown"/>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359" r:id="rId4"/>
    <p:sldId id="259" r:id="rId5"/>
    <p:sldId id="285" r:id="rId6"/>
    <p:sldId id="261" r:id="rId7"/>
    <p:sldId id="262" r:id="rId8"/>
    <p:sldId id="5441" r:id="rId9"/>
    <p:sldId id="5442" r:id="rId10"/>
    <p:sldId id="5443" r:id="rId11"/>
    <p:sldId id="5427" r:id="rId12"/>
    <p:sldId id="5409" r:id="rId13"/>
    <p:sldId id="5428" r:id="rId14"/>
    <p:sldId id="5429" r:id="rId15"/>
    <p:sldId id="5432" r:id="rId16"/>
    <p:sldId id="5430" r:id="rId17"/>
    <p:sldId id="5433" r:id="rId18"/>
    <p:sldId id="5426" r:id="rId19"/>
    <p:sldId id="5415" r:id="rId20"/>
    <p:sldId id="5416" r:id="rId21"/>
    <p:sldId id="5431" r:id="rId22"/>
    <p:sldId id="5434" r:id="rId23"/>
    <p:sldId id="5439" r:id="rId24"/>
    <p:sldId id="5440" r:id="rId25"/>
    <p:sldId id="5444" r:id="rId26"/>
    <p:sldId id="5437" r:id="rId27"/>
    <p:sldId id="5417" r:id="rId28"/>
    <p:sldId id="5418" r:id="rId29"/>
    <p:sldId id="5420" r:id="rId30"/>
    <p:sldId id="5435" r:id="rId31"/>
    <p:sldId id="5436" r:id="rId32"/>
    <p:sldId id="288" r:id="rId33"/>
    <p:sldId id="284" r:id="rId34"/>
    <p:sldId id="289" r:id="rId35"/>
    <p:sldId id="27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7CE2BF-E837-4849-B11C-0944C199F6A4}" v="228" dt="2024-09-19T16:05:47.4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771" autoAdjust="0"/>
  </p:normalViewPr>
  <p:slideViewPr>
    <p:cSldViewPr snapToGrid="0">
      <p:cViewPr>
        <p:scale>
          <a:sx n="50" d="100"/>
          <a:sy n="50" d="100"/>
        </p:scale>
        <p:origin x="1939"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dgm:spPr/>
      <dgm:t>
        <a:bodyPr/>
        <a:lstStyle/>
        <a:p>
          <a:r>
            <a:rPr lang="en-IN" dirty="0"/>
            <a:t>Learning Outcome 1: Identify when and why the rule of </a:t>
          </a:r>
          <a:r>
            <a:rPr lang="en-IN" dirty="0" err="1"/>
            <a:t>alligation</a:t>
          </a:r>
          <a:r>
            <a:rPr lang="en-IN" dirty="0"/>
            <a:t> is used.</a:t>
          </a:r>
          <a:endParaRPr lang="en-US"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lgn="l"/>
          <a:r>
            <a:rPr lang="en-IN" sz="3100" dirty="0"/>
            <a:t>Learning Outcome 2: </a:t>
          </a:r>
          <a:r>
            <a:rPr lang="en-IN" sz="2800" dirty="0"/>
            <a:t>Apply the rule of </a:t>
          </a:r>
          <a:r>
            <a:rPr lang="en-IN" sz="2800" dirty="0" err="1"/>
            <a:t>alligation</a:t>
          </a:r>
          <a:r>
            <a:rPr lang="en-IN" sz="2800" dirty="0"/>
            <a:t> to diverse real-life situations effectively.</a:t>
          </a:r>
          <a:endParaRPr lang="en-US" sz="3100" dirty="0"/>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50B3B115-9ED4-4424-B000-6C66B8D607D6}" type="pres">
      <dgm:prSet presAssocID="{B7ED251F-A7A3-4D25-B004-4241BE03EDC3}" presName="TwoNodes_1" presStyleLbl="node1" presStyleIdx="0" presStyleCnt="2">
        <dgm:presLayoutVars>
          <dgm:bulletEnabled val="1"/>
        </dgm:presLayoutVars>
      </dgm:prSet>
      <dgm:spPr/>
    </dgm:pt>
    <dgm:pt modelId="{66D5292E-E31B-47C3-B7F6-6E92D8DBC596}" type="pres">
      <dgm:prSet presAssocID="{B7ED251F-A7A3-4D25-B004-4241BE03EDC3}" presName="TwoNodes_2" presStyleLbl="node1" presStyleIdx="1" presStyleCnt="2">
        <dgm:presLayoutVars>
          <dgm:bulletEnabled val="1"/>
        </dgm:presLayoutVars>
      </dgm:prSet>
      <dgm:spPr/>
    </dgm:pt>
    <dgm:pt modelId="{C65C44E2-047F-4F51-A8DC-FF51C925FC7F}" type="pres">
      <dgm:prSet presAssocID="{B7ED251F-A7A3-4D25-B004-4241BE03EDC3}" presName="TwoConn_1-2" presStyleLbl="fgAccFollowNode1" presStyleIdx="0" presStyleCnt="1">
        <dgm:presLayoutVars>
          <dgm:bulletEnabled val="1"/>
        </dgm:presLayoutVars>
      </dgm:prSet>
      <dgm:spPr/>
    </dgm:pt>
    <dgm:pt modelId="{A4FE43DF-38F9-4E9D-BFAC-B056439DD239}" type="pres">
      <dgm:prSet presAssocID="{B7ED251F-A7A3-4D25-B004-4241BE03EDC3}" presName="TwoNodes_1_text" presStyleLbl="node1" presStyleIdx="1" presStyleCnt="2">
        <dgm:presLayoutVars>
          <dgm:bulletEnabled val="1"/>
        </dgm:presLayoutVars>
      </dgm:prSet>
      <dgm:spPr/>
    </dgm:pt>
    <dgm:pt modelId="{D6550B05-CA9B-414C-B02C-0996B53629B5}" type="pres">
      <dgm:prSet presAssocID="{B7ED251F-A7A3-4D25-B004-4241BE03EDC3}" presName="TwoNodes_2_text" presStyleLbl="node1" presStyleIdx="1" presStyleCnt="2">
        <dgm:presLayoutVars>
          <dgm:bulletEnabled val="1"/>
        </dgm:presLayoutVars>
      </dgm:prSet>
      <dgm:spPr/>
    </dgm:pt>
  </dgm:ptLst>
  <dgm:cxnLst>
    <dgm:cxn modelId="{08A81826-7273-44A3-AF99-B781181E27AF}" type="presOf" srcId="{B7ED251F-A7A3-4D25-B004-4241BE03EDC3}" destId="{E218E0F1-97EC-4D60-8F4A-A6E21D910199}" srcOrd="0" destOrd="0" presId="urn:microsoft.com/office/officeart/2005/8/layout/vProcess5"/>
    <dgm:cxn modelId="{B7C90E5D-C08D-4C7A-BC09-978891E6C996}" type="presOf" srcId="{0715BA3E-6351-4C71-A2A0-855403651045}" destId="{C65C44E2-047F-4F51-A8DC-FF51C925FC7F}" srcOrd="0" destOrd="0" presId="urn:microsoft.com/office/officeart/2005/8/layout/vProcess5"/>
    <dgm:cxn modelId="{F8377941-5A76-4607-BD83-62C7797B0244}" type="presOf" srcId="{DFBD6BAB-0140-48B9-9073-E08FDCB01885}" destId="{A4FE43DF-38F9-4E9D-BFAC-B056439DD239}" srcOrd="1" destOrd="0" presId="urn:microsoft.com/office/officeart/2005/8/layout/vProcess5"/>
    <dgm:cxn modelId="{D8FD6265-6EFF-41EA-A3FD-157498354C48}" type="presOf" srcId="{A3B4F848-7886-4B10-8E34-39E0B844A474}" destId="{66D5292E-E31B-47C3-B7F6-6E92D8DBC596}" srcOrd="0" destOrd="0" presId="urn:microsoft.com/office/officeart/2005/8/layout/vProcess5"/>
    <dgm:cxn modelId="{77311569-CDC2-49AC-95DB-7463C529128E}" type="presOf" srcId="{A3B4F848-7886-4B10-8E34-39E0B844A474}" destId="{D6550B05-CA9B-414C-B02C-0996B53629B5}" srcOrd="1" destOrd="0" presId="urn:microsoft.com/office/officeart/2005/8/layout/vProcess5"/>
    <dgm:cxn modelId="{7987A051-5FB1-40A3-A3C7-DD53D6028BFC}" type="presOf" srcId="{DFBD6BAB-0140-48B9-9073-E08FDCB01885}" destId="{50B3B115-9ED4-4424-B000-6C66B8D607D6}" srcOrd="0" destOrd="0" presId="urn:microsoft.com/office/officeart/2005/8/layout/vProcess5"/>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61E78557-A66C-4CE5-B60F-73372A952247}" type="presParOf" srcId="{E218E0F1-97EC-4D60-8F4A-A6E21D910199}" destId="{353F2BDB-A1CE-4ECD-BC0F-35AD5A327550}" srcOrd="0" destOrd="0" presId="urn:microsoft.com/office/officeart/2005/8/layout/vProcess5"/>
    <dgm:cxn modelId="{91FFE510-5AEF-4699-93BA-62BCE0929612}" type="presParOf" srcId="{E218E0F1-97EC-4D60-8F4A-A6E21D910199}" destId="{50B3B115-9ED4-4424-B000-6C66B8D607D6}" srcOrd="1" destOrd="0" presId="urn:microsoft.com/office/officeart/2005/8/layout/vProcess5"/>
    <dgm:cxn modelId="{A6323143-C21B-48C4-A26E-C1BE1D3FDFA3}" type="presParOf" srcId="{E218E0F1-97EC-4D60-8F4A-A6E21D910199}" destId="{66D5292E-E31B-47C3-B7F6-6E92D8DBC596}" srcOrd="2" destOrd="0" presId="urn:microsoft.com/office/officeart/2005/8/layout/vProcess5"/>
    <dgm:cxn modelId="{A7712366-DE27-4D2D-9EA4-E72C08291FDF}" type="presParOf" srcId="{E218E0F1-97EC-4D60-8F4A-A6E21D910199}" destId="{C65C44E2-047F-4F51-A8DC-FF51C925FC7F}" srcOrd="3" destOrd="0" presId="urn:microsoft.com/office/officeart/2005/8/layout/vProcess5"/>
    <dgm:cxn modelId="{D9234DA3-5745-412D-96F2-93EDC8C718C2}" type="presParOf" srcId="{E218E0F1-97EC-4D60-8F4A-A6E21D910199}" destId="{A4FE43DF-38F9-4E9D-BFAC-B056439DD239}" srcOrd="4" destOrd="0" presId="urn:microsoft.com/office/officeart/2005/8/layout/vProcess5"/>
    <dgm:cxn modelId="{9F1A614F-0DA6-43D7-AACB-1E517E8A8B09}" type="presParOf" srcId="{E218E0F1-97EC-4D60-8F4A-A6E21D910199}" destId="{D6550B05-CA9B-414C-B02C-0996B53629B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4DB52A-CA4F-4852-B41E-6A1F43CC58F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C8BD7C71-8F1B-400D-96A3-6B553A93EB7F}">
      <dgm:prSet custT="1"/>
      <dgm:spPr/>
      <dgm:t>
        <a:bodyPr/>
        <a:lstStyle/>
        <a:p>
          <a:r>
            <a:rPr lang="en-IN" sz="2400" dirty="0"/>
            <a:t>1 Quick “Think Pair Share” on prior knowledge.</a:t>
          </a:r>
          <a:endParaRPr lang="en-US" sz="2400" dirty="0"/>
        </a:p>
      </dgm:t>
    </dgm:pt>
    <dgm:pt modelId="{BBCFB319-5299-4310-B646-22472DABF40A}" type="parTrans" cxnId="{942D76EB-4E8A-49F9-9193-131FE6139044}">
      <dgm:prSet/>
      <dgm:spPr/>
      <dgm:t>
        <a:bodyPr/>
        <a:lstStyle/>
        <a:p>
          <a:endParaRPr lang="en-US"/>
        </a:p>
      </dgm:t>
    </dgm:pt>
    <dgm:pt modelId="{AF1C4F3A-D240-4EB1-9ECB-2ED225CCC019}" type="sibTrans" cxnId="{942D76EB-4E8A-49F9-9193-131FE6139044}">
      <dgm:prSet/>
      <dgm:spPr/>
      <dgm:t>
        <a:bodyPr/>
        <a:lstStyle/>
        <a:p>
          <a:endParaRPr lang="en-US"/>
        </a:p>
      </dgm:t>
    </dgm:pt>
    <dgm:pt modelId="{311F9A05-A7F4-4328-B319-DBCDF0DF0E82}">
      <dgm:prSet custT="1"/>
      <dgm:spPr/>
      <dgm:t>
        <a:bodyPr/>
        <a:lstStyle/>
        <a:p>
          <a:r>
            <a:rPr lang="en-IN" sz="2400" dirty="0"/>
            <a:t>2 Brainstorm real life example</a:t>
          </a:r>
          <a:endParaRPr lang="en-US" sz="2400" dirty="0"/>
        </a:p>
      </dgm:t>
    </dgm:pt>
    <dgm:pt modelId="{23B85C74-2F21-4685-BD89-BB563657B099}" type="parTrans" cxnId="{6DCFA649-9D6E-469B-AACA-1BA847263E9A}">
      <dgm:prSet/>
      <dgm:spPr/>
      <dgm:t>
        <a:bodyPr/>
        <a:lstStyle/>
        <a:p>
          <a:endParaRPr lang="en-US"/>
        </a:p>
      </dgm:t>
    </dgm:pt>
    <dgm:pt modelId="{91F4A534-BBDE-4EB5-BAE5-EACEB7D0B868}" type="sibTrans" cxnId="{6DCFA649-9D6E-469B-AACA-1BA847263E9A}">
      <dgm:prSet/>
      <dgm:spPr/>
      <dgm:t>
        <a:bodyPr/>
        <a:lstStyle/>
        <a:p>
          <a:endParaRPr lang="en-US"/>
        </a:p>
      </dgm:t>
    </dgm:pt>
    <dgm:pt modelId="{81CB55E0-0FB6-485C-B15D-9BD278F78C6F}">
      <dgm:prSet custT="1"/>
      <dgm:spPr/>
      <dgm:t>
        <a:bodyPr/>
        <a:lstStyle/>
        <a:p>
          <a:r>
            <a:rPr lang="en-IN" sz="2400" dirty="0"/>
            <a:t>3 Group work</a:t>
          </a:r>
          <a:endParaRPr lang="en-US" sz="2400" dirty="0"/>
        </a:p>
      </dgm:t>
    </dgm:pt>
    <dgm:pt modelId="{81E23C2F-5B75-4C87-B80F-F92D751EF2D3}" type="parTrans" cxnId="{B28E7539-702F-4403-B38C-CCE2EC9E181E}">
      <dgm:prSet/>
      <dgm:spPr/>
      <dgm:t>
        <a:bodyPr/>
        <a:lstStyle/>
        <a:p>
          <a:endParaRPr lang="en-US"/>
        </a:p>
      </dgm:t>
    </dgm:pt>
    <dgm:pt modelId="{CA453529-0F48-4EF3-8F16-E732FB1811C3}" type="sibTrans" cxnId="{B28E7539-702F-4403-B38C-CCE2EC9E181E}">
      <dgm:prSet/>
      <dgm:spPr/>
      <dgm:t>
        <a:bodyPr/>
        <a:lstStyle/>
        <a:p>
          <a:endParaRPr lang="en-US"/>
        </a:p>
      </dgm:t>
    </dgm:pt>
    <dgm:pt modelId="{51474CA9-1ADD-4331-9534-6780C3A18768}">
      <dgm:prSet custT="1"/>
      <dgm:spPr/>
      <dgm:t>
        <a:bodyPr/>
        <a:lstStyle/>
        <a:p>
          <a:r>
            <a:rPr lang="en-IN" sz="2400" dirty="0"/>
            <a:t>4 Solve &amp; discuss word problem on Mixture and </a:t>
          </a:r>
          <a:r>
            <a:rPr lang="en-IN" sz="2400" dirty="0" err="1"/>
            <a:t>Alligation</a:t>
          </a:r>
          <a:endParaRPr lang="en-US" sz="2400" dirty="0"/>
        </a:p>
      </dgm:t>
    </dgm:pt>
    <dgm:pt modelId="{BD15203B-A2C4-421B-84CE-AC22CC6E237F}" type="parTrans" cxnId="{C10A2E97-40D9-4123-9647-358E1A64D6C9}">
      <dgm:prSet/>
      <dgm:spPr/>
      <dgm:t>
        <a:bodyPr/>
        <a:lstStyle/>
        <a:p>
          <a:endParaRPr lang="en-US"/>
        </a:p>
      </dgm:t>
    </dgm:pt>
    <dgm:pt modelId="{5FA359DE-6932-424A-BDE2-579D3E29B33A}" type="sibTrans" cxnId="{C10A2E97-40D9-4123-9647-358E1A64D6C9}">
      <dgm:prSet/>
      <dgm:spPr/>
      <dgm:t>
        <a:bodyPr/>
        <a:lstStyle/>
        <a:p>
          <a:endParaRPr lang="en-US"/>
        </a:p>
      </dgm:t>
    </dgm:pt>
    <dgm:pt modelId="{BA2E5375-FD77-47B4-A888-7387932E6D62}">
      <dgm:prSet custT="1"/>
      <dgm:spPr/>
      <dgm:t>
        <a:bodyPr/>
        <a:lstStyle/>
        <a:p>
          <a:r>
            <a:rPr lang="en-IN" sz="2400" dirty="0"/>
            <a:t>5 Summarize key takeaways</a:t>
          </a:r>
          <a:endParaRPr lang="en-US" sz="2400" dirty="0"/>
        </a:p>
      </dgm:t>
    </dgm:pt>
    <dgm:pt modelId="{9F77997F-5AC0-4D93-89AC-B37B7BDB43EF}" type="parTrans" cxnId="{285F19B7-0DE6-4516-940F-56080AC841F9}">
      <dgm:prSet/>
      <dgm:spPr/>
      <dgm:t>
        <a:bodyPr/>
        <a:lstStyle/>
        <a:p>
          <a:endParaRPr lang="en-US"/>
        </a:p>
      </dgm:t>
    </dgm:pt>
    <dgm:pt modelId="{60B3BF56-C21F-456B-A5AC-F5C3D1CA9305}" type="sibTrans" cxnId="{285F19B7-0DE6-4516-940F-56080AC841F9}">
      <dgm:prSet/>
      <dgm:spPr/>
      <dgm:t>
        <a:bodyPr/>
        <a:lstStyle/>
        <a:p>
          <a:endParaRPr lang="en-US"/>
        </a:p>
      </dgm:t>
    </dgm:pt>
    <dgm:pt modelId="{B3A5C720-F6BA-415B-BACC-D6E1E00A3E9C}">
      <dgm:prSet custT="1"/>
      <dgm:spPr/>
      <dgm:t>
        <a:bodyPr/>
        <a:lstStyle/>
        <a:p>
          <a:r>
            <a:rPr lang="en-IN" sz="2400" dirty="0"/>
            <a:t>6 Reinforce learning with quick recap</a:t>
          </a:r>
          <a:endParaRPr lang="en-US" sz="2400" dirty="0"/>
        </a:p>
      </dgm:t>
    </dgm:pt>
    <dgm:pt modelId="{F429E385-C516-4FAE-9D81-A0D8E294980B}" type="parTrans" cxnId="{0929CE6D-F2B1-4F6D-A0E5-1B096EB2DD2D}">
      <dgm:prSet/>
      <dgm:spPr/>
      <dgm:t>
        <a:bodyPr/>
        <a:lstStyle/>
        <a:p>
          <a:endParaRPr lang="en-US"/>
        </a:p>
      </dgm:t>
    </dgm:pt>
    <dgm:pt modelId="{70FFF6AF-5C8B-41F5-90C8-E0C6F35FD649}" type="sibTrans" cxnId="{0929CE6D-F2B1-4F6D-A0E5-1B096EB2DD2D}">
      <dgm:prSet/>
      <dgm:spPr/>
      <dgm:t>
        <a:bodyPr/>
        <a:lstStyle/>
        <a:p>
          <a:endParaRPr lang="en-US"/>
        </a:p>
      </dgm:t>
    </dgm:pt>
    <dgm:pt modelId="{573103A9-89AC-4873-8CB5-0F4B7370B2E1}" type="pres">
      <dgm:prSet presAssocID="{B64DB52A-CA4F-4852-B41E-6A1F43CC58F9}" presName="vert0" presStyleCnt="0">
        <dgm:presLayoutVars>
          <dgm:dir/>
          <dgm:animOne val="branch"/>
          <dgm:animLvl val="lvl"/>
        </dgm:presLayoutVars>
      </dgm:prSet>
      <dgm:spPr/>
    </dgm:pt>
    <dgm:pt modelId="{6FF76B5C-2320-4CB5-9844-D984662B1716}" type="pres">
      <dgm:prSet presAssocID="{C8BD7C71-8F1B-400D-96A3-6B553A93EB7F}" presName="thickLine" presStyleLbl="alignNode1" presStyleIdx="0" presStyleCnt="6"/>
      <dgm:spPr/>
    </dgm:pt>
    <dgm:pt modelId="{41C87863-73DE-4F9B-A76B-880D805954CA}" type="pres">
      <dgm:prSet presAssocID="{C8BD7C71-8F1B-400D-96A3-6B553A93EB7F}" presName="horz1" presStyleCnt="0"/>
      <dgm:spPr/>
    </dgm:pt>
    <dgm:pt modelId="{CBF4003A-096B-4C8D-8E4F-9D9EAB681D72}" type="pres">
      <dgm:prSet presAssocID="{C8BD7C71-8F1B-400D-96A3-6B553A93EB7F}" presName="tx1" presStyleLbl="revTx" presStyleIdx="0" presStyleCnt="6"/>
      <dgm:spPr/>
    </dgm:pt>
    <dgm:pt modelId="{608B7948-37DA-4DDD-A56D-16AA8CC3AD50}" type="pres">
      <dgm:prSet presAssocID="{C8BD7C71-8F1B-400D-96A3-6B553A93EB7F}" presName="vert1" presStyleCnt="0"/>
      <dgm:spPr/>
    </dgm:pt>
    <dgm:pt modelId="{F83A5B86-9D43-4C81-A6D4-87875817B689}" type="pres">
      <dgm:prSet presAssocID="{311F9A05-A7F4-4328-B319-DBCDF0DF0E82}" presName="thickLine" presStyleLbl="alignNode1" presStyleIdx="1" presStyleCnt="6"/>
      <dgm:spPr/>
    </dgm:pt>
    <dgm:pt modelId="{3BC975C1-0C99-4F97-8C52-C1CFA0BAF551}" type="pres">
      <dgm:prSet presAssocID="{311F9A05-A7F4-4328-B319-DBCDF0DF0E82}" presName="horz1" presStyleCnt="0"/>
      <dgm:spPr/>
    </dgm:pt>
    <dgm:pt modelId="{7BF0A7F7-0F37-4B11-9AED-B46FE7E128D8}" type="pres">
      <dgm:prSet presAssocID="{311F9A05-A7F4-4328-B319-DBCDF0DF0E82}" presName="tx1" presStyleLbl="revTx" presStyleIdx="1" presStyleCnt="6"/>
      <dgm:spPr/>
    </dgm:pt>
    <dgm:pt modelId="{AA11931C-C560-424D-BE37-4872DC1B2048}" type="pres">
      <dgm:prSet presAssocID="{311F9A05-A7F4-4328-B319-DBCDF0DF0E82}" presName="vert1" presStyleCnt="0"/>
      <dgm:spPr/>
    </dgm:pt>
    <dgm:pt modelId="{7EE56E18-6978-43E9-9D4D-E31AA5BEE441}" type="pres">
      <dgm:prSet presAssocID="{81CB55E0-0FB6-485C-B15D-9BD278F78C6F}" presName="thickLine" presStyleLbl="alignNode1" presStyleIdx="2" presStyleCnt="6"/>
      <dgm:spPr/>
    </dgm:pt>
    <dgm:pt modelId="{447FCB44-517C-43F4-BE59-391C36D21C9C}" type="pres">
      <dgm:prSet presAssocID="{81CB55E0-0FB6-485C-B15D-9BD278F78C6F}" presName="horz1" presStyleCnt="0"/>
      <dgm:spPr/>
    </dgm:pt>
    <dgm:pt modelId="{89436931-860B-40AD-8DCE-CEE0F56E60ED}" type="pres">
      <dgm:prSet presAssocID="{81CB55E0-0FB6-485C-B15D-9BD278F78C6F}" presName="tx1" presStyleLbl="revTx" presStyleIdx="2" presStyleCnt="6"/>
      <dgm:spPr/>
    </dgm:pt>
    <dgm:pt modelId="{0E51C315-1B46-45D6-B4D4-E44AF2F7FE47}" type="pres">
      <dgm:prSet presAssocID="{81CB55E0-0FB6-485C-B15D-9BD278F78C6F}" presName="vert1" presStyleCnt="0"/>
      <dgm:spPr/>
    </dgm:pt>
    <dgm:pt modelId="{B514687E-679F-4404-A929-C733AA004539}" type="pres">
      <dgm:prSet presAssocID="{51474CA9-1ADD-4331-9534-6780C3A18768}" presName="thickLine" presStyleLbl="alignNode1" presStyleIdx="3" presStyleCnt="6"/>
      <dgm:spPr/>
    </dgm:pt>
    <dgm:pt modelId="{80414A13-977F-40A0-BF88-8AEFF7DE361E}" type="pres">
      <dgm:prSet presAssocID="{51474CA9-1ADD-4331-9534-6780C3A18768}" presName="horz1" presStyleCnt="0"/>
      <dgm:spPr/>
    </dgm:pt>
    <dgm:pt modelId="{3E95DC57-D848-494F-A343-6CBABA986252}" type="pres">
      <dgm:prSet presAssocID="{51474CA9-1ADD-4331-9534-6780C3A18768}" presName="tx1" presStyleLbl="revTx" presStyleIdx="3" presStyleCnt="6"/>
      <dgm:spPr/>
    </dgm:pt>
    <dgm:pt modelId="{42E34139-9E2B-4ED7-9D4C-0E180FD5C739}" type="pres">
      <dgm:prSet presAssocID="{51474CA9-1ADD-4331-9534-6780C3A18768}" presName="vert1" presStyleCnt="0"/>
      <dgm:spPr/>
    </dgm:pt>
    <dgm:pt modelId="{0B062B2C-FD23-461E-89A1-3ECDF7A567C2}" type="pres">
      <dgm:prSet presAssocID="{BA2E5375-FD77-47B4-A888-7387932E6D62}" presName="thickLine" presStyleLbl="alignNode1" presStyleIdx="4" presStyleCnt="6"/>
      <dgm:spPr/>
    </dgm:pt>
    <dgm:pt modelId="{1BF4D050-06E8-4B19-AEB8-E6957BD50750}" type="pres">
      <dgm:prSet presAssocID="{BA2E5375-FD77-47B4-A888-7387932E6D62}" presName="horz1" presStyleCnt="0"/>
      <dgm:spPr/>
    </dgm:pt>
    <dgm:pt modelId="{D26876CA-709E-4928-AAF2-4734D1DACD6D}" type="pres">
      <dgm:prSet presAssocID="{BA2E5375-FD77-47B4-A888-7387932E6D62}" presName="tx1" presStyleLbl="revTx" presStyleIdx="4" presStyleCnt="6"/>
      <dgm:spPr/>
    </dgm:pt>
    <dgm:pt modelId="{88DBC881-0983-4C91-8705-CB8A16D50941}" type="pres">
      <dgm:prSet presAssocID="{BA2E5375-FD77-47B4-A888-7387932E6D62}" presName="vert1" presStyleCnt="0"/>
      <dgm:spPr/>
    </dgm:pt>
    <dgm:pt modelId="{2B37DFBD-1045-417A-89DD-348147EAB4F5}" type="pres">
      <dgm:prSet presAssocID="{B3A5C720-F6BA-415B-BACC-D6E1E00A3E9C}" presName="thickLine" presStyleLbl="alignNode1" presStyleIdx="5" presStyleCnt="6"/>
      <dgm:spPr/>
    </dgm:pt>
    <dgm:pt modelId="{37DCFB0B-1A16-4C35-A117-077E4A9AB132}" type="pres">
      <dgm:prSet presAssocID="{B3A5C720-F6BA-415B-BACC-D6E1E00A3E9C}" presName="horz1" presStyleCnt="0"/>
      <dgm:spPr/>
    </dgm:pt>
    <dgm:pt modelId="{1DE32878-1683-410B-AEEA-0DF09EA5FA62}" type="pres">
      <dgm:prSet presAssocID="{B3A5C720-F6BA-415B-BACC-D6E1E00A3E9C}" presName="tx1" presStyleLbl="revTx" presStyleIdx="5" presStyleCnt="6"/>
      <dgm:spPr/>
    </dgm:pt>
    <dgm:pt modelId="{41D82D7D-82CC-403F-8FAA-7EF8B4434DBF}" type="pres">
      <dgm:prSet presAssocID="{B3A5C720-F6BA-415B-BACC-D6E1E00A3E9C}" presName="vert1" presStyleCnt="0"/>
      <dgm:spPr/>
    </dgm:pt>
  </dgm:ptLst>
  <dgm:cxnLst>
    <dgm:cxn modelId="{AC777213-F11B-480E-B008-A2643A65BF23}" type="presOf" srcId="{B3A5C720-F6BA-415B-BACC-D6E1E00A3E9C}" destId="{1DE32878-1683-410B-AEEA-0DF09EA5FA62}" srcOrd="0" destOrd="0" presId="urn:microsoft.com/office/officeart/2008/layout/LinedList"/>
    <dgm:cxn modelId="{DC4EA019-245A-44D8-9BF0-3AD33B0D2A8D}" type="presOf" srcId="{311F9A05-A7F4-4328-B319-DBCDF0DF0E82}" destId="{7BF0A7F7-0F37-4B11-9AED-B46FE7E128D8}" srcOrd="0" destOrd="0" presId="urn:microsoft.com/office/officeart/2008/layout/LinedList"/>
    <dgm:cxn modelId="{B28E7539-702F-4403-B38C-CCE2EC9E181E}" srcId="{B64DB52A-CA4F-4852-B41E-6A1F43CC58F9}" destId="{81CB55E0-0FB6-485C-B15D-9BD278F78C6F}" srcOrd="2" destOrd="0" parTransId="{81E23C2F-5B75-4C87-B80F-F92D751EF2D3}" sibTransId="{CA453529-0F48-4EF3-8F16-E732FB1811C3}"/>
    <dgm:cxn modelId="{CB477A60-62F0-49EB-B58D-60D1B6535D8A}" type="presOf" srcId="{BA2E5375-FD77-47B4-A888-7387932E6D62}" destId="{D26876CA-709E-4928-AAF2-4734D1DACD6D}" srcOrd="0" destOrd="0" presId="urn:microsoft.com/office/officeart/2008/layout/LinedList"/>
    <dgm:cxn modelId="{A8279F42-205C-42CA-8385-164FB091EC3D}" type="presOf" srcId="{B64DB52A-CA4F-4852-B41E-6A1F43CC58F9}" destId="{573103A9-89AC-4873-8CB5-0F4B7370B2E1}" srcOrd="0" destOrd="0" presId="urn:microsoft.com/office/officeart/2008/layout/LinedList"/>
    <dgm:cxn modelId="{6DCFA649-9D6E-469B-AACA-1BA847263E9A}" srcId="{B64DB52A-CA4F-4852-B41E-6A1F43CC58F9}" destId="{311F9A05-A7F4-4328-B319-DBCDF0DF0E82}" srcOrd="1" destOrd="0" parTransId="{23B85C74-2F21-4685-BD89-BB563657B099}" sibTransId="{91F4A534-BBDE-4EB5-BAE5-EACEB7D0B868}"/>
    <dgm:cxn modelId="{0929CE6D-F2B1-4F6D-A0E5-1B096EB2DD2D}" srcId="{B64DB52A-CA4F-4852-B41E-6A1F43CC58F9}" destId="{B3A5C720-F6BA-415B-BACC-D6E1E00A3E9C}" srcOrd="5" destOrd="0" parTransId="{F429E385-C516-4FAE-9D81-A0D8E294980B}" sibTransId="{70FFF6AF-5C8B-41F5-90C8-E0C6F35FD649}"/>
    <dgm:cxn modelId="{C10A2E97-40D9-4123-9647-358E1A64D6C9}" srcId="{B64DB52A-CA4F-4852-B41E-6A1F43CC58F9}" destId="{51474CA9-1ADD-4331-9534-6780C3A18768}" srcOrd="3" destOrd="0" parTransId="{BD15203B-A2C4-421B-84CE-AC22CC6E237F}" sibTransId="{5FA359DE-6932-424A-BDE2-579D3E29B33A}"/>
    <dgm:cxn modelId="{285F19B7-0DE6-4516-940F-56080AC841F9}" srcId="{B64DB52A-CA4F-4852-B41E-6A1F43CC58F9}" destId="{BA2E5375-FD77-47B4-A888-7387932E6D62}" srcOrd="4" destOrd="0" parTransId="{9F77997F-5AC0-4D93-89AC-B37B7BDB43EF}" sibTransId="{60B3BF56-C21F-456B-A5AC-F5C3D1CA9305}"/>
    <dgm:cxn modelId="{CAEFD1C0-21C6-4BEE-BBD0-3E2B7599C8A0}" type="presOf" srcId="{C8BD7C71-8F1B-400D-96A3-6B553A93EB7F}" destId="{CBF4003A-096B-4C8D-8E4F-9D9EAB681D72}" srcOrd="0" destOrd="0" presId="urn:microsoft.com/office/officeart/2008/layout/LinedList"/>
    <dgm:cxn modelId="{36D8DFD7-E3DD-4A01-AC6D-A44FD86D70FA}" type="presOf" srcId="{81CB55E0-0FB6-485C-B15D-9BD278F78C6F}" destId="{89436931-860B-40AD-8DCE-CEE0F56E60ED}" srcOrd="0" destOrd="0" presId="urn:microsoft.com/office/officeart/2008/layout/LinedList"/>
    <dgm:cxn modelId="{942D76EB-4E8A-49F9-9193-131FE6139044}" srcId="{B64DB52A-CA4F-4852-B41E-6A1F43CC58F9}" destId="{C8BD7C71-8F1B-400D-96A3-6B553A93EB7F}" srcOrd="0" destOrd="0" parTransId="{BBCFB319-5299-4310-B646-22472DABF40A}" sibTransId="{AF1C4F3A-D240-4EB1-9ECB-2ED225CCC019}"/>
    <dgm:cxn modelId="{791F67ED-636D-40F8-93C7-87F14CF35636}" type="presOf" srcId="{51474CA9-1ADD-4331-9534-6780C3A18768}" destId="{3E95DC57-D848-494F-A343-6CBABA986252}" srcOrd="0" destOrd="0" presId="urn:microsoft.com/office/officeart/2008/layout/LinedList"/>
    <dgm:cxn modelId="{A8499597-22C4-40AB-8BB7-CEB6565C2724}" type="presParOf" srcId="{573103A9-89AC-4873-8CB5-0F4B7370B2E1}" destId="{6FF76B5C-2320-4CB5-9844-D984662B1716}" srcOrd="0" destOrd="0" presId="urn:microsoft.com/office/officeart/2008/layout/LinedList"/>
    <dgm:cxn modelId="{A93CB1D0-23F3-45EE-9AB1-A15778F91C98}" type="presParOf" srcId="{573103A9-89AC-4873-8CB5-0F4B7370B2E1}" destId="{41C87863-73DE-4F9B-A76B-880D805954CA}" srcOrd="1" destOrd="0" presId="urn:microsoft.com/office/officeart/2008/layout/LinedList"/>
    <dgm:cxn modelId="{F575AF3D-87A6-47A5-83AC-A73999B61EA5}" type="presParOf" srcId="{41C87863-73DE-4F9B-A76B-880D805954CA}" destId="{CBF4003A-096B-4C8D-8E4F-9D9EAB681D72}" srcOrd="0" destOrd="0" presId="urn:microsoft.com/office/officeart/2008/layout/LinedList"/>
    <dgm:cxn modelId="{C4AD05CD-ABA2-45F9-AD70-453A59B257AA}" type="presParOf" srcId="{41C87863-73DE-4F9B-A76B-880D805954CA}" destId="{608B7948-37DA-4DDD-A56D-16AA8CC3AD50}" srcOrd="1" destOrd="0" presId="urn:microsoft.com/office/officeart/2008/layout/LinedList"/>
    <dgm:cxn modelId="{09135F7C-D882-4001-9420-48C6F669E5A1}" type="presParOf" srcId="{573103A9-89AC-4873-8CB5-0F4B7370B2E1}" destId="{F83A5B86-9D43-4C81-A6D4-87875817B689}" srcOrd="2" destOrd="0" presId="urn:microsoft.com/office/officeart/2008/layout/LinedList"/>
    <dgm:cxn modelId="{42A74311-A9B5-4722-908E-E69DF0F7B3F2}" type="presParOf" srcId="{573103A9-89AC-4873-8CB5-0F4B7370B2E1}" destId="{3BC975C1-0C99-4F97-8C52-C1CFA0BAF551}" srcOrd="3" destOrd="0" presId="urn:microsoft.com/office/officeart/2008/layout/LinedList"/>
    <dgm:cxn modelId="{06716FB4-91E0-498C-9B25-67FC8A0410EE}" type="presParOf" srcId="{3BC975C1-0C99-4F97-8C52-C1CFA0BAF551}" destId="{7BF0A7F7-0F37-4B11-9AED-B46FE7E128D8}" srcOrd="0" destOrd="0" presId="urn:microsoft.com/office/officeart/2008/layout/LinedList"/>
    <dgm:cxn modelId="{08808E65-016C-4832-AD3A-0BCD56638EE0}" type="presParOf" srcId="{3BC975C1-0C99-4F97-8C52-C1CFA0BAF551}" destId="{AA11931C-C560-424D-BE37-4872DC1B2048}" srcOrd="1" destOrd="0" presId="urn:microsoft.com/office/officeart/2008/layout/LinedList"/>
    <dgm:cxn modelId="{206F6E77-1951-4EBC-9057-DD630DD20CCA}" type="presParOf" srcId="{573103A9-89AC-4873-8CB5-0F4B7370B2E1}" destId="{7EE56E18-6978-43E9-9D4D-E31AA5BEE441}" srcOrd="4" destOrd="0" presId="urn:microsoft.com/office/officeart/2008/layout/LinedList"/>
    <dgm:cxn modelId="{5A60FA20-ADA2-431F-8796-1BE8C988B2D2}" type="presParOf" srcId="{573103A9-89AC-4873-8CB5-0F4B7370B2E1}" destId="{447FCB44-517C-43F4-BE59-391C36D21C9C}" srcOrd="5" destOrd="0" presId="urn:microsoft.com/office/officeart/2008/layout/LinedList"/>
    <dgm:cxn modelId="{A05C2049-7944-4478-8D68-709AB77FAB96}" type="presParOf" srcId="{447FCB44-517C-43F4-BE59-391C36D21C9C}" destId="{89436931-860B-40AD-8DCE-CEE0F56E60ED}" srcOrd="0" destOrd="0" presId="urn:microsoft.com/office/officeart/2008/layout/LinedList"/>
    <dgm:cxn modelId="{2AEA7D18-2CA4-4040-8CA3-2E8EA6C53110}" type="presParOf" srcId="{447FCB44-517C-43F4-BE59-391C36D21C9C}" destId="{0E51C315-1B46-45D6-B4D4-E44AF2F7FE47}" srcOrd="1" destOrd="0" presId="urn:microsoft.com/office/officeart/2008/layout/LinedList"/>
    <dgm:cxn modelId="{0B8319B9-A001-4929-BF67-CFB04FA16945}" type="presParOf" srcId="{573103A9-89AC-4873-8CB5-0F4B7370B2E1}" destId="{B514687E-679F-4404-A929-C733AA004539}" srcOrd="6" destOrd="0" presId="urn:microsoft.com/office/officeart/2008/layout/LinedList"/>
    <dgm:cxn modelId="{257188D6-0003-435E-A862-DB1729B0A2C3}" type="presParOf" srcId="{573103A9-89AC-4873-8CB5-0F4B7370B2E1}" destId="{80414A13-977F-40A0-BF88-8AEFF7DE361E}" srcOrd="7" destOrd="0" presId="urn:microsoft.com/office/officeart/2008/layout/LinedList"/>
    <dgm:cxn modelId="{0D4D7625-BCDC-4E36-BA9D-FCFD4CC793E3}" type="presParOf" srcId="{80414A13-977F-40A0-BF88-8AEFF7DE361E}" destId="{3E95DC57-D848-494F-A343-6CBABA986252}" srcOrd="0" destOrd="0" presId="urn:microsoft.com/office/officeart/2008/layout/LinedList"/>
    <dgm:cxn modelId="{0E040604-2F36-489D-A967-FB8740498707}" type="presParOf" srcId="{80414A13-977F-40A0-BF88-8AEFF7DE361E}" destId="{42E34139-9E2B-4ED7-9D4C-0E180FD5C739}" srcOrd="1" destOrd="0" presId="urn:microsoft.com/office/officeart/2008/layout/LinedList"/>
    <dgm:cxn modelId="{DEAB5A35-1128-4DEF-AE18-D024423701D7}" type="presParOf" srcId="{573103A9-89AC-4873-8CB5-0F4B7370B2E1}" destId="{0B062B2C-FD23-461E-89A1-3ECDF7A567C2}" srcOrd="8" destOrd="0" presId="urn:microsoft.com/office/officeart/2008/layout/LinedList"/>
    <dgm:cxn modelId="{055AE2A9-59D6-49A8-A0DB-1D091F45E10E}" type="presParOf" srcId="{573103A9-89AC-4873-8CB5-0F4B7370B2E1}" destId="{1BF4D050-06E8-4B19-AEB8-E6957BD50750}" srcOrd="9" destOrd="0" presId="urn:microsoft.com/office/officeart/2008/layout/LinedList"/>
    <dgm:cxn modelId="{BBB3BEA1-FC70-4DE2-9A91-57EB33BF00AD}" type="presParOf" srcId="{1BF4D050-06E8-4B19-AEB8-E6957BD50750}" destId="{D26876CA-709E-4928-AAF2-4734D1DACD6D}" srcOrd="0" destOrd="0" presId="urn:microsoft.com/office/officeart/2008/layout/LinedList"/>
    <dgm:cxn modelId="{D188FA47-5832-42EC-9572-966048E3C4F5}" type="presParOf" srcId="{1BF4D050-06E8-4B19-AEB8-E6957BD50750}" destId="{88DBC881-0983-4C91-8705-CB8A16D50941}" srcOrd="1" destOrd="0" presId="urn:microsoft.com/office/officeart/2008/layout/LinedList"/>
    <dgm:cxn modelId="{D52B8AEE-6B59-47DE-96B8-D9B647AB0BD5}" type="presParOf" srcId="{573103A9-89AC-4873-8CB5-0F4B7370B2E1}" destId="{2B37DFBD-1045-417A-89DD-348147EAB4F5}" srcOrd="10" destOrd="0" presId="urn:microsoft.com/office/officeart/2008/layout/LinedList"/>
    <dgm:cxn modelId="{87CEFD5A-15D0-405F-A288-77213AA4C691}" type="presParOf" srcId="{573103A9-89AC-4873-8CB5-0F4B7370B2E1}" destId="{37DCFB0B-1A16-4C35-A117-077E4A9AB132}" srcOrd="11" destOrd="0" presId="urn:microsoft.com/office/officeart/2008/layout/LinedList"/>
    <dgm:cxn modelId="{FAE27A14-2C4C-460F-8666-684E767B4C26}" type="presParOf" srcId="{37DCFB0B-1A16-4C35-A117-077E4A9AB132}" destId="{1DE32878-1683-410B-AEEA-0DF09EA5FA62}" srcOrd="0" destOrd="0" presId="urn:microsoft.com/office/officeart/2008/layout/LinedList"/>
    <dgm:cxn modelId="{B8632CF4-76F8-45D5-970F-DC293805AC34}" type="presParOf" srcId="{37DCFB0B-1A16-4C35-A117-077E4A9AB132}" destId="{41D82D7D-82CC-403F-8FAA-7EF8B4434DB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dgm:spPr/>
      <dgm:t>
        <a:bodyPr/>
        <a:lstStyle/>
        <a:p>
          <a:r>
            <a:rPr lang="en-IN" dirty="0"/>
            <a:t>Outcome 1: Identify when and why the rule of allegation is used.</a:t>
          </a:r>
          <a:endParaRPr lang="en-US"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dgm:spPr/>
      <dgm:t>
        <a:bodyPr/>
        <a:lstStyle/>
        <a:p>
          <a:r>
            <a:rPr lang="en-IN" dirty="0"/>
            <a:t>Outcome 2: Apply the rule of allegation to diverse real-life situations effectively.</a:t>
          </a:r>
          <a:endParaRPr lang="en-US" dirty="0"/>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50B3B115-9ED4-4424-B000-6C66B8D607D6}" type="pres">
      <dgm:prSet presAssocID="{B7ED251F-A7A3-4D25-B004-4241BE03EDC3}" presName="TwoNodes_1" presStyleLbl="node1" presStyleIdx="0" presStyleCnt="2" custLinFactNeighborX="533" custLinFactNeighborY="-1030">
        <dgm:presLayoutVars>
          <dgm:bulletEnabled val="1"/>
        </dgm:presLayoutVars>
      </dgm:prSet>
      <dgm:spPr/>
    </dgm:pt>
    <dgm:pt modelId="{66D5292E-E31B-47C3-B7F6-6E92D8DBC596}" type="pres">
      <dgm:prSet presAssocID="{B7ED251F-A7A3-4D25-B004-4241BE03EDC3}" presName="TwoNodes_2" presStyleLbl="node1" presStyleIdx="1" presStyleCnt="2">
        <dgm:presLayoutVars>
          <dgm:bulletEnabled val="1"/>
        </dgm:presLayoutVars>
      </dgm:prSet>
      <dgm:spPr/>
    </dgm:pt>
    <dgm:pt modelId="{C65C44E2-047F-4F51-A8DC-FF51C925FC7F}" type="pres">
      <dgm:prSet presAssocID="{B7ED251F-A7A3-4D25-B004-4241BE03EDC3}" presName="TwoConn_1-2" presStyleLbl="fgAccFollowNode1" presStyleIdx="0" presStyleCnt="1">
        <dgm:presLayoutVars>
          <dgm:bulletEnabled val="1"/>
        </dgm:presLayoutVars>
      </dgm:prSet>
      <dgm:spPr/>
    </dgm:pt>
    <dgm:pt modelId="{A4FE43DF-38F9-4E9D-BFAC-B056439DD239}" type="pres">
      <dgm:prSet presAssocID="{B7ED251F-A7A3-4D25-B004-4241BE03EDC3}" presName="TwoNodes_1_text" presStyleLbl="node1" presStyleIdx="1" presStyleCnt="2">
        <dgm:presLayoutVars>
          <dgm:bulletEnabled val="1"/>
        </dgm:presLayoutVars>
      </dgm:prSet>
      <dgm:spPr/>
    </dgm:pt>
    <dgm:pt modelId="{D6550B05-CA9B-414C-B02C-0996B53629B5}" type="pres">
      <dgm:prSet presAssocID="{B7ED251F-A7A3-4D25-B004-4241BE03EDC3}" presName="TwoNodes_2_text" presStyleLbl="node1" presStyleIdx="1" presStyleCnt="2">
        <dgm:presLayoutVars>
          <dgm:bulletEnabled val="1"/>
        </dgm:presLayoutVars>
      </dgm:prSet>
      <dgm:spPr/>
    </dgm:pt>
  </dgm:ptLst>
  <dgm:cxnLst>
    <dgm:cxn modelId="{08A81826-7273-44A3-AF99-B781181E27AF}" type="presOf" srcId="{B7ED251F-A7A3-4D25-B004-4241BE03EDC3}" destId="{E218E0F1-97EC-4D60-8F4A-A6E21D910199}" srcOrd="0" destOrd="0" presId="urn:microsoft.com/office/officeart/2005/8/layout/vProcess5"/>
    <dgm:cxn modelId="{B7C90E5D-C08D-4C7A-BC09-978891E6C996}" type="presOf" srcId="{0715BA3E-6351-4C71-A2A0-855403651045}" destId="{C65C44E2-047F-4F51-A8DC-FF51C925FC7F}" srcOrd="0" destOrd="0" presId="urn:microsoft.com/office/officeart/2005/8/layout/vProcess5"/>
    <dgm:cxn modelId="{F8377941-5A76-4607-BD83-62C7797B0244}" type="presOf" srcId="{DFBD6BAB-0140-48B9-9073-E08FDCB01885}" destId="{A4FE43DF-38F9-4E9D-BFAC-B056439DD239}" srcOrd="1" destOrd="0" presId="urn:microsoft.com/office/officeart/2005/8/layout/vProcess5"/>
    <dgm:cxn modelId="{D8FD6265-6EFF-41EA-A3FD-157498354C48}" type="presOf" srcId="{A3B4F848-7886-4B10-8E34-39E0B844A474}" destId="{66D5292E-E31B-47C3-B7F6-6E92D8DBC596}" srcOrd="0" destOrd="0" presId="urn:microsoft.com/office/officeart/2005/8/layout/vProcess5"/>
    <dgm:cxn modelId="{77311569-CDC2-49AC-95DB-7463C529128E}" type="presOf" srcId="{A3B4F848-7886-4B10-8E34-39E0B844A474}" destId="{D6550B05-CA9B-414C-B02C-0996B53629B5}" srcOrd="1" destOrd="0" presId="urn:microsoft.com/office/officeart/2005/8/layout/vProcess5"/>
    <dgm:cxn modelId="{7987A051-5FB1-40A3-A3C7-DD53D6028BFC}" type="presOf" srcId="{DFBD6BAB-0140-48B9-9073-E08FDCB01885}" destId="{50B3B115-9ED4-4424-B000-6C66B8D607D6}" srcOrd="0" destOrd="0" presId="urn:microsoft.com/office/officeart/2005/8/layout/vProcess5"/>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61E78557-A66C-4CE5-B60F-73372A952247}" type="presParOf" srcId="{E218E0F1-97EC-4D60-8F4A-A6E21D910199}" destId="{353F2BDB-A1CE-4ECD-BC0F-35AD5A327550}" srcOrd="0" destOrd="0" presId="urn:microsoft.com/office/officeart/2005/8/layout/vProcess5"/>
    <dgm:cxn modelId="{91FFE510-5AEF-4699-93BA-62BCE0929612}" type="presParOf" srcId="{E218E0F1-97EC-4D60-8F4A-A6E21D910199}" destId="{50B3B115-9ED4-4424-B000-6C66B8D607D6}" srcOrd="1" destOrd="0" presId="urn:microsoft.com/office/officeart/2005/8/layout/vProcess5"/>
    <dgm:cxn modelId="{A6323143-C21B-48C4-A26E-C1BE1D3FDFA3}" type="presParOf" srcId="{E218E0F1-97EC-4D60-8F4A-A6E21D910199}" destId="{66D5292E-E31B-47C3-B7F6-6E92D8DBC596}" srcOrd="2" destOrd="0" presId="urn:microsoft.com/office/officeart/2005/8/layout/vProcess5"/>
    <dgm:cxn modelId="{A7712366-DE27-4D2D-9EA4-E72C08291FDF}" type="presParOf" srcId="{E218E0F1-97EC-4D60-8F4A-A6E21D910199}" destId="{C65C44E2-047F-4F51-A8DC-FF51C925FC7F}" srcOrd="3" destOrd="0" presId="urn:microsoft.com/office/officeart/2005/8/layout/vProcess5"/>
    <dgm:cxn modelId="{D9234DA3-5745-412D-96F2-93EDC8C718C2}" type="presParOf" srcId="{E218E0F1-97EC-4D60-8F4A-A6E21D910199}" destId="{A4FE43DF-38F9-4E9D-BFAC-B056439DD239}" srcOrd="4" destOrd="0" presId="urn:microsoft.com/office/officeart/2005/8/layout/vProcess5"/>
    <dgm:cxn modelId="{9F1A614F-0DA6-43D7-AACB-1E517E8A8B09}" type="presParOf" srcId="{E218E0F1-97EC-4D60-8F4A-A6E21D910199}" destId="{D6550B05-CA9B-414C-B02C-0996B53629B5}"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3B115-9ED4-4424-B000-6C66B8D607D6}">
      <dsp:nvSpPr>
        <dsp:cNvPr id="0" name=""/>
        <dsp:cNvSpPr/>
      </dsp:nvSpPr>
      <dsp:spPr>
        <a:xfrm>
          <a:off x="0" y="0"/>
          <a:ext cx="9288654" cy="166023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kern="1200" dirty="0"/>
            <a:t>Learning Outcome 1: Identify when and why the rule of </a:t>
          </a:r>
          <a:r>
            <a:rPr lang="en-IN" sz="3600" kern="1200" dirty="0" err="1"/>
            <a:t>alligation</a:t>
          </a:r>
          <a:r>
            <a:rPr lang="en-IN" sz="3600" kern="1200" dirty="0"/>
            <a:t> is used.</a:t>
          </a:r>
          <a:endParaRPr lang="en-US" sz="3600" kern="1200" dirty="0"/>
        </a:p>
      </dsp:txBody>
      <dsp:txXfrm>
        <a:off x="48627" y="48627"/>
        <a:ext cx="7572674" cy="1562978"/>
      </dsp:txXfrm>
    </dsp:sp>
    <dsp:sp modelId="{66D5292E-E31B-47C3-B7F6-6E92D8DBC596}">
      <dsp:nvSpPr>
        <dsp:cNvPr id="0" name=""/>
        <dsp:cNvSpPr/>
      </dsp:nvSpPr>
      <dsp:spPr>
        <a:xfrm>
          <a:off x="1639174" y="2029172"/>
          <a:ext cx="9288654" cy="166023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Learning Outcome 2: </a:t>
          </a:r>
          <a:r>
            <a:rPr lang="en-IN" sz="2800" kern="1200" dirty="0"/>
            <a:t>Apply the rule of </a:t>
          </a:r>
          <a:r>
            <a:rPr lang="en-IN" sz="2800" kern="1200" dirty="0" err="1"/>
            <a:t>alligation</a:t>
          </a:r>
          <a:r>
            <a:rPr lang="en-IN" sz="2800" kern="1200" dirty="0"/>
            <a:t> to diverse real-life situations effectively.</a:t>
          </a:r>
          <a:endParaRPr lang="en-US" sz="3100" kern="1200" dirty="0"/>
        </a:p>
      </dsp:txBody>
      <dsp:txXfrm>
        <a:off x="1687801" y="2077799"/>
        <a:ext cx="6473075" cy="1562978"/>
      </dsp:txXfrm>
    </dsp:sp>
    <dsp:sp modelId="{C65C44E2-047F-4F51-A8DC-FF51C925FC7F}">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76B5C-2320-4CB5-9844-D984662B1716}">
      <dsp:nvSpPr>
        <dsp:cNvPr id="0" name=""/>
        <dsp:cNvSpPr/>
      </dsp:nvSpPr>
      <dsp:spPr>
        <a:xfrm>
          <a:off x="0" y="2703"/>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003A-096B-4C8D-8E4F-9D9EAB681D72}">
      <dsp:nvSpPr>
        <dsp:cNvPr id="0" name=""/>
        <dsp:cNvSpPr/>
      </dsp:nvSpPr>
      <dsp:spPr>
        <a:xfrm>
          <a:off x="0" y="2703"/>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1 Quick “Think Pair Share” on prior knowledge.</a:t>
          </a:r>
          <a:endParaRPr lang="en-US" sz="2400" kern="1200" dirty="0"/>
        </a:p>
      </dsp:txBody>
      <dsp:txXfrm>
        <a:off x="0" y="2703"/>
        <a:ext cx="6900512" cy="921789"/>
      </dsp:txXfrm>
    </dsp:sp>
    <dsp:sp modelId="{F83A5B86-9D43-4C81-A6D4-87875817B689}">
      <dsp:nvSpPr>
        <dsp:cNvPr id="0" name=""/>
        <dsp:cNvSpPr/>
      </dsp:nvSpPr>
      <dsp:spPr>
        <a:xfrm>
          <a:off x="0" y="924492"/>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0A7F7-0F37-4B11-9AED-B46FE7E128D8}">
      <dsp:nvSpPr>
        <dsp:cNvPr id="0" name=""/>
        <dsp:cNvSpPr/>
      </dsp:nvSpPr>
      <dsp:spPr>
        <a:xfrm>
          <a:off x="0" y="924492"/>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2 Brainstorm real life example</a:t>
          </a:r>
          <a:endParaRPr lang="en-US" sz="2400" kern="1200" dirty="0"/>
        </a:p>
      </dsp:txBody>
      <dsp:txXfrm>
        <a:off x="0" y="924492"/>
        <a:ext cx="6900512" cy="921789"/>
      </dsp:txXfrm>
    </dsp:sp>
    <dsp:sp modelId="{7EE56E18-6978-43E9-9D4D-E31AA5BEE441}">
      <dsp:nvSpPr>
        <dsp:cNvPr id="0" name=""/>
        <dsp:cNvSpPr/>
      </dsp:nvSpPr>
      <dsp:spPr>
        <a:xfrm>
          <a:off x="0" y="184628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436931-860B-40AD-8DCE-CEE0F56E60ED}">
      <dsp:nvSpPr>
        <dsp:cNvPr id="0" name=""/>
        <dsp:cNvSpPr/>
      </dsp:nvSpPr>
      <dsp:spPr>
        <a:xfrm>
          <a:off x="0" y="1846281"/>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3 Group work</a:t>
          </a:r>
          <a:endParaRPr lang="en-US" sz="2400" kern="1200" dirty="0"/>
        </a:p>
      </dsp:txBody>
      <dsp:txXfrm>
        <a:off x="0" y="1846281"/>
        <a:ext cx="6900512" cy="921789"/>
      </dsp:txXfrm>
    </dsp:sp>
    <dsp:sp modelId="{B514687E-679F-4404-A929-C733AA004539}">
      <dsp:nvSpPr>
        <dsp:cNvPr id="0" name=""/>
        <dsp:cNvSpPr/>
      </dsp:nvSpPr>
      <dsp:spPr>
        <a:xfrm>
          <a:off x="0" y="2768070"/>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95DC57-D848-494F-A343-6CBABA986252}">
      <dsp:nvSpPr>
        <dsp:cNvPr id="0" name=""/>
        <dsp:cNvSpPr/>
      </dsp:nvSpPr>
      <dsp:spPr>
        <a:xfrm>
          <a:off x="0" y="2768070"/>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4 Solve &amp; discuss word problem on Mixture and </a:t>
          </a:r>
          <a:r>
            <a:rPr lang="en-IN" sz="2400" kern="1200" dirty="0" err="1"/>
            <a:t>Alligation</a:t>
          </a:r>
          <a:endParaRPr lang="en-US" sz="2400" kern="1200" dirty="0"/>
        </a:p>
      </dsp:txBody>
      <dsp:txXfrm>
        <a:off x="0" y="2768070"/>
        <a:ext cx="6900512" cy="921789"/>
      </dsp:txXfrm>
    </dsp:sp>
    <dsp:sp modelId="{0B062B2C-FD23-461E-89A1-3ECDF7A567C2}">
      <dsp:nvSpPr>
        <dsp:cNvPr id="0" name=""/>
        <dsp:cNvSpPr/>
      </dsp:nvSpPr>
      <dsp:spPr>
        <a:xfrm>
          <a:off x="0" y="3689859"/>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876CA-709E-4928-AAF2-4734D1DACD6D}">
      <dsp:nvSpPr>
        <dsp:cNvPr id="0" name=""/>
        <dsp:cNvSpPr/>
      </dsp:nvSpPr>
      <dsp:spPr>
        <a:xfrm>
          <a:off x="0" y="3689859"/>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5 Summarize key takeaways</a:t>
          </a:r>
          <a:endParaRPr lang="en-US" sz="2400" kern="1200" dirty="0"/>
        </a:p>
      </dsp:txBody>
      <dsp:txXfrm>
        <a:off x="0" y="3689859"/>
        <a:ext cx="6900512" cy="921789"/>
      </dsp:txXfrm>
    </dsp:sp>
    <dsp:sp modelId="{2B37DFBD-1045-417A-89DD-348147EAB4F5}">
      <dsp:nvSpPr>
        <dsp:cNvPr id="0" name=""/>
        <dsp:cNvSpPr/>
      </dsp:nvSpPr>
      <dsp:spPr>
        <a:xfrm>
          <a:off x="0" y="4611648"/>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E32878-1683-410B-AEEA-0DF09EA5FA62}">
      <dsp:nvSpPr>
        <dsp:cNvPr id="0" name=""/>
        <dsp:cNvSpPr/>
      </dsp:nvSpPr>
      <dsp:spPr>
        <a:xfrm>
          <a:off x="0" y="4611648"/>
          <a:ext cx="6900512"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IN" sz="2400" kern="1200" dirty="0"/>
            <a:t>6 Reinforce learning with quick recap</a:t>
          </a:r>
          <a:endParaRPr lang="en-US" sz="2400" kern="1200" dirty="0"/>
        </a:p>
      </dsp:txBody>
      <dsp:txXfrm>
        <a:off x="0" y="4611648"/>
        <a:ext cx="6900512" cy="9217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3B115-9ED4-4424-B000-6C66B8D607D6}">
      <dsp:nvSpPr>
        <dsp:cNvPr id="0" name=""/>
        <dsp:cNvSpPr/>
      </dsp:nvSpPr>
      <dsp:spPr>
        <a:xfrm>
          <a:off x="49508" y="0"/>
          <a:ext cx="9288654" cy="166023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Outcome 1: Identify when and why the rule of allegation is used.</a:t>
          </a:r>
          <a:endParaRPr lang="en-US" sz="3100" kern="1200" dirty="0"/>
        </a:p>
      </dsp:txBody>
      <dsp:txXfrm>
        <a:off x="98135" y="48627"/>
        <a:ext cx="7572674" cy="1562978"/>
      </dsp:txXfrm>
    </dsp:sp>
    <dsp:sp modelId="{66D5292E-E31B-47C3-B7F6-6E92D8DBC596}">
      <dsp:nvSpPr>
        <dsp:cNvPr id="0" name=""/>
        <dsp:cNvSpPr/>
      </dsp:nvSpPr>
      <dsp:spPr>
        <a:xfrm>
          <a:off x="1639174" y="2029172"/>
          <a:ext cx="9288654" cy="1660232"/>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IN" sz="3100" kern="1200" dirty="0"/>
            <a:t>Outcome 2: Apply the rule of allegation to diverse real-life situations effectively.</a:t>
          </a:r>
          <a:endParaRPr lang="en-US" sz="3100" kern="1200" dirty="0"/>
        </a:p>
      </dsp:txBody>
      <dsp:txXfrm>
        <a:off x="1687801" y="2077799"/>
        <a:ext cx="6473075" cy="1562978"/>
      </dsp:txXfrm>
    </dsp:sp>
    <dsp:sp modelId="{C65C44E2-047F-4F51-A8DC-FF51C925FC7F}">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11</a:t>
            </a:fld>
            <a:endParaRPr lang="en-IN"/>
          </a:p>
        </p:txBody>
      </p:sp>
    </p:spTree>
    <p:extLst>
      <p:ext uri="{BB962C8B-B14F-4D97-AF65-F5344CB8AC3E}">
        <p14:creationId xmlns:p14="http://schemas.microsoft.com/office/powerpoint/2010/main" val="165251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AE9FE326-85E6-4395-8F28-A8F972B7BB4E}" type="slidenum">
              <a:rPr lang="en-IN" smtClean="0"/>
              <a:t>12</a:t>
            </a:fld>
            <a:endParaRPr lang="en-IN"/>
          </a:p>
        </p:txBody>
      </p:sp>
    </p:spTree>
    <p:extLst>
      <p:ext uri="{BB962C8B-B14F-4D97-AF65-F5344CB8AC3E}">
        <p14:creationId xmlns:p14="http://schemas.microsoft.com/office/powerpoint/2010/main" val="4231858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13</a:t>
            </a:fld>
            <a:endParaRPr lang="en-IN"/>
          </a:p>
        </p:txBody>
      </p:sp>
    </p:spTree>
    <p:extLst>
      <p:ext uri="{BB962C8B-B14F-4D97-AF65-F5344CB8AC3E}">
        <p14:creationId xmlns:p14="http://schemas.microsoft.com/office/powerpoint/2010/main" val="4223779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14</a:t>
            </a:fld>
            <a:endParaRPr lang="en-IN"/>
          </a:p>
        </p:txBody>
      </p:sp>
    </p:spTree>
    <p:extLst>
      <p:ext uri="{BB962C8B-B14F-4D97-AF65-F5344CB8AC3E}">
        <p14:creationId xmlns:p14="http://schemas.microsoft.com/office/powerpoint/2010/main" val="365079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AE9FE326-85E6-4395-8F28-A8F972B7BB4E}" type="slidenum">
              <a:rPr lang="en-IN" smtClean="0"/>
              <a:t>15</a:t>
            </a:fld>
            <a:endParaRPr lang="en-IN"/>
          </a:p>
        </p:txBody>
      </p:sp>
    </p:spTree>
    <p:extLst>
      <p:ext uri="{BB962C8B-B14F-4D97-AF65-F5344CB8AC3E}">
        <p14:creationId xmlns:p14="http://schemas.microsoft.com/office/powerpoint/2010/main" val="2503399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16</a:t>
            </a:fld>
            <a:endParaRPr lang="en-IN"/>
          </a:p>
        </p:txBody>
      </p:sp>
    </p:spTree>
    <p:extLst>
      <p:ext uri="{BB962C8B-B14F-4D97-AF65-F5344CB8AC3E}">
        <p14:creationId xmlns:p14="http://schemas.microsoft.com/office/powerpoint/2010/main" val="1257148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t>
            </a:r>
          </a:p>
        </p:txBody>
      </p:sp>
      <p:sp>
        <p:nvSpPr>
          <p:cNvPr id="4" name="Slide Number Placeholder 3"/>
          <p:cNvSpPr>
            <a:spLocks noGrp="1"/>
          </p:cNvSpPr>
          <p:nvPr>
            <p:ph type="sldNum" sz="quarter" idx="5"/>
          </p:nvPr>
        </p:nvSpPr>
        <p:spPr/>
        <p:txBody>
          <a:bodyPr/>
          <a:lstStyle/>
          <a:p>
            <a:fld id="{AE9FE326-85E6-4395-8F28-A8F972B7BB4E}" type="slidenum">
              <a:rPr lang="en-IN" smtClean="0"/>
              <a:t>17</a:t>
            </a:fld>
            <a:endParaRPr lang="en-IN"/>
          </a:p>
        </p:txBody>
      </p:sp>
    </p:spTree>
    <p:extLst>
      <p:ext uri="{BB962C8B-B14F-4D97-AF65-F5344CB8AC3E}">
        <p14:creationId xmlns:p14="http://schemas.microsoft.com/office/powerpoint/2010/main" val="4124602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AE9FE326-85E6-4395-8F28-A8F972B7BB4E}" type="slidenum">
              <a:rPr lang="en-IN" smtClean="0"/>
              <a:t>18</a:t>
            </a:fld>
            <a:endParaRPr lang="en-IN"/>
          </a:p>
        </p:txBody>
      </p:sp>
    </p:spTree>
    <p:extLst>
      <p:ext uri="{BB962C8B-B14F-4D97-AF65-F5344CB8AC3E}">
        <p14:creationId xmlns:p14="http://schemas.microsoft.com/office/powerpoint/2010/main" val="1779024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AE9FE326-85E6-4395-8F28-A8F972B7BB4E}" type="slidenum">
              <a:rPr lang="en-IN" smtClean="0"/>
              <a:t>19</a:t>
            </a:fld>
            <a:endParaRPr lang="en-IN"/>
          </a:p>
        </p:txBody>
      </p:sp>
    </p:spTree>
    <p:extLst>
      <p:ext uri="{BB962C8B-B14F-4D97-AF65-F5344CB8AC3E}">
        <p14:creationId xmlns:p14="http://schemas.microsoft.com/office/powerpoint/2010/main" val="2852867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AE9FE326-85E6-4395-8F28-A8F972B7BB4E}" type="slidenum">
              <a:rPr lang="en-IN" smtClean="0"/>
              <a:t>20</a:t>
            </a:fld>
            <a:endParaRPr lang="en-IN"/>
          </a:p>
        </p:txBody>
      </p:sp>
    </p:spTree>
    <p:extLst>
      <p:ext uri="{BB962C8B-B14F-4D97-AF65-F5344CB8AC3E}">
        <p14:creationId xmlns:p14="http://schemas.microsoft.com/office/powerpoint/2010/main" val="1701879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a:t>
            </a:r>
          </a:p>
          <a:p>
            <a:r>
              <a:rPr lang="en-US" sz="1200" b="0" i="0" kern="1200" dirty="0">
                <a:solidFill>
                  <a:schemeClr val="tx1"/>
                </a:solidFill>
                <a:effectLst/>
                <a:latin typeface="+mn-lt"/>
                <a:ea typeface="+mn-ea"/>
                <a:cs typeface="+mn-cs"/>
              </a:rPr>
              <a:t>The instruction likely meant to replace the </a:t>
            </a:r>
            <a:r>
              <a:rPr lang="en-US" sz="1200" b="0" i="1" kern="1200" dirty="0">
                <a:solidFill>
                  <a:schemeClr val="tx1"/>
                </a:solidFill>
                <a:effectLst/>
                <a:latin typeface="+mn-lt"/>
                <a:ea typeface="+mn-ea"/>
                <a:cs typeface="+mn-cs"/>
              </a:rPr>
              <a:t>total</a:t>
            </a:r>
            <a:r>
              <a:rPr lang="en-US" sz="1200" b="0" i="0" kern="1200" dirty="0">
                <a:solidFill>
                  <a:schemeClr val="tx1"/>
                </a:solidFill>
                <a:effectLst/>
                <a:latin typeface="+mn-lt"/>
                <a:ea typeface="+mn-ea"/>
                <a:cs typeface="+mn-cs"/>
              </a:rPr>
              <a:t> quantity removed (30L) with water to return to 120L capacity, or replenish the </a:t>
            </a:r>
            <a:r>
              <a:rPr lang="en-US" sz="1200" b="0" i="1" kern="1200" dirty="0">
                <a:solidFill>
                  <a:schemeClr val="tx1"/>
                </a:solidFill>
                <a:effectLst/>
                <a:latin typeface="+mn-lt"/>
                <a:ea typeface="+mn-ea"/>
                <a:cs typeface="+mn-cs"/>
              </a:rPr>
              <a:t>volume sold</a:t>
            </a:r>
            <a:r>
              <a:rPr lang="en-US" sz="1200" b="0" i="0" kern="1200" dirty="0">
                <a:solidFill>
                  <a:schemeClr val="tx1"/>
                </a:solidFill>
                <a:effectLst/>
                <a:latin typeface="+mn-lt"/>
                <a:ea typeface="+mn-ea"/>
                <a:cs typeface="+mn-cs"/>
              </a:rPr>
              <a:t> (30L) with water. Let's assume it means returning the total volume to 120L.</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21</a:t>
            </a:fld>
            <a:endParaRPr lang="en-IN"/>
          </a:p>
        </p:txBody>
      </p:sp>
    </p:spTree>
    <p:extLst>
      <p:ext uri="{BB962C8B-B14F-4D97-AF65-F5344CB8AC3E}">
        <p14:creationId xmlns:p14="http://schemas.microsoft.com/office/powerpoint/2010/main" val="3394239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AE9FE326-85E6-4395-8F28-A8F972B7BB4E}" type="slidenum">
              <a:rPr lang="en-IN" smtClean="0"/>
              <a:t>22</a:t>
            </a:fld>
            <a:endParaRPr lang="en-IN"/>
          </a:p>
        </p:txBody>
      </p:sp>
    </p:spTree>
    <p:extLst>
      <p:ext uri="{BB962C8B-B14F-4D97-AF65-F5344CB8AC3E}">
        <p14:creationId xmlns:p14="http://schemas.microsoft.com/office/powerpoint/2010/main" val="1383402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23</a:t>
            </a:fld>
            <a:endParaRPr lang="en-IN"/>
          </a:p>
        </p:txBody>
      </p:sp>
    </p:spTree>
    <p:extLst>
      <p:ext uri="{BB962C8B-B14F-4D97-AF65-F5344CB8AC3E}">
        <p14:creationId xmlns:p14="http://schemas.microsoft.com/office/powerpoint/2010/main" val="42086177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24</a:t>
            </a:fld>
            <a:endParaRPr lang="en-IN"/>
          </a:p>
        </p:txBody>
      </p:sp>
    </p:spTree>
    <p:extLst>
      <p:ext uri="{BB962C8B-B14F-4D97-AF65-F5344CB8AC3E}">
        <p14:creationId xmlns:p14="http://schemas.microsoft.com/office/powerpoint/2010/main" val="270270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A0FF-D2A4-5036-A07C-B2F10A118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BCEFE-3E79-F551-700B-3E86EC0CD9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ED854A-964D-8F18-8B71-43E580DA1B90}"/>
              </a:ext>
            </a:extLst>
          </p:cNvPr>
          <p:cNvSpPr>
            <a:spLocks noGrp="1"/>
          </p:cNvSpPr>
          <p:nvPr>
            <p:ph type="body" idx="1"/>
          </p:nvPr>
        </p:nvSpPr>
        <p:spPr/>
        <p:txBody>
          <a:bodyPr/>
          <a:lstStyle/>
          <a:p>
            <a:r>
              <a:rPr lang="en-US" dirty="0"/>
              <a:t>D</a:t>
            </a:r>
            <a:endParaRPr lang="en-IN" dirty="0"/>
          </a:p>
        </p:txBody>
      </p:sp>
      <p:sp>
        <p:nvSpPr>
          <p:cNvPr id="4" name="Slide Number Placeholder 3">
            <a:extLst>
              <a:ext uri="{FF2B5EF4-FFF2-40B4-BE49-F238E27FC236}">
                <a16:creationId xmlns:a16="http://schemas.microsoft.com/office/drawing/2014/main" id="{8B1D22FF-7EBB-B63A-8586-882823D24CCF}"/>
              </a:ext>
            </a:extLst>
          </p:cNvPr>
          <p:cNvSpPr>
            <a:spLocks noGrp="1"/>
          </p:cNvSpPr>
          <p:nvPr>
            <p:ph type="sldNum" sz="quarter" idx="5"/>
          </p:nvPr>
        </p:nvSpPr>
        <p:spPr/>
        <p:txBody>
          <a:bodyPr/>
          <a:lstStyle/>
          <a:p>
            <a:fld id="{AE9FE326-85E6-4395-8F28-A8F972B7BB4E}" type="slidenum">
              <a:rPr lang="en-IN" smtClean="0"/>
              <a:t>25</a:t>
            </a:fld>
            <a:endParaRPr lang="en-IN"/>
          </a:p>
        </p:txBody>
      </p:sp>
    </p:spTree>
    <p:extLst>
      <p:ext uri="{BB962C8B-B14F-4D97-AF65-F5344CB8AC3E}">
        <p14:creationId xmlns:p14="http://schemas.microsoft.com/office/powerpoint/2010/main" val="2313538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26</a:t>
            </a:fld>
            <a:endParaRPr lang="en-IN"/>
          </a:p>
        </p:txBody>
      </p:sp>
    </p:spTree>
    <p:extLst>
      <p:ext uri="{BB962C8B-B14F-4D97-AF65-F5344CB8AC3E}">
        <p14:creationId xmlns:p14="http://schemas.microsoft.com/office/powerpoint/2010/main" val="1627942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dirty="0"/>
                  <a:t>A</a:t>
                </a:r>
              </a:p>
              <a:p>
                <a:pPr rtl="0" fontAlgn="auto"/>
                <a14:m>
                  <m:oMathPara xmlns:m="http://schemas.openxmlformats.org/officeDocument/2006/math">
                    <m:oMathParaPr>
                      <m:jc m:val="centerGroup"/>
                    </m:oMathParaPr>
                    <m:oMath xmlns:m="http://schemas.openxmlformats.org/officeDocument/2006/math">
                      <m:r>
                        <m:rPr>
                          <m:nor/>
                        </m:rPr>
                        <a:rPr lang="en-IN" b="0" smtClean="0"/>
                        <m:t>Final</m:t>
                      </m:r>
                      <m:r>
                        <m:rPr>
                          <m:nor/>
                        </m:rPr>
                        <a:rPr lang="en-IN" b="0" i="1" smtClean="0"/>
                        <m:t> </m:t>
                      </m:r>
                      <m:r>
                        <m:rPr>
                          <m:nor/>
                        </m:rPr>
                        <a:rPr lang="en-IN" b="0" i="1" smtClean="0"/>
                        <m:t>Concentration</m:t>
                      </m:r>
                      <m:r>
                        <a:rPr lang="en-IN" sz="1200" b="0" i="0" kern="1200">
                          <a:solidFill>
                            <a:schemeClr val="tx1"/>
                          </a:solidFill>
                          <a:latin typeface="+mn-lt"/>
                          <a:ea typeface="+mn-ea"/>
                          <a:cs typeface="+mn-cs"/>
                        </a:rPr>
                        <m:t>=</m:t>
                      </m:r>
                      <m:r>
                        <a:rPr lang="en-IN" sz="1200" b="0" i="0" kern="1200">
                          <a:solidFill>
                            <a:schemeClr val="tx1"/>
                          </a:solidFill>
                          <a:latin typeface="+mn-lt"/>
                          <a:ea typeface="+mn-ea"/>
                          <a:cs typeface="+mn-cs"/>
                        </a:rPr>
                        <m:t>40</m:t>
                      </m:r>
                      <m:r>
                        <a:rPr lang="en-IN" sz="1200" b="0" i="0" kern="1200">
                          <a:solidFill>
                            <a:schemeClr val="tx1"/>
                          </a:solidFill>
                          <a:latin typeface="+mn-lt"/>
                          <a:ea typeface="+mn-ea"/>
                          <a:cs typeface="+mn-cs"/>
                        </a:rPr>
                        <m:t>%×</m:t>
                      </m:r>
                      <m:sSup>
                        <m:sSupPr>
                          <m:ctrlPr>
                            <a:rPr lang="ar-AE" sz="1200" b="0" i="1" kern="1200">
                              <a:solidFill>
                                <a:schemeClr val="tx1"/>
                              </a:solidFill>
                              <a:latin typeface="+mn-lt"/>
                              <a:ea typeface="+mn-ea"/>
                              <a:cs typeface="+mn-cs"/>
                            </a:rPr>
                          </m:ctrlPr>
                        </m:sSupPr>
                        <m:e>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1</m:t>
                              </m:r>
                              <m:r>
                                <a:rPr lang="ar-AE"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20</m:t>
                                  </m:r>
                                </m:num>
                                <m:den>
                                  <m:r>
                                    <a:rPr lang="ar-AE" sz="1200" b="0" i="0" kern="1200">
                                      <a:solidFill>
                                        <a:schemeClr val="tx1"/>
                                      </a:solidFill>
                                      <a:latin typeface="+mn-lt"/>
                                      <a:ea typeface="+mn-ea"/>
                                      <a:cs typeface="+mn-cs"/>
                                    </a:rPr>
                                    <m:t>100</m:t>
                                  </m:r>
                                </m:den>
                              </m:f>
                            </m:e>
                          </m:d>
                        </m:e>
                        <m:sup>
                          <m:r>
                            <a:rPr lang="ar-AE" sz="1200" b="0" i="0" kern="1200">
                              <a:solidFill>
                                <a:schemeClr val="tx1"/>
                              </a:solidFill>
                              <a:latin typeface="+mn-lt"/>
                              <a:ea typeface="+mn-ea"/>
                              <a:cs typeface="+mn-cs"/>
                            </a:rPr>
                            <m:t>2</m:t>
                          </m:r>
                        </m:sup>
                      </m:sSup>
                    </m:oMath>
                  </m:oMathPara>
                </a14:m>
                <a:endParaRPr lang="ar-AE" dirty="0">
                  <a:effectLst/>
                </a:endParaRPr>
              </a:p>
              <a:p>
                <a:pPr rtl="0" fontAlgn="auto"/>
                <a:r>
                  <a:rPr lang="en-IN" dirty="0">
                    <a:effectLst/>
                  </a:rPr>
                  <a:t>Final Concentration=40%×1−201002</a:t>
                </a:r>
              </a:p>
              <a:p>
                <a:pPr rtl="0" fontAlgn="auto"/>
                <a14:m>
                  <m:oMathPara xmlns:m="http://schemas.openxmlformats.org/officeDocument/2006/math">
                    <m:oMathParaPr>
                      <m:jc m:val="centerGroup"/>
                    </m:oMathParaPr>
                    <m:oMath xmlns:m="http://schemas.openxmlformats.org/officeDocument/2006/math">
                      <m:r>
                        <m:rPr>
                          <m:nor/>
                        </m:rPr>
                        <a:rPr lang="en-IN" b="0"/>
                        <m:t>Final</m:t>
                      </m:r>
                      <m:r>
                        <m:rPr>
                          <m:nor/>
                        </m:rPr>
                        <a:rPr lang="en-IN" b="0" i="1"/>
                        <m:t> </m:t>
                      </m:r>
                      <m:r>
                        <m:rPr>
                          <m:nor/>
                        </m:rPr>
                        <a:rPr lang="en-IN" b="0" i="1"/>
                        <m:t>Concentration</m:t>
                      </m:r>
                      <m:r>
                        <a:rPr lang="en-IN" sz="1200" b="0" i="0" kern="1200">
                          <a:solidFill>
                            <a:schemeClr val="tx1"/>
                          </a:solidFill>
                          <a:latin typeface="+mn-lt"/>
                          <a:ea typeface="+mn-ea"/>
                          <a:cs typeface="+mn-cs"/>
                        </a:rPr>
                        <m:t>=</m:t>
                      </m:r>
                      <m:r>
                        <a:rPr lang="en-IN" sz="1200" b="0" i="0" kern="1200">
                          <a:solidFill>
                            <a:schemeClr val="tx1"/>
                          </a:solidFill>
                          <a:latin typeface="+mn-lt"/>
                          <a:ea typeface="+mn-ea"/>
                          <a:cs typeface="+mn-cs"/>
                        </a:rPr>
                        <m:t>40</m:t>
                      </m:r>
                      <m:r>
                        <a:rPr lang="en-IN" sz="1200" b="0" i="0" kern="1200">
                          <a:solidFill>
                            <a:schemeClr val="tx1"/>
                          </a:solidFill>
                          <a:latin typeface="+mn-lt"/>
                          <a:ea typeface="+mn-ea"/>
                          <a:cs typeface="+mn-cs"/>
                        </a:rPr>
                        <m:t>%×</m:t>
                      </m:r>
                      <m:sSup>
                        <m:sSupPr>
                          <m:ctrlPr>
                            <a:rPr lang="ar-AE" sz="1200" b="0" i="1" kern="1200">
                              <a:solidFill>
                                <a:schemeClr val="tx1"/>
                              </a:solidFill>
                              <a:latin typeface="+mn-lt"/>
                              <a:ea typeface="+mn-ea"/>
                              <a:cs typeface="+mn-cs"/>
                            </a:rPr>
                          </m:ctrlPr>
                        </m:sSupPr>
                        <m:e>
                          <m:d>
                            <m:dPr>
                              <m:ctrlPr>
                                <a:rPr lang="ar-AE" sz="1200" b="0" i="1" kern="1200">
                                  <a:solidFill>
                                    <a:schemeClr val="tx1"/>
                                  </a:solidFill>
                                  <a:latin typeface="+mn-lt"/>
                                  <a:ea typeface="+mn-ea"/>
                                  <a:cs typeface="+mn-cs"/>
                                </a:rPr>
                              </m:ctrlPr>
                            </m:dPr>
                            <m:e>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4</m:t>
                                  </m:r>
                                </m:num>
                                <m:den>
                                  <m:r>
                                    <a:rPr lang="ar-AE" sz="1200" b="0" i="0" kern="1200">
                                      <a:solidFill>
                                        <a:schemeClr val="tx1"/>
                                      </a:solidFill>
                                      <a:latin typeface="+mn-lt"/>
                                      <a:ea typeface="+mn-ea"/>
                                      <a:cs typeface="+mn-cs"/>
                                    </a:rPr>
                                    <m:t>5</m:t>
                                  </m:r>
                                </m:den>
                              </m:f>
                            </m:e>
                          </m:d>
                        </m:e>
                        <m:sup>
                          <m:r>
                            <a:rPr lang="ar-AE" sz="1200" b="0" i="0" kern="1200">
                              <a:solidFill>
                                <a:schemeClr val="tx1"/>
                              </a:solidFill>
                              <a:latin typeface="+mn-lt"/>
                              <a:ea typeface="+mn-ea"/>
                              <a:cs typeface="+mn-cs"/>
                            </a:rPr>
                            <m:t>2</m:t>
                          </m:r>
                        </m:sup>
                      </m:sSup>
                    </m:oMath>
                  </m:oMathPara>
                </a14:m>
                <a:endParaRPr lang="ar-AE" dirty="0">
                  <a:effectLst/>
                </a:endParaRPr>
              </a:p>
              <a:p>
                <a:pPr rtl="0" fontAlgn="auto"/>
                <a:r>
                  <a:rPr lang="en-IN" dirty="0">
                    <a:effectLst/>
                  </a:rPr>
                  <a:t>Final Concentration=40%×452</a:t>
                </a:r>
              </a:p>
              <a:p>
                <a:pPr rtl="0" fontAlgn="auto"/>
                <a14:m>
                  <m:oMathPara xmlns:m="http://schemas.openxmlformats.org/officeDocument/2006/math">
                    <m:oMathParaPr>
                      <m:jc m:val="centerGroup"/>
                    </m:oMathParaPr>
                    <m:oMath xmlns:m="http://schemas.openxmlformats.org/officeDocument/2006/math">
                      <m:r>
                        <m:rPr>
                          <m:nor/>
                        </m:rPr>
                        <a:rPr lang="en-IN" b="0"/>
                        <m:t>Final</m:t>
                      </m:r>
                      <m:r>
                        <m:rPr>
                          <m:nor/>
                        </m:rPr>
                        <a:rPr lang="en-IN" b="0" i="1"/>
                        <m:t> </m:t>
                      </m:r>
                      <m:r>
                        <m:rPr>
                          <m:nor/>
                        </m:rPr>
                        <a:rPr lang="en-IN" b="0" i="1"/>
                        <m:t>Concentration</m:t>
                      </m:r>
                      <m:r>
                        <a:rPr lang="en-IN" sz="1200" b="0" i="0" kern="1200">
                          <a:solidFill>
                            <a:schemeClr val="tx1"/>
                          </a:solidFill>
                          <a:latin typeface="+mn-lt"/>
                          <a:ea typeface="+mn-ea"/>
                          <a:cs typeface="+mn-cs"/>
                        </a:rPr>
                        <m:t>=</m:t>
                      </m:r>
                      <m:r>
                        <a:rPr lang="en-IN" sz="1200" b="0" i="0" kern="1200">
                          <a:solidFill>
                            <a:schemeClr val="tx1"/>
                          </a:solidFill>
                          <a:latin typeface="+mn-lt"/>
                          <a:ea typeface="+mn-ea"/>
                          <a:cs typeface="+mn-cs"/>
                        </a:rPr>
                        <m:t>40</m:t>
                      </m:r>
                      <m:r>
                        <a:rPr lang="en-IN"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16</m:t>
                          </m:r>
                        </m:num>
                        <m:den>
                          <m:r>
                            <a:rPr lang="ar-AE" sz="1200" b="0" i="0" kern="1200">
                              <a:solidFill>
                                <a:schemeClr val="tx1"/>
                              </a:solidFill>
                              <a:latin typeface="+mn-lt"/>
                              <a:ea typeface="+mn-ea"/>
                              <a:cs typeface="+mn-cs"/>
                            </a:rPr>
                            <m:t>25</m:t>
                          </m:r>
                        </m:den>
                      </m:f>
                      <m:r>
                        <a:rPr lang="ar-AE"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640</m:t>
                          </m:r>
                        </m:num>
                        <m:den>
                          <m:r>
                            <a:rPr lang="ar-AE" sz="1200" b="0" i="0" kern="1200">
                              <a:solidFill>
                                <a:schemeClr val="tx1"/>
                              </a:solidFill>
                              <a:latin typeface="+mn-lt"/>
                              <a:ea typeface="+mn-ea"/>
                              <a:cs typeface="+mn-cs"/>
                            </a:rPr>
                            <m:t>25</m:t>
                          </m:r>
                        </m:den>
                      </m:f>
                      <m:r>
                        <a:rPr lang="ar-AE" sz="1200" b="0" i="0" kern="1200">
                          <a:solidFill>
                            <a:schemeClr val="tx1"/>
                          </a:solidFill>
                          <a:latin typeface="+mn-lt"/>
                          <a:ea typeface="+mn-ea"/>
                          <a:cs typeface="+mn-cs"/>
                        </a:rPr>
                        <m:t>%=</m:t>
                      </m:r>
                      <m:r>
                        <a:rPr lang="ar-AE" sz="1200" b="0" i="0" kern="1200">
                          <a:solidFill>
                            <a:schemeClr val="tx1"/>
                          </a:solidFill>
                          <a:latin typeface="+mn-lt"/>
                          <a:ea typeface="+mn-ea"/>
                          <a:cs typeface="+mn-cs"/>
                        </a:rPr>
                        <m:t>25</m:t>
                      </m:r>
                      <m:r>
                        <a:rPr lang="ar-AE" sz="1200" b="0" i="0" kern="1200">
                          <a:solidFill>
                            <a:schemeClr val="tx1"/>
                          </a:solidFill>
                          <a:latin typeface="+mn-lt"/>
                          <a:ea typeface="+mn-ea"/>
                          <a:cs typeface="+mn-cs"/>
                        </a:rPr>
                        <m:t>.</m:t>
                      </m:r>
                      <m:r>
                        <a:rPr lang="ar-AE" sz="1200" b="0" i="0" kern="1200">
                          <a:solidFill>
                            <a:schemeClr val="tx1"/>
                          </a:solidFill>
                          <a:latin typeface="+mn-lt"/>
                          <a:ea typeface="+mn-ea"/>
                          <a:cs typeface="+mn-cs"/>
                        </a:rPr>
                        <m:t>6</m:t>
                      </m:r>
                      <m:r>
                        <a:rPr lang="ar-AE" sz="1200" b="0" i="0" kern="1200">
                          <a:solidFill>
                            <a:schemeClr val="tx1"/>
                          </a:solidFill>
                          <a:latin typeface="+mn-lt"/>
                          <a:ea typeface="+mn-ea"/>
                          <a:cs typeface="+mn-cs"/>
                        </a:rPr>
                        <m:t>%</m:t>
                      </m:r>
                    </m:oMath>
                  </m:oMathPara>
                </a14:m>
                <a:endParaRPr lang="ar-AE" dirty="0">
                  <a:effectLst/>
                </a:endParaRPr>
              </a:p>
              <a:p>
                <a:pPr rtl="0" fontAlgn="auto"/>
                <a:r>
                  <a:rPr lang="en-IN" dirty="0">
                    <a:effectLst/>
                  </a:rPr>
                  <a:t>Final Concentration=40%×1625=64025%=25.6%</a:t>
                </a:r>
              </a:p>
              <a:p>
                <a:endParaRPr lang="en-IN" dirty="0"/>
              </a:p>
            </p:txBody>
          </p:sp>
        </mc:Choice>
        <mc:Fallback>
          <p:sp>
            <p:nvSpPr>
              <p:cNvPr id="3" name="Notes Placeholder 2"/>
              <p:cNvSpPr>
                <a:spLocks noGrp="1"/>
              </p:cNvSpPr>
              <p:nvPr>
                <p:ph type="body" idx="1"/>
              </p:nvPr>
            </p:nvSpPr>
            <p:spPr/>
            <p:txBody>
              <a:bodyPr/>
              <a:lstStyle/>
              <a:p>
                <a:r>
                  <a:rPr lang="en-IN" dirty="0"/>
                  <a:t>A</a:t>
                </a:r>
              </a:p>
              <a:p>
                <a:pPr rtl="0" fontAlgn="auto"/>
                <a:r>
                  <a:rPr lang="en-IN" b="0" i="0">
                    <a:latin typeface="Cambria Math" panose="02040503050406030204" pitchFamily="18" charset="0"/>
                  </a:rPr>
                  <a:t>"Final Concentration</a:t>
                </a:r>
                <a:r>
                  <a:rPr lang="en-IN" sz="1200" b="0" i="0" kern="1200">
                    <a:solidFill>
                      <a:schemeClr val="tx1"/>
                    </a:solidFill>
                    <a:latin typeface="+mn-lt"/>
                    <a:ea typeface="+mn-ea"/>
                    <a:cs typeface="+mn-cs"/>
                  </a:rPr>
                  <a:t>"=40%×</a:t>
                </a:r>
                <a:r>
                  <a:rPr lang="ar-AE" sz="1200" b="0" i="0" kern="1200">
                    <a:solidFill>
                      <a:schemeClr val="tx1"/>
                    </a:solidFill>
                    <a:latin typeface="+mn-lt"/>
                    <a:ea typeface="+mn-ea"/>
                    <a:cs typeface="+mn-cs"/>
                  </a:rPr>
                  <a:t>(1−20/100)^2</a:t>
                </a:r>
                <a:endParaRPr lang="ar-AE" dirty="0">
                  <a:effectLst/>
                </a:endParaRPr>
              </a:p>
              <a:p>
                <a:pPr rtl="0" fontAlgn="auto"/>
                <a:r>
                  <a:rPr lang="en-IN" dirty="0">
                    <a:effectLst/>
                  </a:rPr>
                  <a:t>Final Concentration=40%×1−201002</a:t>
                </a:r>
              </a:p>
              <a:p>
                <a:pPr rtl="0" fontAlgn="auto"/>
                <a:r>
                  <a:rPr lang="en-IN" b="0" i="0">
                    <a:latin typeface="Cambria Math" panose="02040503050406030204" pitchFamily="18" charset="0"/>
                  </a:rPr>
                  <a:t>"Final Concentration</a:t>
                </a:r>
                <a:r>
                  <a:rPr lang="en-IN" sz="1200" b="0" i="0" kern="1200">
                    <a:solidFill>
                      <a:schemeClr val="tx1"/>
                    </a:solidFill>
                    <a:latin typeface="+mn-lt"/>
                    <a:ea typeface="+mn-ea"/>
                    <a:cs typeface="+mn-cs"/>
                  </a:rPr>
                  <a:t>"=40%×</a:t>
                </a:r>
                <a:r>
                  <a:rPr lang="ar-AE" sz="1200" b="0" i="0" kern="1200">
                    <a:solidFill>
                      <a:schemeClr val="tx1"/>
                    </a:solidFill>
                    <a:latin typeface="+mn-lt"/>
                    <a:ea typeface="+mn-ea"/>
                    <a:cs typeface="+mn-cs"/>
                  </a:rPr>
                  <a:t>(4/5)^2</a:t>
                </a:r>
                <a:endParaRPr lang="ar-AE" dirty="0">
                  <a:effectLst/>
                </a:endParaRPr>
              </a:p>
              <a:p>
                <a:pPr rtl="0" fontAlgn="auto"/>
                <a:r>
                  <a:rPr lang="en-IN" dirty="0">
                    <a:effectLst/>
                  </a:rPr>
                  <a:t>Final Concentration=40%×452</a:t>
                </a:r>
              </a:p>
              <a:p>
                <a:pPr rtl="0" fontAlgn="auto"/>
                <a:r>
                  <a:rPr lang="en-IN" b="0" i="0">
                    <a:latin typeface="Cambria Math" panose="02040503050406030204" pitchFamily="18" charset="0"/>
                  </a:rPr>
                  <a:t>"Final Concentration</a:t>
                </a:r>
                <a:r>
                  <a:rPr lang="en-IN" sz="1200" b="0" i="0" kern="1200">
                    <a:solidFill>
                      <a:schemeClr val="tx1"/>
                    </a:solidFill>
                    <a:latin typeface="+mn-lt"/>
                    <a:ea typeface="+mn-ea"/>
                    <a:cs typeface="+mn-cs"/>
                  </a:rPr>
                  <a:t>"=40%×</a:t>
                </a:r>
                <a:r>
                  <a:rPr lang="ar-AE" sz="1200" b="0" i="0" kern="1200">
                    <a:solidFill>
                      <a:schemeClr val="tx1"/>
                    </a:solidFill>
                    <a:latin typeface="+mn-lt"/>
                    <a:ea typeface="+mn-ea"/>
                    <a:cs typeface="+mn-cs"/>
                  </a:rPr>
                  <a:t>16/25=640/25%=25.6%</a:t>
                </a:r>
                <a:endParaRPr lang="ar-AE" dirty="0">
                  <a:effectLst/>
                </a:endParaRPr>
              </a:p>
              <a:p>
                <a:pPr rtl="0" fontAlgn="auto"/>
                <a:r>
                  <a:rPr lang="en-IN" dirty="0">
                    <a:effectLst/>
                  </a:rPr>
                  <a:t>Final Concentration=40%×1625=64025%=25.6%</a:t>
                </a:r>
              </a:p>
              <a:p>
                <a:endParaRPr lang="en-IN" dirty="0"/>
              </a:p>
            </p:txBody>
          </p:sp>
        </mc:Fallback>
      </mc:AlternateContent>
      <p:sp>
        <p:nvSpPr>
          <p:cNvPr id="4" name="Slide Number Placeholder 3"/>
          <p:cNvSpPr>
            <a:spLocks noGrp="1"/>
          </p:cNvSpPr>
          <p:nvPr>
            <p:ph type="sldNum" sz="quarter" idx="5"/>
          </p:nvPr>
        </p:nvSpPr>
        <p:spPr/>
        <p:txBody>
          <a:bodyPr/>
          <a:lstStyle/>
          <a:p>
            <a:fld id="{AE9FE326-85E6-4395-8F28-A8F972B7BB4E}" type="slidenum">
              <a:rPr lang="en-IN" smtClean="0"/>
              <a:t>27</a:t>
            </a:fld>
            <a:endParaRPr lang="en-IN"/>
          </a:p>
        </p:txBody>
      </p:sp>
    </p:spTree>
    <p:extLst>
      <p:ext uri="{BB962C8B-B14F-4D97-AF65-F5344CB8AC3E}">
        <p14:creationId xmlns:p14="http://schemas.microsoft.com/office/powerpoint/2010/main" val="2388698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IN" dirty="0"/>
                  <a:t>C</a:t>
                </a:r>
              </a:p>
              <a:p>
                <a:pPr rtl="0" fontAlgn="auto"/>
                <a14:m>
                  <m:oMathPara xmlns:m="http://schemas.openxmlformats.org/officeDocument/2006/math">
                    <m:oMathParaPr>
                      <m:jc m:val="centerGroup"/>
                    </m:oMathParaPr>
                    <m:oMath xmlns:m="http://schemas.openxmlformats.org/officeDocument/2006/math">
                      <m:r>
                        <m:rPr>
                          <m:nor/>
                        </m:rPr>
                        <a:rPr lang="en-IN" b="0" smtClean="0"/>
                        <m:t>Final</m:t>
                      </m:r>
                      <m:r>
                        <m:rPr>
                          <m:nor/>
                        </m:rPr>
                        <a:rPr lang="en-IN" b="0" i="1" smtClean="0"/>
                        <m:t> </m:t>
                      </m:r>
                      <m:r>
                        <m:rPr>
                          <m:nor/>
                        </m:rPr>
                        <a:rPr lang="en-IN" b="0" i="1" smtClean="0"/>
                        <m:t>Quantity</m:t>
                      </m:r>
                      <m:r>
                        <m:rPr>
                          <m:nor/>
                        </m:rPr>
                        <a:rPr lang="en-IN" b="0" i="1" smtClean="0"/>
                        <m:t> </m:t>
                      </m:r>
                      <m:r>
                        <m:rPr>
                          <m:nor/>
                        </m:rPr>
                        <a:rPr lang="en-IN" b="0" i="1" smtClean="0"/>
                        <m:t>of</m:t>
                      </m:r>
                      <m:r>
                        <m:rPr>
                          <m:nor/>
                        </m:rPr>
                        <a:rPr lang="en-IN" b="0" i="1" smtClean="0"/>
                        <m:t> </m:t>
                      </m:r>
                      <m:r>
                        <m:rPr>
                          <m:nor/>
                        </m:rPr>
                        <a:rPr lang="en-IN" b="0" i="1" smtClean="0"/>
                        <m:t>Alcohol</m:t>
                      </m:r>
                      <m:r>
                        <a:rPr lang="en-IN" sz="1200" b="0" i="0" kern="1200">
                          <a:solidFill>
                            <a:schemeClr val="tx1"/>
                          </a:solidFill>
                          <a:latin typeface="+mn-lt"/>
                          <a:ea typeface="+mn-ea"/>
                          <a:cs typeface="+mn-cs"/>
                        </a:rPr>
                        <m:t>=</m:t>
                      </m:r>
                      <m:r>
                        <a:rPr lang="en-IN" sz="1200" b="0" i="0" kern="1200">
                          <a:solidFill>
                            <a:schemeClr val="tx1"/>
                          </a:solidFill>
                          <a:latin typeface="+mn-lt"/>
                          <a:ea typeface="+mn-ea"/>
                          <a:cs typeface="+mn-cs"/>
                        </a:rPr>
                        <m:t>50</m:t>
                      </m:r>
                      <m:r>
                        <a:rPr lang="en-IN" sz="1200" b="0" i="0" kern="1200">
                          <a:solidFill>
                            <a:schemeClr val="tx1"/>
                          </a:solidFill>
                          <a:latin typeface="+mn-lt"/>
                          <a:ea typeface="+mn-ea"/>
                          <a:cs typeface="+mn-cs"/>
                        </a:rPr>
                        <m:t>×</m:t>
                      </m:r>
                      <m:sSup>
                        <m:sSupPr>
                          <m:ctrlPr>
                            <a:rPr lang="ar-AE" sz="1200" b="0" i="1" kern="1200">
                              <a:solidFill>
                                <a:schemeClr val="tx1"/>
                              </a:solidFill>
                              <a:latin typeface="+mn-lt"/>
                              <a:ea typeface="+mn-ea"/>
                              <a:cs typeface="+mn-cs"/>
                            </a:rPr>
                          </m:ctrlPr>
                        </m:sSupPr>
                        <m:e>
                          <m:d>
                            <m:dPr>
                              <m:ctrlPr>
                                <a:rPr lang="ar-AE" sz="1200" b="0" i="1" kern="1200">
                                  <a:solidFill>
                                    <a:schemeClr val="tx1"/>
                                  </a:solidFill>
                                  <a:latin typeface="+mn-lt"/>
                                  <a:ea typeface="+mn-ea"/>
                                  <a:cs typeface="+mn-cs"/>
                                </a:rPr>
                              </m:ctrlPr>
                            </m:dPr>
                            <m:e>
                              <m:r>
                                <a:rPr lang="ar-AE" sz="1200" b="0" i="0" kern="1200">
                                  <a:solidFill>
                                    <a:schemeClr val="tx1"/>
                                  </a:solidFill>
                                  <a:latin typeface="+mn-lt"/>
                                  <a:ea typeface="+mn-ea"/>
                                  <a:cs typeface="+mn-cs"/>
                                </a:rPr>
                                <m:t>1</m:t>
                              </m:r>
                              <m:r>
                                <a:rPr lang="ar-AE"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10</m:t>
                                  </m:r>
                                </m:num>
                                <m:den>
                                  <m:r>
                                    <a:rPr lang="ar-AE" sz="1200" b="0" i="0" kern="1200">
                                      <a:solidFill>
                                        <a:schemeClr val="tx1"/>
                                      </a:solidFill>
                                      <a:latin typeface="+mn-lt"/>
                                      <a:ea typeface="+mn-ea"/>
                                      <a:cs typeface="+mn-cs"/>
                                    </a:rPr>
                                    <m:t>90</m:t>
                                  </m:r>
                                </m:den>
                              </m:f>
                            </m:e>
                          </m:d>
                        </m:e>
                        <m:sup>
                          <m:r>
                            <a:rPr lang="ar-AE" sz="1200" b="0" i="0" kern="1200">
                              <a:solidFill>
                                <a:schemeClr val="tx1"/>
                              </a:solidFill>
                              <a:latin typeface="+mn-lt"/>
                              <a:ea typeface="+mn-ea"/>
                              <a:cs typeface="+mn-cs"/>
                            </a:rPr>
                            <m:t>2</m:t>
                          </m:r>
                        </m:sup>
                      </m:sSup>
                    </m:oMath>
                  </m:oMathPara>
                </a14:m>
                <a:endParaRPr lang="ar-AE" dirty="0">
                  <a:effectLst/>
                </a:endParaRPr>
              </a:p>
              <a:p>
                <a:pPr rtl="0" fontAlgn="auto"/>
                <a:r>
                  <a:rPr lang="en-IN" dirty="0">
                    <a:effectLst/>
                  </a:rPr>
                  <a:t>Final Quantity of Alcohol=50×1−10902</a:t>
                </a:r>
              </a:p>
              <a:p>
                <a:pPr rtl="0" fontAlgn="auto"/>
                <a14:m>
                  <m:oMathPara xmlns:m="http://schemas.openxmlformats.org/officeDocument/2006/math">
                    <m:oMathParaPr>
                      <m:jc m:val="centerGroup"/>
                    </m:oMathParaPr>
                    <m:oMath xmlns:m="http://schemas.openxmlformats.org/officeDocument/2006/math">
                      <m:r>
                        <m:rPr>
                          <m:nor/>
                        </m:rPr>
                        <a:rPr lang="en-IN" b="0"/>
                        <m:t>Final</m:t>
                      </m:r>
                      <m:r>
                        <m:rPr>
                          <m:nor/>
                        </m:rPr>
                        <a:rPr lang="en-IN" b="0" i="1"/>
                        <m:t> </m:t>
                      </m:r>
                      <m:r>
                        <m:rPr>
                          <m:nor/>
                        </m:rPr>
                        <a:rPr lang="en-IN" b="0" i="1"/>
                        <m:t>Quantity</m:t>
                      </m:r>
                      <m:r>
                        <m:rPr>
                          <m:nor/>
                        </m:rPr>
                        <a:rPr lang="en-IN" b="0" i="1"/>
                        <m:t> </m:t>
                      </m:r>
                      <m:r>
                        <m:rPr>
                          <m:nor/>
                        </m:rPr>
                        <a:rPr lang="en-IN" b="0" i="1"/>
                        <m:t>of</m:t>
                      </m:r>
                      <m:r>
                        <m:rPr>
                          <m:nor/>
                        </m:rPr>
                        <a:rPr lang="en-IN" b="0" i="1"/>
                        <m:t> </m:t>
                      </m:r>
                      <m:r>
                        <m:rPr>
                          <m:nor/>
                        </m:rPr>
                        <a:rPr lang="en-IN" b="0" i="1"/>
                        <m:t>Alcohol</m:t>
                      </m:r>
                      <m:r>
                        <a:rPr lang="en-IN" sz="1200" b="0" i="0" kern="1200">
                          <a:solidFill>
                            <a:schemeClr val="tx1"/>
                          </a:solidFill>
                          <a:latin typeface="+mn-lt"/>
                          <a:ea typeface="+mn-ea"/>
                          <a:cs typeface="+mn-cs"/>
                        </a:rPr>
                        <m:t>=</m:t>
                      </m:r>
                      <m:r>
                        <a:rPr lang="en-IN" sz="1200" b="0" i="0" kern="1200">
                          <a:solidFill>
                            <a:schemeClr val="tx1"/>
                          </a:solidFill>
                          <a:latin typeface="+mn-lt"/>
                          <a:ea typeface="+mn-ea"/>
                          <a:cs typeface="+mn-cs"/>
                        </a:rPr>
                        <m:t>50</m:t>
                      </m:r>
                      <m:r>
                        <a:rPr lang="en-IN" sz="1200" b="0" i="0" kern="1200">
                          <a:solidFill>
                            <a:schemeClr val="tx1"/>
                          </a:solidFill>
                          <a:latin typeface="+mn-lt"/>
                          <a:ea typeface="+mn-ea"/>
                          <a:cs typeface="+mn-cs"/>
                        </a:rPr>
                        <m:t>×</m:t>
                      </m:r>
                      <m:sSup>
                        <m:sSupPr>
                          <m:ctrlPr>
                            <a:rPr lang="ar-AE" sz="1200" b="0" i="1" kern="1200">
                              <a:solidFill>
                                <a:schemeClr val="tx1"/>
                              </a:solidFill>
                              <a:latin typeface="+mn-lt"/>
                              <a:ea typeface="+mn-ea"/>
                              <a:cs typeface="+mn-cs"/>
                            </a:rPr>
                          </m:ctrlPr>
                        </m:sSupPr>
                        <m:e>
                          <m:d>
                            <m:dPr>
                              <m:ctrlPr>
                                <a:rPr lang="ar-AE" sz="1200" b="0" i="1" kern="1200">
                                  <a:solidFill>
                                    <a:schemeClr val="tx1"/>
                                  </a:solidFill>
                                  <a:latin typeface="+mn-lt"/>
                                  <a:ea typeface="+mn-ea"/>
                                  <a:cs typeface="+mn-cs"/>
                                </a:rPr>
                              </m:ctrlPr>
                            </m:dPr>
                            <m:e>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8</m:t>
                                  </m:r>
                                </m:num>
                                <m:den>
                                  <m:r>
                                    <a:rPr lang="ar-AE" sz="1200" b="0" i="0" kern="1200">
                                      <a:solidFill>
                                        <a:schemeClr val="tx1"/>
                                      </a:solidFill>
                                      <a:latin typeface="+mn-lt"/>
                                      <a:ea typeface="+mn-ea"/>
                                      <a:cs typeface="+mn-cs"/>
                                    </a:rPr>
                                    <m:t>9</m:t>
                                  </m:r>
                                </m:den>
                              </m:f>
                            </m:e>
                          </m:d>
                        </m:e>
                        <m:sup>
                          <m:r>
                            <a:rPr lang="ar-AE" sz="1200" b="0" i="0" kern="1200">
                              <a:solidFill>
                                <a:schemeClr val="tx1"/>
                              </a:solidFill>
                              <a:latin typeface="+mn-lt"/>
                              <a:ea typeface="+mn-ea"/>
                              <a:cs typeface="+mn-cs"/>
                            </a:rPr>
                            <m:t>2</m:t>
                          </m:r>
                        </m:sup>
                      </m:sSup>
                      <m:r>
                        <a:rPr lang="ar-AE" sz="1200" b="0" i="0" kern="1200">
                          <a:solidFill>
                            <a:schemeClr val="tx1"/>
                          </a:solidFill>
                          <a:latin typeface="+mn-lt"/>
                          <a:ea typeface="+mn-ea"/>
                          <a:cs typeface="+mn-cs"/>
                        </a:rPr>
                        <m:t>=</m:t>
                      </m:r>
                      <m:r>
                        <a:rPr lang="ar-AE" sz="1200" b="0" i="0" kern="1200">
                          <a:solidFill>
                            <a:schemeClr val="tx1"/>
                          </a:solidFill>
                          <a:latin typeface="+mn-lt"/>
                          <a:ea typeface="+mn-ea"/>
                          <a:cs typeface="+mn-cs"/>
                        </a:rPr>
                        <m:t>50</m:t>
                      </m:r>
                      <m:r>
                        <a:rPr lang="ar-AE"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64</m:t>
                          </m:r>
                        </m:num>
                        <m:den>
                          <m:r>
                            <a:rPr lang="ar-AE" sz="1200" b="0" i="0" kern="1200">
                              <a:solidFill>
                                <a:schemeClr val="tx1"/>
                              </a:solidFill>
                              <a:latin typeface="+mn-lt"/>
                              <a:ea typeface="+mn-ea"/>
                              <a:cs typeface="+mn-cs"/>
                            </a:rPr>
                            <m:t>81</m:t>
                          </m:r>
                        </m:den>
                      </m:f>
                      <m:r>
                        <a:rPr lang="ar-AE" sz="1200" b="0" i="0" kern="1200">
                          <a:solidFill>
                            <a:schemeClr val="tx1"/>
                          </a:solidFill>
                          <a:latin typeface="+mn-lt"/>
                          <a:ea typeface="+mn-ea"/>
                          <a:cs typeface="+mn-cs"/>
                        </a:rPr>
                        <m:t>=</m:t>
                      </m:r>
                      <m:f>
                        <m:fPr>
                          <m:ctrlPr>
                            <a:rPr lang="ar-AE" sz="1200" b="0" i="1" kern="1200">
                              <a:solidFill>
                                <a:schemeClr val="tx1"/>
                              </a:solidFill>
                              <a:latin typeface="+mn-lt"/>
                              <a:ea typeface="+mn-ea"/>
                              <a:cs typeface="+mn-cs"/>
                            </a:rPr>
                          </m:ctrlPr>
                        </m:fPr>
                        <m:num>
                          <m:r>
                            <a:rPr lang="ar-AE" sz="1200" b="0" i="0" kern="1200">
                              <a:solidFill>
                                <a:schemeClr val="tx1"/>
                              </a:solidFill>
                              <a:latin typeface="+mn-lt"/>
                              <a:ea typeface="+mn-ea"/>
                              <a:cs typeface="+mn-cs"/>
                            </a:rPr>
                            <m:t>3200</m:t>
                          </m:r>
                        </m:num>
                        <m:den>
                          <m:r>
                            <a:rPr lang="ar-AE" sz="1200" b="0" i="0" kern="1200">
                              <a:solidFill>
                                <a:schemeClr val="tx1"/>
                              </a:solidFill>
                              <a:latin typeface="+mn-lt"/>
                              <a:ea typeface="+mn-ea"/>
                              <a:cs typeface="+mn-cs"/>
                            </a:rPr>
                            <m:t>81</m:t>
                          </m:r>
                        </m:den>
                      </m:f>
                    </m:oMath>
                  </m:oMathPara>
                </a14:m>
                <a:endParaRPr lang="ar-AE" dirty="0">
                  <a:effectLst/>
                </a:endParaRPr>
              </a:p>
              <a:p>
                <a:pPr rtl="0" fontAlgn="auto"/>
                <a:r>
                  <a:rPr lang="en-IN" dirty="0">
                    <a:effectLst/>
                  </a:rPr>
                  <a:t>Final Quantity of Alcohol=50×892=50×6481=320081</a:t>
                </a:r>
              </a:p>
              <a:p>
                <a:r>
                  <a:rPr lang="en-IN" dirty="0"/>
                  <a:t>Final Quantity of Water = </a:t>
                </a:r>
              </a:p>
              <a:p>
                <a:pPr rtl="0"/>
                <a14:m>
                  <m:oMathPara xmlns:m="http://schemas.openxmlformats.org/officeDocument/2006/math">
                    <m:oMathParaPr>
                      <m:jc m:val="centerGroup"/>
                    </m:oMathParaPr>
                    <m:oMath xmlns:m="http://schemas.openxmlformats.org/officeDocument/2006/math">
                      <m:r>
                        <a:rPr lang="en-IN" sz="1200" kern="1200">
                          <a:solidFill>
                            <a:schemeClr val="tx1"/>
                          </a:solidFill>
                          <a:latin typeface="+mn-lt"/>
                          <a:ea typeface="+mn-ea"/>
                          <a:cs typeface="+mn-cs"/>
                        </a:rPr>
                        <m:t>90</m:t>
                      </m:r>
                      <m:r>
                        <a:rPr lang="en-IN" sz="1200" i="0" kern="1200">
                          <a:solidFill>
                            <a:schemeClr val="tx1"/>
                          </a:solidFill>
                          <a:latin typeface="+mn-lt"/>
                          <a:ea typeface="+mn-ea"/>
                          <a:cs typeface="+mn-cs"/>
                        </a:rPr>
                        <m:t>−</m:t>
                      </m:r>
                      <m:f>
                        <m:fPr>
                          <m:ctrlPr>
                            <a:rPr lang="ar-AE" sz="1200" i="1" kern="1200">
                              <a:solidFill>
                                <a:schemeClr val="tx1"/>
                              </a:solidFill>
                              <a:latin typeface="+mn-lt"/>
                              <a:ea typeface="+mn-ea"/>
                              <a:cs typeface="+mn-cs"/>
                            </a:rPr>
                          </m:ctrlPr>
                        </m:fPr>
                        <m:num>
                          <m:r>
                            <a:rPr lang="ar-AE" sz="1200" i="0" kern="1200">
                              <a:solidFill>
                                <a:schemeClr val="tx1"/>
                              </a:solidFill>
                              <a:latin typeface="+mn-lt"/>
                              <a:ea typeface="+mn-ea"/>
                              <a:cs typeface="+mn-cs"/>
                            </a:rPr>
                            <m:t>3200</m:t>
                          </m:r>
                        </m:num>
                        <m:den>
                          <m:r>
                            <a:rPr lang="ar-AE" sz="1200" i="0" kern="1200">
                              <a:solidFill>
                                <a:schemeClr val="tx1"/>
                              </a:solidFill>
                              <a:latin typeface="+mn-lt"/>
                              <a:ea typeface="+mn-ea"/>
                              <a:cs typeface="+mn-cs"/>
                            </a:rPr>
                            <m:t>81</m:t>
                          </m:r>
                        </m:den>
                      </m:f>
                      <m:r>
                        <a:rPr lang="ar-AE" sz="1200" i="0" kern="1200">
                          <a:solidFill>
                            <a:schemeClr val="tx1"/>
                          </a:solidFill>
                          <a:latin typeface="+mn-lt"/>
                          <a:ea typeface="+mn-ea"/>
                          <a:cs typeface="+mn-cs"/>
                        </a:rPr>
                        <m:t>=</m:t>
                      </m:r>
                      <m:f>
                        <m:fPr>
                          <m:ctrlPr>
                            <a:rPr lang="ar-AE" sz="1200" i="1" kern="1200">
                              <a:solidFill>
                                <a:schemeClr val="tx1"/>
                              </a:solidFill>
                              <a:latin typeface="+mn-lt"/>
                              <a:ea typeface="+mn-ea"/>
                              <a:cs typeface="+mn-cs"/>
                            </a:rPr>
                          </m:ctrlPr>
                        </m:fPr>
                        <m:num>
                          <m:r>
                            <a:rPr lang="ar-AE" sz="1200" i="0" kern="1200">
                              <a:solidFill>
                                <a:schemeClr val="tx1"/>
                              </a:solidFill>
                              <a:latin typeface="+mn-lt"/>
                              <a:ea typeface="+mn-ea"/>
                              <a:cs typeface="+mn-cs"/>
                            </a:rPr>
                            <m:t>7290</m:t>
                          </m:r>
                          <m:r>
                            <a:rPr lang="ar-AE" sz="1200" i="0" kern="1200">
                              <a:solidFill>
                                <a:schemeClr val="tx1"/>
                              </a:solidFill>
                              <a:latin typeface="+mn-lt"/>
                              <a:ea typeface="+mn-ea"/>
                              <a:cs typeface="+mn-cs"/>
                            </a:rPr>
                            <m:t>−</m:t>
                          </m:r>
                          <m:r>
                            <a:rPr lang="ar-AE" sz="1200" i="0" kern="1200">
                              <a:solidFill>
                                <a:schemeClr val="tx1"/>
                              </a:solidFill>
                              <a:latin typeface="+mn-lt"/>
                              <a:ea typeface="+mn-ea"/>
                              <a:cs typeface="+mn-cs"/>
                            </a:rPr>
                            <m:t>3200</m:t>
                          </m:r>
                        </m:num>
                        <m:den>
                          <m:r>
                            <a:rPr lang="ar-AE" sz="1200" i="0" kern="1200">
                              <a:solidFill>
                                <a:schemeClr val="tx1"/>
                              </a:solidFill>
                              <a:latin typeface="+mn-lt"/>
                              <a:ea typeface="+mn-ea"/>
                              <a:cs typeface="+mn-cs"/>
                            </a:rPr>
                            <m:t>81</m:t>
                          </m:r>
                        </m:den>
                      </m:f>
                      <m:r>
                        <a:rPr lang="ar-AE" sz="1200" i="0" kern="1200">
                          <a:solidFill>
                            <a:schemeClr val="tx1"/>
                          </a:solidFill>
                          <a:latin typeface="+mn-lt"/>
                          <a:ea typeface="+mn-ea"/>
                          <a:cs typeface="+mn-cs"/>
                        </a:rPr>
                        <m:t>=</m:t>
                      </m:r>
                      <m:f>
                        <m:fPr>
                          <m:ctrlPr>
                            <a:rPr lang="ar-AE" sz="1200" i="1" kern="1200">
                              <a:solidFill>
                                <a:schemeClr val="tx1"/>
                              </a:solidFill>
                              <a:latin typeface="+mn-lt"/>
                              <a:ea typeface="+mn-ea"/>
                              <a:cs typeface="+mn-cs"/>
                            </a:rPr>
                          </m:ctrlPr>
                        </m:fPr>
                        <m:num>
                          <m:r>
                            <a:rPr lang="ar-AE" sz="1200" i="0" kern="1200">
                              <a:solidFill>
                                <a:schemeClr val="tx1"/>
                              </a:solidFill>
                              <a:latin typeface="+mn-lt"/>
                              <a:ea typeface="+mn-ea"/>
                              <a:cs typeface="+mn-cs"/>
                            </a:rPr>
                            <m:t>4090</m:t>
                          </m:r>
                        </m:num>
                        <m:den>
                          <m:r>
                            <a:rPr lang="ar-AE" sz="1200" i="0" kern="1200">
                              <a:solidFill>
                                <a:schemeClr val="tx1"/>
                              </a:solidFill>
                              <a:latin typeface="+mn-lt"/>
                              <a:ea typeface="+mn-ea"/>
                              <a:cs typeface="+mn-cs"/>
                            </a:rPr>
                            <m:t>81</m:t>
                          </m:r>
                        </m:den>
                      </m:f>
                    </m:oMath>
                  </m:oMathPara>
                </a14:m>
                <a:endParaRPr lang="ar-AE" dirty="0">
                  <a:effectLst/>
                </a:endParaRPr>
              </a:p>
              <a:p>
                <a:pPr rtl="0"/>
                <a:r>
                  <a:rPr lang="ar-AE" dirty="0">
                    <a:effectLst/>
                  </a:rPr>
                  <a:t>90−320081=7290−320081=409081</a:t>
                </a:r>
              </a:p>
              <a:p>
                <a:br>
                  <a:rPr lang="ar-AE" dirty="0"/>
                </a:br>
                <a:r>
                  <a:rPr lang="en-IN" dirty="0"/>
                  <a:t>Final </a:t>
                </a:r>
                <a:r>
                  <a:rPr lang="en-IN" dirty="0" err="1"/>
                  <a:t>Alcohol:Water</a:t>
                </a:r>
                <a:r>
                  <a:rPr lang="en-IN" dirty="0"/>
                  <a:t> ratio = </a:t>
                </a:r>
              </a:p>
              <a:p>
                <a:pPr rtl="0"/>
                <a14:m>
                  <m:oMathPara xmlns:m="http://schemas.openxmlformats.org/officeDocument/2006/math">
                    <m:oMathParaPr>
                      <m:jc m:val="centerGroup"/>
                    </m:oMathParaPr>
                    <m:oMath xmlns:m="http://schemas.openxmlformats.org/officeDocument/2006/math">
                      <m:f>
                        <m:fPr>
                          <m:ctrlPr>
                            <a:rPr lang="ar-AE" sz="1200" kern="1200">
                              <a:solidFill>
                                <a:schemeClr val="tx1"/>
                              </a:solidFill>
                              <a:latin typeface="+mn-lt"/>
                              <a:ea typeface="+mn-ea"/>
                              <a:cs typeface="+mn-cs"/>
                            </a:rPr>
                          </m:ctrlPr>
                        </m:fPr>
                        <m:num>
                          <m:r>
                            <a:rPr lang="ar-AE" sz="1200" kern="1200">
                              <a:solidFill>
                                <a:schemeClr val="tx1"/>
                              </a:solidFill>
                              <a:latin typeface="+mn-lt"/>
                              <a:ea typeface="+mn-ea"/>
                              <a:cs typeface="+mn-cs"/>
                            </a:rPr>
                            <m:t>3200</m:t>
                          </m:r>
                        </m:num>
                        <m:den>
                          <m:r>
                            <a:rPr lang="ar-AE" sz="1200" i="0" kern="1200">
                              <a:solidFill>
                                <a:schemeClr val="tx1"/>
                              </a:solidFill>
                              <a:latin typeface="+mn-lt"/>
                              <a:ea typeface="+mn-ea"/>
                              <a:cs typeface="+mn-cs"/>
                            </a:rPr>
                            <m:t>81</m:t>
                          </m:r>
                        </m:den>
                      </m:f>
                      <m:r>
                        <a:rPr lang="ar-AE" sz="1200" i="0" kern="1200">
                          <a:solidFill>
                            <a:schemeClr val="tx1"/>
                          </a:solidFill>
                          <a:latin typeface="+mn-lt"/>
                          <a:ea typeface="+mn-ea"/>
                          <a:cs typeface="+mn-cs"/>
                        </a:rPr>
                        <m:t>∶</m:t>
                      </m:r>
                      <m:f>
                        <m:fPr>
                          <m:ctrlPr>
                            <a:rPr lang="ar-AE" sz="1200" i="1" kern="1200">
                              <a:solidFill>
                                <a:schemeClr val="tx1"/>
                              </a:solidFill>
                              <a:latin typeface="+mn-lt"/>
                              <a:ea typeface="+mn-ea"/>
                              <a:cs typeface="+mn-cs"/>
                            </a:rPr>
                          </m:ctrlPr>
                        </m:fPr>
                        <m:num>
                          <m:r>
                            <a:rPr lang="ar-AE" sz="1200" i="0" kern="1200">
                              <a:solidFill>
                                <a:schemeClr val="tx1"/>
                              </a:solidFill>
                              <a:latin typeface="+mn-lt"/>
                              <a:ea typeface="+mn-ea"/>
                              <a:cs typeface="+mn-cs"/>
                            </a:rPr>
                            <m:t>4090</m:t>
                          </m:r>
                        </m:num>
                        <m:den>
                          <m:r>
                            <a:rPr lang="ar-AE" sz="1200" i="0" kern="1200">
                              <a:solidFill>
                                <a:schemeClr val="tx1"/>
                              </a:solidFill>
                              <a:latin typeface="+mn-lt"/>
                              <a:ea typeface="+mn-ea"/>
                              <a:cs typeface="+mn-cs"/>
                            </a:rPr>
                            <m:t>81</m:t>
                          </m:r>
                        </m:den>
                      </m:f>
                    </m:oMath>
                  </m:oMathPara>
                </a14:m>
                <a:endParaRPr lang="ar-AE" dirty="0">
                  <a:effectLst/>
                </a:endParaRPr>
              </a:p>
              <a:p>
                <a:pPr rtl="0"/>
                <a:r>
                  <a:rPr lang="ar-AE" dirty="0">
                    <a:effectLst/>
                  </a:rPr>
                  <a:t>320081∶409081</a:t>
                </a:r>
              </a:p>
              <a:p>
                <a:r>
                  <a:rPr lang="ar-AE" dirty="0"/>
                  <a:t>= 3200:4090 = 320:409.</a:t>
                </a:r>
                <a:endParaRPr lang="en-IN" dirty="0"/>
              </a:p>
              <a:p>
                <a:endParaRPr lang="en-IN" dirty="0"/>
              </a:p>
            </p:txBody>
          </p:sp>
        </mc:Choice>
        <mc:Fallback>
          <p:sp>
            <p:nvSpPr>
              <p:cNvPr id="3" name="Notes Placeholder 2"/>
              <p:cNvSpPr>
                <a:spLocks noGrp="1"/>
              </p:cNvSpPr>
              <p:nvPr>
                <p:ph type="body" idx="1"/>
              </p:nvPr>
            </p:nvSpPr>
            <p:spPr/>
            <p:txBody>
              <a:bodyPr/>
              <a:lstStyle/>
              <a:p>
                <a:r>
                  <a:rPr lang="en-IN" dirty="0"/>
                  <a:t>C</a:t>
                </a:r>
              </a:p>
              <a:p>
                <a:pPr rtl="0" fontAlgn="auto"/>
                <a:r>
                  <a:rPr lang="en-IN" b="0" i="0">
                    <a:latin typeface="Cambria Math" panose="02040503050406030204" pitchFamily="18" charset="0"/>
                  </a:rPr>
                  <a:t>"Final Quantity of Alcohol</a:t>
                </a:r>
                <a:r>
                  <a:rPr lang="en-IN" sz="1200" b="0" i="0" kern="1200">
                    <a:solidFill>
                      <a:schemeClr val="tx1"/>
                    </a:solidFill>
                    <a:latin typeface="+mn-lt"/>
                    <a:ea typeface="+mn-ea"/>
                    <a:cs typeface="+mn-cs"/>
                  </a:rPr>
                  <a:t>"=50×</a:t>
                </a:r>
                <a:r>
                  <a:rPr lang="ar-AE" sz="1200" b="0" i="0" kern="1200">
                    <a:solidFill>
                      <a:schemeClr val="tx1"/>
                    </a:solidFill>
                    <a:latin typeface="+mn-lt"/>
                    <a:ea typeface="+mn-ea"/>
                    <a:cs typeface="+mn-cs"/>
                  </a:rPr>
                  <a:t>(1−10/90)^2</a:t>
                </a:r>
                <a:endParaRPr lang="ar-AE" dirty="0">
                  <a:effectLst/>
                </a:endParaRPr>
              </a:p>
              <a:p>
                <a:pPr rtl="0" fontAlgn="auto"/>
                <a:r>
                  <a:rPr lang="en-IN" dirty="0">
                    <a:effectLst/>
                  </a:rPr>
                  <a:t>Final Quantity of Alcohol=50×1−10902</a:t>
                </a:r>
              </a:p>
              <a:p>
                <a:pPr rtl="0" fontAlgn="auto"/>
                <a:r>
                  <a:rPr lang="en-IN" b="0" i="0">
                    <a:latin typeface="Cambria Math" panose="02040503050406030204" pitchFamily="18" charset="0"/>
                  </a:rPr>
                  <a:t>"Final Quantity of Alcohol</a:t>
                </a:r>
                <a:r>
                  <a:rPr lang="en-IN" sz="1200" b="0" i="0" kern="1200">
                    <a:solidFill>
                      <a:schemeClr val="tx1"/>
                    </a:solidFill>
                    <a:latin typeface="+mn-lt"/>
                    <a:ea typeface="+mn-ea"/>
                    <a:cs typeface="+mn-cs"/>
                  </a:rPr>
                  <a:t>"=50×</a:t>
                </a:r>
                <a:r>
                  <a:rPr lang="ar-AE" sz="1200" b="0" i="0" kern="1200">
                    <a:solidFill>
                      <a:schemeClr val="tx1"/>
                    </a:solidFill>
                    <a:latin typeface="+mn-lt"/>
                    <a:ea typeface="+mn-ea"/>
                    <a:cs typeface="+mn-cs"/>
                  </a:rPr>
                  <a:t>(8/9)^2=50×64/81=3200/81</a:t>
                </a:r>
                <a:endParaRPr lang="ar-AE" dirty="0">
                  <a:effectLst/>
                </a:endParaRPr>
              </a:p>
              <a:p>
                <a:pPr rtl="0" fontAlgn="auto"/>
                <a:r>
                  <a:rPr lang="en-IN" dirty="0">
                    <a:effectLst/>
                  </a:rPr>
                  <a:t>Final Quantity of Alcohol=50×892=50×6481=320081</a:t>
                </a:r>
              </a:p>
              <a:p>
                <a:r>
                  <a:rPr lang="en-IN" dirty="0"/>
                  <a:t>Final Quantity of Water = </a:t>
                </a:r>
              </a:p>
              <a:p>
                <a:pPr rtl="0"/>
                <a:r>
                  <a:rPr lang="en-IN" sz="1200" i="0" kern="1200">
                    <a:solidFill>
                      <a:schemeClr val="tx1"/>
                    </a:solidFill>
                    <a:latin typeface="+mn-lt"/>
                    <a:ea typeface="+mn-ea"/>
                    <a:cs typeface="+mn-cs"/>
                  </a:rPr>
                  <a:t>90−</a:t>
                </a:r>
                <a:r>
                  <a:rPr lang="ar-AE" sz="1200" i="0" kern="1200">
                    <a:solidFill>
                      <a:schemeClr val="tx1"/>
                    </a:solidFill>
                    <a:latin typeface="+mn-lt"/>
                    <a:ea typeface="+mn-ea"/>
                    <a:cs typeface="+mn-cs"/>
                  </a:rPr>
                  <a:t>3200/81=(7290−3200)/81=4090/81</a:t>
                </a:r>
                <a:endParaRPr lang="ar-AE" dirty="0">
                  <a:effectLst/>
                </a:endParaRPr>
              </a:p>
              <a:p>
                <a:pPr rtl="0"/>
                <a:r>
                  <a:rPr lang="ar-AE" dirty="0">
                    <a:effectLst/>
                  </a:rPr>
                  <a:t>90−320081=7290−320081=409081</a:t>
                </a:r>
              </a:p>
              <a:p>
                <a:br>
                  <a:rPr lang="ar-AE" dirty="0"/>
                </a:br>
                <a:r>
                  <a:rPr lang="en-IN" dirty="0"/>
                  <a:t>Final </a:t>
                </a:r>
                <a:r>
                  <a:rPr lang="en-IN" dirty="0" err="1"/>
                  <a:t>Alcohol:Water</a:t>
                </a:r>
                <a:r>
                  <a:rPr lang="en-IN" dirty="0"/>
                  <a:t> ratio = </a:t>
                </a:r>
              </a:p>
              <a:p>
                <a:pPr rtl="0"/>
                <a:r>
                  <a:rPr lang="ar-AE" sz="1200" i="0" kern="1200">
                    <a:solidFill>
                      <a:schemeClr val="tx1"/>
                    </a:solidFill>
                    <a:latin typeface="+mn-lt"/>
                    <a:ea typeface="+mn-ea"/>
                    <a:cs typeface="+mn-cs"/>
                  </a:rPr>
                  <a:t>3200/81∶4090/81</a:t>
                </a:r>
                <a:endParaRPr lang="ar-AE" dirty="0">
                  <a:effectLst/>
                </a:endParaRPr>
              </a:p>
              <a:p>
                <a:pPr rtl="0"/>
                <a:r>
                  <a:rPr lang="ar-AE" dirty="0">
                    <a:effectLst/>
                  </a:rPr>
                  <a:t>320081∶409081</a:t>
                </a:r>
              </a:p>
              <a:p>
                <a:r>
                  <a:rPr lang="ar-AE" dirty="0"/>
                  <a:t>= 3200:4090 = 320:409.</a:t>
                </a:r>
                <a:endParaRPr lang="en-IN" dirty="0"/>
              </a:p>
              <a:p>
                <a:endParaRPr lang="en-IN" dirty="0"/>
              </a:p>
            </p:txBody>
          </p:sp>
        </mc:Fallback>
      </mc:AlternateContent>
      <p:sp>
        <p:nvSpPr>
          <p:cNvPr id="4" name="Slide Number Placeholder 3"/>
          <p:cNvSpPr>
            <a:spLocks noGrp="1"/>
          </p:cNvSpPr>
          <p:nvPr>
            <p:ph type="sldNum" sz="quarter" idx="5"/>
          </p:nvPr>
        </p:nvSpPr>
        <p:spPr/>
        <p:txBody>
          <a:bodyPr/>
          <a:lstStyle/>
          <a:p>
            <a:fld id="{AE9FE326-85E6-4395-8F28-A8F972B7BB4E}" type="slidenum">
              <a:rPr lang="en-IN" smtClean="0"/>
              <a:t>28</a:t>
            </a:fld>
            <a:endParaRPr lang="en-IN"/>
          </a:p>
        </p:txBody>
      </p:sp>
    </p:spTree>
    <p:extLst>
      <p:ext uri="{BB962C8B-B14F-4D97-AF65-F5344CB8AC3E}">
        <p14:creationId xmlns:p14="http://schemas.microsoft.com/office/powerpoint/2010/main" val="2281499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AE9FE326-85E6-4395-8F28-A8F972B7BB4E}" type="slidenum">
              <a:rPr lang="en-IN" smtClean="0"/>
              <a:t>29</a:t>
            </a:fld>
            <a:endParaRPr lang="en-IN"/>
          </a:p>
        </p:txBody>
      </p:sp>
    </p:spTree>
    <p:extLst>
      <p:ext uri="{BB962C8B-B14F-4D97-AF65-F5344CB8AC3E}">
        <p14:creationId xmlns:p14="http://schemas.microsoft.com/office/powerpoint/2010/main" val="1540207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AE9FE326-85E6-4395-8F28-A8F972B7BB4E}" type="slidenum">
              <a:rPr lang="en-IN" smtClean="0"/>
              <a:t>30</a:t>
            </a:fld>
            <a:endParaRPr lang="en-IN"/>
          </a:p>
        </p:txBody>
      </p:sp>
    </p:spTree>
    <p:extLst>
      <p:ext uri="{BB962C8B-B14F-4D97-AF65-F5344CB8AC3E}">
        <p14:creationId xmlns:p14="http://schemas.microsoft.com/office/powerpoint/2010/main" val="36391315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a:t>
            </a:r>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31</a:t>
            </a:fld>
            <a:endParaRPr lang="en-IN"/>
          </a:p>
        </p:txBody>
      </p:sp>
    </p:spTree>
    <p:extLst>
      <p:ext uri="{BB962C8B-B14F-4D97-AF65-F5344CB8AC3E}">
        <p14:creationId xmlns:p14="http://schemas.microsoft.com/office/powerpoint/2010/main" val="225186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11-02-2026</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11-02-2026</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11-02-2026</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11-02-2026</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11-02-2026</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11-02-2026</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11-02-2026</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11-02-2026</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11-02-2026</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11-02-2026</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11-02-2026</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0D4F72-3B8C-7FA8-6AEB-F158B9A270D3}"/>
              </a:ext>
            </a:extLst>
          </p:cNvPr>
          <p:cNvSpPr>
            <a:spLocks noGrp="1"/>
          </p:cNvSpPr>
          <p:nvPr>
            <p:ph type="dt" sz="half" idx="10"/>
          </p:nvPr>
        </p:nvSpPr>
        <p:spPr>
          <a:xfrm>
            <a:off x="838200" y="6356350"/>
            <a:ext cx="2743200" cy="365125"/>
          </a:xfrm>
          <a:prstGeom prst="rect">
            <a:avLst/>
          </a:prstGeom>
        </p:spPr>
        <p:txBody>
          <a:bodyPr/>
          <a:lstStyle/>
          <a:p>
            <a:fld id="{E54CA63B-8887-4C05-B7C0-D2EE3142E4EB}" type="datetimeFigureOut">
              <a:rPr lang="en-IN" smtClean="0"/>
              <a:t>11-02-2026</a:t>
            </a:fld>
            <a:endParaRPr lang="en-IN"/>
          </a:p>
        </p:txBody>
      </p:sp>
      <p:sp>
        <p:nvSpPr>
          <p:cNvPr id="3" name="Footer Placeholder 2">
            <a:extLst>
              <a:ext uri="{FF2B5EF4-FFF2-40B4-BE49-F238E27FC236}">
                <a16:creationId xmlns:a16="http://schemas.microsoft.com/office/drawing/2014/main" id="{6DADDCA8-6782-BAE3-22E0-31526F79EBF4}"/>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53E70A48-B6EC-AFB0-7285-51B9A4F176B6}"/>
              </a:ext>
            </a:extLst>
          </p:cNvPr>
          <p:cNvSpPr>
            <a:spLocks noGrp="1"/>
          </p:cNvSpPr>
          <p:nvPr>
            <p:ph type="sldNum" sz="quarter" idx="12"/>
          </p:nvPr>
        </p:nvSpPr>
        <p:spPr>
          <a:xfrm>
            <a:off x="8610600" y="6356350"/>
            <a:ext cx="2743200" cy="365125"/>
          </a:xfrm>
          <a:prstGeom prst="rect">
            <a:avLst/>
          </a:prstGeom>
        </p:spPr>
        <p:txBody>
          <a:bodyPr/>
          <a:lstStyle/>
          <a:p>
            <a:fld id="{DE700795-C829-4191-8604-8A01529066FA}" type="slidenum">
              <a:rPr lang="en-IN" smtClean="0"/>
              <a:t>‹#›</a:t>
            </a:fld>
            <a:endParaRPr lang="en-IN"/>
          </a:p>
        </p:txBody>
      </p:sp>
      <p:sp>
        <p:nvSpPr>
          <p:cNvPr id="6" name="Text Placeholder 5">
            <a:extLst>
              <a:ext uri="{FF2B5EF4-FFF2-40B4-BE49-F238E27FC236}">
                <a16:creationId xmlns:a16="http://schemas.microsoft.com/office/drawing/2014/main" id="{BC33AE30-D10F-25E3-C6D1-529695BFAB67}"/>
              </a:ext>
            </a:extLst>
          </p:cNvPr>
          <p:cNvSpPr>
            <a:spLocks noGrp="1"/>
          </p:cNvSpPr>
          <p:nvPr>
            <p:ph type="body" sz="quarter" idx="13" hasCustomPrompt="1"/>
          </p:nvPr>
        </p:nvSpPr>
        <p:spPr>
          <a:xfrm>
            <a:off x="838200" y="1231900"/>
            <a:ext cx="9804400" cy="1130300"/>
          </a:xfrm>
          <a:prstGeom prst="rect">
            <a:avLst/>
          </a:prstGeom>
        </p:spPr>
        <p:txBody>
          <a:bodyPr/>
          <a:lstStyle>
            <a:lvl1pPr marL="0" indent="0">
              <a:buNone/>
              <a:defRPr sz="2800">
                <a:solidFill>
                  <a:schemeClr val="tx1"/>
                </a:solidFill>
                <a:latin typeface="Times New Roman" panose="02020603050405020304" pitchFamily="18" charset="0"/>
                <a:cs typeface="Times New Roman" panose="02020603050405020304" pitchFamily="18" charset="0"/>
              </a:defRPr>
            </a:lvl1pPr>
          </a:lstStyle>
          <a:p>
            <a:pPr lvl="0"/>
            <a:r>
              <a:rPr lang="en-US" dirty="0"/>
              <a:t>Type </a:t>
            </a:r>
            <a:endParaRPr lang="en-IN" dirty="0"/>
          </a:p>
        </p:txBody>
      </p:sp>
      <p:sp>
        <p:nvSpPr>
          <p:cNvPr id="7" name="Text Placeholder 5">
            <a:extLst>
              <a:ext uri="{FF2B5EF4-FFF2-40B4-BE49-F238E27FC236}">
                <a16:creationId xmlns:a16="http://schemas.microsoft.com/office/drawing/2014/main" id="{536AABB1-6763-A970-7970-45144AC199E9}"/>
              </a:ext>
            </a:extLst>
          </p:cNvPr>
          <p:cNvSpPr>
            <a:spLocks noGrp="1"/>
          </p:cNvSpPr>
          <p:nvPr>
            <p:ph type="body" sz="quarter" idx="14" hasCustomPrompt="1"/>
          </p:nvPr>
        </p:nvSpPr>
        <p:spPr>
          <a:xfrm>
            <a:off x="838200" y="3549650"/>
            <a:ext cx="9804400" cy="1130300"/>
          </a:xfrm>
          <a:prstGeom prst="rect">
            <a:avLst/>
          </a:prstGeom>
        </p:spPr>
        <p:txBody>
          <a:bodyPr/>
          <a:lstStyle>
            <a:lvl1pPr marL="514350" indent="-514350">
              <a:buFont typeface="+mj-lt"/>
              <a:buAutoNum type="alphaUcPeriod"/>
              <a:defRPr>
                <a:solidFill>
                  <a:srgbClr val="FF0000"/>
                </a:solidFill>
                <a:latin typeface="Times New Roman" panose="02020603050405020304" pitchFamily="18" charset="0"/>
                <a:cs typeface="Times New Roman" panose="02020603050405020304" pitchFamily="18" charset="0"/>
              </a:defRPr>
            </a:lvl1pPr>
          </a:lstStyle>
          <a:p>
            <a:pPr lvl="0"/>
            <a:r>
              <a:rPr lang="en-US" dirty="0"/>
              <a:t>Type </a:t>
            </a:r>
            <a:endParaRPr lang="en-IN" dirty="0"/>
          </a:p>
        </p:txBody>
      </p:sp>
      <p:sp>
        <p:nvSpPr>
          <p:cNvPr id="5" name="Text Placeholder 5">
            <a:extLst>
              <a:ext uri="{FF2B5EF4-FFF2-40B4-BE49-F238E27FC236}">
                <a16:creationId xmlns:a16="http://schemas.microsoft.com/office/drawing/2014/main" id="{A2F254C8-5650-8F56-94AD-D3CAAF760AC0}"/>
              </a:ext>
            </a:extLst>
          </p:cNvPr>
          <p:cNvSpPr>
            <a:spLocks noGrp="1"/>
          </p:cNvSpPr>
          <p:nvPr>
            <p:ph type="body" sz="quarter" idx="15" hasCustomPrompt="1"/>
          </p:nvPr>
        </p:nvSpPr>
        <p:spPr>
          <a:xfrm>
            <a:off x="838200" y="2390775"/>
            <a:ext cx="9804400" cy="1130300"/>
          </a:xfrm>
          <a:prstGeom prst="rect">
            <a:avLst/>
          </a:prstGeom>
        </p:spPr>
        <p:txBody>
          <a:bodyPr/>
          <a:lstStyle>
            <a:lvl1pPr marL="0" indent="0">
              <a:buNone/>
              <a:defRPr sz="2800">
                <a:solidFill>
                  <a:srgbClr val="002060"/>
                </a:solidFill>
                <a:latin typeface="Times New Roman" panose="02020603050405020304" pitchFamily="18" charset="0"/>
                <a:cs typeface="Times New Roman" panose="02020603050405020304" pitchFamily="18" charset="0"/>
              </a:defRPr>
            </a:lvl1pPr>
          </a:lstStyle>
          <a:p>
            <a:pPr lvl="0"/>
            <a:r>
              <a:rPr lang="en-US" dirty="0"/>
              <a:t>Type </a:t>
            </a:r>
            <a:endParaRPr lang="en-IN" dirty="0"/>
          </a:p>
        </p:txBody>
      </p:sp>
    </p:spTree>
    <p:extLst>
      <p:ext uri="{BB962C8B-B14F-4D97-AF65-F5344CB8AC3E}">
        <p14:creationId xmlns:p14="http://schemas.microsoft.com/office/powerpoint/2010/main" val="281348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11-02-2026</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bin"/></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1.xml"/><Relationship Id="rId7" Type="http://schemas.openxmlformats.org/officeDocument/2006/relationships/image" Target="../media/image1.jp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2.xml"/><Relationship Id="rId7" Type="http://schemas.openxmlformats.org/officeDocument/2006/relationships/image" Target="../media/image1.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bin"/><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gif"/></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3.xml"/><Relationship Id="rId7" Type="http://schemas.openxmlformats.org/officeDocument/2006/relationships/image" Target="../media/image1.jp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0" y="1122362"/>
            <a:ext cx="10751673" cy="5558885"/>
          </a:xfrm>
        </p:spPr>
        <p:txBody>
          <a:bodyPr anchor="b">
            <a:normAutofit/>
          </a:bodyPr>
          <a:lstStyle/>
          <a:p>
            <a:pPr algn="l"/>
            <a:r>
              <a:rPr lang="en-IN" b="1" dirty="0">
                <a:latin typeface="Georgia" panose="02040502050405020303" pitchFamily="18" charset="0"/>
                <a:cs typeface="Arial" panose="020B0604020202020204" pitchFamily="34" charset="0"/>
              </a:rPr>
              <a:t>Mixture &amp; Alligation-1</a:t>
            </a:r>
            <a:br>
              <a:rPr lang="en-IN" sz="4800" b="1" dirty="0">
                <a:latin typeface="Georgia" panose="02040502050405020303" pitchFamily="18" charset="0"/>
                <a:cs typeface="Arial" panose="020B0604020202020204" pitchFamily="34" charset="0"/>
              </a:rPr>
            </a:br>
            <a:br>
              <a:rPr lang="en-IN" sz="4800" b="1" dirty="0">
                <a:latin typeface="Georgia" panose="02040502050405020303" pitchFamily="18" charset="0"/>
                <a:cs typeface="Arial" panose="020B0604020202020204" pitchFamily="34" charset="0"/>
              </a:rPr>
            </a:br>
            <a:br>
              <a:rPr lang="en-IN" sz="4800" b="1" dirty="0">
                <a:latin typeface="Georgia" panose="02040502050405020303" pitchFamily="18" charset="0"/>
                <a:cs typeface="Arial" panose="020B0604020202020204" pitchFamily="34" charset="0"/>
              </a:rPr>
            </a:br>
            <a:br>
              <a:rPr lang="en-IN" sz="4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Session No.: 03</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Name: Verbal &amp; Quantitative Reasoning -1</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Course Code: O1UA422L</a:t>
            </a:r>
            <a:br>
              <a:rPr lang="en-IN" sz="1800" b="1" dirty="0">
                <a:latin typeface="Georgia" panose="02040502050405020303" pitchFamily="18" charset="0"/>
                <a:cs typeface="Arial" panose="020B0604020202020204" pitchFamily="34" charset="0"/>
              </a:rPr>
            </a:br>
            <a:r>
              <a:rPr lang="en-IN" sz="1800" b="1" dirty="0">
                <a:latin typeface="Georgia" panose="02040502050405020303" pitchFamily="18" charset="0"/>
                <a:cs typeface="Arial" panose="020B0604020202020204" pitchFamily="34" charset="0"/>
              </a:rPr>
              <a:t>Instructor Name: Brajesh Kumar</a:t>
            </a:r>
            <a:br>
              <a:rPr lang="en-IN" sz="1800" b="1" dirty="0">
                <a:latin typeface="Georgia" panose="02040502050405020303" pitchFamily="18" charset="0"/>
                <a:cs typeface="Arial" panose="020B0604020202020204" pitchFamily="34" charset="0"/>
              </a:rPr>
            </a:br>
            <a:r>
              <a:rPr lang="en-US" sz="1800" b="1" dirty="0">
                <a:latin typeface="Georgia" panose="02040502050405020303" pitchFamily="18" charset="0"/>
                <a:cs typeface="Arial" panose="020B0604020202020204" pitchFamily="34" charset="0"/>
              </a:rPr>
              <a:t>Duration: 100 min</a:t>
            </a:r>
            <a:br>
              <a:rPr lang="en-US" sz="1800" b="1" dirty="0">
                <a:latin typeface="Georgia" panose="02040502050405020303" pitchFamily="18" charset="0"/>
                <a:cs typeface="Arial" panose="020B0604020202020204" pitchFamily="34" charset="0"/>
              </a:rPr>
            </a:br>
            <a:br>
              <a:rPr lang="en-US" sz="1800" b="1" dirty="0">
                <a:latin typeface="Georgia" panose="02040502050405020303" pitchFamily="18" charset="0"/>
                <a:cs typeface="Arial" panose="020B0604020202020204" pitchFamily="34" charset="0"/>
              </a:rPr>
            </a:br>
            <a:br>
              <a:rPr lang="en-IN" sz="1800" b="1" dirty="0">
                <a:latin typeface="Georgia" panose="02040502050405020303" pitchFamily="18" charset="0"/>
                <a:cs typeface="Arial" panose="020B0604020202020204" pitchFamily="34" charset="0"/>
              </a:rPr>
            </a:br>
            <a:endParaRPr lang="en-IN" sz="4800" b="1" dirty="0">
              <a:latin typeface="Georgia" panose="02040502050405020303" pitchFamily="18" charset="0"/>
              <a:cs typeface="Arial" panose="020B0604020202020204" pitchFamily="34" charset="0"/>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id="{D622C87D-66F3-E0F4-0306-4C9A87A52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91369DC-8D11-0F83-CECC-16C8D86AF62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D93121A7-5B1D-94E2-DB07-9FE4C43AF361}"/>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19ECFAAD-17D4-0306-3A15-FB8674D17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1593B7E2-CC5E-CDA8-4EF8-BDA29B524E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4" name="Picture 3">
            <a:extLst>
              <a:ext uri="{FF2B5EF4-FFF2-40B4-BE49-F238E27FC236}">
                <a16:creationId xmlns:a16="http://schemas.microsoft.com/office/drawing/2014/main" id="{29382A9B-B1CD-92D8-D894-B266CFF146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051486"/>
            <a:ext cx="11429999" cy="5405493"/>
          </a:xfrm>
          <a:prstGeom prst="rect">
            <a:avLst/>
          </a:prstGeom>
        </p:spPr>
      </p:pic>
    </p:spTree>
    <p:extLst>
      <p:ext uri="{BB962C8B-B14F-4D97-AF65-F5344CB8AC3E}">
        <p14:creationId xmlns:p14="http://schemas.microsoft.com/office/powerpoint/2010/main" val="230465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811660" y="1818526"/>
            <a:ext cx="10376898" cy="3914455"/>
          </a:xfrm>
        </p:spPr>
        <p:txBody>
          <a:bodyPr anchor="b">
            <a:noAutofit/>
          </a:bodyPr>
          <a:lstStyle/>
          <a:p>
            <a:pPr>
              <a:lnSpc>
                <a:spcPct val="107000"/>
              </a:lnSpc>
              <a:spcAft>
                <a:spcPts val="800"/>
              </a:spcAft>
            </a:pPr>
            <a:r>
              <a:rPr lang="en-SG" sz="5400" b="1" u="sng" dirty="0">
                <a:solidFill>
                  <a:srgbClr val="0070C0"/>
                </a:solidFill>
                <a:effectLst/>
                <a:latin typeface="Georgia" panose="02040502050405020303" pitchFamily="18" charset="0"/>
                <a:ea typeface="Arial" panose="020B0604020202020204" pitchFamily="34" charset="0"/>
                <a:cs typeface="Calibri" panose="020F0502020204030204" pitchFamily="34" charset="0"/>
              </a:rPr>
              <a:t>Aim</a:t>
            </a:r>
            <a:br>
              <a:rPr lang="en-SG" sz="5400" b="1" u="sng" dirty="0">
                <a:solidFill>
                  <a:srgbClr val="0070C0"/>
                </a:solidFill>
                <a:effectLst/>
                <a:latin typeface="Georgia" panose="02040502050405020303" pitchFamily="18" charset="0"/>
                <a:ea typeface="Arial" panose="020B0604020202020204" pitchFamily="34" charset="0"/>
                <a:cs typeface="Calibri" panose="020F0502020204030204" pitchFamily="34" charset="0"/>
              </a:rPr>
            </a:br>
            <a:br>
              <a:rPr lang="en-SG" sz="4000" b="1" dirty="0">
                <a:solidFill>
                  <a:srgbClr val="000000"/>
                </a:solidFill>
                <a:effectLst/>
                <a:latin typeface="Georgia" panose="02040502050405020303" pitchFamily="18" charset="0"/>
                <a:ea typeface="Arial" panose="020B0604020202020204" pitchFamily="34" charset="0"/>
                <a:cs typeface="Calibri" panose="020F0502020204030204" pitchFamily="34" charset="0"/>
              </a:rPr>
            </a:br>
            <a:r>
              <a:rPr lang="en-SG" sz="4000" b="1" dirty="0">
                <a:solidFill>
                  <a:srgbClr val="000000"/>
                </a:solidFill>
                <a:effectLst/>
                <a:latin typeface="Georgia" panose="02040502050405020303" pitchFamily="18" charset="0"/>
                <a:ea typeface="Arial" panose="020B0604020202020204" pitchFamily="34" charset="0"/>
                <a:cs typeface="Calibri" panose="020F0502020204030204" pitchFamily="34" charset="0"/>
              </a:rPr>
              <a:t> </a:t>
            </a:r>
            <a:r>
              <a:rPr lang="en-IN" sz="3600" b="1" dirty="0">
                <a:solidFill>
                  <a:srgbClr val="000000"/>
                </a:solidFill>
                <a:effectLst/>
                <a:latin typeface="Calibri" panose="020F0502020204030204" pitchFamily="34" charset="0"/>
                <a:ea typeface="Arial" panose="020B0604020202020204" pitchFamily="34" charset="0"/>
              </a:rPr>
              <a:t>To enhance students' understanding of Mixture &amp; </a:t>
            </a:r>
            <a:r>
              <a:rPr lang="en-IN" sz="3600" b="1" dirty="0" err="1">
                <a:solidFill>
                  <a:srgbClr val="000000"/>
                </a:solidFill>
                <a:effectLst/>
                <a:latin typeface="Calibri" panose="020F0502020204030204" pitchFamily="34" charset="0"/>
                <a:ea typeface="Arial" panose="020B0604020202020204" pitchFamily="34" charset="0"/>
              </a:rPr>
              <a:t>Alligation</a:t>
            </a:r>
            <a:r>
              <a:rPr lang="en-IN" sz="3600" b="1" dirty="0">
                <a:solidFill>
                  <a:srgbClr val="000000"/>
                </a:solidFill>
                <a:effectLst/>
                <a:latin typeface="Calibri" panose="020F0502020204030204" pitchFamily="34" charset="0"/>
                <a:ea typeface="Arial" panose="020B0604020202020204" pitchFamily="34" charset="0"/>
              </a:rPr>
              <a:t> through interactive and innovative activities, fostering real-world applications and collaborative learning.</a:t>
            </a:r>
            <a:endParaRPr lang="en-IN" sz="4000" b="1" dirty="0">
              <a:effectLst/>
              <a:latin typeface="Georgia" panose="02040502050405020303" pitchFamily="18" charset="0"/>
              <a:ea typeface="Calibri" panose="020F0502020204030204" pitchFamily="34" charset="0"/>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id="{D622C87D-66F3-E0F4-0306-4C9A87A52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07817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8EF4F-6060-143D-E2D3-D39BCB3ADDA4}"/>
              </a:ext>
            </a:extLst>
          </p:cNvPr>
          <p:cNvSpPr>
            <a:spLocks noGrp="1"/>
          </p:cNvSpPr>
          <p:nvPr>
            <p:ph type="title"/>
          </p:nvPr>
        </p:nvSpPr>
        <p:spPr>
          <a:xfrm>
            <a:off x="558702" y="1102452"/>
            <a:ext cx="10542973" cy="822858"/>
          </a:xfrm>
        </p:spPr>
        <p:txBody>
          <a:bodyPr anchor="ctr">
            <a:normAutofit fontScale="90000"/>
          </a:bodyPr>
          <a:lstStyle/>
          <a:p>
            <a:r>
              <a:rPr lang="en-IN" sz="4000" b="1" dirty="0">
                <a:solidFill>
                  <a:srgbClr val="FFFFFF"/>
                </a:solidFill>
                <a:latin typeface="Arial" panose="020B0604020202020204" pitchFamily="34" charset="0"/>
                <a:cs typeface="Arial" panose="020B0604020202020204" pitchFamily="34" charset="0"/>
              </a:rPr>
              <a:t>At the end of this session students will be able to </a:t>
            </a:r>
          </a:p>
        </p:txBody>
      </p:sp>
      <p:sp>
        <p:nvSpPr>
          <p:cNvPr id="4" name="Footer Placeholder 3">
            <a:extLst>
              <a:ext uri="{FF2B5EF4-FFF2-40B4-BE49-F238E27FC236}">
                <a16:creationId xmlns:a16="http://schemas.microsoft.com/office/drawing/2014/main" id="{9FA7A3F3-F9E0-0ED6-9640-C09E20B4F31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12BD711-0225-BB81-E56E-97842AEFBAFF}"/>
              </a:ext>
            </a:extLst>
          </p:cNvPr>
          <p:cNvSpPr>
            <a:spLocks noGrp="1"/>
          </p:cNvSpPr>
          <p:nvPr>
            <p:ph type="sldNum" sz="quarter" idx="12"/>
          </p:nvPr>
        </p:nvSpPr>
        <p:spPr/>
        <p:txBody>
          <a:bodyPr/>
          <a:lstStyle/>
          <a:p>
            <a:fld id="{26510230-8DD5-4BA5-AB2D-CA30FC08F9D7}" type="slidenum">
              <a:rPr lang="en-IN" smtClean="0"/>
              <a:t>4</a:t>
            </a:fld>
            <a:endParaRPr lang="en-IN"/>
          </a:p>
        </p:txBody>
      </p:sp>
      <p:graphicFrame>
        <p:nvGraphicFramePr>
          <p:cNvPr id="6"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420608488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blue circle with text and words&#10;&#10;Description automatically generated">
            <a:extLst>
              <a:ext uri="{FF2B5EF4-FFF2-40B4-BE49-F238E27FC236}">
                <a16:creationId xmlns:a16="http://schemas.microsoft.com/office/drawing/2014/main" id="{6DC91442-66F2-504B-C67F-2CC391B8CAC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BCE66B6B-F371-2A0A-CB0C-8E7576D582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838591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553B-A216-73BB-FAAB-1FF7D4C33C20}"/>
              </a:ext>
            </a:extLst>
          </p:cNvPr>
          <p:cNvSpPr>
            <a:spLocks noGrp="1"/>
          </p:cNvSpPr>
          <p:nvPr>
            <p:ph type="title"/>
          </p:nvPr>
        </p:nvSpPr>
        <p:spPr>
          <a:xfrm>
            <a:off x="635000" y="640823"/>
            <a:ext cx="3418659" cy="5583148"/>
          </a:xfrm>
        </p:spPr>
        <p:txBody>
          <a:bodyPr anchor="ctr">
            <a:normAutofit/>
          </a:bodyPr>
          <a:lstStyle/>
          <a:p>
            <a:r>
              <a:rPr lang="en-IN" sz="5400" dirty="0"/>
              <a:t>Session Outline</a:t>
            </a:r>
          </a:p>
        </p:txBody>
      </p:sp>
      <p:graphicFrame>
        <p:nvGraphicFramePr>
          <p:cNvPr id="5" name="Content Placeholder 2">
            <a:extLst>
              <a:ext uri="{FF2B5EF4-FFF2-40B4-BE49-F238E27FC236}">
                <a16:creationId xmlns:a16="http://schemas.microsoft.com/office/drawing/2014/main" id="{41A9FE4B-6F20-1C22-6353-F1166E69B9D5}"/>
              </a:ext>
            </a:extLst>
          </p:cNvPr>
          <p:cNvGraphicFramePr>
            <a:graphicFrameLocks noGrp="1"/>
          </p:cNvGraphicFramePr>
          <p:nvPr>
            <p:ph idx="1"/>
            <p:extLst>
              <p:ext uri="{D42A27DB-BD31-4B8C-83A1-F6EECF244321}">
                <p14:modId xmlns:p14="http://schemas.microsoft.com/office/powerpoint/2010/main" val="1275645376"/>
              </p:ext>
            </p:extLst>
          </p:nvPr>
        </p:nvGraphicFramePr>
        <p:xfrm>
          <a:off x="4688087" y="1155411"/>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BC762DD5-123E-828B-BD74-061BEE1CE00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9924FF57-302B-97C8-BD3F-550746DA6FE1}"/>
              </a:ext>
            </a:extLst>
          </p:cNvPr>
          <p:cNvSpPr>
            <a:spLocks noGrp="1"/>
          </p:cNvSpPr>
          <p:nvPr>
            <p:ph type="sldNum" sz="quarter" idx="12"/>
          </p:nvPr>
        </p:nvSpPr>
        <p:spPr/>
        <p:txBody>
          <a:bodyPr/>
          <a:lstStyle/>
          <a:p>
            <a:fld id="{26510230-8DD5-4BA5-AB2D-CA30FC08F9D7}" type="slidenum">
              <a:rPr lang="en-IN" smtClean="0"/>
              <a:t>5</a:t>
            </a:fld>
            <a:endParaRPr lang="en-IN"/>
          </a:p>
        </p:txBody>
      </p:sp>
      <p:pic>
        <p:nvPicPr>
          <p:cNvPr id="7" name="Picture 6" descr="A blue circle with text and words&#10;&#10;Description automatically generated">
            <a:extLst>
              <a:ext uri="{FF2B5EF4-FFF2-40B4-BE49-F238E27FC236}">
                <a16:creationId xmlns:a16="http://schemas.microsoft.com/office/drawing/2014/main" id="{A4DDE187-E81D-B835-E4CD-A2B8788BFA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953114F5-F06B-4D82-5258-AB40ED145D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14255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74F170-7226-598C-E122-20BF0B2B4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210" y="955039"/>
            <a:ext cx="11578790" cy="5902961"/>
          </a:xfrm>
          <a:prstGeom prst="rect">
            <a:avLst/>
          </a:prstGeom>
        </p:spPr>
      </p:pic>
      <p:sp>
        <p:nvSpPr>
          <p:cNvPr id="2" name="Title 1">
            <a:extLst>
              <a:ext uri="{FF2B5EF4-FFF2-40B4-BE49-F238E27FC236}">
                <a16:creationId xmlns:a16="http://schemas.microsoft.com/office/drawing/2014/main" id="{ECF1BBC7-A388-146A-2A39-AFB2E86EE576}"/>
              </a:ext>
            </a:extLst>
          </p:cNvPr>
          <p:cNvSpPr>
            <a:spLocks noGrp="1"/>
          </p:cNvSpPr>
          <p:nvPr>
            <p:ph type="title"/>
          </p:nvPr>
        </p:nvSpPr>
        <p:spPr>
          <a:xfrm>
            <a:off x="359210" y="854440"/>
            <a:ext cx="4646904" cy="489881"/>
          </a:xfrm>
        </p:spPr>
        <p:txBody>
          <a:bodyPr anchor="ctr">
            <a:normAutofit fontScale="90000"/>
          </a:bodyPr>
          <a:lstStyle/>
          <a:p>
            <a:r>
              <a:rPr lang="en-IN" sz="4000" dirty="0">
                <a:latin typeface="Georgia" panose="02040502050405020303" pitchFamily="18" charset="0"/>
              </a:rPr>
              <a:t>Learning Activity 1</a:t>
            </a:r>
          </a:p>
        </p:txBody>
      </p:sp>
      <p:sp>
        <p:nvSpPr>
          <p:cNvPr id="7" name="Footer Placeholder 6">
            <a:extLst>
              <a:ext uri="{FF2B5EF4-FFF2-40B4-BE49-F238E27FC236}">
                <a16:creationId xmlns:a16="http://schemas.microsoft.com/office/drawing/2014/main" id="{54586958-1DB9-1CC5-53F8-FFDE8D57502D}"/>
              </a:ext>
            </a:extLst>
          </p:cNvPr>
          <p:cNvSpPr>
            <a:spLocks noGrp="1"/>
          </p:cNvSpPr>
          <p:nvPr>
            <p:ph type="ftr" sz="quarter" idx="11"/>
          </p:nvPr>
        </p:nvSpPr>
        <p:spPr/>
        <p:txBody>
          <a:bodyPr/>
          <a:lstStyle/>
          <a:p>
            <a:r>
              <a:rPr lang="en-IN"/>
              <a:t>Galgotias University</a:t>
            </a:r>
          </a:p>
        </p:txBody>
      </p:sp>
      <p:sp>
        <p:nvSpPr>
          <p:cNvPr id="8" name="Slide Number Placeholder 7">
            <a:extLst>
              <a:ext uri="{FF2B5EF4-FFF2-40B4-BE49-F238E27FC236}">
                <a16:creationId xmlns:a16="http://schemas.microsoft.com/office/drawing/2014/main" id="{0FBC34C4-937D-0155-8F30-D6ACD001CD6C}"/>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64174061-BF99-492B-2C4A-23874DE91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C44D92CE-8282-0BEE-C5B9-AD12742F2C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345965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E3D3-5416-2940-1D05-671B50B11473}"/>
              </a:ext>
            </a:extLst>
          </p:cNvPr>
          <p:cNvSpPr>
            <a:spLocks noGrp="1"/>
          </p:cNvSpPr>
          <p:nvPr>
            <p:ph type="title"/>
          </p:nvPr>
        </p:nvSpPr>
        <p:spPr>
          <a:xfrm>
            <a:off x="129175" y="976365"/>
            <a:ext cx="4800261" cy="1644592"/>
          </a:xfrm>
        </p:spPr>
        <p:txBody>
          <a:bodyPr vert="horz" lIns="91440" tIns="45720" rIns="91440" bIns="45720" rtlCol="0" anchor="t">
            <a:normAutofit/>
          </a:bodyPr>
          <a:lstStyle/>
          <a:p>
            <a:r>
              <a:rPr lang="en-US" sz="4000" b="1" dirty="0">
                <a:solidFill>
                  <a:schemeClr val="tx2"/>
                </a:solidFill>
              </a:rPr>
              <a:t>Reflection-</a:t>
            </a:r>
            <a:br>
              <a:rPr lang="en-US" sz="4000" b="1" dirty="0">
                <a:solidFill>
                  <a:schemeClr val="tx2"/>
                </a:solidFill>
              </a:rPr>
            </a:br>
            <a:r>
              <a:rPr lang="en-US" sz="4000" b="1" dirty="0">
                <a:solidFill>
                  <a:schemeClr val="tx2"/>
                </a:solidFill>
              </a:rPr>
              <a:t>Learning Activity 1</a:t>
            </a:r>
          </a:p>
        </p:txBody>
      </p:sp>
      <p:sp>
        <p:nvSpPr>
          <p:cNvPr id="7" name="Footer Placeholder 6">
            <a:extLst>
              <a:ext uri="{FF2B5EF4-FFF2-40B4-BE49-F238E27FC236}">
                <a16:creationId xmlns:a16="http://schemas.microsoft.com/office/drawing/2014/main" id="{8DBBCF98-7194-A5B3-66D3-440169D0A907}"/>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1F036879-2E50-808F-68A7-FB01CEB99BF0}"/>
              </a:ext>
            </a:extLst>
          </p:cNvPr>
          <p:cNvSpPr>
            <a:spLocks noGrp="1"/>
          </p:cNvSpPr>
          <p:nvPr>
            <p:ph type="sldNum" sz="quarter" idx="12"/>
          </p:nvPr>
        </p:nvSpPr>
        <p:spPr/>
        <p:txBody>
          <a:bodyPr/>
          <a:lstStyle/>
          <a:p>
            <a:fld id="{26510230-8DD5-4BA5-AB2D-CA30FC08F9D7}" type="slidenum">
              <a:rPr lang="en-IN" smtClean="0"/>
              <a:t>7</a:t>
            </a:fld>
            <a:endParaRPr lang="en-IN"/>
          </a:p>
        </p:txBody>
      </p:sp>
      <p:pic>
        <p:nvPicPr>
          <p:cNvPr id="16" name="Picture 15" descr="A blue circle with text and words&#10;&#10;Description automatically generated">
            <a:extLst>
              <a:ext uri="{FF2B5EF4-FFF2-40B4-BE49-F238E27FC236}">
                <a16:creationId xmlns:a16="http://schemas.microsoft.com/office/drawing/2014/main" id="{820737F5-4AA9-BC02-8957-C9DB2C2DF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42F28D91-705A-E725-0E92-0E34944395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5" name="Picture 4">
            <a:extLst>
              <a:ext uri="{FF2B5EF4-FFF2-40B4-BE49-F238E27FC236}">
                <a16:creationId xmlns:a16="http://schemas.microsoft.com/office/drawing/2014/main" id="{3807C1BC-2A64-01A2-9EA0-8362ECEC5989}"/>
              </a:ext>
            </a:extLst>
          </p:cNvPr>
          <p:cNvPicPr>
            <a:picLocks noChangeAspect="1"/>
          </p:cNvPicPr>
          <p:nvPr/>
        </p:nvPicPr>
        <p:blipFill>
          <a:blip r:embed="rId4"/>
          <a:stretch>
            <a:fillRect/>
          </a:stretch>
        </p:blipFill>
        <p:spPr>
          <a:xfrm>
            <a:off x="0" y="911333"/>
            <a:ext cx="11633298" cy="5035334"/>
          </a:xfrm>
          <a:prstGeom prst="rect">
            <a:avLst/>
          </a:prstGeom>
        </p:spPr>
      </p:pic>
    </p:spTree>
    <p:extLst>
      <p:ext uri="{BB962C8B-B14F-4D97-AF65-F5344CB8AC3E}">
        <p14:creationId xmlns:p14="http://schemas.microsoft.com/office/powerpoint/2010/main" val="2766167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4F02F-0E84-8B46-6A9E-B9A1CA411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05874-FE9A-0F4F-4286-515B7EDD5C3A}"/>
              </a:ext>
            </a:extLst>
          </p:cNvPr>
          <p:cNvSpPr>
            <a:spLocks noGrp="1"/>
          </p:cNvSpPr>
          <p:nvPr>
            <p:ph type="ctrTitle"/>
          </p:nvPr>
        </p:nvSpPr>
        <p:spPr>
          <a:xfrm>
            <a:off x="811660" y="1818526"/>
            <a:ext cx="10376898" cy="3914455"/>
          </a:xfrm>
        </p:spPr>
        <p:txBody>
          <a:bodyPr anchor="b">
            <a:noAutofit/>
          </a:bodyPr>
          <a:lstStyle/>
          <a:p>
            <a:pPr fontAlgn="base"/>
            <a:r>
              <a:rPr lang="en-US" sz="3200" b="1" dirty="0"/>
              <a:t>Mixture: </a:t>
            </a:r>
            <a:r>
              <a:rPr lang="en-US" sz="3200" dirty="0"/>
              <a:t>A combination of two or more items or substances (solids, liquids, or gases) in a particular ratio. </a:t>
            </a:r>
            <a:br>
              <a:rPr lang="en-US" sz="3200" dirty="0"/>
            </a:br>
            <a:r>
              <a:rPr lang="en-US" sz="3200" dirty="0"/>
              <a:t>Examples: alloys (bronze), lemonade, or mixing two types of rice etc.</a:t>
            </a:r>
            <a:br>
              <a:rPr lang="en-US" sz="3200" dirty="0"/>
            </a:br>
            <a:br>
              <a:rPr lang="en-US" sz="3200" dirty="0"/>
            </a:br>
            <a:r>
              <a:rPr lang="en-US" sz="3200" b="1" dirty="0" err="1"/>
              <a:t>Alligation</a:t>
            </a:r>
            <a:r>
              <a:rPr lang="en-US" sz="3200" b="1" dirty="0"/>
              <a:t>: </a:t>
            </a:r>
            <a:r>
              <a:rPr lang="en-US" sz="3200" dirty="0"/>
              <a:t> A mathematical method based on weighted averages that quickly calculates the ratio of ingredients needed to obtain a mixture of a specific "Mean Price" or quality.</a:t>
            </a:r>
            <a:endParaRPr lang="en-IN" sz="3200" b="1" dirty="0">
              <a:effectLst/>
              <a:latin typeface="Georgia" panose="02040502050405020303" pitchFamily="18" charset="0"/>
              <a:ea typeface="Calibri" panose="020F0502020204030204" pitchFamily="34" charset="0"/>
            </a:endParaRPr>
          </a:p>
        </p:txBody>
      </p:sp>
      <p:sp>
        <p:nvSpPr>
          <p:cNvPr id="4" name="Footer Placeholder 3">
            <a:extLst>
              <a:ext uri="{FF2B5EF4-FFF2-40B4-BE49-F238E27FC236}">
                <a16:creationId xmlns:a16="http://schemas.microsoft.com/office/drawing/2014/main" id="{15CDFBFB-8853-4ABB-7D3B-4A9572208222}"/>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01B2C162-2063-5484-CFD4-F14918CA5C12}"/>
              </a:ext>
            </a:extLst>
          </p:cNvPr>
          <p:cNvSpPr>
            <a:spLocks noGrp="1"/>
          </p:cNvSpPr>
          <p:nvPr>
            <p:ph type="sldNum" sz="quarter" idx="12"/>
          </p:nvPr>
        </p:nvSpPr>
        <p:spPr/>
        <p:txBody>
          <a:bodyPr/>
          <a:lstStyle/>
          <a:p>
            <a:fld id="{26510230-8DD5-4BA5-AB2D-CA30FC08F9D7}" type="slidenum">
              <a:rPr lang="en-IN" smtClean="0"/>
              <a:t>8</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89A01B0E-50CC-24FA-FE4E-EC642F422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id="{A0CCDBF9-BFCD-8C8F-A821-6F60C4686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392355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4EBAE-4CF4-A478-768E-02288642AEF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A373A1D-E8FE-D834-C666-B2BF968AC61A}"/>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DC374E1D-E004-B4F9-1FE5-83582B64BB20}"/>
              </a:ext>
            </a:extLst>
          </p:cNvPr>
          <p:cNvSpPr>
            <a:spLocks noGrp="1"/>
          </p:cNvSpPr>
          <p:nvPr>
            <p:ph type="sldNum" sz="quarter" idx="12"/>
          </p:nvPr>
        </p:nvSpPr>
        <p:spPr/>
        <p:txBody>
          <a:bodyPr/>
          <a:lstStyle/>
          <a:p>
            <a:fld id="{26510230-8DD5-4BA5-AB2D-CA30FC08F9D7}" type="slidenum">
              <a:rPr lang="en-IN" smtClean="0"/>
              <a:t>9</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F354FEDB-DD65-BDFE-1284-94CBD5656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8" name="Picture 7">
            <a:extLst>
              <a:ext uri="{FF2B5EF4-FFF2-40B4-BE49-F238E27FC236}">
                <a16:creationId xmlns:a16="http://schemas.microsoft.com/office/drawing/2014/main" id="{4B6E07AC-B4BF-5A7E-DEE4-A785CC8F9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1031" name="Picture 7">
            <a:extLst>
              <a:ext uri="{FF2B5EF4-FFF2-40B4-BE49-F238E27FC236}">
                <a16:creationId xmlns:a16="http://schemas.microsoft.com/office/drawing/2014/main" id="{5A211572-9E2F-A4BD-D88E-B0FB402862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411163"/>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556A235-F81D-1087-7C46-C988FB3F51D4}"/>
              </a:ext>
            </a:extLst>
          </p:cNvPr>
          <p:cNvSpPr txBox="1"/>
          <p:nvPr/>
        </p:nvSpPr>
        <p:spPr>
          <a:xfrm>
            <a:off x="312822" y="1536957"/>
            <a:ext cx="11285620" cy="2554545"/>
          </a:xfrm>
          <a:prstGeom prst="rect">
            <a:avLst/>
          </a:prstGeom>
          <a:noFill/>
        </p:spPr>
        <p:txBody>
          <a:bodyPr wrap="square">
            <a:spAutoFit/>
          </a:bodyPr>
          <a:lstStyle/>
          <a:p>
            <a:r>
              <a:rPr lang="en-IN" sz="3200" b="1" dirty="0"/>
              <a:t> The </a:t>
            </a:r>
            <a:r>
              <a:rPr lang="en-IN" sz="3200" b="1" dirty="0" err="1"/>
              <a:t>Alligation</a:t>
            </a:r>
            <a:r>
              <a:rPr lang="en-IN" sz="3200" b="1" dirty="0"/>
              <a:t> Rule &amp; Formula</a:t>
            </a:r>
          </a:p>
          <a:p>
            <a:r>
              <a:rPr lang="en-US" sz="3200" b="1" dirty="0"/>
              <a:t>The most common way to solve these problems is the "Criss-Cross" method. It states that the ratio of ingredients is inversely proportional to the differences in their prices.</a:t>
            </a:r>
            <a:endParaRPr lang="en-IN" sz="3200" b="1" dirty="0"/>
          </a:p>
        </p:txBody>
      </p:sp>
      <p:pic>
        <p:nvPicPr>
          <p:cNvPr id="18" name="Picture 17">
            <a:extLst>
              <a:ext uri="{FF2B5EF4-FFF2-40B4-BE49-F238E27FC236}">
                <a16:creationId xmlns:a16="http://schemas.microsoft.com/office/drawing/2014/main" id="{C1F3C190-99E0-072A-AA2C-30FD353C1140}"/>
              </a:ext>
            </a:extLst>
          </p:cNvPr>
          <p:cNvPicPr>
            <a:picLocks noChangeAspect="1"/>
          </p:cNvPicPr>
          <p:nvPr/>
        </p:nvPicPr>
        <p:blipFill>
          <a:blip r:embed="rId5"/>
          <a:stretch>
            <a:fillRect/>
          </a:stretch>
        </p:blipFill>
        <p:spPr>
          <a:xfrm>
            <a:off x="1271897" y="4186803"/>
            <a:ext cx="9367470" cy="1766957"/>
          </a:xfrm>
          <a:prstGeom prst="rect">
            <a:avLst/>
          </a:prstGeom>
        </p:spPr>
      </p:pic>
    </p:spTree>
    <p:extLst>
      <p:ext uri="{BB962C8B-B14F-4D97-AF65-F5344CB8AC3E}">
        <p14:creationId xmlns:p14="http://schemas.microsoft.com/office/powerpoint/2010/main" val="4141811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DD0D7C-301D-01C2-C0B4-A3AA137A4317}"/>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67F2694-9FE5-165A-F8A0-41225799F3AA}"/>
              </a:ext>
            </a:extLst>
          </p:cNvPr>
          <p:cNvSpPr>
            <a:spLocks noGrp="1"/>
          </p:cNvSpPr>
          <p:nvPr>
            <p:ph type="sldNum" sz="quarter" idx="12"/>
          </p:nvPr>
        </p:nvSpPr>
        <p:spPr/>
        <p:txBody>
          <a:bodyPr/>
          <a:lstStyle/>
          <a:p>
            <a:fld id="{26510230-8DD5-4BA5-AB2D-CA30FC08F9D7}" type="slidenum">
              <a:rPr lang="en-IN" smtClean="0"/>
              <a:t>10</a:t>
            </a:fld>
            <a:endParaRPr lang="en-IN"/>
          </a:p>
        </p:txBody>
      </p:sp>
      <p:pic>
        <p:nvPicPr>
          <p:cNvPr id="7" name="Picture 6">
            <a:extLst>
              <a:ext uri="{FF2B5EF4-FFF2-40B4-BE49-F238E27FC236}">
                <a16:creationId xmlns:a16="http://schemas.microsoft.com/office/drawing/2014/main" id="{5A20509D-C444-CB92-F57F-1FFBA104CBDC}"/>
              </a:ext>
            </a:extLst>
          </p:cNvPr>
          <p:cNvPicPr>
            <a:picLocks noChangeAspect="1"/>
          </p:cNvPicPr>
          <p:nvPr/>
        </p:nvPicPr>
        <p:blipFill>
          <a:blip r:embed="rId2"/>
          <a:stretch>
            <a:fillRect/>
          </a:stretch>
        </p:blipFill>
        <p:spPr>
          <a:xfrm>
            <a:off x="707199" y="2165800"/>
            <a:ext cx="11058264" cy="4082600"/>
          </a:xfrm>
          <a:prstGeom prst="rect">
            <a:avLst/>
          </a:prstGeom>
        </p:spPr>
      </p:pic>
    </p:spTree>
    <p:extLst>
      <p:ext uri="{BB962C8B-B14F-4D97-AF65-F5344CB8AC3E}">
        <p14:creationId xmlns:p14="http://schemas.microsoft.com/office/powerpoint/2010/main" val="1106150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C722A-182A-CE60-FC66-EFDEA74AC7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4821D7-5A6F-053D-73D6-0D36586E9631}"/>
              </a:ext>
            </a:extLst>
          </p:cNvPr>
          <p:cNvSpPr>
            <a:spLocks noGrp="1"/>
          </p:cNvSpPr>
          <p:nvPr>
            <p:ph type="body" sz="quarter" idx="13"/>
          </p:nvPr>
        </p:nvSpPr>
        <p:spPr>
          <a:xfrm>
            <a:off x="558702" y="1012734"/>
            <a:ext cx="11071669" cy="4310877"/>
          </a:xfrm>
          <a:noFill/>
          <a:ln>
            <a:noFill/>
          </a:ln>
        </p:spPr>
        <p:txBody>
          <a:bodyPr>
            <a:noAutofit/>
          </a:bodyPr>
          <a:lstStyle/>
          <a:p>
            <a:pPr lvl="0"/>
            <a:r>
              <a:rPr lang="en-US" b="1" dirty="0"/>
              <a:t>Q 1. Two varieties of tea are mixed in some ratio. The cost of the first variety is ₹20 per Kg and that of second variety is ₹30 per Kg. If the average cost of the resulting mixture is ₹25 per Kg, find the ratio. </a:t>
            </a:r>
            <a:endParaRPr lang="en-IN" b="1" dirty="0"/>
          </a:p>
          <a:p>
            <a:pPr marL="514350" indent="-514350">
              <a:buAutoNum type="alphaLcParenR"/>
            </a:pPr>
            <a:r>
              <a:rPr lang="en-US" b="1" dirty="0"/>
              <a:t>1:2          </a:t>
            </a:r>
          </a:p>
          <a:p>
            <a:r>
              <a:rPr lang="en-US" b="1" dirty="0"/>
              <a:t>b) 1:1        </a:t>
            </a:r>
          </a:p>
          <a:p>
            <a:r>
              <a:rPr lang="en-US" b="1" dirty="0"/>
              <a:t>c) 2:3         </a:t>
            </a:r>
          </a:p>
          <a:p>
            <a:r>
              <a:rPr lang="en-US" b="1" dirty="0"/>
              <a:t>d) 6:5</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C7984272-E3C5-322C-84C4-B1C5D6C3F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2F69FE7D-D53E-AAB8-BD8B-B7034F8ADD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582771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8" y="1206345"/>
            <a:ext cx="11071669" cy="4310877"/>
          </a:xfrm>
          <a:noFill/>
          <a:ln>
            <a:noFill/>
          </a:ln>
        </p:spPr>
        <p:txBody>
          <a:bodyPr>
            <a:noAutofit/>
          </a:bodyPr>
          <a:lstStyle/>
          <a:p>
            <a:pPr lvl="0">
              <a:spcAft>
                <a:spcPts val="800"/>
              </a:spcAft>
              <a:tabLst>
                <a:tab pos="457200" algn="l"/>
              </a:tabLst>
            </a:pPr>
            <a:r>
              <a:rPr lang="en-IN" b="1" dirty="0"/>
              <a:t>Q2. A shopkeeper sells two types of sugar, one costing ₹45/kg and the other ₹60/kg. In what ratio should they be mixed to create a mixture worth ₹50/kg?</a:t>
            </a:r>
            <a:br>
              <a:rPr lang="en-IN" b="1" dirty="0"/>
            </a:br>
            <a:r>
              <a:rPr lang="en-IN" b="1" dirty="0"/>
              <a:t>(a) 2:1		 (b) 2:3		 (c) 3:2 		(d) 4:5</a:t>
            </a:r>
          </a:p>
        </p:txBody>
      </p:sp>
      <p:pic>
        <p:nvPicPr>
          <p:cNvPr id="3" name="Picture 2" descr="A blue circle with text and words&#10;&#10;Description automatically generated">
            <a:extLst>
              <a:ext uri="{FF2B5EF4-FFF2-40B4-BE49-F238E27FC236}">
                <a16:creationId xmlns:a16="http://schemas.microsoft.com/office/drawing/2014/main" id="{4767FC42-4141-FB45-88F2-3F01AF0893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8A509544-82A8-1456-AE0B-7727A86DA1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804462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67A45-D7D3-B0F8-C138-451F7D6A1F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263968-FA7B-4F9F-90C2-346A88E9EFAA}"/>
              </a:ext>
            </a:extLst>
          </p:cNvPr>
          <p:cNvSpPr>
            <a:spLocks noGrp="1"/>
          </p:cNvSpPr>
          <p:nvPr>
            <p:ph type="body" sz="quarter" idx="13"/>
          </p:nvPr>
        </p:nvSpPr>
        <p:spPr>
          <a:xfrm>
            <a:off x="558702" y="1012734"/>
            <a:ext cx="11071669" cy="4310877"/>
          </a:xfrm>
          <a:noFill/>
          <a:ln>
            <a:noFill/>
          </a:ln>
        </p:spPr>
        <p:txBody>
          <a:bodyPr>
            <a:noAutofit/>
          </a:bodyPr>
          <a:lstStyle/>
          <a:p>
            <a:pPr lvl="0"/>
            <a:r>
              <a:rPr lang="en-US" b="1" dirty="0"/>
              <a:t>Q-3.Two varieties of rice are in the ratio of 3:2 such that the average price of the resulting mixture is ₹15 per Kg. The price of first of the varieties is ₹10 per Kg. Find the price of the second variety of rice.</a:t>
            </a:r>
            <a:endParaRPr lang="en-IN" b="1" dirty="0"/>
          </a:p>
          <a:p>
            <a:pPr marL="514350" indent="-514350">
              <a:buAutoNum type="alphaLcParenR"/>
            </a:pPr>
            <a:r>
              <a:rPr lang="en-US" b="1" dirty="0"/>
              <a:t>30          </a:t>
            </a:r>
          </a:p>
          <a:p>
            <a:r>
              <a:rPr lang="en-US" b="1" dirty="0"/>
              <a:t>b) 20		</a:t>
            </a:r>
          </a:p>
          <a:p>
            <a:r>
              <a:rPr lang="en-US" b="1" dirty="0"/>
              <a:t>c) 22.5          </a:t>
            </a:r>
          </a:p>
          <a:p>
            <a:r>
              <a:rPr lang="en-US" b="1" dirty="0"/>
              <a:t>d) 33</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6A920493-BD8B-482A-5D93-3DB99625A1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600AC982-1D46-2718-D498-9D27C422AA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921134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B985A-2C6E-9C35-8B1E-96BB51BB6B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7D4CA1-2530-863C-FD80-4B045C432961}"/>
              </a:ext>
            </a:extLst>
          </p:cNvPr>
          <p:cNvSpPr>
            <a:spLocks noGrp="1"/>
          </p:cNvSpPr>
          <p:nvPr>
            <p:ph type="body" sz="quarter" idx="13"/>
          </p:nvPr>
        </p:nvSpPr>
        <p:spPr>
          <a:xfrm>
            <a:off x="558702" y="1012734"/>
            <a:ext cx="11071669" cy="4310877"/>
          </a:xfrm>
          <a:noFill/>
          <a:ln>
            <a:noFill/>
          </a:ln>
        </p:spPr>
        <p:txBody>
          <a:bodyPr>
            <a:noAutofit/>
          </a:bodyPr>
          <a:lstStyle/>
          <a:p>
            <a:pPr lvl="0"/>
            <a:r>
              <a:rPr lang="en-US" b="1" dirty="0"/>
              <a:t>Q-4. Calculate the average price of the resulting mixture when two variety of sugar at ₹12 per Kg and ₹15 per Kg are mixed in the ratio of 2:3.</a:t>
            </a:r>
            <a:endParaRPr lang="en-IN" b="1" dirty="0"/>
          </a:p>
          <a:p>
            <a:r>
              <a:rPr lang="en-US" b="1" dirty="0"/>
              <a:t>a) 13.8       	 </a:t>
            </a:r>
          </a:p>
          <a:p>
            <a:r>
              <a:rPr lang="en-US" b="1" dirty="0"/>
              <a:t>b) 12      	</a:t>
            </a:r>
          </a:p>
          <a:p>
            <a:r>
              <a:rPr lang="en-US" b="1" dirty="0"/>
              <a:t>c) 20		 </a:t>
            </a:r>
          </a:p>
          <a:p>
            <a:r>
              <a:rPr lang="en-US" b="1" dirty="0"/>
              <a:t>d) 22</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1A425881-B50A-A566-A948-CED1163E89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AFF8855E-0E2B-AF5A-6B21-1CBFB663E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366464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96BAD-6B1A-7686-18BB-F0E3257AE3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0DDBD9-21EE-CB42-73A7-205F0F52EB11}"/>
              </a:ext>
            </a:extLst>
          </p:cNvPr>
          <p:cNvSpPr>
            <a:spLocks noGrp="1"/>
          </p:cNvSpPr>
          <p:nvPr>
            <p:ph type="body" sz="quarter" idx="13"/>
          </p:nvPr>
        </p:nvSpPr>
        <p:spPr>
          <a:xfrm>
            <a:off x="558702" y="1012734"/>
            <a:ext cx="11071669" cy="4310877"/>
          </a:xfrm>
          <a:noFill/>
          <a:ln>
            <a:noFill/>
          </a:ln>
        </p:spPr>
        <p:txBody>
          <a:bodyPr>
            <a:noAutofit/>
          </a:bodyPr>
          <a:lstStyle/>
          <a:p>
            <a:r>
              <a:rPr lang="en-US" b="1" dirty="0"/>
              <a:t>Q-5. In what ratio must two kinds of sugar at Rs. 1.15 and Rs. 1.24 per kg be mixed so that by selling at Rs. 1.50 per kg, 25% may be gained?</a:t>
            </a:r>
            <a:endParaRPr lang="en-IN" b="1" dirty="0"/>
          </a:p>
          <a:p>
            <a:r>
              <a:rPr lang="en-US" b="1" dirty="0"/>
              <a:t>A) 4: 5</a:t>
            </a:r>
            <a:endParaRPr lang="en-IN" b="1" dirty="0"/>
          </a:p>
          <a:p>
            <a:r>
              <a:rPr lang="en-US" b="1" dirty="0"/>
              <a:t>B) 5: 4</a:t>
            </a:r>
            <a:endParaRPr lang="en-IN" b="1" dirty="0"/>
          </a:p>
          <a:p>
            <a:r>
              <a:rPr lang="en-US" b="1" dirty="0"/>
              <a:t>C) 1: 1</a:t>
            </a:r>
            <a:endParaRPr lang="en-IN" b="1" dirty="0"/>
          </a:p>
          <a:p>
            <a:r>
              <a:rPr lang="en-US" b="1" dirty="0"/>
              <a:t>D) 2: 3</a:t>
            </a:r>
            <a:endParaRPr lang="en-IN" b="1" dirty="0"/>
          </a:p>
          <a:p>
            <a:r>
              <a:rPr lang="en-US" b="1" dirty="0"/>
              <a:t>E) None of these</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3C94196D-EF6A-9E29-45DA-35540912D0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AF11E148-55DF-AB95-AFAB-0F4589CA00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067430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649DC-9F8A-89F1-F78B-47A46EB69D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C1D3F1-8E9A-CC23-D19C-B01B8CE3011D}"/>
              </a:ext>
            </a:extLst>
          </p:cNvPr>
          <p:cNvSpPr>
            <a:spLocks noGrp="1"/>
          </p:cNvSpPr>
          <p:nvPr>
            <p:ph type="body" sz="quarter" idx="13"/>
          </p:nvPr>
        </p:nvSpPr>
        <p:spPr>
          <a:xfrm>
            <a:off x="558702" y="1012734"/>
            <a:ext cx="11071669" cy="4310877"/>
          </a:xfrm>
          <a:noFill/>
          <a:ln>
            <a:noFill/>
          </a:ln>
        </p:spPr>
        <p:txBody>
          <a:bodyPr>
            <a:noAutofit/>
          </a:bodyPr>
          <a:lstStyle/>
          <a:p>
            <a:pPr lvl="0"/>
            <a:r>
              <a:rPr lang="en-US" b="1" dirty="0"/>
              <a:t>Q-6. Two varieties of wheat are mixed in the ratio of 4:5. The price of the mixture is ₹15 per Kg. The price of the variety having lesser weight is ₹12 per Kg. Calculate the price of the other variety .</a:t>
            </a:r>
            <a:endParaRPr lang="en-IN" b="1" dirty="0"/>
          </a:p>
          <a:p>
            <a:r>
              <a:rPr lang="en-US" b="1" dirty="0"/>
              <a:t>a) 17.4		  	</a:t>
            </a:r>
          </a:p>
          <a:p>
            <a:r>
              <a:rPr lang="en-US" b="1" dirty="0"/>
              <a:t>b) 16			</a:t>
            </a:r>
          </a:p>
          <a:p>
            <a:r>
              <a:rPr lang="en-US" b="1" dirty="0"/>
              <a:t>c) 30			</a:t>
            </a:r>
          </a:p>
          <a:p>
            <a:r>
              <a:rPr lang="en-US" b="1" dirty="0"/>
              <a:t>d) 20</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91B22E13-FF3C-14CD-5984-A6BB5D80D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323D53E6-4973-59BA-0311-93ECD68653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920704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35990-EFC2-2353-2EB7-9AB6D7E528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C6549E4-9FF4-4D2E-DC47-309BA7E10707}"/>
              </a:ext>
            </a:extLst>
          </p:cNvPr>
          <p:cNvSpPr>
            <a:spLocks noGrp="1"/>
          </p:cNvSpPr>
          <p:nvPr>
            <p:ph type="body" sz="quarter" idx="13"/>
          </p:nvPr>
        </p:nvSpPr>
        <p:spPr>
          <a:xfrm>
            <a:off x="558702" y="1012734"/>
            <a:ext cx="11071669" cy="4310877"/>
          </a:xfrm>
          <a:noFill/>
          <a:ln>
            <a:noFill/>
          </a:ln>
        </p:spPr>
        <p:txBody>
          <a:bodyPr>
            <a:noAutofit/>
          </a:bodyPr>
          <a:lstStyle/>
          <a:p>
            <a:r>
              <a:rPr lang="en-US" b="1" dirty="0"/>
              <a:t>Q-7.  How many kg of Sugar at 50 P per kg must a man mix with 25 kg of sugar at 34P per kg so that by selling the mixture at 44P per kg he gains 10% on the outlay?</a:t>
            </a:r>
            <a:endParaRPr lang="en-IN" b="1" dirty="0"/>
          </a:p>
          <a:p>
            <a:r>
              <a:rPr lang="en-US" b="1" dirty="0"/>
              <a:t>1. 10 kg</a:t>
            </a:r>
            <a:endParaRPr lang="en-IN" b="1" dirty="0"/>
          </a:p>
          <a:p>
            <a:r>
              <a:rPr lang="en-US" b="1" dirty="0"/>
              <a:t>2. 15 kg</a:t>
            </a:r>
            <a:endParaRPr lang="en-IN" b="1" dirty="0"/>
          </a:p>
          <a:p>
            <a:r>
              <a:rPr lang="en-US" b="1" dirty="0"/>
              <a:t>3. 20 kg</a:t>
            </a:r>
            <a:endParaRPr lang="en-IN" b="1" dirty="0"/>
          </a:p>
          <a:p>
            <a:r>
              <a:rPr lang="en-US" b="1" dirty="0"/>
              <a:t>4. 16 kg</a:t>
            </a:r>
            <a:endParaRPr lang="en-IN" b="1" dirty="0"/>
          </a:p>
          <a:p>
            <a:r>
              <a:rPr lang="en-US" b="1" dirty="0"/>
              <a:t>5. 18 kg</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4E7DAA78-0744-DC3E-5F53-11E8683B4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1E38DD0D-E576-5B06-712C-184EF7BBFA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4029870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8" y="1206345"/>
            <a:ext cx="11071669" cy="4167039"/>
          </a:xfrm>
          <a:noFill/>
          <a:ln>
            <a:noFill/>
          </a:ln>
        </p:spPr>
        <p:txBody>
          <a:bodyPr>
            <a:noAutofit/>
          </a:bodyPr>
          <a:lstStyle/>
          <a:p>
            <a:pPr>
              <a:spcAft>
                <a:spcPts val="800"/>
              </a:spcAft>
              <a:tabLst>
                <a:tab pos="457200" algn="l"/>
              </a:tabLst>
            </a:pPr>
            <a:r>
              <a:rPr lang="en-IN" b="1" dirty="0"/>
              <a:t>Q 8. The milk to water ratio in two containers is 4:1 and 2:5 respectively. In what ratio should they be mixed to obtain a final mixture with a milk to water ratio of 1:1?</a:t>
            </a:r>
            <a:br>
              <a:rPr lang="en-IN" b="1" dirty="0"/>
            </a:br>
            <a:r>
              <a:rPr lang="en-IN" b="1" dirty="0"/>
              <a:t>(a) 3:2	</a:t>
            </a:r>
          </a:p>
          <a:p>
            <a:pPr>
              <a:spcAft>
                <a:spcPts val="800"/>
              </a:spcAft>
              <a:tabLst>
                <a:tab pos="457200" algn="l"/>
              </a:tabLst>
            </a:pPr>
            <a:r>
              <a:rPr lang="en-IN" b="1" dirty="0"/>
              <a:t>(b) 4:3	</a:t>
            </a:r>
          </a:p>
          <a:p>
            <a:pPr>
              <a:spcAft>
                <a:spcPts val="800"/>
              </a:spcAft>
              <a:tabLst>
                <a:tab pos="457200" algn="l"/>
              </a:tabLst>
            </a:pPr>
            <a:r>
              <a:rPr lang="en-IN" b="1" dirty="0"/>
              <a:t>(c) 5:7	</a:t>
            </a:r>
          </a:p>
          <a:p>
            <a:pPr>
              <a:spcAft>
                <a:spcPts val="800"/>
              </a:spcAft>
              <a:tabLst>
                <a:tab pos="457200" algn="l"/>
              </a:tabLst>
            </a:pPr>
            <a:r>
              <a:rPr lang="en-IN" b="1" dirty="0"/>
              <a:t>(d) 7:5</a:t>
            </a:r>
          </a:p>
        </p:txBody>
      </p:sp>
      <p:pic>
        <p:nvPicPr>
          <p:cNvPr id="3" name="Picture 2" descr="A blue circle with text and words&#10;&#10;Description automatically generated">
            <a:extLst>
              <a:ext uri="{FF2B5EF4-FFF2-40B4-BE49-F238E27FC236}">
                <a16:creationId xmlns:a16="http://schemas.microsoft.com/office/drawing/2014/main" id="{C326FE9E-97A2-C463-CEF6-A88BC5F66D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5095D7B6-49C6-8F2E-D83B-217492BBBB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3610049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8" y="1206345"/>
            <a:ext cx="11171459" cy="3920459"/>
          </a:xfrm>
          <a:noFill/>
          <a:ln>
            <a:noFill/>
          </a:ln>
        </p:spPr>
        <p:txBody>
          <a:bodyPr>
            <a:noAutofit/>
          </a:bodyPr>
          <a:lstStyle/>
          <a:p>
            <a:pPr lvl="0">
              <a:spcAft>
                <a:spcPts val="800"/>
              </a:spcAft>
              <a:tabLst>
                <a:tab pos="457200" algn="l"/>
              </a:tabLst>
            </a:pPr>
            <a:r>
              <a:rPr lang="en-IN" b="1" dirty="0"/>
              <a:t>Q-9. A tank contains 80 litres of a 20% salt solution. How much pure water should be added to make it a 10% solution?</a:t>
            </a:r>
            <a:br>
              <a:rPr lang="en-IN" b="1" dirty="0"/>
            </a:br>
            <a:r>
              <a:rPr lang="en-IN" b="1" dirty="0"/>
              <a:t>(a) 40 litres	 </a:t>
            </a:r>
          </a:p>
          <a:p>
            <a:pPr lvl="0">
              <a:spcAft>
                <a:spcPts val="800"/>
              </a:spcAft>
              <a:tabLst>
                <a:tab pos="457200" algn="l"/>
              </a:tabLst>
            </a:pPr>
            <a:r>
              <a:rPr lang="en-IN" b="1" dirty="0"/>
              <a:t>(b) 50 litres	 </a:t>
            </a:r>
          </a:p>
          <a:p>
            <a:pPr lvl="0">
              <a:spcAft>
                <a:spcPts val="800"/>
              </a:spcAft>
              <a:tabLst>
                <a:tab pos="457200" algn="l"/>
              </a:tabLst>
            </a:pPr>
            <a:r>
              <a:rPr lang="en-IN" b="1" dirty="0"/>
              <a:t>(c) 60 litres	 </a:t>
            </a:r>
          </a:p>
          <a:p>
            <a:pPr lvl="0">
              <a:spcAft>
                <a:spcPts val="800"/>
              </a:spcAft>
              <a:tabLst>
                <a:tab pos="457200" algn="l"/>
              </a:tabLst>
            </a:pPr>
            <a:r>
              <a:rPr lang="en-IN" b="1" dirty="0"/>
              <a:t>(d) 80 litres</a:t>
            </a:r>
          </a:p>
        </p:txBody>
      </p:sp>
      <p:pic>
        <p:nvPicPr>
          <p:cNvPr id="3" name="Picture 2" descr="A blue circle with text and words&#10;&#10;Description automatically generated">
            <a:extLst>
              <a:ext uri="{FF2B5EF4-FFF2-40B4-BE49-F238E27FC236}">
                <a16:creationId xmlns:a16="http://schemas.microsoft.com/office/drawing/2014/main" id="{6F734209-B10E-1C53-A09A-45A387D7D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D7864662-CD25-A7B3-EE98-90EC31DC37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8573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458900" y="1247442"/>
            <a:ext cx="11274200" cy="4865682"/>
          </a:xfrm>
          <a:noFill/>
          <a:ln>
            <a:noFill/>
          </a:ln>
        </p:spPr>
        <p:txBody>
          <a:bodyPr>
            <a:noAutofit/>
          </a:bodyPr>
          <a:lstStyle/>
          <a:p>
            <a:pPr>
              <a:spcAft>
                <a:spcPts val="800"/>
              </a:spcAft>
              <a:tabLst>
                <a:tab pos="457200" algn="l"/>
              </a:tabLst>
            </a:pPr>
            <a:r>
              <a:rPr lang="en-IN" b="1" dirty="0"/>
              <a:t>Q-10. A container has 50 litres of a milk-water solution in a 3:2 ratio. If 10 litres is removed and replaced with water, find the new ratio of milk to water.</a:t>
            </a:r>
            <a:br>
              <a:rPr lang="en-IN" b="1" dirty="0"/>
            </a:br>
            <a:r>
              <a:rPr lang="en-IN" b="1" dirty="0"/>
              <a:t>(a) 9:11 		</a:t>
            </a:r>
          </a:p>
          <a:p>
            <a:pPr>
              <a:spcAft>
                <a:spcPts val="800"/>
              </a:spcAft>
              <a:tabLst>
                <a:tab pos="457200" algn="l"/>
              </a:tabLst>
            </a:pPr>
            <a:r>
              <a:rPr lang="en-IN" b="1" dirty="0"/>
              <a:t>(b) 10:15 		</a:t>
            </a:r>
          </a:p>
          <a:p>
            <a:pPr>
              <a:spcAft>
                <a:spcPts val="800"/>
              </a:spcAft>
              <a:tabLst>
                <a:tab pos="457200" algn="l"/>
              </a:tabLst>
            </a:pPr>
            <a:r>
              <a:rPr lang="en-IN" b="1" dirty="0"/>
              <a:t>(c) 11:19 	</a:t>
            </a:r>
          </a:p>
          <a:p>
            <a:pPr>
              <a:spcAft>
                <a:spcPts val="800"/>
              </a:spcAft>
              <a:tabLst>
                <a:tab pos="457200" algn="l"/>
              </a:tabLst>
            </a:pPr>
            <a:r>
              <a:rPr lang="en-IN" b="1" dirty="0"/>
              <a:t>(d) 12:13</a:t>
            </a:r>
          </a:p>
        </p:txBody>
      </p:sp>
      <p:pic>
        <p:nvPicPr>
          <p:cNvPr id="3" name="Picture 2" descr="A blue circle with text and words&#10;&#10;Description automatically generated">
            <a:extLst>
              <a:ext uri="{FF2B5EF4-FFF2-40B4-BE49-F238E27FC236}">
                <a16:creationId xmlns:a16="http://schemas.microsoft.com/office/drawing/2014/main" id="{B4E4686D-4FB1-C5FA-06EC-6D7DEABF0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A8552516-7997-2FF2-ABC0-DA0AD99343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132000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04C5A-F04F-3B51-165C-7BBAA73C09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84ACDB-A7A1-CE0D-08E2-98A83141856A}"/>
              </a:ext>
            </a:extLst>
          </p:cNvPr>
          <p:cNvSpPr>
            <a:spLocks noGrp="1"/>
          </p:cNvSpPr>
          <p:nvPr>
            <p:ph type="body" sz="quarter" idx="13"/>
          </p:nvPr>
        </p:nvSpPr>
        <p:spPr>
          <a:xfrm>
            <a:off x="558702" y="1012734"/>
            <a:ext cx="11071669" cy="4310877"/>
          </a:xfrm>
          <a:noFill/>
          <a:ln>
            <a:noFill/>
          </a:ln>
        </p:spPr>
        <p:txBody>
          <a:bodyPr>
            <a:noAutofit/>
          </a:bodyPr>
          <a:lstStyle/>
          <a:p>
            <a:pPr lvl="0">
              <a:spcAft>
                <a:spcPts val="800"/>
              </a:spcAft>
              <a:tabLst>
                <a:tab pos="457200" algn="l"/>
              </a:tabLst>
            </a:pPr>
            <a:r>
              <a:rPr lang="en-US" b="1" dirty="0"/>
              <a:t>Q-11. A milkman mixes 30L of water in 90L of milk. He then sells 1/4th of this mixture. Now he adds water to replenish the quantity of milk sold. Find the current proportion of milk and water. </a:t>
            </a:r>
            <a:endParaRPr lang="en-IN" b="1" dirty="0"/>
          </a:p>
          <a:p>
            <a:pPr>
              <a:spcAft>
                <a:spcPts val="800"/>
              </a:spcAft>
              <a:tabLst>
                <a:tab pos="457200" algn="l"/>
              </a:tabLst>
            </a:pPr>
            <a:r>
              <a:rPr lang="en-US" b="1" dirty="0"/>
              <a:t>a) 25:9</a:t>
            </a:r>
          </a:p>
          <a:p>
            <a:pPr>
              <a:spcAft>
                <a:spcPts val="800"/>
              </a:spcAft>
              <a:tabLst>
                <a:tab pos="457200" algn="l"/>
              </a:tabLst>
            </a:pPr>
            <a:r>
              <a:rPr lang="en-US" b="1" dirty="0"/>
              <a:t>b) 9:7			</a:t>
            </a:r>
          </a:p>
          <a:p>
            <a:pPr>
              <a:spcAft>
                <a:spcPts val="800"/>
              </a:spcAft>
              <a:tabLst>
                <a:tab pos="457200" algn="l"/>
              </a:tabLst>
            </a:pPr>
            <a:r>
              <a:rPr lang="en-US" b="1" dirty="0"/>
              <a:t>c) 16:9			</a:t>
            </a:r>
          </a:p>
          <a:p>
            <a:pPr>
              <a:spcAft>
                <a:spcPts val="800"/>
              </a:spcAft>
              <a:tabLst>
                <a:tab pos="457200" algn="l"/>
              </a:tabLst>
            </a:pPr>
            <a:r>
              <a:rPr lang="en-US" b="1" dirty="0"/>
              <a:t>d) 16:7</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3A794AF7-55DC-7E14-6477-B8193B0F2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F7EDEAD6-2D6D-5399-DB6E-231DAC8436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743987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9CB67-EF30-03B6-BF82-F5042589CCB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F53126-9DE6-020F-33C0-2756CBCC1C0B}"/>
              </a:ext>
            </a:extLst>
          </p:cNvPr>
          <p:cNvSpPr>
            <a:spLocks noGrp="1"/>
          </p:cNvSpPr>
          <p:nvPr>
            <p:ph type="body" sz="quarter" idx="13"/>
          </p:nvPr>
        </p:nvSpPr>
        <p:spPr>
          <a:xfrm>
            <a:off x="558702" y="1012734"/>
            <a:ext cx="11071669" cy="4310877"/>
          </a:xfrm>
          <a:noFill/>
          <a:ln>
            <a:noFill/>
          </a:ln>
        </p:spPr>
        <p:txBody>
          <a:bodyPr>
            <a:noAutofit/>
          </a:bodyPr>
          <a:lstStyle/>
          <a:p>
            <a:pPr>
              <a:spcAft>
                <a:spcPts val="800"/>
              </a:spcAft>
              <a:tabLst>
                <a:tab pos="457200" algn="l"/>
              </a:tabLst>
            </a:pPr>
            <a:r>
              <a:rPr lang="en-US" b="1" dirty="0"/>
              <a:t>Q-12. An alloy of copper and nickel contains 65 % copper. A second alloy contains copper and nickel in the ratio 17 : 3. In what ratio should the two alloys be mixed so that the new mixture contains 4 times as much copper as nickel?</a:t>
            </a:r>
            <a:endParaRPr lang="en-IN" b="1" dirty="0"/>
          </a:p>
          <a:p>
            <a:pPr>
              <a:spcAft>
                <a:spcPts val="800"/>
              </a:spcAft>
              <a:tabLst>
                <a:tab pos="457200" algn="l"/>
              </a:tabLst>
            </a:pPr>
            <a:r>
              <a:rPr lang="en-US" b="1" dirty="0"/>
              <a:t>1. 4 : 5</a:t>
            </a:r>
            <a:endParaRPr lang="en-IN" b="1" dirty="0"/>
          </a:p>
          <a:p>
            <a:pPr>
              <a:spcAft>
                <a:spcPts val="800"/>
              </a:spcAft>
              <a:tabLst>
                <a:tab pos="457200" algn="l"/>
              </a:tabLst>
            </a:pPr>
            <a:r>
              <a:rPr lang="en-US" b="1" dirty="0"/>
              <a:t>2. 5 : 4</a:t>
            </a:r>
            <a:endParaRPr lang="en-IN" b="1" dirty="0"/>
          </a:p>
          <a:p>
            <a:pPr>
              <a:spcAft>
                <a:spcPts val="800"/>
              </a:spcAft>
              <a:tabLst>
                <a:tab pos="457200" algn="l"/>
              </a:tabLst>
            </a:pPr>
            <a:r>
              <a:rPr lang="en-US" b="1" dirty="0"/>
              <a:t>3. 1 : 3	</a:t>
            </a:r>
            <a:endParaRPr lang="en-IN" b="1" dirty="0"/>
          </a:p>
          <a:p>
            <a:pPr>
              <a:spcAft>
                <a:spcPts val="800"/>
              </a:spcAft>
              <a:tabLst>
                <a:tab pos="457200" algn="l"/>
              </a:tabLst>
            </a:pPr>
            <a:r>
              <a:rPr lang="en-US" b="1" dirty="0"/>
              <a:t>4. 2 : 3</a:t>
            </a:r>
            <a:endParaRPr lang="en-IN" b="1" dirty="0"/>
          </a:p>
          <a:p>
            <a:pPr>
              <a:spcAft>
                <a:spcPts val="800"/>
              </a:spcAft>
              <a:tabLst>
                <a:tab pos="457200" algn="l"/>
              </a:tabLst>
            </a:pPr>
            <a:r>
              <a:rPr lang="en-US" b="1" dirty="0"/>
              <a:t>5. None of these</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14703A54-3EFD-30C7-417A-F1977294EE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EA5B8AFD-2F17-985B-0252-6328763089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4267301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1EF2-7530-9915-D741-EECA050463F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6147F9-1C7D-4564-0B6A-02AEE872AF0F}"/>
              </a:ext>
            </a:extLst>
          </p:cNvPr>
          <p:cNvSpPr>
            <a:spLocks noGrp="1"/>
          </p:cNvSpPr>
          <p:nvPr>
            <p:ph type="body" sz="quarter" idx="13"/>
          </p:nvPr>
        </p:nvSpPr>
        <p:spPr>
          <a:xfrm>
            <a:off x="558702" y="1012734"/>
            <a:ext cx="11071669" cy="4310877"/>
          </a:xfrm>
          <a:noFill/>
          <a:ln>
            <a:noFill/>
          </a:ln>
        </p:spPr>
        <p:txBody>
          <a:bodyPr>
            <a:noAutofit/>
          </a:bodyPr>
          <a:lstStyle/>
          <a:p>
            <a:pPr lvl="0">
              <a:spcAft>
                <a:spcPts val="800"/>
              </a:spcAft>
              <a:tabLst>
                <a:tab pos="457200" algn="l"/>
              </a:tabLst>
            </a:pPr>
            <a:r>
              <a:rPr lang="en-US" b="1" dirty="0"/>
              <a:t>Q-13. Two jugs X and Y having coca cola and water mixed in the proportion 5: 2 and 7: 6 respectively. Now if we want a new mixture in jug Z having coca cola and water in the proportion of 8:5 then what will be the ratio?</a:t>
            </a:r>
            <a:endParaRPr lang="en-IN" b="1" dirty="0"/>
          </a:p>
          <a:p>
            <a:pPr>
              <a:spcAft>
                <a:spcPts val="800"/>
              </a:spcAft>
              <a:tabLst>
                <a:tab pos="457200" algn="l"/>
              </a:tabLst>
            </a:pPr>
            <a:r>
              <a:rPr lang="en-US" b="1" dirty="0"/>
              <a:t>a) 5:6		  	</a:t>
            </a:r>
          </a:p>
          <a:p>
            <a:pPr>
              <a:spcAft>
                <a:spcPts val="800"/>
              </a:spcAft>
              <a:tabLst>
                <a:tab pos="457200" algn="l"/>
              </a:tabLst>
            </a:pPr>
            <a:r>
              <a:rPr lang="en-US" b="1" dirty="0"/>
              <a:t>b) 3:4			</a:t>
            </a:r>
          </a:p>
          <a:p>
            <a:pPr>
              <a:spcAft>
                <a:spcPts val="800"/>
              </a:spcAft>
              <a:tabLst>
                <a:tab pos="457200" algn="l"/>
              </a:tabLst>
            </a:pPr>
            <a:r>
              <a:rPr lang="en-US" b="1" dirty="0"/>
              <a:t>c) 6:7			</a:t>
            </a:r>
          </a:p>
          <a:p>
            <a:pPr>
              <a:spcAft>
                <a:spcPts val="800"/>
              </a:spcAft>
              <a:tabLst>
                <a:tab pos="457200" algn="l"/>
              </a:tabLst>
            </a:pPr>
            <a:r>
              <a:rPr lang="en-US" b="1" dirty="0"/>
              <a:t>d) 7:9</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E6634039-841B-A66B-EC47-E44D307AA5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0AB66EF3-A156-CC6A-2958-453662B475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527819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00B7-F0B7-E882-265D-A354D295704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323C08D-F864-4996-65EA-2ACF611EE497}"/>
              </a:ext>
            </a:extLst>
          </p:cNvPr>
          <p:cNvSpPr>
            <a:spLocks noGrp="1"/>
          </p:cNvSpPr>
          <p:nvPr>
            <p:ph type="body" sz="quarter" idx="13"/>
          </p:nvPr>
        </p:nvSpPr>
        <p:spPr>
          <a:xfrm>
            <a:off x="558702" y="1012734"/>
            <a:ext cx="11071669" cy="4310877"/>
          </a:xfrm>
          <a:noFill/>
          <a:ln>
            <a:noFill/>
          </a:ln>
        </p:spPr>
        <p:txBody>
          <a:bodyPr>
            <a:noAutofit/>
          </a:bodyPr>
          <a:lstStyle/>
          <a:p>
            <a:pPr lvl="0">
              <a:spcAft>
                <a:spcPts val="800"/>
              </a:spcAft>
              <a:tabLst>
                <a:tab pos="457200" algn="l"/>
              </a:tabLst>
            </a:pPr>
            <a:r>
              <a:rPr lang="en-US" b="1" dirty="0"/>
              <a:t>Q-14. A drum full of green tea contains 50% herbs. A part of tea is replaced by another tea containing 29% herbs and now the percentage of herbs is found to be 36%. What quantity of green tea is replaced ?</a:t>
            </a:r>
            <a:endParaRPr lang="en-IN" b="1" dirty="0"/>
          </a:p>
          <a:p>
            <a:pPr>
              <a:spcAft>
                <a:spcPts val="800"/>
              </a:spcAft>
              <a:tabLst>
                <a:tab pos="457200" algn="l"/>
              </a:tabLst>
            </a:pPr>
            <a:r>
              <a:rPr lang="en-US" b="1" dirty="0"/>
              <a:t>a) 1/3</a:t>
            </a:r>
          </a:p>
          <a:p>
            <a:pPr>
              <a:spcAft>
                <a:spcPts val="800"/>
              </a:spcAft>
              <a:tabLst>
                <a:tab pos="457200" algn="l"/>
              </a:tabLst>
            </a:pPr>
            <a:r>
              <a:rPr lang="en-US" b="1" dirty="0"/>
              <a:t>b) 2/5			</a:t>
            </a:r>
          </a:p>
          <a:p>
            <a:pPr>
              <a:spcAft>
                <a:spcPts val="800"/>
              </a:spcAft>
              <a:tabLst>
                <a:tab pos="457200" algn="l"/>
              </a:tabLst>
            </a:pPr>
            <a:r>
              <a:rPr lang="en-US" b="1" dirty="0"/>
              <a:t>c) 2/3			</a:t>
            </a:r>
          </a:p>
          <a:p>
            <a:pPr>
              <a:spcAft>
                <a:spcPts val="800"/>
              </a:spcAft>
              <a:tabLst>
                <a:tab pos="457200" algn="l"/>
              </a:tabLst>
            </a:pPr>
            <a:r>
              <a:rPr lang="en-US" b="1" dirty="0"/>
              <a:t>d) 3/7</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B219A39B-37EA-4803-3D3A-A6A1A20A31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425816F5-9D5B-0153-DC4A-716A02E7A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515606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B9DAC-F645-BA62-87A8-F16BBC0FAA7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5481A2-36AB-5406-9FE7-0F89924A04E9}"/>
              </a:ext>
            </a:extLst>
          </p:cNvPr>
          <p:cNvSpPr>
            <a:spLocks noGrp="1"/>
          </p:cNvSpPr>
          <p:nvPr>
            <p:ph type="body" sz="quarter" idx="13"/>
          </p:nvPr>
        </p:nvSpPr>
        <p:spPr>
          <a:xfrm>
            <a:off x="558702" y="1012734"/>
            <a:ext cx="11071669" cy="4310877"/>
          </a:xfrm>
          <a:noFill/>
          <a:ln>
            <a:noFill/>
          </a:ln>
        </p:spPr>
        <p:txBody>
          <a:bodyPr>
            <a:noAutofit/>
          </a:bodyPr>
          <a:lstStyle/>
          <a:p>
            <a:pPr lvl="0">
              <a:lnSpc>
                <a:spcPct val="107000"/>
              </a:lnSpc>
              <a:spcAft>
                <a:spcPts val="800"/>
              </a:spcAft>
              <a:tabLst>
                <a:tab pos="457200" algn="l"/>
              </a:tabLst>
            </a:pPr>
            <a:r>
              <a:rPr lang="en-IN" sz="3200" b="1" u="sng" dirty="0"/>
              <a:t>Formula for the replacement based questions </a:t>
            </a:r>
          </a:p>
          <a:p>
            <a:pPr lvl="0">
              <a:lnSpc>
                <a:spcPct val="107000"/>
              </a:lnSpc>
              <a:spcAft>
                <a:spcPts val="800"/>
              </a:spcAft>
              <a:tabLst>
                <a:tab pos="457200" algn="l"/>
              </a:tabLst>
            </a:pPr>
            <a:r>
              <a:rPr lang="en-IN" dirty="0"/>
              <a:t>Q- Initial Total Quantity</a:t>
            </a:r>
          </a:p>
          <a:p>
            <a:pPr lvl="0">
              <a:lnSpc>
                <a:spcPct val="107000"/>
              </a:lnSpc>
              <a:spcAft>
                <a:spcPts val="800"/>
              </a:spcAft>
              <a:tabLst>
                <a:tab pos="457200" algn="l"/>
              </a:tabLst>
            </a:pPr>
            <a:r>
              <a:rPr lang="en-IN" dirty="0"/>
              <a:t>X- Removed/Replaced Amount</a:t>
            </a:r>
          </a:p>
          <a:p>
            <a:pPr lvl="0">
              <a:lnSpc>
                <a:spcPct val="107000"/>
              </a:lnSpc>
              <a:spcAft>
                <a:spcPts val="800"/>
              </a:spcAft>
              <a:tabLst>
                <a:tab pos="457200" algn="l"/>
              </a:tabLst>
            </a:pPr>
            <a:r>
              <a:rPr lang="en-IN" dirty="0"/>
              <a:t>n- Number of operations</a:t>
            </a: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E77DBB39-9DE1-8FC2-8DCE-13A5506840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3A4ABF5F-B8D0-980E-905B-8FB35D2B53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7" name="Picture 6">
            <a:extLst>
              <a:ext uri="{FF2B5EF4-FFF2-40B4-BE49-F238E27FC236}">
                <a16:creationId xmlns:a16="http://schemas.microsoft.com/office/drawing/2014/main" id="{03BBFE50-B185-0927-BBB7-CBE537686942}"/>
              </a:ext>
            </a:extLst>
          </p:cNvPr>
          <p:cNvPicPr>
            <a:picLocks noChangeAspect="1"/>
          </p:cNvPicPr>
          <p:nvPr/>
        </p:nvPicPr>
        <p:blipFill>
          <a:blip r:embed="rId5"/>
          <a:stretch>
            <a:fillRect/>
          </a:stretch>
        </p:blipFill>
        <p:spPr>
          <a:xfrm>
            <a:off x="312253" y="4040671"/>
            <a:ext cx="11318118" cy="1900886"/>
          </a:xfrm>
          <a:prstGeom prst="rect">
            <a:avLst/>
          </a:prstGeom>
        </p:spPr>
      </p:pic>
    </p:spTree>
    <p:extLst>
      <p:ext uri="{BB962C8B-B14F-4D97-AF65-F5344CB8AC3E}">
        <p14:creationId xmlns:p14="http://schemas.microsoft.com/office/powerpoint/2010/main" val="1904444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FADEF-902E-ED65-3855-97D8C83858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F48487D-FB27-F420-CFA9-A119629AF405}"/>
              </a:ext>
            </a:extLst>
          </p:cNvPr>
          <p:cNvSpPr>
            <a:spLocks noGrp="1"/>
          </p:cNvSpPr>
          <p:nvPr>
            <p:ph type="body" sz="quarter" idx="13"/>
          </p:nvPr>
        </p:nvSpPr>
        <p:spPr>
          <a:xfrm>
            <a:off x="558702" y="1012734"/>
            <a:ext cx="11071669" cy="4310877"/>
          </a:xfrm>
          <a:noFill/>
          <a:ln>
            <a:noFill/>
          </a:ln>
        </p:spPr>
        <p:txBody>
          <a:bodyPr>
            <a:noAutofit/>
          </a:bodyPr>
          <a:lstStyle/>
          <a:p>
            <a:pPr>
              <a:spcAft>
                <a:spcPts val="800"/>
              </a:spcAft>
              <a:tabLst>
                <a:tab pos="457200" algn="l"/>
              </a:tabLst>
            </a:pPr>
            <a:r>
              <a:rPr lang="en-US" b="1" dirty="0"/>
              <a:t>Q-15. A vessel comprises 80 litres of petrol. Out of this 8 litres of petrol was taken out and swapped by kerosene. This is done two more times. Now calculate the quantity of petrol in the vessel?</a:t>
            </a:r>
            <a:endParaRPr lang="en-IN" b="1" dirty="0"/>
          </a:p>
          <a:p>
            <a:pPr>
              <a:spcAft>
                <a:spcPts val="800"/>
              </a:spcAft>
              <a:tabLst>
                <a:tab pos="457200" algn="l"/>
              </a:tabLst>
            </a:pPr>
            <a:r>
              <a:rPr lang="en-US" b="1" dirty="0"/>
              <a:t>a) 25.22		  	</a:t>
            </a:r>
          </a:p>
          <a:p>
            <a:pPr>
              <a:spcAft>
                <a:spcPts val="800"/>
              </a:spcAft>
              <a:tabLst>
                <a:tab pos="457200" algn="l"/>
              </a:tabLst>
            </a:pPr>
            <a:r>
              <a:rPr lang="en-US" b="1" dirty="0"/>
              <a:t>b) 39.05		</a:t>
            </a:r>
          </a:p>
          <a:p>
            <a:pPr>
              <a:spcAft>
                <a:spcPts val="800"/>
              </a:spcAft>
              <a:tabLst>
                <a:tab pos="457200" algn="l"/>
              </a:tabLst>
            </a:pPr>
            <a:r>
              <a:rPr lang="en-US" b="1" dirty="0"/>
              <a:t>c) 46.21			</a:t>
            </a:r>
          </a:p>
          <a:p>
            <a:pPr>
              <a:spcAft>
                <a:spcPts val="800"/>
              </a:spcAft>
              <a:tabLst>
                <a:tab pos="457200" algn="l"/>
              </a:tabLst>
            </a:pPr>
            <a:r>
              <a:rPr lang="en-US" b="1" dirty="0"/>
              <a:t>d) 58.32</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9F9BDEB3-85E4-D902-3F06-8EAD308C0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CBB92A2B-0CD0-B348-6096-715830D7D0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116682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9" y="1206345"/>
            <a:ext cx="11391672" cy="5260556"/>
          </a:xfrm>
          <a:noFill/>
          <a:ln>
            <a:noFill/>
          </a:ln>
        </p:spPr>
        <p:txBody>
          <a:bodyPr>
            <a:noAutofit/>
          </a:bodyPr>
          <a:lstStyle/>
          <a:p>
            <a:pPr lvl="0">
              <a:spcAft>
                <a:spcPts val="800"/>
              </a:spcAft>
              <a:tabLst>
                <a:tab pos="457200" algn="l"/>
              </a:tabLst>
            </a:pPr>
            <a:r>
              <a:rPr lang="en-IN" b="1" dirty="0"/>
              <a:t>Q-16. A vessel contains 100 litres of a 40% acid solution. 20 litres of this solution is removed and replaced with water. The operation is repeated twice. Find the final concentration of acid.</a:t>
            </a:r>
            <a:br>
              <a:rPr lang="en-IN" b="1" dirty="0"/>
            </a:br>
            <a:r>
              <a:rPr lang="en-IN" b="1" dirty="0"/>
              <a:t>(a) 25.6% 		</a:t>
            </a:r>
          </a:p>
          <a:p>
            <a:pPr lvl="0">
              <a:spcAft>
                <a:spcPts val="800"/>
              </a:spcAft>
              <a:tabLst>
                <a:tab pos="457200" algn="l"/>
              </a:tabLst>
            </a:pPr>
            <a:r>
              <a:rPr lang="en-IN" b="1" dirty="0"/>
              <a:t>(b) 27.4% 		</a:t>
            </a:r>
          </a:p>
          <a:p>
            <a:pPr lvl="0">
              <a:spcAft>
                <a:spcPts val="800"/>
              </a:spcAft>
              <a:tabLst>
                <a:tab pos="457200" algn="l"/>
              </a:tabLst>
            </a:pPr>
            <a:r>
              <a:rPr lang="en-IN" b="1" dirty="0"/>
              <a:t>(c) 29.2%		 </a:t>
            </a:r>
          </a:p>
          <a:p>
            <a:pPr lvl="0">
              <a:spcAft>
                <a:spcPts val="800"/>
              </a:spcAft>
              <a:tabLst>
                <a:tab pos="457200" algn="l"/>
              </a:tabLst>
            </a:pPr>
            <a:r>
              <a:rPr lang="en-IN" b="1" dirty="0"/>
              <a:t>(d) 31.8%</a:t>
            </a:r>
          </a:p>
        </p:txBody>
      </p:sp>
      <p:pic>
        <p:nvPicPr>
          <p:cNvPr id="3" name="Picture 2" descr="A blue circle with text and words&#10;&#10;Description automatically generated">
            <a:extLst>
              <a:ext uri="{FF2B5EF4-FFF2-40B4-BE49-F238E27FC236}">
                <a16:creationId xmlns:a16="http://schemas.microsoft.com/office/drawing/2014/main" id="{21F21D8F-FFF2-216B-78EB-E30A753576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0C802034-52DF-68F8-E67F-C53F95DDD1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188041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8" y="1206345"/>
            <a:ext cx="11071669" cy="5095303"/>
          </a:xfrm>
          <a:noFill/>
          <a:ln>
            <a:noFill/>
          </a:ln>
        </p:spPr>
        <p:txBody>
          <a:bodyPr>
            <a:noAutofit/>
          </a:bodyPr>
          <a:lstStyle/>
          <a:p>
            <a:pPr>
              <a:spcAft>
                <a:spcPts val="800"/>
              </a:spcAft>
              <a:tabLst>
                <a:tab pos="457200" algn="l"/>
              </a:tabLst>
            </a:pPr>
            <a:r>
              <a:rPr lang="en-IN" b="1" dirty="0"/>
              <a:t>Q-17. A 90-liter mixture contains alcohol and water in a ratio of 5:4. 10 litres is removed and replaced with water twice. Find the new alcohol-to-water ratio.</a:t>
            </a:r>
            <a:br>
              <a:rPr lang="en-IN" b="1" dirty="0"/>
            </a:br>
            <a:r>
              <a:rPr lang="en-IN" b="1" dirty="0"/>
              <a:t>(a) 17:23</a:t>
            </a:r>
          </a:p>
          <a:p>
            <a:pPr>
              <a:spcAft>
                <a:spcPts val="800"/>
              </a:spcAft>
              <a:tabLst>
                <a:tab pos="457200" algn="l"/>
              </a:tabLst>
            </a:pPr>
            <a:r>
              <a:rPr lang="en-IN" b="1" dirty="0"/>
              <a:t>(b) 19:26 		</a:t>
            </a:r>
          </a:p>
          <a:p>
            <a:pPr>
              <a:spcAft>
                <a:spcPts val="800"/>
              </a:spcAft>
              <a:tabLst>
                <a:tab pos="457200" algn="l"/>
              </a:tabLst>
            </a:pPr>
            <a:r>
              <a:rPr lang="en-IN" b="1" dirty="0"/>
              <a:t>(c) 320:409	</a:t>
            </a:r>
          </a:p>
          <a:p>
            <a:pPr>
              <a:spcAft>
                <a:spcPts val="800"/>
              </a:spcAft>
              <a:tabLst>
                <a:tab pos="457200" algn="l"/>
              </a:tabLst>
            </a:pPr>
            <a:r>
              <a:rPr lang="en-IN" b="1" dirty="0"/>
              <a:t>(d) 220:273</a:t>
            </a:r>
          </a:p>
        </p:txBody>
      </p:sp>
      <p:pic>
        <p:nvPicPr>
          <p:cNvPr id="3" name="Picture 2" descr="A blue circle with text and words&#10;&#10;Description automatically generated">
            <a:extLst>
              <a:ext uri="{FF2B5EF4-FFF2-40B4-BE49-F238E27FC236}">
                <a16:creationId xmlns:a16="http://schemas.microsoft.com/office/drawing/2014/main" id="{E67F62FF-A147-7206-D700-D44751ACB4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EB7DBD50-51D8-8164-E7DE-132CA04C09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62619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A2A18E-B9B4-D643-158C-CED65FC50BF3}"/>
              </a:ext>
            </a:extLst>
          </p:cNvPr>
          <p:cNvSpPr>
            <a:spLocks noGrp="1"/>
          </p:cNvSpPr>
          <p:nvPr>
            <p:ph type="body" sz="quarter" idx="13"/>
          </p:nvPr>
        </p:nvSpPr>
        <p:spPr>
          <a:xfrm>
            <a:off x="561629" y="1206345"/>
            <a:ext cx="10928964" cy="5106320"/>
          </a:xfrm>
          <a:noFill/>
          <a:ln>
            <a:noFill/>
          </a:ln>
        </p:spPr>
        <p:txBody>
          <a:bodyPr>
            <a:noAutofit/>
          </a:bodyPr>
          <a:lstStyle/>
          <a:p>
            <a:pPr lvl="0">
              <a:spcAft>
                <a:spcPts val="800"/>
              </a:spcAft>
              <a:tabLst>
                <a:tab pos="457200" algn="l"/>
              </a:tabLst>
            </a:pPr>
            <a:r>
              <a:rPr lang="en-IN" b="1" dirty="0"/>
              <a:t>Q-18. A vessel contains 80 litres of a 50% sugar solution. If 40 litres of solution is removed and replaced with water three times, find the final concentration of sugar.</a:t>
            </a:r>
            <a:br>
              <a:rPr lang="en-IN" b="1" dirty="0"/>
            </a:br>
            <a:r>
              <a:rPr lang="en-IN" b="1" dirty="0"/>
              <a:t>(a) 12.5% 		</a:t>
            </a:r>
          </a:p>
          <a:p>
            <a:pPr lvl="0">
              <a:spcAft>
                <a:spcPts val="800"/>
              </a:spcAft>
              <a:tabLst>
                <a:tab pos="457200" algn="l"/>
              </a:tabLst>
            </a:pPr>
            <a:r>
              <a:rPr lang="en-IN" b="1" dirty="0"/>
              <a:t>(b) 20.5%		 </a:t>
            </a:r>
          </a:p>
          <a:p>
            <a:pPr lvl="0">
              <a:spcAft>
                <a:spcPts val="800"/>
              </a:spcAft>
              <a:tabLst>
                <a:tab pos="457200" algn="l"/>
              </a:tabLst>
            </a:pPr>
            <a:r>
              <a:rPr lang="en-IN" b="1" dirty="0"/>
              <a:t>(c) 5.5%		 </a:t>
            </a:r>
          </a:p>
          <a:p>
            <a:pPr lvl="0">
              <a:spcAft>
                <a:spcPts val="800"/>
              </a:spcAft>
              <a:tabLst>
                <a:tab pos="457200" algn="l"/>
              </a:tabLst>
            </a:pPr>
            <a:r>
              <a:rPr lang="en-IN" b="1" dirty="0"/>
              <a:t>(d) 6.25%</a:t>
            </a:r>
          </a:p>
        </p:txBody>
      </p:sp>
      <p:pic>
        <p:nvPicPr>
          <p:cNvPr id="3" name="Picture 2" descr="A blue circle with text and words&#10;&#10;Description automatically generated">
            <a:extLst>
              <a:ext uri="{FF2B5EF4-FFF2-40B4-BE49-F238E27FC236}">
                <a16:creationId xmlns:a16="http://schemas.microsoft.com/office/drawing/2014/main" id="{4930867D-F67E-1D9E-BBC6-AACC3B6848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D89F75C6-EEFA-2D6B-9624-A8FC5CFE06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3880506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89A8C-BEB9-6751-47F5-6DD03D254A1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1FE791-5BC6-591B-B809-91DFBAB16119}"/>
              </a:ext>
            </a:extLst>
          </p:cNvPr>
          <p:cNvSpPr>
            <a:spLocks noGrp="1"/>
          </p:cNvSpPr>
          <p:nvPr>
            <p:ph type="body" sz="quarter" idx="13"/>
          </p:nvPr>
        </p:nvSpPr>
        <p:spPr>
          <a:xfrm>
            <a:off x="558702" y="1012734"/>
            <a:ext cx="11071669" cy="4310877"/>
          </a:xfrm>
          <a:noFill/>
          <a:ln>
            <a:noFill/>
          </a:ln>
        </p:spPr>
        <p:txBody>
          <a:bodyPr>
            <a:noAutofit/>
          </a:bodyPr>
          <a:lstStyle/>
          <a:p>
            <a:pPr>
              <a:spcAft>
                <a:spcPts val="800"/>
              </a:spcAft>
              <a:tabLst>
                <a:tab pos="457200" algn="l"/>
              </a:tabLst>
            </a:pPr>
            <a:r>
              <a:rPr lang="en-US" b="1" dirty="0"/>
              <a:t>Q-19. Five litres of wine is removed from a cask full of wine and is replaced with water. Five litres of this mixture is then removed and replaced with water. If the ratio of wine to water in the cask is now 16 : 9, how much wine did the cask hold ?</a:t>
            </a:r>
            <a:endParaRPr lang="en-IN" b="1" dirty="0"/>
          </a:p>
          <a:p>
            <a:pPr>
              <a:spcAft>
                <a:spcPts val="800"/>
              </a:spcAft>
              <a:tabLst>
                <a:tab pos="457200" algn="l"/>
              </a:tabLst>
            </a:pPr>
            <a:r>
              <a:rPr lang="en-US" b="1" dirty="0"/>
              <a:t>1. 25 litres</a:t>
            </a:r>
            <a:endParaRPr lang="en-IN" b="1" dirty="0"/>
          </a:p>
          <a:p>
            <a:pPr>
              <a:spcAft>
                <a:spcPts val="800"/>
              </a:spcAft>
              <a:tabLst>
                <a:tab pos="457200" algn="l"/>
              </a:tabLst>
            </a:pPr>
            <a:r>
              <a:rPr lang="en-US" b="1" dirty="0"/>
              <a:t>2. 50 litres</a:t>
            </a:r>
            <a:endParaRPr lang="en-IN" b="1" dirty="0"/>
          </a:p>
          <a:p>
            <a:pPr>
              <a:spcAft>
                <a:spcPts val="800"/>
              </a:spcAft>
              <a:tabLst>
                <a:tab pos="457200" algn="l"/>
              </a:tabLst>
            </a:pPr>
            <a:r>
              <a:rPr lang="en-US" b="1" dirty="0"/>
              <a:t>3. 100 litres</a:t>
            </a:r>
            <a:endParaRPr lang="en-IN" b="1" dirty="0"/>
          </a:p>
          <a:p>
            <a:pPr>
              <a:spcAft>
                <a:spcPts val="800"/>
              </a:spcAft>
              <a:tabLst>
                <a:tab pos="457200" algn="l"/>
              </a:tabLst>
            </a:pPr>
            <a:r>
              <a:rPr lang="en-US" b="1" dirty="0"/>
              <a:t>4. 150 litres</a:t>
            </a:r>
            <a:endParaRPr lang="en-IN" b="1" dirty="0"/>
          </a:p>
          <a:p>
            <a:pPr>
              <a:spcAft>
                <a:spcPts val="800"/>
              </a:spcAft>
              <a:tabLst>
                <a:tab pos="457200" algn="l"/>
              </a:tabLst>
            </a:pPr>
            <a:r>
              <a:rPr lang="en-US" b="1" dirty="0"/>
              <a:t>5. 175 litres</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644DEA2B-8CDD-5984-85CC-0F0A421EA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0C0C55ED-614C-41B9-9256-10666F4CC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40521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6362D-425E-4BF6-3783-A985F8194E3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D6C5261-EF98-3C96-E8FE-D0F7BCF114D8}"/>
              </a:ext>
            </a:extLst>
          </p:cNvPr>
          <p:cNvSpPr>
            <a:spLocks noGrp="1"/>
          </p:cNvSpPr>
          <p:nvPr>
            <p:ph type="body" sz="quarter" idx="13"/>
          </p:nvPr>
        </p:nvSpPr>
        <p:spPr>
          <a:xfrm>
            <a:off x="558702" y="1012734"/>
            <a:ext cx="11071669" cy="4310877"/>
          </a:xfrm>
          <a:noFill/>
          <a:ln>
            <a:noFill/>
          </a:ln>
        </p:spPr>
        <p:txBody>
          <a:bodyPr>
            <a:noAutofit/>
          </a:bodyPr>
          <a:lstStyle/>
          <a:p>
            <a:pPr lvl="0">
              <a:spcAft>
                <a:spcPts val="800"/>
              </a:spcAft>
              <a:tabLst>
                <a:tab pos="457200" algn="l"/>
              </a:tabLst>
            </a:pPr>
            <a:r>
              <a:rPr lang="en-US" b="1" dirty="0"/>
              <a:t>Q-20. 8 litres of diesel is replaced by oil from a vessel full of diesel. This process is done 2 more times.  The ratio of the diesel: oil left in vessel is 8 : 19. How much diesel was there in the vessel first ?</a:t>
            </a:r>
            <a:endParaRPr lang="en-IN" b="1" dirty="0"/>
          </a:p>
          <a:p>
            <a:pPr>
              <a:spcAft>
                <a:spcPts val="800"/>
              </a:spcAft>
              <a:tabLst>
                <a:tab pos="457200" algn="l"/>
              </a:tabLst>
            </a:pPr>
            <a:r>
              <a:rPr lang="en-US" b="1" dirty="0"/>
              <a:t>a) 22		  	b) 24			c)26			d) 28</a:t>
            </a:r>
            <a:endParaRPr lang="en-IN" b="1" dirty="0"/>
          </a:p>
          <a:p>
            <a:pPr lvl="0">
              <a:lnSpc>
                <a:spcPct val="107000"/>
              </a:lnSpc>
              <a:spcAft>
                <a:spcPts val="800"/>
              </a:spcAft>
              <a:tabLst>
                <a:tab pos="457200" algn="l"/>
              </a:tabLst>
            </a:pPr>
            <a:endParaRPr lang="en-IN" sz="4000" b="1" kern="10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blue circle with text and words&#10;&#10;Description automatically generated">
            <a:extLst>
              <a:ext uri="{FF2B5EF4-FFF2-40B4-BE49-F238E27FC236}">
                <a16:creationId xmlns:a16="http://schemas.microsoft.com/office/drawing/2014/main" id="{A1DF8134-583B-744D-BBC9-F909C50A56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4" name="Picture 3">
            <a:extLst>
              <a:ext uri="{FF2B5EF4-FFF2-40B4-BE49-F238E27FC236}">
                <a16:creationId xmlns:a16="http://schemas.microsoft.com/office/drawing/2014/main" id="{6F83816D-5449-0C15-4E77-8528A6BB53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1869253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E3D3-5416-2940-1D05-671B50B11473}"/>
              </a:ext>
            </a:extLst>
          </p:cNvPr>
          <p:cNvSpPr>
            <a:spLocks noGrp="1"/>
          </p:cNvSpPr>
          <p:nvPr>
            <p:ph type="title"/>
          </p:nvPr>
        </p:nvSpPr>
        <p:spPr>
          <a:xfrm>
            <a:off x="347472" y="854440"/>
            <a:ext cx="4800261" cy="1290741"/>
          </a:xfrm>
        </p:spPr>
        <p:txBody>
          <a:bodyPr vert="horz" lIns="91440" tIns="45720" rIns="91440" bIns="45720" rtlCol="0" anchor="t">
            <a:normAutofit/>
          </a:bodyPr>
          <a:lstStyle/>
          <a:p>
            <a:r>
              <a:rPr lang="en-US" sz="4000" b="1" dirty="0">
                <a:solidFill>
                  <a:schemeClr val="tx2"/>
                </a:solidFill>
              </a:rPr>
              <a:t>Reflection-</a:t>
            </a:r>
            <a:br>
              <a:rPr lang="en-US" sz="4000" b="1" dirty="0">
                <a:solidFill>
                  <a:schemeClr val="tx2"/>
                </a:solidFill>
              </a:rPr>
            </a:br>
            <a:r>
              <a:rPr lang="en-US" sz="4000" b="1" dirty="0">
                <a:solidFill>
                  <a:schemeClr val="tx2"/>
                </a:solidFill>
              </a:rPr>
              <a:t>Learning Activity 2</a:t>
            </a:r>
          </a:p>
        </p:txBody>
      </p:sp>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32</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7" name="Picture 6">
            <a:extLst>
              <a:ext uri="{FF2B5EF4-FFF2-40B4-BE49-F238E27FC236}">
                <a16:creationId xmlns:a16="http://schemas.microsoft.com/office/drawing/2014/main" id="{14238D36-1846-81B8-E6AE-7D08FB6FD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8" name="Picture 7">
            <a:extLst>
              <a:ext uri="{FF2B5EF4-FFF2-40B4-BE49-F238E27FC236}">
                <a16:creationId xmlns:a16="http://schemas.microsoft.com/office/drawing/2014/main" id="{F675AFF8-B5E7-BD98-5023-089D0D98CB5C}"/>
              </a:ext>
            </a:extLst>
          </p:cNvPr>
          <p:cNvPicPr>
            <a:picLocks noChangeAspect="1"/>
          </p:cNvPicPr>
          <p:nvPr/>
        </p:nvPicPr>
        <p:blipFill>
          <a:blip r:embed="rId4"/>
          <a:stretch>
            <a:fillRect/>
          </a:stretch>
        </p:blipFill>
        <p:spPr>
          <a:xfrm>
            <a:off x="210426" y="2034543"/>
            <a:ext cx="11829174" cy="4823457"/>
          </a:xfrm>
          <a:prstGeom prst="rect">
            <a:avLst/>
          </a:prstGeom>
        </p:spPr>
      </p:pic>
    </p:spTree>
    <p:extLst>
      <p:ext uri="{BB962C8B-B14F-4D97-AF65-F5344CB8AC3E}">
        <p14:creationId xmlns:p14="http://schemas.microsoft.com/office/powerpoint/2010/main" val="3619323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14F6-7B57-DCCF-E6C1-F00D5A0C0026}"/>
              </a:ext>
            </a:extLst>
          </p:cNvPr>
          <p:cNvSpPr>
            <a:spLocks noGrp="1"/>
          </p:cNvSpPr>
          <p:nvPr>
            <p:ph type="title"/>
          </p:nvPr>
        </p:nvSpPr>
        <p:spPr>
          <a:xfrm>
            <a:off x="838200" y="854440"/>
            <a:ext cx="10515600" cy="629586"/>
          </a:xfrm>
        </p:spPr>
        <p:txBody>
          <a:bodyPr>
            <a:normAutofit fontScale="90000"/>
          </a:bodyPr>
          <a:lstStyle/>
          <a:p>
            <a:r>
              <a:rPr lang="en-IN" sz="4400" dirty="0"/>
              <a:t>Summary</a:t>
            </a:r>
            <a:endParaRPr lang="en-IN" dirty="0"/>
          </a:p>
        </p:txBody>
      </p:sp>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33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A200A3D7-8C56-079A-BFFF-58D27E7ED9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6" name="TextBox 5">
            <a:extLst>
              <a:ext uri="{FF2B5EF4-FFF2-40B4-BE49-F238E27FC236}">
                <a16:creationId xmlns:a16="http://schemas.microsoft.com/office/drawing/2014/main" id="{47DF2B08-90D0-F55D-F0FC-DC80A20CE4B2}"/>
              </a:ext>
            </a:extLst>
          </p:cNvPr>
          <p:cNvSpPr txBox="1"/>
          <p:nvPr/>
        </p:nvSpPr>
        <p:spPr>
          <a:xfrm>
            <a:off x="533400" y="1484026"/>
            <a:ext cx="11323320" cy="2246769"/>
          </a:xfrm>
          <a:prstGeom prst="rect">
            <a:avLst/>
          </a:prstGeom>
          <a:noFill/>
        </p:spPr>
        <p:txBody>
          <a:bodyPr wrap="square">
            <a:spAutoFit/>
          </a:bodyPr>
          <a:lstStyle/>
          <a:p>
            <a:r>
              <a:rPr lang="en-IN" sz="2800" b="1" dirty="0"/>
              <a:t>Mixture and </a:t>
            </a:r>
            <a:r>
              <a:rPr lang="en-IN" sz="2800" b="1" dirty="0" err="1"/>
              <a:t>Alligation</a:t>
            </a:r>
            <a:r>
              <a:rPr lang="en-IN" sz="2800" b="1" dirty="0"/>
              <a:t> is a method used to find the ratio in which two or more substances of different values are mixed to obtain a mixture of a desired value. </a:t>
            </a:r>
          </a:p>
          <a:p>
            <a:r>
              <a:rPr lang="en-IN" sz="2800" b="1" dirty="0"/>
              <a:t>It is commonly applied in problems involving prices, concentrations, and percentages to quickly determine mixing ratios.</a:t>
            </a:r>
          </a:p>
        </p:txBody>
      </p:sp>
    </p:spTree>
    <p:extLst>
      <p:ext uri="{BB962C8B-B14F-4D97-AF65-F5344CB8AC3E}">
        <p14:creationId xmlns:p14="http://schemas.microsoft.com/office/powerpoint/2010/main" val="1366239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64536A4-797C-628B-1B91-D2B0AFAF7518}"/>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55C8336F-1062-6386-8BEE-9A71FD367732}"/>
              </a:ext>
            </a:extLst>
          </p:cNvPr>
          <p:cNvSpPr>
            <a:spLocks noGrp="1"/>
          </p:cNvSpPr>
          <p:nvPr>
            <p:ph type="sldNum" sz="quarter" idx="12"/>
          </p:nvPr>
        </p:nvSpPr>
        <p:spPr/>
        <p:txBody>
          <a:bodyPr/>
          <a:lstStyle/>
          <a:p>
            <a:fld id="{26510230-8DD5-4BA5-AB2D-CA30FC08F9D7}" type="slidenum">
              <a:rPr lang="en-IN" smtClean="0"/>
              <a:t>34</a:t>
            </a:fld>
            <a:endParaRPr lang="en-IN"/>
          </a:p>
        </p:txBody>
      </p:sp>
      <p:graphicFrame>
        <p:nvGraphicFramePr>
          <p:cNvPr id="6"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664506604"/>
              </p:ext>
            </p:extLst>
          </p:nvPr>
        </p:nvGraphicFramePr>
        <p:xfrm>
          <a:off x="632085" y="13205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blue circle with text and words&#10;&#10;Description automatically generated">
            <a:extLst>
              <a:ext uri="{FF2B5EF4-FFF2-40B4-BE49-F238E27FC236}">
                <a16:creationId xmlns:a16="http://schemas.microsoft.com/office/drawing/2014/main" id="{E29D7986-4818-A798-4420-A7D3A24FA0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953429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F593-41A2-5797-581D-24AD95F1C7D0}"/>
              </a:ext>
            </a:extLst>
          </p:cNvPr>
          <p:cNvSpPr>
            <a:spLocks noGrp="1"/>
          </p:cNvSpPr>
          <p:nvPr>
            <p:ph type="title"/>
          </p:nvPr>
        </p:nvSpPr>
        <p:spPr>
          <a:xfrm>
            <a:off x="6736501" y="2247113"/>
            <a:ext cx="4805996" cy="1297115"/>
          </a:xfrm>
        </p:spPr>
        <p:txBody>
          <a:bodyPr vert="horz" lIns="91440" tIns="45720" rIns="91440" bIns="45720" rtlCol="0" anchor="t">
            <a:normAutofit/>
          </a:bodyPr>
          <a:lstStyle/>
          <a:p>
            <a:pPr algn="ctr"/>
            <a:r>
              <a:rPr lang="en-US" sz="4000" kern="1200" dirty="0">
                <a:solidFill>
                  <a:schemeClr val="tx2"/>
                </a:solidFill>
                <a:latin typeface="+mj-lt"/>
                <a:ea typeface="+mj-ea"/>
                <a:cs typeface="+mj-cs"/>
              </a:rPr>
              <a:t>Review and Reflection from students</a:t>
            </a:r>
          </a:p>
        </p:txBody>
      </p:sp>
      <p:sp>
        <p:nvSpPr>
          <p:cNvPr id="5" name="Footer Placeholder 4">
            <a:extLst>
              <a:ext uri="{FF2B5EF4-FFF2-40B4-BE49-F238E27FC236}">
                <a16:creationId xmlns:a16="http://schemas.microsoft.com/office/drawing/2014/main" id="{58FB49D5-5A14-2BEC-3499-D6864FF742D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B506AAFE-4113-97E4-34C4-18F6BEDEAE3B}"/>
              </a:ext>
            </a:extLst>
          </p:cNvPr>
          <p:cNvSpPr>
            <a:spLocks noGrp="1"/>
          </p:cNvSpPr>
          <p:nvPr>
            <p:ph type="sldNum" sz="quarter" idx="12"/>
          </p:nvPr>
        </p:nvSpPr>
        <p:spPr/>
        <p:txBody>
          <a:bodyPr/>
          <a:lstStyle/>
          <a:p>
            <a:fld id="{26510230-8DD5-4BA5-AB2D-CA30FC08F9D7}" type="slidenum">
              <a:rPr lang="en-IN" smtClean="0"/>
              <a:t>35</a:t>
            </a:fld>
            <a:endParaRPr lang="en-IN"/>
          </a:p>
        </p:txBody>
      </p:sp>
      <p:pic>
        <p:nvPicPr>
          <p:cNvPr id="8" name="Picture 7" descr="A blue circle with text and words&#10;&#10;Description automatically generated">
            <a:extLst>
              <a:ext uri="{FF2B5EF4-FFF2-40B4-BE49-F238E27FC236}">
                <a16:creationId xmlns:a16="http://schemas.microsoft.com/office/drawing/2014/main" id="{2D872DDF-4447-626A-EA2D-F25500CB5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BDEA843D-98A8-0F4E-0617-582CE9651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pic>
        <p:nvPicPr>
          <p:cNvPr id="9" name="Picture 8">
            <a:extLst>
              <a:ext uri="{FF2B5EF4-FFF2-40B4-BE49-F238E27FC236}">
                <a16:creationId xmlns:a16="http://schemas.microsoft.com/office/drawing/2014/main" id="{0EAE9ABA-AE0D-C7D9-3A61-C1B8DA791035}"/>
              </a:ext>
            </a:extLst>
          </p:cNvPr>
          <p:cNvPicPr>
            <a:picLocks noChangeAspect="1"/>
          </p:cNvPicPr>
          <p:nvPr/>
        </p:nvPicPr>
        <p:blipFill>
          <a:blip r:embed="rId4"/>
          <a:stretch>
            <a:fillRect/>
          </a:stretch>
        </p:blipFill>
        <p:spPr>
          <a:xfrm>
            <a:off x="7703547" y="3429000"/>
            <a:ext cx="2871904" cy="2604751"/>
          </a:xfrm>
          <a:prstGeom prst="rect">
            <a:avLst/>
          </a:prstGeom>
        </p:spPr>
      </p:pic>
    </p:spTree>
    <p:extLst>
      <p:ext uri="{BB962C8B-B14F-4D97-AF65-F5344CB8AC3E}">
        <p14:creationId xmlns:p14="http://schemas.microsoft.com/office/powerpoint/2010/main" val="571638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4200</TotalTime>
  <Words>1897</Words>
  <Application>Microsoft Office PowerPoint</Application>
  <PresentationFormat>Widescreen</PresentationFormat>
  <Paragraphs>207</Paragraphs>
  <Slides>35</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Aptos Display</vt:lpstr>
      <vt:lpstr>Arial</vt:lpstr>
      <vt:lpstr>Calibri</vt:lpstr>
      <vt:lpstr>Georgia</vt:lpstr>
      <vt:lpstr>Times New Roman</vt:lpstr>
      <vt:lpstr>Office Theme</vt:lpstr>
      <vt:lpstr>Mixture &amp; Alligation-1    Session No.: 03 Course Name: Verbal &amp; Quantitative Reasoning -1 Course Code: O1UA422L Instructor Name: Brajesh Kumar Duration: 100 min   </vt:lpstr>
      <vt:lpstr>PowerPoint Presentation</vt:lpstr>
      <vt:lpstr>Aim   To enhance students' understanding of Mixture &amp; Alligation through interactive and innovative activities, fostering real-world applications and collaborative learning.</vt:lpstr>
      <vt:lpstr>At the end of this session students will be able to </vt:lpstr>
      <vt:lpstr>Session Outline</vt:lpstr>
      <vt:lpstr>Learning Activity 1</vt:lpstr>
      <vt:lpstr>Reflection- Learning Activity 1</vt:lpstr>
      <vt:lpstr>Mixture: A combination of two or more items or substances (solids, liquids, or gases) in a particular ratio.  Examples: alloys (bronze), lemonade, or mixing two types of rice etc.  Alligation:  A mathematical method based on weighted averages that quickly calculates the ratio of ingredients needed to obtain a mixture of a specific "Mean Price" or quality.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Reflection- Learning Activity 2</vt:lpstr>
      <vt:lpstr>Summary</vt:lpstr>
      <vt:lpstr>PowerPoint Presentation</vt:lpstr>
      <vt:lpstr>Review and Reflection from students</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Gupta</dc:creator>
  <cp:lastModifiedBy>B K</cp:lastModifiedBy>
  <cp:revision>132</cp:revision>
  <dcterms:created xsi:type="dcterms:W3CDTF">2024-08-22T06:33:55Z</dcterms:created>
  <dcterms:modified xsi:type="dcterms:W3CDTF">2026-02-11T10:53:18Z</dcterms:modified>
</cp:coreProperties>
</file>