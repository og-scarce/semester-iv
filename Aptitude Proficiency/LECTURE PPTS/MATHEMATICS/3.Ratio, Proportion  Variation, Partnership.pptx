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embeddedFontLst>
    <p:embeddedFont>
      <p:font typeface="Algerian" panose="04020705040A02060702" pitchFamily="82" charset="0"/>
      <p:regular r:id="rId46"/>
    </p:embeddedFont>
    <p:embeddedFont>
      <p:font typeface="Georgia" panose="02040502050405020303" pitchFamily="18" charset="0"/>
      <p:regular r:id="rId47"/>
      <p:bold r:id="rId48"/>
      <p:italic r:id="rId49"/>
      <p:boldItalic r:id="rId50"/>
    </p:embeddedFont>
    <p:embeddedFont>
      <p:font typeface="Inter" panose="020B0604020202020204" charset="0"/>
      <p:regular r:id="rId51"/>
      <p:bold r:id="rId52"/>
      <p:italic r:id="rId53"/>
      <p:boldItalic r:id="rId54"/>
    </p:embeddedFont>
    <p:embeddedFont>
      <p:font typeface="Play" panose="020B0604020202020204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FeUiQMo10YqoUv/zHlITuSlO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abdb175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bdabdb175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9" name="Google Shape;43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2" name="Google Shape;502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77980" y="1122362"/>
            <a:ext cx="10751673" cy="555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Session No.: 06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Professional Readiness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O1UA603L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Instructor Name: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Duration: 50 min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Date of Conduction of Class: 15/04/2025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endParaRPr sz="480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484546" y="2266162"/>
            <a:ext cx="11229474" cy="108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RATIO AND PROPORTION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1" name="Google Shape;101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000539"/>
            <a:ext cx="10363200" cy="5857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1" name="Google Shape;111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811660" y="1818526"/>
            <a:ext cx="10377000" cy="3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u="sng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Aim</a:t>
            </a:r>
            <a:br>
              <a:rPr lang="en-US" sz="5400" b="1" u="sng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0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4000" b="1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600" b="1">
                <a:latin typeface="Calibri"/>
                <a:ea typeface="Calibri"/>
                <a:cs typeface="Calibri"/>
                <a:sym typeface="Calibri"/>
              </a:rPr>
              <a:t>To enhance students' understanding of number system through interactive and innovative activities, fostering real-world applications and collaborative learning.</a:t>
            </a:r>
            <a:endParaRPr sz="4000" b="1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abdb1759_1_0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19" name="Google Shape;119;g3bdabdb1759_1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0" name="Google Shape;120;g3bdabdb1759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21" name="Google Shape;121;g3bdabdb1759_1_0"/>
          <p:cNvGrpSpPr/>
          <p:nvPr/>
        </p:nvGrpSpPr>
        <p:grpSpPr>
          <a:xfrm>
            <a:off x="619150" y="1768688"/>
            <a:ext cx="10421931" cy="3673499"/>
            <a:chOff x="0" y="0"/>
            <a:chExt cx="10421931" cy="3673499"/>
          </a:xfrm>
        </p:grpSpPr>
        <p:sp>
          <p:nvSpPr>
            <p:cNvPr id="122" name="Google Shape;122;g3bdabdb1759_1_0"/>
            <p:cNvSpPr/>
            <p:nvPr/>
          </p:nvSpPr>
          <p:spPr>
            <a:xfrm>
              <a:off x="0" y="0"/>
              <a:ext cx="9576900" cy="1525800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bdabdb1759_1_0"/>
            <p:cNvSpPr txBox="1"/>
            <p:nvPr/>
          </p:nvSpPr>
          <p:spPr>
            <a:xfrm>
              <a:off x="44691" y="44691"/>
              <a:ext cx="7930500" cy="14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</a:rPr>
                <a:t>Learning Outcome 2: Apply </a:t>
              </a:r>
              <a:r>
                <a:rPr lang="en-US" sz="3000" b="1">
                  <a:solidFill>
                    <a:schemeClr val="lt1"/>
                  </a:solidFill>
                </a:rPr>
                <a:t>variation concepts</a:t>
              </a:r>
              <a:r>
                <a:rPr lang="en-US" sz="3000">
                  <a:solidFill>
                    <a:schemeClr val="lt1"/>
                  </a:solidFill>
                </a:rPr>
                <a:t> in aptitude and competitive exams.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bdabdb1759_1_0"/>
            <p:cNvSpPr/>
            <p:nvPr/>
          </p:nvSpPr>
          <p:spPr>
            <a:xfrm>
              <a:off x="845031" y="1780164"/>
              <a:ext cx="9576900" cy="1525800"/>
            </a:xfrm>
            <a:prstGeom prst="roundRect">
              <a:avLst>
                <a:gd name="adj" fmla="val 10000"/>
              </a:avLst>
            </a:prstGeom>
            <a:solidFill>
              <a:srgbClr val="8CAF1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bdabdb1759_1_0"/>
            <p:cNvSpPr txBox="1"/>
            <p:nvPr/>
          </p:nvSpPr>
          <p:spPr>
            <a:xfrm>
              <a:off x="889722" y="1824855"/>
              <a:ext cx="7650900" cy="14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</a:rPr>
                <a:t>Learning Outcome 3: Analyze and compute </a:t>
              </a:r>
              <a:r>
                <a:rPr lang="en-US" sz="3000" b="1">
                  <a:solidFill>
                    <a:schemeClr val="lt1"/>
                  </a:solidFill>
                </a:rPr>
                <a:t>profit-sharing in partnerships</a:t>
              </a:r>
              <a:r>
                <a:rPr lang="en-US" sz="3000">
                  <a:solidFill>
                    <a:schemeClr val="lt1"/>
                  </a:solidFill>
                </a:rPr>
                <a:t> logically.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bdabdb1759_1_0"/>
            <p:cNvSpPr/>
            <p:nvPr/>
          </p:nvSpPr>
          <p:spPr>
            <a:xfrm>
              <a:off x="8585216" y="1157107"/>
              <a:ext cx="991800" cy="99180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0"/>
              </a:srgbClr>
            </a:solidFill>
            <a:ln w="19050" cap="flat" cmpd="sng">
              <a:solidFill>
                <a:srgbClr val="F6D4CC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bdabdb1759_1_0"/>
            <p:cNvSpPr txBox="1"/>
            <p:nvPr/>
          </p:nvSpPr>
          <p:spPr>
            <a:xfrm>
              <a:off x="8808372" y="1157107"/>
              <a:ext cx="545400" cy="7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bdabdb1759_1_0"/>
            <p:cNvSpPr txBox="1"/>
            <p:nvPr/>
          </p:nvSpPr>
          <p:spPr>
            <a:xfrm>
              <a:off x="9653403" y="2927099"/>
              <a:ext cx="545400" cy="7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9" name="Google Shape;129;g3bdabdb1759_1_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dabdb1759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3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Session Outline</a:t>
            </a:r>
            <a:endParaRPr/>
          </a:p>
        </p:txBody>
      </p:sp>
      <p:grpSp>
        <p:nvGrpSpPr>
          <p:cNvPr id="136" name="Google Shape;136;p4"/>
          <p:cNvGrpSpPr/>
          <p:nvPr/>
        </p:nvGrpSpPr>
        <p:grpSpPr>
          <a:xfrm>
            <a:off x="4688087" y="1156389"/>
            <a:ext cx="6900512" cy="5534183"/>
            <a:chOff x="0" y="978"/>
            <a:chExt cx="6900512" cy="5534183"/>
          </a:xfrm>
        </p:grpSpPr>
        <p:cxnSp>
          <p:nvCxnSpPr>
            <p:cNvPr id="137" name="Google Shape;137;p4"/>
            <p:cNvCxnSpPr/>
            <p:nvPr/>
          </p:nvCxnSpPr>
          <p:spPr>
            <a:xfrm>
              <a:off x="0" y="97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8" name="Google Shape;138;p4"/>
            <p:cNvSpPr/>
            <p:nvPr/>
          </p:nvSpPr>
          <p:spPr>
            <a:xfrm>
              <a:off x="0" y="978"/>
              <a:ext cx="6900512" cy="1133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978"/>
              <a:ext cx="6900512" cy="1133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Quick “Think Pair Share” on prior knowledge.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" name="Google Shape;140;p4"/>
            <p:cNvCxnSpPr/>
            <p:nvPr/>
          </p:nvCxnSpPr>
          <p:spPr>
            <a:xfrm>
              <a:off x="0" y="1134845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1" name="Google Shape;141;p4"/>
            <p:cNvSpPr/>
            <p:nvPr/>
          </p:nvSpPr>
          <p:spPr>
            <a:xfrm>
              <a:off x="0" y="1134845"/>
              <a:ext cx="6900512" cy="63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1134845"/>
              <a:ext cx="6900512" cy="63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Brainstorm real life example.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0" y="1767300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4" name="Google Shape;144;p4"/>
            <p:cNvSpPr/>
            <p:nvPr/>
          </p:nvSpPr>
          <p:spPr>
            <a:xfrm>
              <a:off x="0" y="1767300"/>
              <a:ext cx="6900512" cy="975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1767300"/>
              <a:ext cx="6900512" cy="975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Group work on Ratio, Proportion &amp; Variation, Partnership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" name="Google Shape;146;p4"/>
            <p:cNvCxnSpPr/>
            <p:nvPr/>
          </p:nvCxnSpPr>
          <p:spPr>
            <a:xfrm>
              <a:off x="0" y="2743286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7" name="Google Shape;147;p4"/>
            <p:cNvSpPr/>
            <p:nvPr/>
          </p:nvSpPr>
          <p:spPr>
            <a:xfrm>
              <a:off x="0" y="2743286"/>
              <a:ext cx="6900512" cy="1329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2743286"/>
              <a:ext cx="6900512" cy="1329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Solve &amp; discuss word problem on Ratio, Proportion &amp; Variation, Partnership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4"/>
            <p:cNvCxnSpPr/>
            <p:nvPr/>
          </p:nvCxnSpPr>
          <p:spPr>
            <a:xfrm>
              <a:off x="0" y="4073257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0" name="Google Shape;150;p4"/>
            <p:cNvSpPr/>
            <p:nvPr/>
          </p:nvSpPr>
          <p:spPr>
            <a:xfrm>
              <a:off x="0" y="4073257"/>
              <a:ext cx="6900512" cy="686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4073257"/>
              <a:ext cx="6900512" cy="686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Summarize key takeaways.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p4"/>
            <p:cNvCxnSpPr/>
            <p:nvPr/>
          </p:nvCxnSpPr>
          <p:spPr>
            <a:xfrm>
              <a:off x="0" y="4760094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3" name="Google Shape;153;p4"/>
            <p:cNvSpPr/>
            <p:nvPr/>
          </p:nvSpPr>
          <p:spPr>
            <a:xfrm>
              <a:off x="0" y="4760094"/>
              <a:ext cx="6900512" cy="775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4760094"/>
              <a:ext cx="6900512" cy="775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Reinforce learning with quick recap.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6" name="Google Shape;15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7" name="Google Shape;157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5" name="Google Shape;16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491310" y="1312033"/>
            <a:ext cx="4800300" cy="16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</a:t>
            </a:r>
            <a:br>
              <a:rPr lang="en-US" sz="4000" b="1">
                <a:solidFill>
                  <a:schemeClr val="dk2"/>
                </a:solidFill>
              </a:rPr>
            </a:br>
            <a:r>
              <a:rPr lang="en-US" sz="4000" b="1">
                <a:solidFill>
                  <a:schemeClr val="dk2"/>
                </a:solidFill>
              </a:rPr>
              <a:t>Learning Activity 1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491310" y="2744929"/>
            <a:ext cx="104112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rgbClr val="000000"/>
                </a:solidFill>
              </a:rPr>
              <a:t>Students reflect on their teamwork and problem-solving skills</a:t>
            </a:r>
            <a:r>
              <a:rPr lang="en-US" sz="1800">
                <a:solidFill>
                  <a:srgbClr val="000000"/>
                </a:solidFill>
              </a:rPr>
              <a:t> while solving the questions.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rgbClr val="000000"/>
                </a:solidFill>
              </a:rPr>
              <a:t>They recognize the importance of </a:t>
            </a:r>
            <a:r>
              <a:rPr lang="en-US" sz="1800">
                <a:solidFill>
                  <a:srgbClr val="000000"/>
                </a:solidFill>
              </a:rPr>
              <a:t>Ratio, Proportion &amp; Variation, Partnership </a:t>
            </a:r>
            <a:r>
              <a:rPr lang="en-US" sz="1800" b="1">
                <a:solidFill>
                  <a:srgbClr val="000000"/>
                </a:solidFill>
              </a:rPr>
              <a:t>in real-world scenarios</a:t>
            </a:r>
            <a:r>
              <a:rPr lang="en-US" sz="1800">
                <a:solidFill>
                  <a:srgbClr val="000000"/>
                </a:solidFill>
              </a:rPr>
              <a:t> through discussion.</a:t>
            </a:r>
            <a:endParaRPr sz="2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rgbClr val="000000"/>
                </a:solidFill>
              </a:rPr>
              <a:t>Encourages self-evaluation</a:t>
            </a:r>
            <a:r>
              <a:rPr lang="en-US" sz="1800">
                <a:solidFill>
                  <a:srgbClr val="000000"/>
                </a:solidFill>
              </a:rPr>
              <a:t> on how effectively they understood and applied concepts of Ratio, Proportion &amp; Variation, Partnership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74" name="Google Shape;174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5" name="Google Shape;175;p8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9" descr="Principles of design theory of design module 2 proportion,scale, hi…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5757" y="1051486"/>
            <a:ext cx="8240486" cy="5304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3" name="Google Shape;183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9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0"/>
          <p:cNvSpPr txBox="1"/>
          <p:nvPr/>
        </p:nvSpPr>
        <p:spPr>
          <a:xfrm>
            <a:off x="438807" y="221888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A:B=M:N, B:C=P:Q, THEN A:B:C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A:B:C= MP:PN:NQ</a:t>
            </a:r>
            <a:endParaRPr/>
          </a:p>
        </p:txBody>
      </p:sp>
      <p:sp>
        <p:nvSpPr>
          <p:cNvPr id="187" name="Google Shape;187;p90"/>
          <p:cNvSpPr txBox="1"/>
          <p:nvPr/>
        </p:nvSpPr>
        <p:spPr>
          <a:xfrm>
            <a:off x="6095999" y="221888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A:B=M:N, B:C=P:Q, C:D=R:S,THEN A:B:C:D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A:B:C:D=MPR:NPR:NQR:NQS</a:t>
            </a:r>
            <a:endParaRPr/>
          </a:p>
        </p:txBody>
      </p:sp>
      <p:sp>
        <p:nvSpPr>
          <p:cNvPr id="188" name="Google Shape;188;p90"/>
          <p:cNvSpPr/>
          <p:nvPr/>
        </p:nvSpPr>
        <p:spPr>
          <a:xfrm>
            <a:off x="438807" y="3798758"/>
            <a:ext cx="535152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example:-    let a:b :: 3:4 and b:c :: 5:7 , if we have to find the a:b:c.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a:b become 15:20 and b:c become 20:28</a:t>
            </a:r>
            <a:b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a:b:c = 15:20:28.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0"/>
          <p:cNvSpPr txBox="1"/>
          <p:nvPr/>
        </p:nvSpPr>
        <p:spPr>
          <a:xfrm>
            <a:off x="6934200" y="3665453"/>
            <a:ext cx="60960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A:B=2:3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B:C=3:4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C:D=4:5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A:B:C:D=2*3*4:3*3*4:3*4*4:3*4*5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A:B:C:D=2:3:4:5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0"/>
          <p:cNvSpPr txBox="1">
            <a:spLocks noGrp="1"/>
          </p:cNvSpPr>
          <p:nvPr>
            <p:ph type="title"/>
          </p:nvPr>
        </p:nvSpPr>
        <p:spPr>
          <a:xfrm>
            <a:off x="438807" y="1131058"/>
            <a:ext cx="11229475" cy="77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Merging of Ratio’s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96" name="Google Shape;19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7" name="Google Shape;197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1719072" y="1051486"/>
            <a:ext cx="8753856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Properties of Proportion:</a:t>
            </a:r>
            <a:b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(i) </a:t>
            </a:r>
            <a:r>
              <a:rPr lang="en-US" sz="2400" b="1" i="1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a:b = c:d</a:t>
            </a:r>
            <a:endParaRPr sz="2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can be written as a/b = c/d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which implies, a*d = b*c, or, ad = bc</a:t>
            </a:r>
            <a:endParaRPr sz="2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this property helps in solving many questions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(ii) if </a:t>
            </a:r>
            <a:r>
              <a:rPr lang="en-US" sz="2400" b="1" i="1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a:b = b:c</a:t>
            </a: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which means this proportions between three numbers is in the form of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‘Continued proportions’, as all three numbers are having a connection.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So, a/b=b/c or,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ac=b.b or,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ac=b</a:t>
            </a:r>
            <a:r>
              <a:rPr lang="en-US" sz="2400" b="0" i="0" u="none" strike="noStrike" cap="none" baseline="30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05" name="Google Shape;205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6" name="Google Shape;206;p9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1"/>
          <p:cNvSpPr txBox="1"/>
          <p:nvPr/>
        </p:nvSpPr>
        <p:spPr>
          <a:xfrm>
            <a:off x="446314" y="1219201"/>
            <a:ext cx="11299371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Q1: If a:b = 2:3 and b:c = 4:5, find the ratio a:b:c.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8:12:15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2:7:5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8:9:10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6:8:10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4" name="Google Shape;214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5" name="Google Shape;215;p9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2"/>
          <p:cNvSpPr txBox="1"/>
          <p:nvPr/>
        </p:nvSpPr>
        <p:spPr>
          <a:xfrm>
            <a:off x="538842" y="1251856"/>
            <a:ext cx="11511643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Q2: If x:y = 3:2, the  value of (x^2 + y^2) /(x^2 – y^2) =.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5/13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13/5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-5/13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-13/5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3" name="Google Shape;223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24" name="Google Shape;224;p9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3"/>
          <p:cNvSpPr txBox="1"/>
          <p:nvPr/>
        </p:nvSpPr>
        <p:spPr>
          <a:xfrm>
            <a:off x="636814" y="1436914"/>
            <a:ext cx="11446329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Q3. A:B:C:D = 5:3:4:2. If 2B – C = 48. Then find value of A.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92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96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120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2" name="Google Shape;232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33" name="Google Shape;233;p9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4"/>
          <p:cNvSpPr txBox="1"/>
          <p:nvPr/>
        </p:nvSpPr>
        <p:spPr>
          <a:xfrm>
            <a:off x="713014" y="1159240"/>
            <a:ext cx="11478986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Q4. 2A = 3B = 4C = 5D. If A+B-C = 70, then find A-C.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30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40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50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41" name="Google Shape;24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2" name="Google Shape;242;p9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5"/>
          <p:cNvSpPr txBox="1"/>
          <p:nvPr/>
        </p:nvSpPr>
        <p:spPr>
          <a:xfrm>
            <a:off x="558702" y="1051486"/>
            <a:ext cx="11070772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Q5: Maya and Chris are pooling money for a joint gift. Together, they have ₹1210. If 4/15 of Maya's share is equal to 2/5 of Chris's share, how much money does Chris have?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₹460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₹484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₹550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₹664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0" name="Google Shape;250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1" name="Google Shape;251;p9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6"/>
          <p:cNvSpPr txBox="1"/>
          <p:nvPr/>
        </p:nvSpPr>
        <p:spPr>
          <a:xfrm>
            <a:off x="440871" y="1186543"/>
            <a:ext cx="11310257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Q6: The ratio of the ages of A and B is 3:5. After 10 years, their ages will be in the ratio 5:7. Find their present 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15, 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12, 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18, 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9, 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9" name="Google Shape;259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0" name="Google Shape;260;p9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7"/>
          <p:cNvSpPr txBox="1"/>
          <p:nvPr/>
        </p:nvSpPr>
        <p:spPr>
          <a:xfrm>
            <a:off x="517071" y="1132113"/>
            <a:ext cx="11157857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Q7: Two numbers are in the ratio 3:5. If 9 is subtracted from each, the new ratio becomes 12:23. Find the smaller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45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8" name="Google Shape;268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69" name="Google Shape;269;p9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8"/>
          <p:cNvSpPr txBox="1"/>
          <p:nvPr/>
        </p:nvSpPr>
        <p:spPr>
          <a:xfrm>
            <a:off x="1120139" y="1051486"/>
            <a:ext cx="10973889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Q8. The current ratio of mango trees to coconut trees in a grove is 30:1. If the owner plants 50 more mango trees and 5 more coconut trees, the ratio will change to 25:1. How many coconut trees are there currently in the grove?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18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14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15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12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7" name="Google Shape;277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78" name="Google Shape;278;p9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9"/>
          <p:cNvSpPr txBox="1"/>
          <p:nvPr/>
        </p:nvSpPr>
        <p:spPr>
          <a:xfrm>
            <a:off x="474617" y="1106235"/>
            <a:ext cx="11608526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Q9. Rahul's marble collection contains red, blue, and green marbles. If the ratio of red to blue marbles is 5 to 2 and the ratio of blue to green marbles is 5 to 1, what is the ratio of red to green marbles?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25:2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24:3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22:1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22:4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86" name="Google Shape;286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87" name="Google Shape;287;p10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0"/>
          <p:cNvSpPr txBox="1"/>
          <p:nvPr/>
        </p:nvSpPr>
        <p:spPr>
          <a:xfrm>
            <a:off x="419100" y="1079715"/>
            <a:ext cx="11353799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Q10: The ratio of boys and girls in the school is 4:5 when 10 new boys  are joined in this school  then the ratio become 5:6. How many girls in this school ?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200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250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300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350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5" name="Google Shape;295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96" name="Google Shape;296;p10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1"/>
          <p:cNvSpPr txBox="1"/>
          <p:nvPr/>
        </p:nvSpPr>
        <p:spPr>
          <a:xfrm>
            <a:off x="903514" y="1230085"/>
            <a:ext cx="11157857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Q11. Find the ratio of speed of A, B and C if for every 10 steps taken by A, B take 8 steps and C take 9 steps.  Also 5 steps of A = 6 steps of B = 10 steps of C?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60:40:23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60:40:24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60:40:27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60:34:29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04" name="Google Shape;304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05" name="Google Shape;305;p10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2"/>
          <p:cNvSpPr txBox="1"/>
          <p:nvPr/>
        </p:nvSpPr>
        <p:spPr>
          <a:xfrm>
            <a:off x="672192" y="1051486"/>
            <a:ext cx="11291207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Q12. In a bag there are coins of 25p, 10p and 5p in the ratio 2:3:4.  If there are Rs.45 in all then find how many 25p coins are there? 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60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70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75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90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13" name="Google Shape;31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14" name="Google Shape;314;p10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3"/>
          <p:cNvSpPr txBox="1"/>
          <p:nvPr/>
        </p:nvSpPr>
        <p:spPr>
          <a:xfrm>
            <a:off x="451757" y="1219200"/>
            <a:ext cx="11288486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Q13: The ratio of the ages of P and Q is 6:7. After 5 years, the ratio of their ages will be 7:8. Find their present 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30, 35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36, 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42, 49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48, 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22" name="Google Shape;322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23" name="Google Shape;323;p1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1"/>
          <p:cNvSpPr txBox="1"/>
          <p:nvPr/>
        </p:nvSpPr>
        <p:spPr>
          <a:xfrm>
            <a:off x="576942" y="1219201"/>
            <a:ext cx="110382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incomes of A and B are in the ratio 3 : 2 and their expenditures are in the ratio 7 : 5. If A saves Rs 1600 and B saves Rs 1000  what is the total income of A?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₹3000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₹3600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₹3800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₹2500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31" name="Google Shape;331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32" name="Google Shape;332;p1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2"/>
          <p:cNvSpPr txBox="1"/>
          <p:nvPr/>
        </p:nvSpPr>
        <p:spPr>
          <a:xfrm>
            <a:off x="887185" y="1198354"/>
            <a:ext cx="110979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 sum of money is divided among A, B, C, and D in the ratio 3:5:7:9. If C gets ₹300 more than B, what is the total amount of money?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₹1000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₹1200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₹1500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₹3600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0" name="Google Shape;340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41" name="Google Shape;341;p10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4"/>
          <p:cNvSpPr txBox="1"/>
          <p:nvPr/>
        </p:nvSpPr>
        <p:spPr>
          <a:xfrm>
            <a:off x="604157" y="1160343"/>
            <a:ext cx="109836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 fourth proportional to 5, 8, 15 is: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18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24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36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9" name="Google Shape;349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50" name="Google Shape;350;p10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5"/>
          <p:cNvSpPr txBox="1"/>
          <p:nvPr/>
        </p:nvSpPr>
        <p:spPr>
          <a:xfrm>
            <a:off x="555171" y="1196483"/>
            <a:ext cx="11419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 mean proportional between 9 and 16 is: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12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13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14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15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8" name="Google Shape;358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59" name="Google Shape;359;p10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06"/>
          <p:cNvSpPr txBox="1"/>
          <p:nvPr/>
        </p:nvSpPr>
        <p:spPr>
          <a:xfrm>
            <a:off x="402772" y="1240970"/>
            <a:ext cx="113865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x varies inversely as y and x = 10 when y = 6, find y when x = 15.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3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4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5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6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7" name="Google Shape;367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68" name="Google Shape;368;p10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07"/>
          <p:cNvSpPr txBox="1"/>
          <p:nvPr/>
        </p:nvSpPr>
        <p:spPr>
          <a:xfrm>
            <a:off x="546051" y="1146004"/>
            <a:ext cx="111000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If x is directly proportional to the square root of y and inversely proportional to the cube of z, and x = 2 when y = 9 and z = 2, find x when y = 9 and z = 1.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8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12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16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32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76" name="Google Shape;376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77" name="Google Shape;377;p10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08"/>
          <p:cNvSpPr txBox="1"/>
          <p:nvPr/>
        </p:nvSpPr>
        <p:spPr>
          <a:xfrm>
            <a:off x="375557" y="1164772"/>
            <a:ext cx="1144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x varies as the square root of y and x = 9 when y = 36, find y when x = 15.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49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64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81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100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85" name="Google Shape;385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86" name="Google Shape;386;p10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9"/>
          <p:cNvSpPr txBox="1"/>
          <p:nvPr/>
        </p:nvSpPr>
        <p:spPr>
          <a:xfrm>
            <a:off x="919842" y="1175658"/>
            <a:ext cx="110544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If p varies directly as q and the square of r, and p = 32 when q = 4 and r = 2, find p when q = 6 and r = 3.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108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144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162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192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94" name="Google Shape;39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95" name="Google Shape;395;p1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0"/>
          <p:cNvSpPr txBox="1"/>
          <p:nvPr/>
        </p:nvSpPr>
        <p:spPr>
          <a:xfrm>
            <a:off x="674914" y="1090601"/>
            <a:ext cx="112995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If m varies directly as n and inversely as the square root of p, and m = 10 when n = 5 and p = 4, find m when n = 8 and p = 16.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5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8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03" name="Google Shape;403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404" name="Google Shape;404;p1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13"/>
          <p:cNvSpPr txBox="1"/>
          <p:nvPr/>
        </p:nvSpPr>
        <p:spPr>
          <a:xfrm>
            <a:off x="333779" y="1051486"/>
            <a:ext cx="1176025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Q23. A and B start a business with investments in the ratio 2:1. After 6 months, C joins with an investment equal to B's. If at the end of the year, the profit is ₹21,000, what is the difference between A's share and C's share?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₹4000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₹5000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₹6000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None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12" name="Google Shape;412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413" name="Google Shape;413;p1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14"/>
          <p:cNvSpPr txBox="1"/>
          <p:nvPr/>
        </p:nvSpPr>
        <p:spPr>
          <a:xfrm>
            <a:off x="303364" y="1062634"/>
            <a:ext cx="11790665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Q24. Three partners shared the profit in a business in the ratio 5 : 7 : 8. They had partnered for 14 months, 8 months and 7 months respectively. What was the ratio of their investments?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18:20:25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20:49:64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38:42:45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40:45:51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21" name="Google Shape;421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22" name="Google Shape;422;p1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15"/>
          <p:cNvSpPr txBox="1"/>
          <p:nvPr/>
        </p:nvSpPr>
        <p:spPr>
          <a:xfrm>
            <a:off x="312963" y="1051486"/>
            <a:ext cx="11781065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Q25. A, B, and C are partners in a business. A gets 2/5 of the profit, and B gets 1/4 of the profit. If C’s share is ₹7,700, find the total profit.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₹22000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₹30000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₹35000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₹40000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30" name="Google Shape;430;p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431" name="Google Shape;431;p1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16"/>
          <p:cNvSpPr txBox="1"/>
          <p:nvPr/>
        </p:nvSpPr>
        <p:spPr>
          <a:xfrm>
            <a:off x="417059" y="1031193"/>
            <a:ext cx="11357882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Q26. A, B, and C invest in the ratio 2:3:5. The time period of investment is 6 months, 4 months, and 3 months, respectively. What is the ratio of their profits?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1:2:3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2:2:3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1:1:2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</a:t>
            </a:r>
            <a:r>
              <a:rPr lang="en-US" sz="3200" dirty="0">
                <a:latin typeface="Calibri"/>
                <a:ea typeface="Calibri"/>
                <a:cs typeface="Calibri"/>
                <a:sym typeface="Calibri"/>
              </a:rPr>
              <a:t>4:4:5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and B entered into partnership with capitals in the ratio 4 : 5. After 3 months, A withdrew </a:t>
            </a: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 of his capital and B withdrew </a:t>
            </a: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 of his capital. The gain at the end of 10 months was Rs. 760. A's share in this profit is:</a:t>
            </a: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1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275" y="-122238"/>
            <a:ext cx="95250" cy="26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1450" y="-122238"/>
            <a:ext cx="95250" cy="26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42" name="Google Shape;442;p1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443" name="Google Shape;443;p1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17"/>
          <p:cNvSpPr txBox="1"/>
          <p:nvPr/>
        </p:nvSpPr>
        <p:spPr>
          <a:xfrm>
            <a:off x="455839" y="1002412"/>
            <a:ext cx="11594647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Q27. A and B entered into a partnership investing ₹12,000 and ₹16,000 respectively. After 8 months, C joined them with an investment of ₹20,000. If the profit earned after 2 years was ₹31,000, what is C's share(approx.) in the profit?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₹5,000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₹7,000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₹8,000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₹10,000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51" name="Google Shape;451;p1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452" name="Google Shape;452;p1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18"/>
          <p:cNvSpPr txBox="1"/>
          <p:nvPr/>
        </p:nvSpPr>
        <p:spPr>
          <a:xfrm>
            <a:off x="451757" y="1051486"/>
            <a:ext cx="116205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Q28. A and B entered into a partnership with investments of ₹40,000 and ₹60,000 respectively. After 6 months, A withdrew ₹10,000 and B invested an additional ₹20,000. If the profit at the end of the year was ₹30,000, what is B's share of the profit?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₹18,000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₹20,000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₹22,000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₹24,000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60" name="Google Shape;460;p1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461" name="Google Shape;461;p1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19"/>
          <p:cNvSpPr txBox="1"/>
          <p:nvPr/>
        </p:nvSpPr>
        <p:spPr>
          <a:xfrm>
            <a:off x="538240" y="1010526"/>
            <a:ext cx="11512245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Q29. The profit earned by three partners A, B, and C in a business is in the ratio 5:3:2. If they together earned ₹25,000, how much more profit did A earn than C?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₹5,000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₹6,500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₹7,000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₹7,500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 txBox="1">
            <a:spLocks noGrp="1"/>
          </p:cNvSpPr>
          <p:nvPr>
            <p:ph type="title"/>
          </p:nvPr>
        </p:nvSpPr>
        <p:spPr>
          <a:xfrm>
            <a:off x="347472" y="1604859"/>
            <a:ext cx="4800261" cy="164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</a:t>
            </a:r>
            <a:br>
              <a:rPr lang="en-US" sz="4000" b="1">
                <a:solidFill>
                  <a:schemeClr val="dk2"/>
                </a:solidFill>
              </a:rPr>
            </a:br>
            <a:r>
              <a:rPr lang="en-US" sz="4000" b="1">
                <a:solidFill>
                  <a:schemeClr val="dk2"/>
                </a:solidFill>
              </a:rPr>
              <a:t>Learning Activity 2</a:t>
            </a:r>
            <a:endParaRPr/>
          </a:p>
        </p:txBody>
      </p:sp>
      <p:sp>
        <p:nvSpPr>
          <p:cNvPr id="469" name="Google Shape;46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70" name="Google Shape;47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471" name="Google Shape;471;p3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7"/>
          <p:cNvSpPr txBox="1">
            <a:spLocks noGrp="1"/>
          </p:cNvSpPr>
          <p:nvPr>
            <p:ph type="body" idx="1"/>
          </p:nvPr>
        </p:nvSpPr>
        <p:spPr>
          <a:xfrm>
            <a:off x="347472" y="2984207"/>
            <a:ext cx="1121095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review different solution approaches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discuss key takeaways.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reflect on challenges faced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how they resolved them.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of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real life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emphasized.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Builds confidence, problem-solving skills, and presentation abilities.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8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400"/>
              <a:t>Summary</a:t>
            </a:r>
            <a:endParaRPr/>
          </a:p>
        </p:txBody>
      </p:sp>
      <p:sp>
        <p:nvSpPr>
          <p:cNvPr id="479" name="Google Shape;47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80" name="Google Shape;48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481" name="Google Shape;481;p3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88" name="Google Shape;488;p1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489" name="Google Shape;489;p1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p120"/>
          <p:cNvGrpSpPr/>
          <p:nvPr/>
        </p:nvGrpSpPr>
        <p:grpSpPr>
          <a:xfrm>
            <a:off x="549651" y="1498441"/>
            <a:ext cx="9634011" cy="1930559"/>
            <a:chOff x="0" y="0"/>
            <a:chExt cx="9634011" cy="1930559"/>
          </a:xfrm>
        </p:grpSpPr>
        <p:sp>
          <p:nvSpPr>
            <p:cNvPr id="492" name="Google Shape;492;p120"/>
            <p:cNvSpPr/>
            <p:nvPr/>
          </p:nvSpPr>
          <p:spPr>
            <a:xfrm>
              <a:off x="0" y="0"/>
              <a:ext cx="9634011" cy="1930559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20"/>
            <p:cNvSpPr txBox="1"/>
            <p:nvPr/>
          </p:nvSpPr>
          <p:spPr>
            <a:xfrm>
              <a:off x="468758" y="56543"/>
              <a:ext cx="7638627" cy="1817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Outcome 1: Formula application of Ratio, proportion  and the ability to understand relationships between quantities and apply these concepts to practical scenarios</a:t>
              </a:r>
              <a:endParaRPr/>
            </a:p>
          </p:txBody>
        </p:sp>
      </p:grpSp>
      <p:grpSp>
        <p:nvGrpSpPr>
          <p:cNvPr id="494" name="Google Shape;494;p120"/>
          <p:cNvGrpSpPr/>
          <p:nvPr/>
        </p:nvGrpSpPr>
        <p:grpSpPr>
          <a:xfrm>
            <a:off x="1687723" y="3978000"/>
            <a:ext cx="9634011" cy="1930559"/>
            <a:chOff x="1045295" y="2359573"/>
            <a:chExt cx="9634011" cy="1930559"/>
          </a:xfrm>
        </p:grpSpPr>
        <p:sp>
          <p:nvSpPr>
            <p:cNvPr id="495" name="Google Shape;495;p120"/>
            <p:cNvSpPr/>
            <p:nvPr/>
          </p:nvSpPr>
          <p:spPr>
            <a:xfrm>
              <a:off x="1045295" y="2359573"/>
              <a:ext cx="9634011" cy="1930559"/>
            </a:xfrm>
            <a:prstGeom prst="roundRect">
              <a:avLst>
                <a:gd name="adj" fmla="val 10000"/>
              </a:avLst>
            </a:prstGeom>
            <a:solidFill>
              <a:srgbClr val="8CAF1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20"/>
            <p:cNvSpPr txBox="1"/>
            <p:nvPr/>
          </p:nvSpPr>
          <p:spPr>
            <a:xfrm>
              <a:off x="1101839" y="2416117"/>
              <a:ext cx="6565939" cy="1817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Outcome 2: Relationship between time and investment and  concept ofpartnership and apply these concepts in the real business world</a:t>
              </a:r>
              <a:endParaRPr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120"/>
          <p:cNvGrpSpPr/>
          <p:nvPr/>
        </p:nvGrpSpPr>
        <p:grpSpPr>
          <a:xfrm>
            <a:off x="8561106" y="3025464"/>
            <a:ext cx="1254863" cy="1254863"/>
            <a:chOff x="8379147" y="1517634"/>
            <a:chExt cx="1254863" cy="1254863"/>
          </a:xfrm>
        </p:grpSpPr>
        <p:sp>
          <p:nvSpPr>
            <p:cNvPr id="498" name="Google Shape;498;p120"/>
            <p:cNvSpPr/>
            <p:nvPr/>
          </p:nvSpPr>
          <p:spPr>
            <a:xfrm>
              <a:off x="8379147" y="1517634"/>
              <a:ext cx="1254863" cy="1254863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90196"/>
              </a:srgbClr>
            </a:solidFill>
            <a:ln w="25400" cap="flat" cmpd="sng">
              <a:solidFill>
                <a:srgbClr val="F6D4CC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20"/>
            <p:cNvSpPr txBox="1"/>
            <p:nvPr/>
          </p:nvSpPr>
          <p:spPr>
            <a:xfrm>
              <a:off x="8661491" y="1517634"/>
              <a:ext cx="690175" cy="9442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505" name="Google Shape;505;p1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506" name="Google Shape;506;p1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21"/>
          <p:cNvSpPr txBox="1">
            <a:spLocks noGrp="1"/>
          </p:cNvSpPr>
          <p:nvPr>
            <p:ph type="title"/>
          </p:nvPr>
        </p:nvSpPr>
        <p:spPr>
          <a:xfrm>
            <a:off x="838200" y="11307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Information about the next lesson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514" name="Google Shape;514;p1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pic>
        <p:nvPicPr>
          <p:cNvPr id="515" name="Google Shape;515;p1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22"/>
          <p:cNvSpPr txBox="1">
            <a:spLocks noGrp="1"/>
          </p:cNvSpPr>
          <p:nvPr>
            <p:ph type="title"/>
          </p:nvPr>
        </p:nvSpPr>
        <p:spPr>
          <a:xfrm>
            <a:off x="3693002" y="2131885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Review and Reflection from students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2295</Words>
  <Application>Microsoft Office PowerPoint</Application>
  <PresentationFormat>Widescreen</PresentationFormat>
  <Paragraphs>283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Noto Sans Symbols</vt:lpstr>
      <vt:lpstr>Times New Roman</vt:lpstr>
      <vt:lpstr>Algerian</vt:lpstr>
      <vt:lpstr>Play</vt:lpstr>
      <vt:lpstr>Georgia</vt:lpstr>
      <vt:lpstr>Inter</vt:lpstr>
      <vt:lpstr>Arial</vt:lpstr>
      <vt:lpstr>Calibri</vt:lpstr>
      <vt:lpstr>Office Theme</vt:lpstr>
      <vt:lpstr>   Session No.: 06 Course Name: Professional Readiness Course Code: O1UA603L Instructor Name: Duration: 50 min Date of Conduction of Class: 15/04/2025  </vt:lpstr>
      <vt:lpstr>PowerPoint Presentation</vt:lpstr>
      <vt:lpstr>At the end of this session students will be able to </vt:lpstr>
      <vt:lpstr>At the end of this session students will be able to </vt:lpstr>
      <vt:lpstr>Session Outline</vt:lpstr>
      <vt:lpstr>Reflection- Learning Activity 1</vt:lpstr>
      <vt:lpstr>PowerPoint Presentation</vt:lpstr>
      <vt:lpstr>Merging of Ratio’s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Reflection- Learning Activity 2</vt:lpstr>
      <vt:lpstr>Summary</vt:lpstr>
      <vt:lpstr>PowerPoint Presentation</vt:lpstr>
      <vt:lpstr>Information about the next lesson</vt:lpstr>
      <vt:lpstr>Review and Reflection from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Richa jindal</cp:lastModifiedBy>
  <cp:revision>1</cp:revision>
  <dcterms:created xsi:type="dcterms:W3CDTF">2024-08-22T06:33:55Z</dcterms:created>
  <dcterms:modified xsi:type="dcterms:W3CDTF">2026-02-12T07:00:10Z</dcterms:modified>
</cp:coreProperties>
</file>