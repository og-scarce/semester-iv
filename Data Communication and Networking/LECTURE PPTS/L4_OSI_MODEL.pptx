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embeddedFontLst>
    <p:embeddedFont>
      <p:font typeface="Georgia" panose="02040502050405020303" pitchFamily="18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AW0H4h7W+8TeUXXjWIkELz7/l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8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4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4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2" name="Google Shape;142;p4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3" name="Google Shape;143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4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0" name="Google Shape;150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Georgia"/>
              <a:buNone/>
            </a:pPr>
            <a: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OSI Model</a:t>
            </a: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Communication &amp; Network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R1UC406B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Priyanka Behera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82" name="Google Shape;18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183" name="Google Shape;183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966" y="208906"/>
            <a:ext cx="3015084" cy="833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"/>
          <p:cNvSpPr txBox="1">
            <a:spLocks noGrp="1"/>
          </p:cNvSpPr>
          <p:nvPr>
            <p:ph type="title"/>
          </p:nvPr>
        </p:nvSpPr>
        <p:spPr>
          <a:xfrm>
            <a:off x="838200" y="1608455"/>
            <a:ext cx="1051560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en-IN" dirty="0"/>
            </a:br>
            <a:r>
              <a:rPr lang="en-IN" sz="4000" dirty="0">
                <a:latin typeface="Times New Roman"/>
                <a:ea typeface="Times New Roman"/>
                <a:cs typeface="Times New Roman"/>
                <a:sym typeface="Times New Roman"/>
              </a:rPr>
              <a:t>Recap:</a:t>
            </a:r>
            <a:endParaRPr dirty="0"/>
          </a:p>
        </p:txBody>
      </p:sp>
      <p:sp>
        <p:nvSpPr>
          <p:cNvPr id="190" name="Google Shape;19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92" name="Google Shape;192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"/>
          <p:cNvSpPr txBox="1"/>
          <p:nvPr/>
        </p:nvSpPr>
        <p:spPr>
          <a:xfrm>
            <a:off x="959485" y="2833370"/>
            <a:ext cx="10165715" cy="35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Difference Between LAN, MAN and WAN.</a:t>
            </a:r>
          </a:p>
          <a:p>
            <a:r>
              <a:rPr lang="en-US" sz="1600" b="1" dirty="0"/>
              <a:t>Q2. Which network is commonly used in a computer laboratory?</a:t>
            </a:r>
          </a:p>
          <a:p>
            <a:r>
              <a:rPr lang="en-US" sz="1600" dirty="0"/>
              <a:t>a) WAN</a:t>
            </a:r>
            <a:br>
              <a:rPr lang="en-US" sz="1600" dirty="0"/>
            </a:br>
            <a:r>
              <a:rPr lang="en-US" sz="1600" dirty="0"/>
              <a:t>b) LAN</a:t>
            </a:r>
            <a:br>
              <a:rPr lang="en-US" sz="1600" dirty="0"/>
            </a:br>
            <a:r>
              <a:rPr lang="en-US" sz="1600" dirty="0"/>
              <a:t>c) MAN</a:t>
            </a:r>
            <a:br>
              <a:rPr lang="en-US" sz="1600" dirty="0"/>
            </a:br>
            <a:r>
              <a:rPr lang="en-US" sz="1600" dirty="0"/>
              <a:t>d) Internet</a:t>
            </a:r>
          </a:p>
          <a:p>
            <a:r>
              <a:rPr lang="en-US" sz="1600" b="1" dirty="0"/>
              <a:t>Q3. Which of the following uses public communication lines?</a:t>
            </a:r>
          </a:p>
          <a:p>
            <a:r>
              <a:rPr lang="en-US" sz="1600" dirty="0"/>
              <a:t>a) LAN</a:t>
            </a:r>
            <a:br>
              <a:rPr lang="en-US" sz="1600" dirty="0"/>
            </a:br>
            <a:r>
              <a:rPr lang="en-US" sz="1600" dirty="0"/>
              <a:t>b) WAN</a:t>
            </a:r>
            <a:br>
              <a:rPr lang="en-US" sz="1600" dirty="0"/>
            </a:br>
            <a:r>
              <a:rPr lang="en-US" sz="1600" dirty="0"/>
              <a:t>c) PAN</a:t>
            </a:r>
            <a:br>
              <a:rPr lang="en-US" sz="1600" dirty="0"/>
            </a:br>
            <a:r>
              <a:rPr lang="en-US" sz="1600" dirty="0"/>
              <a:t>d) Bluetooth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>
            <a:spLocks noGrp="1"/>
          </p:cNvSpPr>
          <p:nvPr>
            <p:ph type="title"/>
          </p:nvPr>
        </p:nvSpPr>
        <p:spPr>
          <a:xfrm>
            <a:off x="838211" y="13670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Please Think How Data is communicated over network?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0" name="Google Shape;200;p3"/>
          <p:cNvGrpSpPr/>
          <p:nvPr/>
        </p:nvGrpSpPr>
        <p:grpSpPr>
          <a:xfrm>
            <a:off x="1398000" y="3219474"/>
            <a:ext cx="9396000" cy="2925080"/>
            <a:chOff x="559800" y="713129"/>
            <a:chExt cx="9396000" cy="2925080"/>
          </a:xfrm>
        </p:grpSpPr>
        <p:sp>
          <p:nvSpPr>
            <p:cNvPr id="201" name="Google Shape;201;p3"/>
            <p:cNvSpPr/>
            <p:nvPr/>
          </p:nvSpPr>
          <p:spPr>
            <a:xfrm>
              <a:off x="1747800" y="713129"/>
              <a:ext cx="1944000" cy="194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1747800" y="713129"/>
              <a:ext cx="1944000" cy="19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59800" y="2918209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 txBox="1"/>
            <p:nvPr/>
          </p:nvSpPr>
          <p:spPr>
            <a:xfrm>
              <a:off x="559800" y="2918209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Ask guiding questions to the students.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6823800" y="713129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6823800" y="713129"/>
              <a:ext cx="1944000" cy="19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635800" y="2918209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 txBox="1"/>
            <p:nvPr/>
          </p:nvSpPr>
          <p:spPr>
            <a:xfrm>
              <a:off x="5635800" y="2918209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Try to relate with topic.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211" name="Google Shape;211;p3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4"/>
          <p:cNvGrpSpPr/>
          <p:nvPr/>
        </p:nvGrpSpPr>
        <p:grpSpPr>
          <a:xfrm>
            <a:off x="644056" y="2615979"/>
            <a:ext cx="10927829" cy="3689405"/>
            <a:chOff x="0" y="0"/>
            <a:chExt cx="10927829" cy="3689405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 txBox="1"/>
            <p:nvPr/>
          </p:nvSpPr>
          <p:spPr>
            <a:xfrm>
              <a:off x="0" y="0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Learning Outcome 1: Define the OSI Model and its seven layers</a:t>
              </a:r>
              <a:endParaRPr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1639174" y="2029173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18682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"/>
            <p:cNvSpPr txBox="1"/>
            <p:nvPr/>
          </p:nvSpPr>
          <p:spPr>
            <a:xfrm>
              <a:off x="1639174" y="2029173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Learning Outcome 2: Understand the functions of each layer</a:t>
              </a:r>
              <a:endParaRPr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8209504" y="1305127"/>
              <a:ext cx="1079151" cy="1079151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"/>
            <p:cNvSpPr txBox="1"/>
            <p:nvPr/>
          </p:nvSpPr>
          <p:spPr>
            <a:xfrm>
              <a:off x="8209504" y="1305127"/>
              <a:ext cx="1079151" cy="1079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231" name="Google Shape;231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5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IN" sz="5400">
                <a:latin typeface="Times New Roman"/>
                <a:ea typeface="Times New Roman"/>
                <a:cs typeface="Times New Roman"/>
                <a:sym typeface="Times New Roman"/>
              </a:rPr>
              <a:t>Session Outline</a:t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5"/>
          <p:cNvSpPr/>
          <p:nvPr/>
        </p:nvSpPr>
        <p:spPr>
          <a:xfrm rot="5400000">
            <a:off x="1627450" y="3462719"/>
            <a:ext cx="5410200" cy="18288"/>
          </a:xfrm>
          <a:custGeom>
            <a:avLst/>
            <a:gdLst/>
            <a:ahLst/>
            <a:cxnLst/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" name="Google Shape;240;p5"/>
          <p:cNvGrpSpPr/>
          <p:nvPr/>
        </p:nvGrpSpPr>
        <p:grpSpPr>
          <a:xfrm>
            <a:off x="4648018" y="640822"/>
            <a:ext cx="6900512" cy="5536141"/>
            <a:chOff x="0" y="0"/>
            <a:chExt cx="6900512" cy="5536141"/>
          </a:xfrm>
        </p:grpSpPr>
        <p:cxnSp>
          <p:nvCxnSpPr>
            <p:cNvPr id="241" name="Google Shape;241;p5"/>
            <p:cNvCxnSpPr/>
            <p:nvPr/>
          </p:nvCxnSpPr>
          <p:spPr>
            <a:xfrm>
              <a:off x="0" y="0"/>
              <a:ext cx="6900512" cy="0"/>
            </a:xfrm>
            <a:prstGeom prst="straightConnector1">
              <a:avLst/>
            </a:pr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2" name="Google Shape;242;p5"/>
            <p:cNvSpPr txBox="1"/>
            <p:nvPr/>
          </p:nvSpPr>
          <p:spPr>
            <a:xfrm>
              <a:off x="0" y="0"/>
              <a:ext cx="6900512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0" y="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0" y="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Introduction</a:t>
              </a:r>
              <a:endParaRPr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5" name="Google Shape;245;p5"/>
            <p:cNvCxnSpPr/>
            <p:nvPr/>
          </p:nvCxnSpPr>
          <p:spPr>
            <a:xfrm>
              <a:off x="0" y="922690"/>
              <a:ext cx="6900512" cy="0"/>
            </a:xfrm>
            <a:prstGeom prst="straightConnector1">
              <a:avLst/>
            </a:pr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6" name="Google Shape;246;p5"/>
            <p:cNvSpPr txBox="1"/>
            <p:nvPr/>
          </p:nvSpPr>
          <p:spPr>
            <a:xfrm>
              <a:off x="0" y="922690"/>
              <a:ext cx="6900512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0" y="92269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 txBox="1"/>
            <p:nvPr/>
          </p:nvSpPr>
          <p:spPr>
            <a:xfrm>
              <a:off x="0" y="92269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" name="Google Shape;249;p5"/>
            <p:cNvCxnSpPr/>
            <p:nvPr/>
          </p:nvCxnSpPr>
          <p:spPr>
            <a:xfrm>
              <a:off x="0" y="1845380"/>
              <a:ext cx="6900512" cy="0"/>
            </a:xfrm>
            <a:prstGeom prst="straightConnector1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0" name="Google Shape;250;p5"/>
            <p:cNvSpPr txBox="1"/>
            <p:nvPr/>
          </p:nvSpPr>
          <p:spPr>
            <a:xfrm>
              <a:off x="0" y="1845380"/>
              <a:ext cx="6900512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0" y="184538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0" y="184538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</a:t>
              </a:r>
              <a:r>
                <a:rPr lang="en-IN" sz="4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Layers of OSI</a:t>
              </a:r>
              <a:endParaRPr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3" name="Google Shape;253;p5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chemeClr val="accent5"/>
            </a:solidFill>
            <a:ln w="190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4" name="Google Shape;254;p5"/>
            <p:cNvSpPr txBox="1"/>
            <p:nvPr/>
          </p:nvSpPr>
          <p:spPr>
            <a:xfrm>
              <a:off x="0" y="2768070"/>
              <a:ext cx="6900512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0" y="276807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 txBox="1"/>
            <p:nvPr/>
          </p:nvSpPr>
          <p:spPr>
            <a:xfrm>
              <a:off x="0" y="2768070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lang="en-IN" sz="4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Functionality of Layers</a:t>
              </a:r>
              <a:endParaRPr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7" name="Google Shape;257;p5"/>
            <p:cNvCxnSpPr/>
            <p:nvPr/>
          </p:nvCxnSpPr>
          <p:spPr>
            <a:xfrm>
              <a:off x="0" y="3690761"/>
              <a:ext cx="6900512" cy="0"/>
            </a:xfrm>
            <a:prstGeom prst="straightConnector1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8" name="Google Shape;258;p5"/>
            <p:cNvSpPr txBox="1"/>
            <p:nvPr/>
          </p:nvSpPr>
          <p:spPr>
            <a:xfrm>
              <a:off x="0" y="3690761"/>
              <a:ext cx="6900512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0" y="3690761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 txBox="1"/>
            <p:nvPr/>
          </p:nvSpPr>
          <p:spPr>
            <a:xfrm>
              <a:off x="0" y="3690761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</a:t>
              </a:r>
              <a:r>
                <a:rPr lang="en-IN" sz="4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1" name="Google Shape;261;p5"/>
            <p:cNvCxnSpPr/>
            <p:nvPr/>
          </p:nvCxnSpPr>
          <p:spPr>
            <a:xfrm>
              <a:off x="0" y="4613451"/>
              <a:ext cx="6900512" cy="0"/>
            </a:xfrm>
            <a:prstGeom prst="straightConnector1">
              <a:avLst/>
            </a:pr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62" name="Google Shape;262;p5"/>
            <p:cNvSpPr txBox="1"/>
            <p:nvPr/>
          </p:nvSpPr>
          <p:spPr>
            <a:xfrm>
              <a:off x="0" y="4613451"/>
              <a:ext cx="6900512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0" y="4613451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 txBox="1"/>
            <p:nvPr/>
          </p:nvSpPr>
          <p:spPr>
            <a:xfrm>
              <a:off x="0" y="4613451"/>
              <a:ext cx="6900512" cy="922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"/>
          <p:cNvSpPr txBox="1"/>
          <p:nvPr/>
        </p:nvSpPr>
        <p:spPr>
          <a:xfrm>
            <a:off x="5107940" y="1736725"/>
            <a:ext cx="6347460" cy="5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ISO-OSI model?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guess the process of sending a letter to a friend?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 you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277" name="Google Shape;277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2389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 descr="downloa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660525" y="3519170"/>
            <a:ext cx="9340215" cy="298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dist="304800" dir="7140000" sx="90000" sy="9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</a:pPr>
            <a:r>
              <a:rPr lang="en-IN" sz="4000">
                <a:latin typeface="Georgia"/>
                <a:ea typeface="Georgia"/>
                <a:cs typeface="Georgia"/>
                <a:sym typeface="Georgia"/>
              </a:rPr>
              <a:t>Task involved in sending a letter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88" name="Google Shape;28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289" name="Google Shape;289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48690" y="1691005"/>
            <a:ext cx="981011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8"/>
          <p:cNvSpPr txBox="1">
            <a:spLocks noGrp="1"/>
          </p:cNvSpPr>
          <p:nvPr>
            <p:ph type="ftr" idx="11"/>
          </p:nvPr>
        </p:nvSpPr>
        <p:spPr>
          <a:xfrm>
            <a:off x="942975" y="5624830"/>
            <a:ext cx="101694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set of functionality requires to perform data communication over a network such as error control, access control, routing, multiplexing/demultiplexing, checkpoints etc.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306" name="Google Shape;306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8" descr="communication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942340" y="1466850"/>
            <a:ext cx="4972050" cy="3512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8" descr="networks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6158865" y="1291590"/>
            <a:ext cx="5181600" cy="38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 txBox="1">
            <a:spLocks noGrp="1"/>
          </p:cNvSpPr>
          <p:nvPr>
            <p:ph type="title"/>
          </p:nvPr>
        </p:nvSpPr>
        <p:spPr>
          <a:xfrm>
            <a:off x="456565" y="1678940"/>
            <a:ext cx="10843260" cy="406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IN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Models- </a:t>
            </a:r>
            <a:r>
              <a:rPr lang="en-IN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tells how and where to implement different functionalities for data communication.</a:t>
            </a:r>
            <a:br>
              <a:rPr lang="en-IN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examples are</a:t>
            </a:r>
            <a:br>
              <a:rPr lang="en-IN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ISO-OSI, TCP/IP, IEEE, etc.</a:t>
            </a:r>
            <a:endParaRPr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316" name="Google Shape;316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 txBox="1">
            <a:spLocks noGrp="1"/>
          </p:cNvSpPr>
          <p:nvPr>
            <p:ph type="title"/>
          </p:nvPr>
        </p:nvSpPr>
        <p:spPr>
          <a:xfrm>
            <a:off x="838200" y="7537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ISO-OSI</a:t>
            </a:r>
            <a:endParaRPr/>
          </a:p>
        </p:txBody>
      </p:sp>
      <p:sp>
        <p:nvSpPr>
          <p:cNvPr id="323" name="Google Shape;32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Established in 1947, the International Standards Organization (</a:t>
            </a:r>
            <a:r>
              <a:rPr lang="en-IN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) is a multinational body dedicated to worldwide agreement on international standards.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An ISO standard that covers all aspects of network communications is the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Open Systems Interconnection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IN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OSI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) model. It was first introduced in the late 1970s.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326" name="Google Shape;326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Activity 1: </a:t>
            </a:r>
            <a:r>
              <a:rPr lang="en-IN" b="1">
                <a:latin typeface="Georgia"/>
                <a:ea typeface="Georgia"/>
                <a:cs typeface="Georgia"/>
                <a:sym typeface="Georgia"/>
              </a:rPr>
              <a:t>Brainstorming</a:t>
            </a:r>
            <a:endParaRPr b="1"/>
          </a:p>
        </p:txBody>
      </p:sp>
      <p:sp>
        <p:nvSpPr>
          <p:cNvPr id="333" name="Google Shape;33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OSI model has seven layers.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advantages of layering are as 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Abstraction, Encapsulation, Divide and Conquer, Simplified Testing, Modularity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Each team will brainstorm on one of the above highlighted advantage and justify how???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35" name="Google Shape;3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336" name="Google Shape;336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1" descr="download (1)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6681470" y="2040890"/>
            <a:ext cx="4863465" cy="3971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>
            <a:spLocks noGrp="1"/>
          </p:cNvSpPr>
          <p:nvPr>
            <p:ph type="title"/>
          </p:nvPr>
        </p:nvSpPr>
        <p:spPr>
          <a:xfrm>
            <a:off x="838200" y="7537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Layers</a:t>
            </a:r>
            <a:endParaRPr/>
          </a:p>
        </p:txBody>
      </p:sp>
      <p:sp>
        <p:nvSpPr>
          <p:cNvPr id="344" name="Google Shape;3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345" name="Google Shape;345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/>
          <p:nvPr/>
        </p:nvSpPr>
        <p:spPr>
          <a:xfrm>
            <a:off x="4572000" y="1676400"/>
            <a:ext cx="43434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Layers 1-4 relate to communications technology.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609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Layers 5-7 relate to user applications.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920750" y="1728788"/>
            <a:ext cx="1282700" cy="292100"/>
          </a:xfrm>
          <a:prstGeom prst="rect">
            <a:avLst/>
          </a:prstGeom>
          <a:solidFill>
            <a:srgbClr val="0066FF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1050925" y="16764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7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920750" y="2262188"/>
            <a:ext cx="1282700" cy="292100"/>
          </a:xfrm>
          <a:prstGeom prst="rect">
            <a:avLst/>
          </a:prstGeom>
          <a:solidFill>
            <a:srgbClr val="0066FF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050925" y="22098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6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920750" y="2795588"/>
            <a:ext cx="1282700" cy="292100"/>
          </a:xfrm>
          <a:prstGeom prst="rect">
            <a:avLst/>
          </a:prstGeom>
          <a:solidFill>
            <a:srgbClr val="0066FF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050925" y="27432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5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920750" y="3328988"/>
            <a:ext cx="1282700" cy="292100"/>
          </a:xfrm>
          <a:prstGeom prst="rect">
            <a:avLst/>
          </a:prstGeom>
          <a:solidFill>
            <a:srgbClr val="0066FF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050925" y="32766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4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920750" y="3862388"/>
            <a:ext cx="1282700" cy="2921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050925" y="38100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3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920750" y="4395788"/>
            <a:ext cx="1282700" cy="2921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050925" y="43434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2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920750" y="4929188"/>
            <a:ext cx="1282700" cy="29210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1050925" y="4876800"/>
            <a:ext cx="966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1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2" name="Google Shape;362;p12"/>
          <p:cNvCxnSpPr/>
          <p:nvPr/>
        </p:nvCxnSpPr>
        <p:spPr>
          <a:xfrm>
            <a:off x="1600200" y="2027238"/>
            <a:ext cx="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3" name="Google Shape;363;p12"/>
          <p:cNvCxnSpPr/>
          <p:nvPr/>
        </p:nvCxnSpPr>
        <p:spPr>
          <a:xfrm>
            <a:off x="1600200" y="2560638"/>
            <a:ext cx="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4" name="Google Shape;364;p12"/>
          <p:cNvCxnSpPr/>
          <p:nvPr/>
        </p:nvCxnSpPr>
        <p:spPr>
          <a:xfrm>
            <a:off x="1600200" y="3094038"/>
            <a:ext cx="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5" name="Google Shape;365;p12"/>
          <p:cNvCxnSpPr/>
          <p:nvPr/>
        </p:nvCxnSpPr>
        <p:spPr>
          <a:xfrm>
            <a:off x="1600200" y="3627438"/>
            <a:ext cx="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" name="Google Shape;366;p12"/>
          <p:cNvCxnSpPr/>
          <p:nvPr/>
        </p:nvCxnSpPr>
        <p:spPr>
          <a:xfrm>
            <a:off x="1600200" y="4160838"/>
            <a:ext cx="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" name="Google Shape;367;p12"/>
          <p:cNvCxnSpPr/>
          <p:nvPr/>
        </p:nvCxnSpPr>
        <p:spPr>
          <a:xfrm>
            <a:off x="1600200" y="4694238"/>
            <a:ext cx="0" cy="228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8" name="Google Shape;368;p12"/>
          <p:cNvSpPr/>
          <p:nvPr/>
        </p:nvSpPr>
        <p:spPr>
          <a:xfrm>
            <a:off x="2346325" y="1676400"/>
            <a:ext cx="20383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2346325" y="2209800"/>
            <a:ext cx="20923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2346325" y="2743200"/>
            <a:ext cx="16160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2346325" y="3276600"/>
            <a:ext cx="18272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2346325" y="3810000"/>
            <a:ext cx="1728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2346325" y="4343400"/>
            <a:ext cx="186213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Link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346325" y="4876800"/>
            <a:ext cx="17002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Layer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5" name="Google Shape;375;p12"/>
          <p:cNvCxnSpPr/>
          <p:nvPr/>
        </p:nvCxnSpPr>
        <p:spPr>
          <a:xfrm>
            <a:off x="609600" y="3779838"/>
            <a:ext cx="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76" name="Google Shape;376;p12"/>
          <p:cNvCxnSpPr/>
          <p:nvPr/>
        </p:nvCxnSpPr>
        <p:spPr>
          <a:xfrm>
            <a:off x="4267200" y="3779838"/>
            <a:ext cx="0" cy="152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77" name="Google Shape;377;p12"/>
          <p:cNvCxnSpPr/>
          <p:nvPr/>
        </p:nvCxnSpPr>
        <p:spPr>
          <a:xfrm rot="10800000">
            <a:off x="609600" y="3779838"/>
            <a:ext cx="3657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78" name="Google Shape;378;p12"/>
          <p:cNvCxnSpPr/>
          <p:nvPr/>
        </p:nvCxnSpPr>
        <p:spPr>
          <a:xfrm rot="10800000">
            <a:off x="609600" y="5303838"/>
            <a:ext cx="3657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79" name="Google Shape;379;p12"/>
          <p:cNvSpPr/>
          <p:nvPr/>
        </p:nvSpPr>
        <p:spPr>
          <a:xfrm>
            <a:off x="4267200" y="5791200"/>
            <a:ext cx="44942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Communications subnet boundary</a:t>
            </a:r>
            <a:endParaRPr sz="20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267200" y="4800600"/>
            <a:ext cx="762000" cy="990600"/>
          </a:xfrm>
          <a:custGeom>
            <a:avLst/>
            <a:gdLst/>
            <a:ahLst/>
            <a:cxnLst/>
            <a:rect l="l" t="t" r="r" b="b"/>
            <a:pathLst>
              <a:path w="1440" h="1152" extrusionOk="0">
                <a:moveTo>
                  <a:pt x="0" y="0"/>
                </a:moveTo>
                <a:cubicBezTo>
                  <a:pt x="292" y="216"/>
                  <a:pt x="584" y="432"/>
                  <a:pt x="720" y="576"/>
                </a:cubicBezTo>
                <a:cubicBezTo>
                  <a:pt x="856" y="720"/>
                  <a:pt x="720" y="776"/>
                  <a:pt x="816" y="864"/>
                </a:cubicBezTo>
                <a:cubicBezTo>
                  <a:pt x="912" y="952"/>
                  <a:pt x="1192" y="1056"/>
                  <a:pt x="1296" y="1104"/>
                </a:cubicBezTo>
                <a:cubicBezTo>
                  <a:pt x="1400" y="1152"/>
                  <a:pt x="1420" y="1152"/>
                  <a:pt x="1440" y="1152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387" name="Google Shape;387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48105" y="0"/>
            <a:ext cx="928941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Physical Layer</a:t>
            </a:r>
            <a:endParaRPr/>
          </a:p>
        </p:txBody>
      </p:sp>
      <p:sp>
        <p:nvSpPr>
          <p:cNvPr id="393" name="Google Shape;39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physical layer is responsible for movements of individual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bits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from one hop (node) to the next.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95" name="Google Shape;3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396" name="Google Shape;396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5681980" y="3171825"/>
            <a:ext cx="5671820" cy="244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 Link Layer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data link layer is responsible for moving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frames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from one hop (node) to the next.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06" name="Google Shape;4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407" name="Google Shape;407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559300" y="3429000"/>
            <a:ext cx="6794500" cy="2329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Network Layer</a:t>
            </a:r>
            <a:endParaRPr/>
          </a:p>
        </p:txBody>
      </p:sp>
      <p:sp>
        <p:nvSpPr>
          <p:cNvPr id="415" name="Google Shape;41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network layer is responsible for the delivery of individual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packets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from the source host to the destination host.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17" name="Google Shape;41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418" name="Google Shape;418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5469890" y="3129280"/>
            <a:ext cx="6163310" cy="251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Transport Layer</a:t>
            </a:r>
            <a:endParaRPr/>
          </a:p>
        </p:txBody>
      </p:sp>
      <p:sp>
        <p:nvSpPr>
          <p:cNvPr id="426" name="Google Shape;42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transport layer is responsible for the delivery of a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segment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from one process to another.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28" name="Google Shape;4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429" name="Google Shape;429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335655" y="3497580"/>
            <a:ext cx="7865745" cy="234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Session Layer</a:t>
            </a:r>
            <a:endParaRPr/>
          </a:p>
        </p:txBody>
      </p:sp>
      <p:sp>
        <p:nvSpPr>
          <p:cNvPr id="437" name="Google Shape;43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session layer is responsible for dialog control and synchronization.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39" name="Google Shape;4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440" name="Google Shape;440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157980" y="3343910"/>
            <a:ext cx="7043420" cy="2411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Presentation Layer</a:t>
            </a:r>
            <a:endParaRPr/>
          </a:p>
        </p:txBody>
      </p:sp>
      <p:sp>
        <p:nvSpPr>
          <p:cNvPr id="448" name="Google Shape;448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presentation layer is responsible for translation, compression, and encryption.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50" name="Google Shape;45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pic>
        <p:nvPicPr>
          <p:cNvPr id="451" name="Google Shape;451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9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039235" y="3118485"/>
            <a:ext cx="7314565" cy="305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Application Layer</a:t>
            </a:r>
            <a:endParaRPr/>
          </a:p>
        </p:txBody>
      </p:sp>
      <p:sp>
        <p:nvSpPr>
          <p:cNvPr id="459" name="Google Shape;45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application layer is responsible for providing services to the user.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61" name="Google Shape;46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pic>
        <p:nvPicPr>
          <p:cNvPr id="462" name="Google Shape;462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424045" y="3551555"/>
            <a:ext cx="6553200" cy="2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 txBox="1">
            <a:spLocks noGrp="1"/>
          </p:cNvSpPr>
          <p:nvPr>
            <p:ph type="title"/>
          </p:nvPr>
        </p:nvSpPr>
        <p:spPr>
          <a:xfrm>
            <a:off x="838200" y="7537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Activity 2: Jigsaw </a:t>
            </a:r>
            <a:endParaRPr/>
          </a:p>
        </p:txBody>
      </p:sp>
      <p:sp>
        <p:nvSpPr>
          <p:cNvPr id="470" name="Google Shape;47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Each team will discuss on an assigned layer and discuss.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Research and present key functions.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Discuss real-world examples of your assigned layer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72" name="Google Shape;47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pic>
        <p:nvPicPr>
          <p:cNvPr id="473" name="Google Shape;473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Activity 3: Match the following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0" name="Google Shape;480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691005"/>
            <a:ext cx="4276725" cy="418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482" name="Google Shape;48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"/>
          <p:cNvSpPr txBox="1">
            <a:spLocks noGrp="1"/>
          </p:cNvSpPr>
          <p:nvPr>
            <p:ph type="title"/>
          </p:nvPr>
        </p:nvSpPr>
        <p:spPr>
          <a:xfrm>
            <a:off x="838200" y="7537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IN"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/>
          </a:p>
        </p:txBody>
      </p:sp>
      <p:sp>
        <p:nvSpPr>
          <p:cNvPr id="488" name="Google Shape;48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OSI is a reference model that has seven layers.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Each layers replicates an abstract, encapsulated and modular way to transmit data over the network.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Each layer has their unique functionality such as network layer do routing, physical layer is for handling physical device and so 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pic>
        <p:nvPicPr>
          <p:cNvPr id="491" name="Google Shape;491;p2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 txBox="1"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4000" b="1">
                <a:latin typeface="Times New Roman"/>
                <a:ea typeface="Times New Roman"/>
                <a:cs typeface="Times New Roman"/>
                <a:sym typeface="Times New Roman"/>
              </a:rPr>
              <a:t>Ensure attainment of LOs in alignment to the learning activities:</a:t>
            </a:r>
            <a:r>
              <a:rPr lang="en-IN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outcomes (1-2)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  <p:grpSp>
        <p:nvGrpSpPr>
          <p:cNvPr id="500" name="Google Shape;500;p24"/>
          <p:cNvGrpSpPr/>
          <p:nvPr/>
        </p:nvGrpSpPr>
        <p:grpSpPr>
          <a:xfrm>
            <a:off x="644056" y="2615979"/>
            <a:ext cx="10927829" cy="3689405"/>
            <a:chOff x="0" y="0"/>
            <a:chExt cx="10927829" cy="3689405"/>
          </a:xfrm>
        </p:grpSpPr>
        <p:sp>
          <p:nvSpPr>
            <p:cNvPr id="501" name="Google Shape;501;p24"/>
            <p:cNvSpPr/>
            <p:nvPr/>
          </p:nvSpPr>
          <p:spPr>
            <a:xfrm>
              <a:off x="0" y="0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0" y="0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200" tIns="156200" rIns="156200" bIns="156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Outcome 1: </a:t>
              </a:r>
              <a:r>
                <a:rPr lang="en-IN" sz="4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Activity 1 explained benefits of having layer based OSI model</a:t>
              </a:r>
              <a:endParaRPr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1639174" y="2029173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18682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4"/>
            <p:cNvSpPr txBox="1"/>
            <p:nvPr/>
          </p:nvSpPr>
          <p:spPr>
            <a:xfrm>
              <a:off x="1639174" y="2029173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200" tIns="156200" rIns="156200" bIns="156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4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Outcome 2:  </a:t>
              </a:r>
              <a:r>
                <a:rPr lang="en-IN" sz="4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Activity 2 &amp;3 explained functionality of each layers of OSI model</a:t>
              </a:r>
              <a:endParaRPr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8209504" y="1305127"/>
              <a:ext cx="1079151" cy="1079151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4"/>
            <p:cNvSpPr txBox="1"/>
            <p:nvPr/>
          </p:nvSpPr>
          <p:spPr>
            <a:xfrm>
              <a:off x="8209504" y="1305127"/>
              <a:ext cx="1079151" cy="1079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7" name="Google Shape;507;p2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5"/>
          <p:cNvSpPr txBox="1">
            <a:spLocks noGrp="1"/>
          </p:cNvSpPr>
          <p:nvPr>
            <p:ph type="title"/>
          </p:nvPr>
        </p:nvSpPr>
        <p:spPr>
          <a:xfrm>
            <a:off x="838200" y="12052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en-IN" sz="2800">
                <a:latin typeface="Georgia"/>
                <a:ea typeface="Georgia"/>
                <a:cs typeface="Georgia"/>
                <a:sym typeface="Georgia"/>
              </a:rPr>
              <a:t>Next we are going to start about.....</a:t>
            </a:r>
            <a:br>
              <a:rPr lang="en-IN" sz="2800">
                <a:latin typeface="Georgia"/>
                <a:ea typeface="Georgia"/>
                <a:cs typeface="Georgia"/>
                <a:sym typeface="Georgia"/>
              </a:rPr>
            </a:br>
            <a:r>
              <a:rPr lang="en-IN" sz="28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IN" sz="2000">
                <a:latin typeface="Georgia"/>
                <a:ea typeface="Georgia"/>
                <a:cs typeface="Georgia"/>
                <a:sym typeface="Georgia"/>
              </a:rPr>
              <a:t> </a:t>
            </a:r>
            <a:br>
              <a:rPr lang="en-IN" sz="2000">
                <a:latin typeface="Georgia"/>
                <a:ea typeface="Georgia"/>
                <a:cs typeface="Georgia"/>
                <a:sym typeface="Georgia"/>
              </a:rPr>
            </a:br>
            <a:r>
              <a:rPr lang="en-IN" sz="4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TCP/IP Protocol Suite</a:t>
            </a:r>
            <a:endParaRPr sz="40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4" name="Google Shape;51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515" name="Google Shape;51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  <p:pic>
        <p:nvPicPr>
          <p:cNvPr id="516" name="Google Shape;516;p2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2089150" y="2531745"/>
            <a:ext cx="6613525" cy="421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305" y="-8636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IN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and Reflection from students</a:t>
            </a:r>
            <a:endParaRPr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" name="Google Shape;526;p26" descr="Smiling Face with No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527" name="Google Shape;527;p26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528" name="Google Shape;528;p26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1" name="Google Shape;5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  <p:pic>
        <p:nvPicPr>
          <p:cNvPr id="533" name="Google Shape;533;p26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7799705" y="2851150"/>
            <a:ext cx="2959100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Widescreen</PresentationFormat>
  <Paragraphs>134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Georgia</vt:lpstr>
      <vt:lpstr>Calibri</vt:lpstr>
      <vt:lpstr>Times New Roman</vt:lpstr>
      <vt:lpstr>Play</vt:lpstr>
      <vt:lpstr>Office Theme</vt:lpstr>
      <vt:lpstr>1_Office Theme</vt:lpstr>
      <vt:lpstr>OSI Model     Course Name: Data Communication &amp; Network Course Code: R1UC406B Instructor Name: Priyanka Behera</vt:lpstr>
      <vt:lpstr> Recap:</vt:lpstr>
      <vt:lpstr>Please Think How Data is communicated over network?</vt:lpstr>
      <vt:lpstr>At the end of this session students will be able to </vt:lpstr>
      <vt:lpstr>Session Outline</vt:lpstr>
      <vt:lpstr>PowerPoint Presentation</vt:lpstr>
      <vt:lpstr>Task involved in sending a letter</vt:lpstr>
      <vt:lpstr>PowerPoint Presentation</vt:lpstr>
      <vt:lpstr>Reference Models- This tells how and where to implement different functionalities for data communication.  Some examples are ISO-OSI, TCP/IP, IEEE, etc.</vt:lpstr>
      <vt:lpstr>ISO-OSI</vt:lpstr>
      <vt:lpstr>Activity 1: Brainstorming</vt:lpstr>
      <vt:lpstr>Layers</vt:lpstr>
      <vt:lpstr>PowerPoint Presentation</vt:lpstr>
      <vt:lpstr>Physical Layer</vt:lpstr>
      <vt:lpstr>Data Link Layer</vt:lpstr>
      <vt:lpstr>Network Layer</vt:lpstr>
      <vt:lpstr>Transport Layer</vt:lpstr>
      <vt:lpstr>Session Layer</vt:lpstr>
      <vt:lpstr>Presentation Layer</vt:lpstr>
      <vt:lpstr>Application Layer</vt:lpstr>
      <vt:lpstr>Activity 2: Jigsaw </vt:lpstr>
      <vt:lpstr>Activity 3: Match the following</vt:lpstr>
      <vt:lpstr>Conclusion</vt:lpstr>
      <vt:lpstr>Ensure attainment of LOs in alignment to the learning activities: outcomes (1-2)</vt:lpstr>
      <vt:lpstr>Next we are going to start about.....    TCP/IP Protocol Suite</vt:lpstr>
      <vt:lpstr>Review and Reflection from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Jiten Bhatt</cp:lastModifiedBy>
  <cp:revision>1</cp:revision>
  <dcterms:created xsi:type="dcterms:W3CDTF">2024-08-22T06:33:00Z</dcterms:created>
  <dcterms:modified xsi:type="dcterms:W3CDTF">2026-02-14T03:42:12Z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7FAB50E57FBA479FA42EF810A063B2F8_12</vt:lpwstr>
  </property>
  <property fmtid="{D5CDD505-2E9C-101B-9397-08002B2CF9AE}" pid="3" name="KSOProductBuildVer">
    <vt:lpwstr>1033-12.2.0.19805</vt:lpwstr>
  </property>
</Properties>
</file>