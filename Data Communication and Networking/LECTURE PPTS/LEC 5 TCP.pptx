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76" r:id="rId3"/>
    <p:sldId id="341" r:id="rId4"/>
    <p:sldId id="303" r:id="rId5"/>
    <p:sldId id="308" r:id="rId6"/>
    <p:sldId id="333" r:id="rId7"/>
    <p:sldId id="270" r:id="rId8"/>
    <p:sldId id="257" r:id="rId9"/>
    <p:sldId id="258" r:id="rId10"/>
    <p:sldId id="259" r:id="rId11"/>
    <p:sldId id="260" r:id="rId12"/>
    <p:sldId id="261" r:id="rId13"/>
    <p:sldId id="262" r:id="rId14"/>
    <p:sldId id="263" r:id="rId15"/>
    <p:sldId id="264" r:id="rId16"/>
    <p:sldId id="265" r:id="rId17"/>
    <p:sldId id="342" r:id="rId18"/>
    <p:sldId id="268" r:id="rId19"/>
    <p:sldId id="331" r:id="rId20"/>
    <p:sldId id="314" r:id="rId21"/>
    <p:sldId id="274" r:id="rId22"/>
    <p:sldId id="275" r:id="rId23"/>
  </p:sldIdLst>
  <p:sldSz cx="12192000" cy="6858000"/>
  <p:notesSz cx="6858000" cy="9144000"/>
  <p:embeddedFontLst>
    <p:embeddedFont>
      <p:font typeface="Cambria" panose="02040503050406030204" pitchFamily="18" charset="0"/>
      <p:regular r:id="rId25"/>
      <p:bold r:id="rId26"/>
      <p:italic r:id="rId27"/>
      <p:boldItalic r:id="rId28"/>
    </p:embeddedFont>
    <p:embeddedFont>
      <p:font typeface="Consolas" panose="020B0609020204030204" pitchFamily="49" charset="0"/>
      <p:regular r:id="rId29"/>
      <p:bold r:id="rId30"/>
      <p:italic r:id="rId31"/>
      <p:boldItalic r:id="rId32"/>
    </p:embeddedFont>
    <p:embeddedFont>
      <p:font typeface="Georgia" panose="02040502050405020303" pitchFamily="18" charset="0"/>
      <p:regular r:id="rId33"/>
      <p:bold r:id="rId34"/>
      <p:italic r:id="rId35"/>
      <p:boldItalic r:id="rId36"/>
    </p:embeddedFont>
    <p:embeddedFont>
      <p:font typeface="Play"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gwThR3zzCDGZQnLWvQv3lKhNIE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96881DD-656B-4B6F-9048-B88C7D878465}">
  <a:tblStyle styleId="{396881DD-656B-4B6F-9048-B88C7D87846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1E20D-31FA-E6D6-1B52-CE1EA9577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7AB5F-ACD7-05E5-5AB3-5B7CA077C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E1307-F9DA-D3E2-7D9C-CA20B745A71A}"/>
              </a:ext>
            </a:extLst>
          </p:cNvPr>
          <p:cNvSpPr>
            <a:spLocks noGrp="1"/>
          </p:cNvSpPr>
          <p:nvPr>
            <p:ph type="body" idx="1"/>
          </p:nvPr>
        </p:nvSpPr>
        <p:spPr/>
        <p:txBody>
          <a:bodyPr/>
          <a:lstStyle/>
          <a:p>
            <a:r>
              <a:rPr lang="en-IN" dirty="0"/>
              <a:t>To understand the difference between these situations, we will go through today’s lesson</a:t>
            </a:r>
            <a:endParaRPr lang="en-US" dirty="0"/>
          </a:p>
        </p:txBody>
      </p:sp>
      <p:sp>
        <p:nvSpPr>
          <p:cNvPr id="4" name="Slide Number Placeholder 3">
            <a:extLst>
              <a:ext uri="{FF2B5EF4-FFF2-40B4-BE49-F238E27FC236}">
                <a16:creationId xmlns:a16="http://schemas.microsoft.com/office/drawing/2014/main" id="{79F30F2B-6D0C-6F79-7BD0-A1D639AAEDE7}"/>
              </a:ext>
            </a:extLst>
          </p:cNvPr>
          <p:cNvSpPr>
            <a:spLocks noGrp="1"/>
          </p:cNvSpPr>
          <p:nvPr>
            <p:ph type="sldNum" sz="quarter" idx="5"/>
          </p:nvPr>
        </p:nvSpPr>
        <p:spPr/>
        <p:txBody>
          <a:bodyPr/>
          <a:lstStyle/>
          <a:p>
            <a:fld id="{AE9FE326-85E6-4395-8F28-A8F972B7BB4E}" type="slidenum">
              <a:rPr lang="en-IN" smtClean="0"/>
              <a:t>6</a:t>
            </a:fld>
            <a:endParaRPr lang="en-IN"/>
          </a:p>
        </p:txBody>
      </p:sp>
    </p:spTree>
    <p:extLst>
      <p:ext uri="{BB962C8B-B14F-4D97-AF65-F5344CB8AC3E}">
        <p14:creationId xmlns:p14="http://schemas.microsoft.com/office/powerpoint/2010/main" val="2354379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E6AE27E4-F52F-3BAA-D704-3A1A364014B4}"/>
            </a:ext>
          </a:extLst>
        </p:cNvPr>
        <p:cNvGrpSpPr/>
        <p:nvPr/>
      </p:nvGrpSpPr>
      <p:grpSpPr>
        <a:xfrm>
          <a:off x="0" y="0"/>
          <a:ext cx="0" cy="0"/>
          <a:chOff x="0" y="0"/>
          <a:chExt cx="0" cy="0"/>
        </a:xfrm>
      </p:grpSpPr>
      <p:sp>
        <p:nvSpPr>
          <p:cNvPr id="231" name="Google Shape;231;p15:notes">
            <a:extLst>
              <a:ext uri="{FF2B5EF4-FFF2-40B4-BE49-F238E27FC236}">
                <a16:creationId xmlns:a16="http://schemas.microsoft.com/office/drawing/2014/main" id="{2F7B7F12-2A3E-71B4-91EB-2158DA62CAA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5:notes">
            <a:extLst>
              <a:ext uri="{FF2B5EF4-FFF2-40B4-BE49-F238E27FC236}">
                <a16:creationId xmlns:a16="http://schemas.microsoft.com/office/drawing/2014/main" id="{B8AD4F81-0AC8-9A96-E431-650C0CEDE3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9692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7127B-D8E7-B0B0-6C8F-A6D8EB302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53ACD1-65A8-C5B8-BF39-4D5E84FDA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F7145-C5D7-E46D-95DE-1ED86571DA12}"/>
              </a:ext>
            </a:extLst>
          </p:cNvPr>
          <p:cNvSpPr>
            <a:spLocks noGrp="1"/>
          </p:cNvSpPr>
          <p:nvPr>
            <p:ph type="body" idx="1"/>
          </p:nvPr>
        </p:nvSpPr>
        <p:spPr/>
        <p:txBody>
          <a:bodyPr/>
          <a:lstStyle/>
          <a:p>
            <a:r>
              <a:rPr lang="en-IN" dirty="0"/>
              <a:t>To understand the difference between these situations, we will go through today’s lesson</a:t>
            </a:r>
            <a:endParaRPr lang="en-US" dirty="0"/>
          </a:p>
        </p:txBody>
      </p:sp>
      <p:sp>
        <p:nvSpPr>
          <p:cNvPr id="4" name="Slide Number Placeholder 3">
            <a:extLst>
              <a:ext uri="{FF2B5EF4-FFF2-40B4-BE49-F238E27FC236}">
                <a16:creationId xmlns:a16="http://schemas.microsoft.com/office/drawing/2014/main" id="{4DE5147A-478F-658C-EEE4-4BCACEA794B9}"/>
              </a:ext>
            </a:extLst>
          </p:cNvPr>
          <p:cNvSpPr>
            <a:spLocks noGrp="1"/>
          </p:cNvSpPr>
          <p:nvPr>
            <p:ph type="sldNum" sz="quarter" idx="5"/>
          </p:nvPr>
        </p:nvSpPr>
        <p:spPr/>
        <p:txBody>
          <a:bodyPr/>
          <a:lstStyle/>
          <a:p>
            <a:fld id="{AE9FE326-85E6-4395-8F28-A8F972B7BB4E}" type="slidenum">
              <a:rPr lang="en-IN" smtClean="0"/>
              <a:t>19</a:t>
            </a:fld>
            <a:endParaRPr lang="en-IN"/>
          </a:p>
        </p:txBody>
      </p:sp>
    </p:spTree>
    <p:extLst>
      <p:ext uri="{BB962C8B-B14F-4D97-AF65-F5344CB8AC3E}">
        <p14:creationId xmlns:p14="http://schemas.microsoft.com/office/powerpoint/2010/main" val="20905238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8483C-F167-71AE-FF1A-F688F70CF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5F3F2-2943-3B4E-6287-D7C4FFB2C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AC23D1-20A8-A0DF-E6ED-43DA150FAF61}"/>
              </a:ext>
            </a:extLst>
          </p:cNvPr>
          <p:cNvSpPr>
            <a:spLocks noGrp="1"/>
          </p:cNvSpPr>
          <p:nvPr>
            <p:ph type="body" idx="1"/>
          </p:nvPr>
        </p:nvSpPr>
        <p:spPr/>
        <p:txBody>
          <a:bodyPr/>
          <a:lstStyle/>
          <a:p>
            <a:r>
              <a:rPr lang="en-IN" dirty="0"/>
              <a:t>Brief about the case 1-2 mins</a:t>
            </a:r>
          </a:p>
          <a:p>
            <a:endParaRPr lang="en-IN" dirty="0"/>
          </a:p>
          <a:p>
            <a:r>
              <a:rPr lang="en-IN" dirty="0"/>
              <a:t>Discuss and prepare to slide into the need for Pandas in Python for ML</a:t>
            </a:r>
            <a:endParaRPr lang="en-US" dirty="0"/>
          </a:p>
        </p:txBody>
      </p:sp>
      <p:sp>
        <p:nvSpPr>
          <p:cNvPr id="4" name="Slide Number Placeholder 3">
            <a:extLst>
              <a:ext uri="{FF2B5EF4-FFF2-40B4-BE49-F238E27FC236}">
                <a16:creationId xmlns:a16="http://schemas.microsoft.com/office/drawing/2014/main" id="{F63D8FE0-C2EC-2043-4AFF-C9F7BFE3FCFE}"/>
              </a:ext>
            </a:extLst>
          </p:cNvPr>
          <p:cNvSpPr>
            <a:spLocks noGrp="1"/>
          </p:cNvSpPr>
          <p:nvPr>
            <p:ph type="sldNum" sz="quarter" idx="5"/>
          </p:nvPr>
        </p:nvSpPr>
        <p:spPr/>
        <p:txBody>
          <a:bodyPr/>
          <a:lstStyle/>
          <a:p>
            <a:fld id="{AE9FE326-85E6-4395-8F28-A8F972B7BB4E}" type="slidenum">
              <a:rPr lang="en-IN" smtClean="0"/>
              <a:t>20</a:t>
            </a:fld>
            <a:endParaRPr lang="en-IN"/>
          </a:p>
        </p:txBody>
      </p:sp>
    </p:spTree>
    <p:extLst>
      <p:ext uri="{BB962C8B-B14F-4D97-AF65-F5344CB8AC3E}">
        <p14:creationId xmlns:p14="http://schemas.microsoft.com/office/powerpoint/2010/main" val="28329309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0"/>
          <p:cNvSpPr>
            <a:spLocks noGrp="1"/>
          </p:cNvSpPr>
          <p:nvPr>
            <p:ph type="pic" idx="2"/>
          </p:nvPr>
        </p:nvSpPr>
        <p:spPr>
          <a:xfrm>
            <a:off x="5183188" y="987425"/>
            <a:ext cx="6172200" cy="4873625"/>
          </a:xfrm>
          <a:prstGeom prst="rect">
            <a:avLst/>
          </a:prstGeom>
          <a:noFill/>
          <a:ln>
            <a:noFill/>
          </a:ln>
        </p:spPr>
      </p:sp>
      <p:sp>
        <p:nvSpPr>
          <p:cNvPr id="68" name="Google Shape;6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hyperlink" Target="http://www.example.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89" name="Google Shape;89;p1" descr="A blue and purple dots&#10;&#10;Description automatically generated"/>
          <p:cNvPicPr preferRelativeResize="0"/>
          <p:nvPr/>
        </p:nvPicPr>
        <p:blipFill rotWithShape="1">
          <a:blip r:embed="rId3">
            <a:alphaModFix/>
          </a:blip>
          <a:srcRect l="5200"/>
          <a:stretch/>
        </p:blipFill>
        <p:spPr>
          <a:xfrm>
            <a:off x="3523488" y="9154"/>
            <a:ext cx="8668512" cy="6857990"/>
          </a:xfrm>
          <a:prstGeom prst="rect">
            <a:avLst/>
          </a:prstGeom>
          <a:noFill/>
          <a:ln>
            <a:noFill/>
          </a:ln>
        </p:spPr>
      </p:pic>
      <p:sp>
        <p:nvSpPr>
          <p:cNvPr id="90" name="Google Shape;90;p1"/>
          <p:cNvSpPr/>
          <p:nvPr/>
        </p:nvSpPr>
        <p:spPr>
          <a:xfrm>
            <a:off x="3" y="0"/>
            <a:ext cx="9339206" cy="6858000"/>
          </a:xfrm>
          <a:prstGeom prst="rect">
            <a:avLst/>
          </a:prstGeom>
          <a:gradFill>
            <a:gsLst>
              <a:gs pos="0">
                <a:srgbClr val="000000">
                  <a:alpha val="0"/>
                </a:srgbClr>
              </a:gs>
              <a:gs pos="33000">
                <a:srgbClr val="000000">
                  <a:alpha val="63921"/>
                </a:srgbClr>
              </a:gs>
              <a:gs pos="58000">
                <a:schemeClr val="dk1"/>
              </a:gs>
              <a:gs pos="100000">
                <a:schemeClr val="dk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1" name="Google Shape;91;p1"/>
          <p:cNvSpPr txBox="1">
            <a:spLocks noGrp="1"/>
          </p:cNvSpPr>
          <p:nvPr>
            <p:ph type="ctrTitle"/>
          </p:nvPr>
        </p:nvSpPr>
        <p:spPr>
          <a:xfrm>
            <a:off x="242966" y="4565208"/>
            <a:ext cx="8366216" cy="131840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1800"/>
              <a:buFont typeface="Georgia"/>
              <a:buNone/>
            </a:pPr>
            <a:r>
              <a:rPr lang="en-IN" sz="1800" b="1" dirty="0">
                <a:solidFill>
                  <a:schemeClr val="lt1"/>
                </a:solidFill>
                <a:latin typeface="Georgia"/>
                <a:ea typeface="Georgia"/>
                <a:cs typeface="Georgia"/>
                <a:sym typeface="Georgia"/>
              </a:rPr>
              <a:t>Session No.: -5</a:t>
            </a:r>
            <a:br>
              <a:rPr lang="en-IN" sz="1800" b="1" dirty="0">
                <a:solidFill>
                  <a:schemeClr val="lt1"/>
                </a:solidFill>
                <a:latin typeface="Georgia"/>
                <a:ea typeface="Georgia"/>
                <a:cs typeface="Georgia"/>
                <a:sym typeface="Georgia"/>
              </a:rPr>
            </a:br>
            <a:r>
              <a:rPr lang="en-IN" sz="1800" b="1" dirty="0">
                <a:solidFill>
                  <a:schemeClr val="lt1"/>
                </a:solidFill>
                <a:latin typeface="Georgia"/>
                <a:ea typeface="Georgia"/>
                <a:cs typeface="Georgia"/>
                <a:sym typeface="Georgia"/>
              </a:rPr>
              <a:t>Course Name: Data Communication and Networking</a:t>
            </a:r>
            <a:br>
              <a:rPr lang="en-IN" sz="1800" b="1" dirty="0">
                <a:solidFill>
                  <a:schemeClr val="lt1"/>
                </a:solidFill>
                <a:latin typeface="Georgia"/>
                <a:ea typeface="Georgia"/>
                <a:cs typeface="Georgia"/>
                <a:sym typeface="Georgia"/>
              </a:rPr>
            </a:br>
            <a:r>
              <a:rPr lang="en-IN" sz="1800" b="1" dirty="0">
                <a:solidFill>
                  <a:schemeClr val="lt1"/>
                </a:solidFill>
                <a:latin typeface="Georgia"/>
                <a:ea typeface="Georgia"/>
                <a:cs typeface="Georgia"/>
                <a:sym typeface="Georgia"/>
              </a:rPr>
              <a:t>Course Code: </a:t>
            </a:r>
            <a:r>
              <a:rPr lang="en-IN" sz="1800" b="1" dirty="0">
                <a:solidFill>
                  <a:schemeClr val="lt1"/>
                </a:solidFill>
              </a:rPr>
              <a:t>R1UC406B</a:t>
            </a:r>
            <a:br>
              <a:rPr lang="en-IN" sz="1800" b="1" dirty="0">
                <a:solidFill>
                  <a:schemeClr val="lt1"/>
                </a:solidFill>
                <a:latin typeface="Georgia"/>
                <a:ea typeface="Georgia"/>
                <a:cs typeface="Georgia"/>
                <a:sym typeface="Georgia"/>
              </a:rPr>
            </a:br>
            <a:r>
              <a:rPr lang="en-IN" sz="1800" b="1" dirty="0">
                <a:solidFill>
                  <a:schemeClr val="lt1"/>
                </a:solidFill>
                <a:latin typeface="Georgia"/>
                <a:ea typeface="Georgia"/>
                <a:cs typeface="Georgia"/>
                <a:sym typeface="Georgia"/>
              </a:rPr>
              <a:t>Instructor Name: Gurmeet Singh</a:t>
            </a:r>
            <a:endParaRPr sz="4800" b="1" dirty="0">
              <a:solidFill>
                <a:schemeClr val="lt1"/>
              </a:solidFill>
              <a:latin typeface="Georgia"/>
              <a:ea typeface="Georgia"/>
              <a:cs typeface="Georgia"/>
              <a:sym typeface="Georgia"/>
            </a:endParaRPr>
          </a:p>
        </p:txBody>
      </p:sp>
      <p:sp>
        <p:nvSpPr>
          <p:cNvPr id="92" name="Google Shape;92;p1"/>
          <p:cNvSpPr/>
          <p:nvPr/>
        </p:nvSpPr>
        <p:spPr>
          <a:xfrm rot="5400000">
            <a:off x="759921" y="346791"/>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93" name="Google Shape;93;p1"/>
          <p:cNvSpPr/>
          <p:nvPr/>
        </p:nvSpPr>
        <p:spPr>
          <a:xfrm>
            <a:off x="481029" y="4546920"/>
            <a:ext cx="3977640" cy="18288"/>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 name="Google Shape;94;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95" name="Google Shape;95;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96" name="Google Shape;96;p1" descr="A blue circle with text and words&#10;&#10;Description automatically generated"/>
          <p:cNvPicPr preferRelativeResize="0"/>
          <p:nvPr/>
        </p:nvPicPr>
        <p:blipFill rotWithShape="1">
          <a:blip r:embed="rId4">
            <a:alphaModFix/>
          </a:blip>
          <a:srcRect/>
          <a:stretch/>
        </p:blipFill>
        <p:spPr>
          <a:xfrm>
            <a:off x="10758565" y="176753"/>
            <a:ext cx="1190469" cy="1190469"/>
          </a:xfrm>
          <a:prstGeom prst="rect">
            <a:avLst/>
          </a:prstGeom>
          <a:noFill/>
          <a:ln>
            <a:noFill/>
          </a:ln>
        </p:spPr>
      </p:pic>
      <p:pic>
        <p:nvPicPr>
          <p:cNvPr id="97" name="Google Shape;97;p1"/>
          <p:cNvPicPr preferRelativeResize="0"/>
          <p:nvPr/>
        </p:nvPicPr>
        <p:blipFill rotWithShape="1">
          <a:blip r:embed="rId5">
            <a:alphaModFix/>
          </a:blip>
          <a:srcRect/>
          <a:stretch/>
        </p:blipFill>
        <p:spPr>
          <a:xfrm>
            <a:off x="242966" y="208906"/>
            <a:ext cx="3015084" cy="833554"/>
          </a:xfrm>
          <a:prstGeom prst="rect">
            <a:avLst/>
          </a:prstGeom>
          <a:noFill/>
          <a:ln>
            <a:noFill/>
          </a:ln>
        </p:spPr>
      </p:pic>
      <p:sp>
        <p:nvSpPr>
          <p:cNvPr id="98" name="Google Shape;98;p1"/>
          <p:cNvSpPr txBox="1"/>
          <p:nvPr/>
        </p:nvSpPr>
        <p:spPr>
          <a:xfrm>
            <a:off x="481029" y="2088107"/>
            <a:ext cx="5769646"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4000" b="0" i="0" u="none" strike="noStrike" cap="none">
                <a:solidFill>
                  <a:schemeClr val="lt1"/>
                </a:solidFill>
                <a:latin typeface="Arial"/>
                <a:ea typeface="Arial"/>
                <a:cs typeface="Arial"/>
                <a:sym typeface="Arial"/>
              </a:rPr>
              <a:t>TCP/IP Protocol</a:t>
            </a:r>
            <a:endParaRPr sz="4000" b="0" i="0" u="none" strike="noStrike" cap="none">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5"/>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2" name="Google Shape;152;p5"/>
          <p:cNvSpPr txBox="1">
            <a:spLocks noGrp="1"/>
          </p:cNvSpPr>
          <p:nvPr>
            <p:ph type="title"/>
          </p:nvPr>
        </p:nvSpPr>
        <p:spPr>
          <a:xfrm>
            <a:off x="635000" y="640823"/>
            <a:ext cx="3418659" cy="558314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IN" sz="5400" b="1" dirty="0">
                <a:latin typeface="Cambria" panose="02040503050406030204" pitchFamily="18" charset="0"/>
                <a:ea typeface="Cambria" panose="02040503050406030204" pitchFamily="18" charset="0"/>
              </a:rPr>
              <a:t>Session Outline</a:t>
            </a:r>
            <a:endParaRPr b="1" dirty="0">
              <a:latin typeface="Cambria" panose="02040503050406030204" pitchFamily="18" charset="0"/>
              <a:ea typeface="Cambria" panose="02040503050406030204" pitchFamily="18" charset="0"/>
            </a:endParaRPr>
          </a:p>
        </p:txBody>
      </p:sp>
      <p:sp>
        <p:nvSpPr>
          <p:cNvPr id="153" name="Google Shape;153;p5"/>
          <p:cNvSpPr/>
          <p:nvPr/>
        </p:nvSpPr>
        <p:spPr>
          <a:xfrm rot="5400000">
            <a:off x="1627450" y="3462719"/>
            <a:ext cx="5410200" cy="18288"/>
          </a:xfrm>
          <a:custGeom>
            <a:avLst/>
            <a:gdLst/>
            <a:ahLst/>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7" name="Google Shape;157;p5"/>
          <p:cNvPicPr preferRelativeResize="0"/>
          <p:nvPr/>
        </p:nvPicPr>
        <p:blipFill rotWithShape="1">
          <a:blip r:embed="rId3">
            <a:alphaModFix/>
          </a:blip>
          <a:srcRect/>
          <a:stretch/>
        </p:blipFill>
        <p:spPr>
          <a:xfrm>
            <a:off x="242966" y="208906"/>
            <a:ext cx="2215421" cy="612478"/>
          </a:xfrm>
          <a:prstGeom prst="rect">
            <a:avLst/>
          </a:prstGeom>
          <a:noFill/>
          <a:ln>
            <a:noFill/>
          </a:ln>
        </p:spPr>
      </p:pic>
      <p:sp>
        <p:nvSpPr>
          <p:cNvPr id="6" name="Google Shape;158;p5">
            <a:extLst>
              <a:ext uri="{FF2B5EF4-FFF2-40B4-BE49-F238E27FC236}">
                <a16:creationId xmlns:a16="http://schemas.microsoft.com/office/drawing/2014/main" id="{B2355813-2C6F-D7E0-5173-15CBAF969786}"/>
              </a:ext>
            </a:extLst>
          </p:cNvPr>
          <p:cNvSpPr txBox="1">
            <a:spLocks/>
          </p:cNvSpPr>
          <p:nvPr/>
        </p:nvSpPr>
        <p:spPr>
          <a:xfrm>
            <a:off x="4341694" y="1183865"/>
            <a:ext cx="7300141" cy="4470486"/>
          </a:xfrm>
          <a:prstGeom prst="rect">
            <a:avLst/>
          </a:prstGeom>
          <a:noFill/>
          <a:ln>
            <a:noFill/>
          </a:ln>
        </p:spPr>
        <p:txBody>
          <a:bodyPr spcFirstLastPara="1" vert="horz" wrap="square" lIns="91425" tIns="45700" rIns="91425" bIns="45700" rtlCol="0" anchor="t" anchorCtr="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0"/>
              </a:spcBef>
              <a:spcAft>
                <a:spcPts val="0"/>
              </a:spcAft>
              <a:buClr>
                <a:sysClr val="windowText" lastClr="000000"/>
              </a:buClr>
              <a:buSzPts val="2800"/>
              <a:buFont typeface="Arial" panose="020B0604020202020204" pitchFamily="34" charset="0"/>
              <a:buChar char="•"/>
              <a:tabLst/>
              <a:defRPr/>
            </a:pPr>
            <a:r>
              <a:rPr kumimoji="0" lang="en-US" sz="2800" b="1" i="0" u="none" strike="noStrike" kern="1200" cap="none" spc="0" normalizeH="0" baseline="0" noProof="0" dirty="0">
                <a:ln>
                  <a:noFill/>
                </a:ln>
                <a:solidFill>
                  <a:schemeClr val="accent1">
                    <a:lumMod val="75000"/>
                  </a:schemeClr>
                </a:solidFill>
                <a:effectLst/>
                <a:uLnTx/>
                <a:uFillTx/>
                <a:latin typeface="Cambria" panose="02040503050406030204" pitchFamily="18" charset="0"/>
                <a:ea typeface="Cambria" panose="02040503050406030204" pitchFamily="18" charset="0"/>
              </a:rPr>
              <a:t>RECAP : OSI Model Layers and its Description</a:t>
            </a:r>
          </a:p>
          <a:p>
            <a:pPr marL="228600" marR="0" lvl="0" indent="-228600" algn="l" defTabSz="914400" rtl="0" eaLnBrk="1" fontAlgn="auto" latinLnBrk="0" hangingPunct="1">
              <a:lnSpc>
                <a:spcPct val="150000"/>
              </a:lnSpc>
              <a:spcBef>
                <a:spcPts val="0"/>
              </a:spcBef>
              <a:spcAft>
                <a:spcPts val="0"/>
              </a:spcAft>
              <a:buClr>
                <a:sysClr val="windowText" lastClr="000000"/>
              </a:buClr>
              <a:buSzPts val="2800"/>
              <a:buFont typeface="Arial" panose="020B0604020202020204" pitchFamily="34" charset="0"/>
              <a:buChar char="•"/>
              <a:tabLst/>
              <a:defRPr/>
            </a:pPr>
            <a:r>
              <a:rPr kumimoji="0" lang="en-US" sz="2800" b="1" i="0" u="none" strike="noStrike" kern="1200" cap="none" spc="0" normalizeH="0" baseline="0" noProof="0" dirty="0">
                <a:ln>
                  <a:noFill/>
                </a:ln>
                <a:solidFill>
                  <a:schemeClr val="accent1">
                    <a:lumMod val="75000"/>
                  </a:schemeClr>
                </a:solidFill>
                <a:effectLst/>
                <a:uLnTx/>
                <a:uFillTx/>
                <a:latin typeface="Cambria" panose="02040503050406030204" pitchFamily="18" charset="0"/>
                <a:ea typeface="Cambria" panose="02040503050406030204" pitchFamily="18" charset="0"/>
              </a:rPr>
              <a:t>Opening question and intended Learning Outcomes</a:t>
            </a:r>
          </a:p>
          <a:p>
            <a:pPr lvl="0">
              <a:lnSpc>
                <a:spcPct val="150000"/>
              </a:lnSpc>
              <a:buClr>
                <a:sysClr val="windowText" lastClr="000000"/>
              </a:buClr>
              <a:buSzPts val="2800"/>
              <a:defRPr/>
            </a:pPr>
            <a:r>
              <a:rPr lang="en-US" b="1" dirty="0">
                <a:solidFill>
                  <a:schemeClr val="accent1">
                    <a:lumMod val="75000"/>
                  </a:schemeClr>
                </a:solidFill>
                <a:latin typeface="Cambria" panose="02040503050406030204" pitchFamily="18" charset="0"/>
                <a:ea typeface="Cambria" panose="02040503050406030204" pitchFamily="18" charset="0"/>
              </a:rPr>
              <a:t>A1 (PBL): Questions</a:t>
            </a:r>
          </a:p>
          <a:p>
            <a:pPr lvl="0">
              <a:lnSpc>
                <a:spcPct val="150000"/>
              </a:lnSpc>
              <a:buClr>
                <a:sysClr val="windowText" lastClr="000000"/>
              </a:buClr>
              <a:buSzPts val="2800"/>
              <a:defRPr/>
            </a:pPr>
            <a:r>
              <a:rPr lang="en-US" b="1" dirty="0">
                <a:solidFill>
                  <a:schemeClr val="accent1">
                    <a:lumMod val="75000"/>
                  </a:schemeClr>
                </a:solidFill>
                <a:latin typeface="Cambria" panose="02040503050406030204" pitchFamily="18" charset="0"/>
                <a:ea typeface="Cambria" panose="02040503050406030204" pitchFamily="18" charset="0"/>
              </a:rPr>
              <a:t>A2:(Think Pair Share)</a:t>
            </a:r>
          </a:p>
          <a:p>
            <a:pPr marL="228600" marR="0" lvl="0" indent="-228600" algn="l" defTabSz="914400" rtl="0" eaLnBrk="1" fontAlgn="auto" latinLnBrk="0" hangingPunct="1">
              <a:lnSpc>
                <a:spcPct val="150000"/>
              </a:lnSpc>
              <a:spcBef>
                <a:spcPts val="1000"/>
              </a:spcBef>
              <a:spcAft>
                <a:spcPts val="0"/>
              </a:spcAft>
              <a:buClr>
                <a:sysClr val="windowText" lastClr="000000"/>
              </a:buClr>
              <a:buSzPts val="2800"/>
              <a:buFont typeface="Arial" panose="020B0604020202020204" pitchFamily="34" charset="0"/>
              <a:buChar char="•"/>
              <a:tabLst/>
              <a:defRPr/>
            </a:pPr>
            <a:r>
              <a:rPr kumimoji="0" lang="en-US" sz="2800" b="1" i="0" u="none" strike="noStrike" kern="1200" cap="none" spc="0" normalizeH="0" baseline="0" noProof="0" dirty="0">
                <a:ln>
                  <a:noFill/>
                </a:ln>
                <a:solidFill>
                  <a:schemeClr val="accent1">
                    <a:lumMod val="75000"/>
                  </a:schemeClr>
                </a:solidFill>
                <a:effectLst/>
                <a:uLnTx/>
                <a:uFillTx/>
                <a:latin typeface="Cambria" panose="02040503050406030204" pitchFamily="18" charset="0"/>
                <a:ea typeface="Cambria" panose="02040503050406030204" pitchFamily="18" charset="0"/>
              </a:rPr>
              <a:t>Conclusion: Key takeaways</a:t>
            </a:r>
          </a:p>
          <a:p>
            <a:pPr marL="228600" marR="0" lvl="0" indent="-228600" algn="l" defTabSz="914400" rtl="0" eaLnBrk="1" fontAlgn="auto" latinLnBrk="0" hangingPunct="1">
              <a:lnSpc>
                <a:spcPct val="150000"/>
              </a:lnSpc>
              <a:spcBef>
                <a:spcPts val="1000"/>
              </a:spcBef>
              <a:spcAft>
                <a:spcPts val="0"/>
              </a:spcAft>
              <a:buClr>
                <a:sysClr val="windowText" lastClr="000000"/>
              </a:buClr>
              <a:buSzPts val="2800"/>
              <a:buFont typeface="Arial" panose="020B0604020202020204" pitchFamily="34" charset="0"/>
              <a:buChar char="•"/>
              <a:tabLst/>
              <a:defRPr/>
            </a:pPr>
            <a:r>
              <a:rPr kumimoji="0" lang="en-US" sz="2800" b="1" i="0" u="none" strike="noStrike" kern="1200" cap="none" spc="0" normalizeH="0" baseline="0" noProof="0" dirty="0">
                <a:ln>
                  <a:noFill/>
                </a:ln>
                <a:solidFill>
                  <a:schemeClr val="accent1">
                    <a:lumMod val="75000"/>
                  </a:schemeClr>
                </a:solidFill>
                <a:effectLst/>
                <a:uLnTx/>
                <a:uFillTx/>
                <a:latin typeface="Cambria" panose="02040503050406030204" pitchFamily="18" charset="0"/>
                <a:ea typeface="Cambria" panose="02040503050406030204" pitchFamily="18" charset="0"/>
              </a:rPr>
              <a:t>What’s next ?</a:t>
            </a:r>
          </a:p>
          <a:p>
            <a:pPr marL="228600" marR="0" lvl="0" indent="-50800" algn="l" defTabSz="914400" rtl="0" eaLnBrk="1" fontAlgn="auto" latinLnBrk="0" hangingPunct="1">
              <a:lnSpc>
                <a:spcPct val="90000"/>
              </a:lnSpc>
              <a:spcBef>
                <a:spcPts val="1000"/>
              </a:spcBef>
              <a:spcAft>
                <a:spcPts val="0"/>
              </a:spcAft>
              <a:buClr>
                <a:sysClr val="windowText" lastClr="000000"/>
              </a:buClr>
              <a:buSzPts val="2800"/>
              <a:buFont typeface="Arial" panose="020B0604020202020204" pitchFamily="34"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Aptos" panose="02110004020202020204"/>
              <a:ea typeface="+mn-ea"/>
              <a:cs typeface="+mn-cs"/>
            </a:endParaRPr>
          </a:p>
        </p:txBody>
      </p:sp>
      <p:pic>
        <p:nvPicPr>
          <p:cNvPr id="2" name="Picture 1">
            <a:extLst>
              <a:ext uri="{FF2B5EF4-FFF2-40B4-BE49-F238E27FC236}">
                <a16:creationId xmlns:a16="http://schemas.microsoft.com/office/drawing/2014/main" id="{203984C7-768C-2CA5-3F14-231606F241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86393" y="24205"/>
            <a:ext cx="1105607" cy="9917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9F0BA-4500-C504-09E2-1063DE81B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40F33-BD96-6838-92E8-5EDD3649DCF7}"/>
              </a:ext>
            </a:extLst>
          </p:cNvPr>
          <p:cNvSpPr>
            <a:spLocks noGrp="1"/>
          </p:cNvSpPr>
          <p:nvPr>
            <p:ph type="title"/>
          </p:nvPr>
        </p:nvSpPr>
        <p:spPr>
          <a:xfrm>
            <a:off x="3466260" y="374434"/>
            <a:ext cx="5259477" cy="833554"/>
          </a:xfrm>
        </p:spPr>
        <p:txBody>
          <a:bodyPr>
            <a:noAutofit/>
          </a:bodyPr>
          <a:lstStyle/>
          <a:p>
            <a:pPr algn="ctr" defTabSz="457200">
              <a:lnSpc>
                <a:spcPts val="2208"/>
              </a:lnSpc>
            </a:pPr>
            <a:r>
              <a:rPr lang="en-US" sz="2800" b="1" u="sng" dirty="0">
                <a:solidFill>
                  <a:schemeClr val="accent1">
                    <a:lumMod val="75000"/>
                  </a:schemeClr>
                </a:solidFill>
                <a:latin typeface="Cambria" panose="02040503050406030204" pitchFamily="18" charset="0"/>
                <a:ea typeface="Crimson Pro Semi Bold" pitchFamily="34" charset="-122"/>
                <a:cs typeface="+mn-cs"/>
              </a:rPr>
              <a:t>Recap</a:t>
            </a:r>
            <a:endParaRPr lang="en-IN" sz="2800" b="1" u="sng" dirty="0">
              <a:solidFill>
                <a:schemeClr val="accent1">
                  <a:lumMod val="75000"/>
                </a:schemeClr>
              </a:solidFill>
              <a:latin typeface="Cambria" panose="02040503050406030204" pitchFamily="18" charset="0"/>
              <a:ea typeface="Crimson Pro Semi Bold" pitchFamily="34" charset="-122"/>
              <a:cs typeface="+mn-cs"/>
            </a:endParaRPr>
          </a:p>
        </p:txBody>
      </p:sp>
      <p:pic>
        <p:nvPicPr>
          <p:cNvPr id="6" name="Picture 5">
            <a:extLst>
              <a:ext uri="{FF2B5EF4-FFF2-40B4-BE49-F238E27FC236}">
                <a16:creationId xmlns:a16="http://schemas.microsoft.com/office/drawing/2014/main" id="{BFFDBB6B-F597-613E-F177-74F44A85BF3A}"/>
              </a:ext>
            </a:extLst>
          </p:cNvPr>
          <p:cNvPicPr>
            <a:picLocks noChangeAspect="1"/>
          </p:cNvPicPr>
          <p:nvPr/>
        </p:nvPicPr>
        <p:blipFill>
          <a:blip r:embed="rId2"/>
          <a:stretch>
            <a:fillRect/>
          </a:stretch>
        </p:blipFill>
        <p:spPr>
          <a:xfrm>
            <a:off x="242966" y="208906"/>
            <a:ext cx="3015084" cy="833554"/>
          </a:xfrm>
          <a:prstGeom prst="rect">
            <a:avLst/>
          </a:prstGeom>
        </p:spPr>
      </p:pic>
      <p:pic>
        <p:nvPicPr>
          <p:cNvPr id="8" name="Picture 7">
            <a:extLst>
              <a:ext uri="{FF2B5EF4-FFF2-40B4-BE49-F238E27FC236}">
                <a16:creationId xmlns:a16="http://schemas.microsoft.com/office/drawing/2014/main" id="{48676A14-36F8-F53B-0344-0640C73787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03049" y="55415"/>
            <a:ext cx="986520" cy="884967"/>
          </a:xfrm>
          <a:prstGeom prst="rect">
            <a:avLst/>
          </a:prstGeom>
        </p:spPr>
      </p:pic>
      <p:sp>
        <p:nvSpPr>
          <p:cNvPr id="3" name="TextBox 2">
            <a:extLst>
              <a:ext uri="{FF2B5EF4-FFF2-40B4-BE49-F238E27FC236}">
                <a16:creationId xmlns:a16="http://schemas.microsoft.com/office/drawing/2014/main" id="{58EE58A8-F52D-5852-7313-D7EF20B44277}"/>
              </a:ext>
            </a:extLst>
          </p:cNvPr>
          <p:cNvSpPr txBox="1"/>
          <p:nvPr/>
        </p:nvSpPr>
        <p:spPr>
          <a:xfrm>
            <a:off x="702401" y="1382286"/>
            <a:ext cx="10417884" cy="4401205"/>
          </a:xfrm>
          <a:prstGeom prst="rect">
            <a:avLst/>
          </a:prstGeom>
          <a:noFill/>
        </p:spPr>
        <p:txBody>
          <a:bodyPr wrap="square" rtlCol="0">
            <a:spAutoFit/>
          </a:bodyPr>
          <a:lstStyle/>
          <a:p>
            <a:pPr lvl="0" eaLnBrk="0" fontAlgn="base" hangingPunct="0">
              <a:spcBef>
                <a:spcPct val="0"/>
              </a:spcBef>
              <a:spcAft>
                <a:spcPct val="0"/>
              </a:spcAft>
              <a:buClrTx/>
              <a:buFontTx/>
              <a:buChar char="•"/>
              <a:defRPr/>
            </a:pPr>
            <a:r>
              <a:rPr lang="en-US" sz="2800" dirty="0"/>
              <a:t> Purpose of </a:t>
            </a:r>
            <a:r>
              <a:rPr lang="en-US" sz="2800" b="1" dirty="0"/>
              <a:t>Reference Models</a:t>
            </a:r>
            <a:r>
              <a:rPr lang="en-US" sz="2800" dirty="0"/>
              <a:t> in Data Communication</a:t>
            </a:r>
            <a:br>
              <a:rPr lang="en-US" sz="2800" dirty="0"/>
            </a:br>
            <a:r>
              <a:rPr lang="en-US" sz="2800" dirty="0"/>
              <a:t>• Role of </a:t>
            </a:r>
            <a:r>
              <a:rPr lang="en-US" sz="2800" b="1" dirty="0"/>
              <a:t>ISO</a:t>
            </a:r>
            <a:r>
              <a:rPr lang="en-US" sz="2800" dirty="0"/>
              <a:t> and introduction to the </a:t>
            </a:r>
            <a:r>
              <a:rPr lang="en-US" sz="2800" b="1" dirty="0"/>
              <a:t>OSI model</a:t>
            </a:r>
            <a:br>
              <a:rPr lang="en-US" sz="2800" dirty="0"/>
            </a:br>
            <a:r>
              <a:rPr lang="en-US" sz="2800" dirty="0"/>
              <a:t>• </a:t>
            </a:r>
            <a:r>
              <a:rPr lang="en-US" sz="2800" b="1" dirty="0"/>
              <a:t>Seven layers of OSI model</a:t>
            </a:r>
            <a:r>
              <a:rPr lang="en-US" sz="2800" dirty="0"/>
              <a:t> and their responsibilities</a:t>
            </a:r>
          </a:p>
          <a:p>
            <a:pPr lvl="0" eaLnBrk="0" fontAlgn="base" hangingPunct="0">
              <a:spcBef>
                <a:spcPct val="0"/>
              </a:spcBef>
              <a:spcAft>
                <a:spcPct val="0"/>
              </a:spcAft>
              <a:buClrTx/>
              <a:buFontTx/>
              <a:buChar char="•"/>
              <a:defRPr/>
            </a:pPr>
            <a:r>
              <a:rPr lang="en-US" sz="2800" dirty="0"/>
              <a:t> </a:t>
            </a:r>
            <a:r>
              <a:rPr lang="en-US" sz="2800" b="1" dirty="0"/>
              <a:t>Physical Layer</a:t>
            </a:r>
            <a:r>
              <a:rPr lang="en-US" sz="2800" dirty="0"/>
              <a:t> – Transmission of bits</a:t>
            </a:r>
            <a:br>
              <a:rPr lang="en-US" sz="2800" dirty="0"/>
            </a:br>
            <a:r>
              <a:rPr lang="en-US" sz="2800" dirty="0"/>
              <a:t>• </a:t>
            </a:r>
            <a:r>
              <a:rPr lang="en-US" sz="2800" b="1" dirty="0"/>
              <a:t>Data Link Layer</a:t>
            </a:r>
            <a:r>
              <a:rPr lang="en-US" sz="2800" dirty="0"/>
              <a:t> – Frame delivery &amp; error detection</a:t>
            </a:r>
            <a:br>
              <a:rPr lang="en-US" sz="2800" dirty="0"/>
            </a:br>
            <a:r>
              <a:rPr lang="en-US" sz="2800" dirty="0"/>
              <a:t>• </a:t>
            </a:r>
            <a:r>
              <a:rPr lang="en-US" sz="2800" b="1" dirty="0"/>
              <a:t>Network Layer</a:t>
            </a:r>
            <a:r>
              <a:rPr lang="en-US" sz="2800" dirty="0"/>
              <a:t> – Packet routing and addressing</a:t>
            </a:r>
            <a:br>
              <a:rPr lang="en-US" sz="2800" dirty="0"/>
            </a:br>
            <a:r>
              <a:rPr lang="en-US" sz="2800" dirty="0"/>
              <a:t>• </a:t>
            </a:r>
            <a:r>
              <a:rPr lang="en-US" sz="2800" b="1" dirty="0"/>
              <a:t>Transport Layer</a:t>
            </a:r>
            <a:r>
              <a:rPr lang="en-US" sz="2800" dirty="0"/>
              <a:t> – Process-to-process delivery</a:t>
            </a:r>
            <a:br>
              <a:rPr lang="en-US" sz="2800" dirty="0"/>
            </a:br>
            <a:r>
              <a:rPr lang="en-US" sz="2800" dirty="0"/>
              <a:t>• </a:t>
            </a:r>
            <a:r>
              <a:rPr lang="en-US" sz="2800" b="1" dirty="0"/>
              <a:t>Session Layer</a:t>
            </a:r>
            <a:r>
              <a:rPr lang="en-US" sz="2800" dirty="0"/>
              <a:t> – Dialog control &amp; synchronization</a:t>
            </a:r>
            <a:br>
              <a:rPr lang="en-US" sz="2800" dirty="0"/>
            </a:br>
            <a:r>
              <a:rPr lang="en-US" sz="2800" dirty="0"/>
              <a:t>• </a:t>
            </a:r>
            <a:r>
              <a:rPr lang="en-US" sz="2800" b="1" dirty="0"/>
              <a:t>Presentation Layer</a:t>
            </a:r>
            <a:r>
              <a:rPr lang="en-US" sz="2800" dirty="0"/>
              <a:t> – Translation, compression, encryption</a:t>
            </a:r>
            <a:br>
              <a:rPr lang="en-US" sz="2800" dirty="0"/>
            </a:br>
            <a:r>
              <a:rPr lang="en-US" sz="2800" dirty="0"/>
              <a:t>• </a:t>
            </a:r>
            <a:r>
              <a:rPr lang="en-US" sz="2800" b="1" dirty="0"/>
              <a:t>Application Layer</a:t>
            </a:r>
            <a:r>
              <a:rPr lang="en-US" sz="2800" dirty="0"/>
              <a:t> – Services to end users</a:t>
            </a:r>
            <a:endParaRPr kumimoji="0" lang="en-US" alt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4927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4329" y="1042460"/>
            <a:ext cx="8023340" cy="833554"/>
          </a:xfrm>
        </p:spPr>
        <p:txBody>
          <a:bodyPr>
            <a:noAutofit/>
          </a:bodyPr>
          <a:lstStyle/>
          <a:p>
            <a:pPr algn="ctr" defTabSz="457200">
              <a:lnSpc>
                <a:spcPts val="2208"/>
              </a:lnSpc>
            </a:pPr>
            <a:r>
              <a:rPr lang="en-US" sz="2800" b="1" u="sng" dirty="0">
                <a:solidFill>
                  <a:schemeClr val="accent1">
                    <a:lumMod val="75000"/>
                  </a:schemeClr>
                </a:solidFill>
                <a:latin typeface="Cambria" panose="02040503050406030204" pitchFamily="18" charset="0"/>
                <a:ea typeface="Crimson Pro Semi Bold" pitchFamily="34" charset="-122"/>
                <a:cs typeface="+mn-cs"/>
              </a:rPr>
              <a:t>REVISITING ACTIVITY FROM PREVIOUS LESSON</a:t>
            </a:r>
            <a:endParaRPr lang="en-IN" sz="2800" b="1" u="sng" dirty="0">
              <a:solidFill>
                <a:schemeClr val="accent1">
                  <a:lumMod val="75000"/>
                </a:schemeClr>
              </a:solidFill>
              <a:latin typeface="Cambria" panose="02040503050406030204" pitchFamily="18" charset="0"/>
              <a:ea typeface="Crimson Pro Semi Bold" pitchFamily="34" charset="-122"/>
              <a:cs typeface="+mn-cs"/>
            </a:endParaRPr>
          </a:p>
        </p:txBody>
      </p:sp>
      <p:pic>
        <p:nvPicPr>
          <p:cNvPr id="6" name="Picture 5">
            <a:extLst>
              <a:ext uri="{FF2B5EF4-FFF2-40B4-BE49-F238E27FC236}">
                <a16:creationId xmlns:a16="http://schemas.microsoft.com/office/drawing/2014/main" id="{6D384452-4160-9C26-85E1-F43C3EFF0F8A}"/>
              </a:ext>
            </a:extLst>
          </p:cNvPr>
          <p:cNvPicPr>
            <a:picLocks noChangeAspect="1"/>
          </p:cNvPicPr>
          <p:nvPr/>
        </p:nvPicPr>
        <p:blipFill>
          <a:blip r:embed="rId2"/>
          <a:stretch>
            <a:fillRect/>
          </a:stretch>
        </p:blipFill>
        <p:spPr>
          <a:xfrm>
            <a:off x="242966" y="208906"/>
            <a:ext cx="3015084" cy="833554"/>
          </a:xfrm>
          <a:prstGeom prst="rect">
            <a:avLst/>
          </a:prstGeom>
        </p:spPr>
      </p:pic>
      <p:pic>
        <p:nvPicPr>
          <p:cNvPr id="8" name="Picture 7">
            <a:extLst>
              <a:ext uri="{FF2B5EF4-FFF2-40B4-BE49-F238E27FC236}">
                <a16:creationId xmlns:a16="http://schemas.microsoft.com/office/drawing/2014/main" id="{86939A79-53BC-D47B-E83E-A03AA833B5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03049" y="55415"/>
            <a:ext cx="986520" cy="884967"/>
          </a:xfrm>
          <a:prstGeom prst="rect">
            <a:avLst/>
          </a:prstGeom>
        </p:spPr>
      </p:pic>
      <p:pic>
        <p:nvPicPr>
          <p:cNvPr id="4" name="Google Shape;291;p7">
            <a:extLst>
              <a:ext uri="{FF2B5EF4-FFF2-40B4-BE49-F238E27FC236}">
                <a16:creationId xmlns:a16="http://schemas.microsoft.com/office/drawing/2014/main" id="{9F962ECE-77D0-37C3-A8A9-6F8E4978C00F}"/>
              </a:ext>
            </a:extLst>
          </p:cNvPr>
          <p:cNvPicPr preferRelativeResize="0">
            <a:picLocks noGrp="1"/>
          </p:cNvPicPr>
          <p:nvPr>
            <p:ph type="body" idx="1"/>
          </p:nvPr>
        </p:nvPicPr>
        <p:blipFill rotWithShape="1">
          <a:blip r:embed="rId4">
            <a:alphaModFix/>
          </a:blip>
          <a:srcRect/>
          <a:stretch/>
        </p:blipFill>
        <p:spPr>
          <a:xfrm>
            <a:off x="948690" y="1691005"/>
            <a:ext cx="9810115" cy="4876800"/>
          </a:xfrm>
          <a:prstGeom prst="rect">
            <a:avLst/>
          </a:prstGeom>
          <a:noFill/>
          <a:ln>
            <a:noFill/>
          </a:ln>
        </p:spPr>
      </p:pic>
    </p:spTree>
    <p:extLst>
      <p:ext uri="{BB962C8B-B14F-4D97-AF65-F5344CB8AC3E}">
        <p14:creationId xmlns:p14="http://schemas.microsoft.com/office/powerpoint/2010/main" val="1760452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86FA5-F160-D78D-4854-0A891FA124B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6C34834-18A7-9AF7-21FD-E548C4A091EC}"/>
              </a:ext>
            </a:extLst>
          </p:cNvPr>
          <p:cNvPicPr>
            <a:picLocks noChangeAspect="1"/>
          </p:cNvPicPr>
          <p:nvPr/>
        </p:nvPicPr>
        <p:blipFill>
          <a:blip r:embed="rId2"/>
          <a:stretch>
            <a:fillRect/>
          </a:stretch>
        </p:blipFill>
        <p:spPr>
          <a:xfrm>
            <a:off x="242966" y="208906"/>
            <a:ext cx="2215421" cy="612478"/>
          </a:xfrm>
          <a:prstGeom prst="rect">
            <a:avLst/>
          </a:prstGeom>
        </p:spPr>
      </p:pic>
      <p:sp>
        <p:nvSpPr>
          <p:cNvPr id="9" name="Title 1">
            <a:extLst>
              <a:ext uri="{FF2B5EF4-FFF2-40B4-BE49-F238E27FC236}">
                <a16:creationId xmlns:a16="http://schemas.microsoft.com/office/drawing/2014/main" id="{B1D1F7F5-ADC7-2120-E045-F0C40D9FEE6A}"/>
              </a:ext>
            </a:extLst>
          </p:cNvPr>
          <p:cNvSpPr txBox="1">
            <a:spLocks/>
          </p:cNvSpPr>
          <p:nvPr/>
        </p:nvSpPr>
        <p:spPr>
          <a:xfrm>
            <a:off x="838200" y="365125"/>
            <a:ext cx="10515600" cy="10273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u="sng" cap="all" dirty="0">
                <a:solidFill>
                  <a:schemeClr val="accent1"/>
                </a:solidFill>
                <a:latin typeface="Cambria" panose="02040503050406030204" pitchFamily="18" charset="0"/>
                <a:ea typeface="Cambria" panose="02040503050406030204" pitchFamily="18" charset="0"/>
                <a:cs typeface="Aharoni" panose="02010803020104030203" pitchFamily="2" charset="-79"/>
              </a:rPr>
              <a:t>Let’s think</a:t>
            </a:r>
          </a:p>
        </p:txBody>
      </p:sp>
      <p:sp>
        <p:nvSpPr>
          <p:cNvPr id="2" name="TextBox 1">
            <a:extLst>
              <a:ext uri="{FF2B5EF4-FFF2-40B4-BE49-F238E27FC236}">
                <a16:creationId xmlns:a16="http://schemas.microsoft.com/office/drawing/2014/main" id="{3E77ED1A-1C10-9AA2-1352-9C7A03B33A9D}"/>
              </a:ext>
            </a:extLst>
          </p:cNvPr>
          <p:cNvSpPr txBox="1"/>
          <p:nvPr/>
        </p:nvSpPr>
        <p:spPr>
          <a:xfrm>
            <a:off x="680710" y="2066592"/>
            <a:ext cx="10515599" cy="1569660"/>
          </a:xfrm>
          <a:prstGeom prst="rect">
            <a:avLst/>
          </a:prstGeom>
          <a:noFill/>
        </p:spPr>
        <p:txBody>
          <a:bodyPr wrap="square">
            <a:spAutoFit/>
          </a:bodyPr>
          <a:lstStyle/>
          <a:p>
            <a:pPr marL="285750" indent="-285750" algn="just" defTabSz="914400">
              <a:buFont typeface="Courier New" panose="02070309020205020404" pitchFamily="49" charset="0"/>
              <a:buChar char="o"/>
            </a:pPr>
            <a:r>
              <a:rPr lang="en-US" sz="2400" b="1" dirty="0">
                <a:solidFill>
                  <a:schemeClr val="accent1">
                    <a:lumMod val="75000"/>
                  </a:schemeClr>
                </a:solidFill>
                <a:latin typeface="Aptos" panose="02110004020202020204"/>
              </a:rPr>
              <a:t>Do real networks strictly follow all 7 OSI layers? </a:t>
            </a:r>
          </a:p>
          <a:p>
            <a:pPr marL="285750" indent="-285750" algn="just" defTabSz="914400">
              <a:buFont typeface="Courier New" panose="02070309020205020404" pitchFamily="49" charset="0"/>
              <a:buChar char="o"/>
            </a:pPr>
            <a:endParaRPr lang="en-US" sz="2400" b="1" dirty="0">
              <a:solidFill>
                <a:schemeClr val="accent1">
                  <a:lumMod val="75000"/>
                </a:schemeClr>
              </a:solidFill>
              <a:latin typeface="Aptos" panose="02110004020202020204"/>
            </a:endParaRPr>
          </a:p>
          <a:p>
            <a:pPr marL="285750" indent="-285750" algn="just" defTabSz="914400">
              <a:buFont typeface="Courier New" panose="02070309020205020404" pitchFamily="49" charset="0"/>
              <a:buChar char="o"/>
            </a:pPr>
            <a:r>
              <a:rPr lang="en-US" sz="2400" b="1" dirty="0">
                <a:solidFill>
                  <a:schemeClr val="accent1">
                    <a:lumMod val="75000"/>
                  </a:schemeClr>
                </a:solidFill>
                <a:latin typeface="Aptos" panose="02110004020202020204"/>
              </a:rPr>
              <a:t> If OSI is a reference model, which model is used in real networks like the Internet?</a:t>
            </a:r>
            <a:endParaRPr lang="en-IN" sz="2400" b="1" dirty="0">
              <a:solidFill>
                <a:schemeClr val="accent1">
                  <a:lumMod val="75000"/>
                </a:schemeClr>
              </a:solidFill>
              <a:latin typeface="Aptos" panose="02110004020202020204"/>
            </a:endParaRPr>
          </a:p>
        </p:txBody>
      </p:sp>
      <p:pic>
        <p:nvPicPr>
          <p:cNvPr id="3" name="Picture 2">
            <a:extLst>
              <a:ext uri="{FF2B5EF4-FFF2-40B4-BE49-F238E27FC236}">
                <a16:creationId xmlns:a16="http://schemas.microsoft.com/office/drawing/2014/main" id="{7F90DA75-EC4D-C0AE-1287-3E77FFA4BA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03049" y="55415"/>
            <a:ext cx="986520" cy="884967"/>
          </a:xfrm>
          <a:prstGeom prst="rect">
            <a:avLst/>
          </a:prstGeom>
        </p:spPr>
      </p:pic>
      <p:sp>
        <p:nvSpPr>
          <p:cNvPr id="4" name="TextBox 3">
            <a:extLst>
              <a:ext uri="{FF2B5EF4-FFF2-40B4-BE49-F238E27FC236}">
                <a16:creationId xmlns:a16="http://schemas.microsoft.com/office/drawing/2014/main" id="{18A74EFE-05DA-3917-A11C-C492AD2E38DF}"/>
              </a:ext>
            </a:extLst>
          </p:cNvPr>
          <p:cNvSpPr txBox="1"/>
          <p:nvPr/>
        </p:nvSpPr>
        <p:spPr>
          <a:xfrm>
            <a:off x="759455" y="3636252"/>
            <a:ext cx="10673090" cy="3046988"/>
          </a:xfrm>
          <a:prstGeom prst="rect">
            <a:avLst/>
          </a:prstGeom>
          <a:noFill/>
        </p:spPr>
        <p:txBody>
          <a:bodyPr wrap="square" rtlCol="0">
            <a:spAutoFit/>
          </a:bodyPr>
          <a:lstStyle/>
          <a:p>
            <a:r>
              <a:rPr lang="en-US" sz="2400" b="1" dirty="0">
                <a:solidFill>
                  <a:schemeClr val="accent1">
                    <a:lumMod val="75000"/>
                  </a:schemeClr>
                </a:solidFill>
                <a:latin typeface="Aptos" panose="02110004020202020204"/>
              </a:rPr>
              <a:t>We may consider the following: </a:t>
            </a:r>
          </a:p>
          <a:p>
            <a:r>
              <a:rPr lang="en-US" sz="2400" dirty="0"/>
              <a:t>• </a:t>
            </a:r>
            <a:r>
              <a:rPr lang="en-US" sz="2400" b="1" dirty="0">
                <a:solidFill>
                  <a:srgbClr val="FF0000"/>
                </a:solidFill>
              </a:rPr>
              <a:t>OSI model is a conceptual/reference framework</a:t>
            </a:r>
            <a:r>
              <a:rPr lang="en-US" sz="2400" dirty="0">
                <a:solidFill>
                  <a:srgbClr val="FF0000"/>
                </a:solidFill>
              </a:rPr>
              <a:t> used mainly for learning and standardization</a:t>
            </a:r>
            <a:br>
              <a:rPr lang="en-US" sz="2400" dirty="0"/>
            </a:br>
            <a:r>
              <a:rPr lang="en-US" sz="2400" dirty="0">
                <a:highlight>
                  <a:srgbClr val="00FF00"/>
                </a:highlight>
              </a:rPr>
              <a:t>• </a:t>
            </a:r>
            <a:r>
              <a:rPr lang="en-US" sz="2400" b="1" dirty="0">
                <a:highlight>
                  <a:srgbClr val="00FF00"/>
                </a:highlight>
              </a:rPr>
              <a:t>Real networks do not strictly implement all 7 OSI layers separately</a:t>
            </a:r>
            <a:br>
              <a:rPr lang="en-US" sz="2400" dirty="0"/>
            </a:br>
            <a:r>
              <a:rPr lang="en-US" sz="2400" dirty="0"/>
              <a:t>• </a:t>
            </a:r>
            <a:r>
              <a:rPr lang="en-US" sz="2400" dirty="0">
                <a:solidFill>
                  <a:schemeClr val="tx1"/>
                </a:solidFill>
              </a:rPr>
              <a:t>Some OSI layers are </a:t>
            </a:r>
            <a:r>
              <a:rPr lang="en-US" sz="2400" b="1" dirty="0">
                <a:solidFill>
                  <a:schemeClr val="tx1"/>
                </a:solidFill>
              </a:rPr>
              <a:t>merged or combined</a:t>
            </a:r>
            <a:r>
              <a:rPr lang="en-US" sz="2400" dirty="0">
                <a:solidFill>
                  <a:schemeClr val="tx1"/>
                </a:solidFill>
              </a:rPr>
              <a:t> in practical implementations</a:t>
            </a:r>
            <a:br>
              <a:rPr lang="en-US" sz="2400" dirty="0"/>
            </a:br>
            <a:r>
              <a:rPr lang="en-US" sz="2400" dirty="0"/>
              <a:t>• OSI helps us </a:t>
            </a:r>
            <a:r>
              <a:rPr lang="en-US" sz="2400" b="1" dirty="0"/>
              <a:t>understand “how communication should work”</a:t>
            </a:r>
            <a:r>
              <a:rPr lang="en-US" sz="2400" dirty="0"/>
              <a:t>, while TCP/IP shows </a:t>
            </a:r>
            <a:r>
              <a:rPr lang="en-US" sz="2400" b="1" dirty="0"/>
              <a:t>“how it actually works”</a:t>
            </a:r>
            <a:endParaRPr lang="en-US" sz="2400" b="1" dirty="0">
              <a:solidFill>
                <a:schemeClr val="accent1">
                  <a:lumMod val="75000"/>
                </a:schemeClr>
              </a:solidFill>
              <a:latin typeface="Aptos" panose="02110004020202020204"/>
            </a:endParaRPr>
          </a:p>
          <a:p>
            <a:endParaRPr lang="en-US" sz="2400" b="1" dirty="0">
              <a:solidFill>
                <a:schemeClr val="accent1">
                  <a:lumMod val="75000"/>
                </a:schemeClr>
              </a:solidFill>
              <a:latin typeface="Aptos" panose="02110004020202020204"/>
            </a:endParaRPr>
          </a:p>
        </p:txBody>
      </p:sp>
    </p:spTree>
    <p:extLst>
      <p:ext uri="{BB962C8B-B14F-4D97-AF65-F5344CB8AC3E}">
        <p14:creationId xmlns:p14="http://schemas.microsoft.com/office/powerpoint/2010/main" val="5798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CFED8-D300-3557-0DAC-5000F6E69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474C9-DC36-F0AA-61C2-B250A4BB5C04}"/>
              </a:ext>
            </a:extLst>
          </p:cNvPr>
          <p:cNvSpPr>
            <a:spLocks noGrp="1"/>
          </p:cNvSpPr>
          <p:nvPr>
            <p:ph type="title"/>
          </p:nvPr>
        </p:nvSpPr>
        <p:spPr>
          <a:xfrm>
            <a:off x="558702" y="777870"/>
            <a:ext cx="10542973" cy="822858"/>
          </a:xfrm>
        </p:spPr>
        <p:txBody>
          <a:bodyPr anchor="ctr">
            <a:noAutofit/>
          </a:bodyPr>
          <a:lstStyle/>
          <a:p>
            <a:r>
              <a:rPr lang="en-IN" sz="3200" b="1" cap="none" dirty="0">
                <a:solidFill>
                  <a:schemeClr val="tx1"/>
                </a:solidFill>
                <a:latin typeface="Cambria" panose="02040503050406030204" pitchFamily="18" charset="0"/>
                <a:ea typeface="Cambria" panose="02040503050406030204" pitchFamily="18" charset="0"/>
                <a:cs typeface="Arial" panose="020B0604020202020204" pitchFamily="34" charset="0"/>
              </a:rPr>
              <a:t>At the end of this session students will be able to,</a:t>
            </a:r>
          </a:p>
        </p:txBody>
      </p:sp>
      <p:pic>
        <p:nvPicPr>
          <p:cNvPr id="8" name="Picture 7">
            <a:extLst>
              <a:ext uri="{FF2B5EF4-FFF2-40B4-BE49-F238E27FC236}">
                <a16:creationId xmlns:a16="http://schemas.microsoft.com/office/drawing/2014/main" id="{FD1AB372-3178-4CE3-32EB-2776475C5CA7}"/>
              </a:ext>
            </a:extLst>
          </p:cNvPr>
          <p:cNvPicPr>
            <a:picLocks noChangeAspect="1"/>
          </p:cNvPicPr>
          <p:nvPr/>
        </p:nvPicPr>
        <p:blipFill>
          <a:blip r:embed="rId3"/>
          <a:stretch>
            <a:fillRect/>
          </a:stretch>
        </p:blipFill>
        <p:spPr>
          <a:xfrm>
            <a:off x="242966" y="208906"/>
            <a:ext cx="2215421" cy="612478"/>
          </a:xfrm>
          <a:prstGeom prst="rect">
            <a:avLst/>
          </a:prstGeom>
        </p:spPr>
      </p:pic>
      <p:pic>
        <p:nvPicPr>
          <p:cNvPr id="4" name="Picture 3">
            <a:extLst>
              <a:ext uri="{FF2B5EF4-FFF2-40B4-BE49-F238E27FC236}">
                <a16:creationId xmlns:a16="http://schemas.microsoft.com/office/drawing/2014/main" id="{954FB67B-8FD6-46F5-1718-F3355E7E2F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03049" y="55415"/>
            <a:ext cx="986520" cy="884967"/>
          </a:xfrm>
          <a:prstGeom prst="rect">
            <a:avLst/>
          </a:prstGeom>
        </p:spPr>
      </p:pic>
      <p:grpSp>
        <p:nvGrpSpPr>
          <p:cNvPr id="3" name="Group 2">
            <a:extLst>
              <a:ext uri="{FF2B5EF4-FFF2-40B4-BE49-F238E27FC236}">
                <a16:creationId xmlns:a16="http://schemas.microsoft.com/office/drawing/2014/main" id="{1C32A7F6-9C3B-293F-7CF0-983A4F611F84}"/>
              </a:ext>
            </a:extLst>
          </p:cNvPr>
          <p:cNvGrpSpPr/>
          <p:nvPr/>
        </p:nvGrpSpPr>
        <p:grpSpPr>
          <a:xfrm>
            <a:off x="592155" y="1943677"/>
            <a:ext cx="10364556" cy="2812797"/>
            <a:chOff x="592155" y="1942222"/>
            <a:chExt cx="10364556" cy="2812797"/>
          </a:xfrm>
        </p:grpSpPr>
        <p:grpSp>
          <p:nvGrpSpPr>
            <p:cNvPr id="15" name="Group 14">
              <a:extLst>
                <a:ext uri="{FF2B5EF4-FFF2-40B4-BE49-F238E27FC236}">
                  <a16:creationId xmlns:a16="http://schemas.microsoft.com/office/drawing/2014/main" id="{10660301-215D-CD3E-DB61-5996BD03F19C}"/>
                </a:ext>
              </a:extLst>
            </p:cNvPr>
            <p:cNvGrpSpPr/>
            <p:nvPr/>
          </p:nvGrpSpPr>
          <p:grpSpPr>
            <a:xfrm>
              <a:off x="1668057" y="3504914"/>
              <a:ext cx="9288654" cy="1250105"/>
              <a:chOff x="1668057" y="3504914"/>
              <a:chExt cx="9288654" cy="1250105"/>
            </a:xfrm>
          </p:grpSpPr>
          <p:sp>
            <p:nvSpPr>
              <p:cNvPr id="13" name="Arrow: Pentagon 12">
                <a:extLst>
                  <a:ext uri="{FF2B5EF4-FFF2-40B4-BE49-F238E27FC236}">
                    <a16:creationId xmlns:a16="http://schemas.microsoft.com/office/drawing/2014/main" id="{B0B3DCF1-54CF-A834-3105-7AE07AE2DC0E}"/>
                  </a:ext>
                </a:extLst>
              </p:cNvPr>
              <p:cNvSpPr/>
              <p:nvPr/>
            </p:nvSpPr>
            <p:spPr>
              <a:xfrm>
                <a:off x="1668057" y="3504914"/>
                <a:ext cx="9288654" cy="1250105"/>
              </a:xfrm>
              <a:prstGeom prst="homePlate">
                <a:avLst/>
              </a:prstGeom>
              <a:solidFill>
                <a:srgbClr val="FF9966"/>
              </a:solid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Arrow: Pentagon 4">
                <a:extLst>
                  <a:ext uri="{FF2B5EF4-FFF2-40B4-BE49-F238E27FC236}">
                    <a16:creationId xmlns:a16="http://schemas.microsoft.com/office/drawing/2014/main" id="{3E2ADB9E-AA54-9825-B0C9-0C95DDD2B1D9}"/>
                  </a:ext>
                </a:extLst>
              </p:cNvPr>
              <p:cNvSpPr txBox="1"/>
              <p:nvPr/>
            </p:nvSpPr>
            <p:spPr>
              <a:xfrm>
                <a:off x="1739594" y="3541528"/>
                <a:ext cx="8441472" cy="117687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000" tIns="108000" rIns="0" bIns="72000" numCol="1" spcCol="1270" anchor="ctr" anchorCtr="0">
                <a:noAutofit/>
              </a:bodyPr>
              <a:lstStyle/>
              <a:p>
                <a:pPr defTabSz="914400">
                  <a:lnSpc>
                    <a:spcPct val="90000"/>
                  </a:lnSpc>
                  <a:spcBef>
                    <a:spcPct val="0"/>
                  </a:spcBef>
                  <a:spcAft>
                    <a:spcPct val="35000"/>
                  </a:spcAft>
                  <a:buNone/>
                </a:pPr>
                <a:r>
                  <a:rPr lang="en-IN" sz="3200" b="1" dirty="0">
                    <a:solidFill>
                      <a:schemeClr val="tx1"/>
                    </a:solidFill>
                    <a:latin typeface="Cambria" panose="02040503050406030204" pitchFamily="18" charset="0"/>
                    <a:ea typeface="Cambria" panose="02040503050406030204" pitchFamily="18" charset="0"/>
                    <a:cs typeface="Arial" panose="020B0604020202020204" pitchFamily="34" charset="0"/>
                  </a:rPr>
                  <a:t>LO 2:</a:t>
                </a:r>
                <a:r>
                  <a:rPr lang="en-US" sz="3200" b="1" dirty="0">
                    <a:solidFill>
                      <a:schemeClr val="tx1"/>
                    </a:solidFill>
                    <a:latin typeface="Cambria" panose="02040503050406030204" pitchFamily="18" charset="0"/>
                    <a:ea typeface="Cambria" panose="02040503050406030204" pitchFamily="18" charset="0"/>
                    <a:cs typeface="Arial" panose="020B0604020202020204" pitchFamily="34" charset="0"/>
                  </a:rPr>
                  <a:t>Compare the TCP/IP model with the OSI reference model in terms of structure and practical implementation.</a:t>
                </a:r>
              </a:p>
            </p:txBody>
          </p:sp>
        </p:grpSp>
        <p:grpSp>
          <p:nvGrpSpPr>
            <p:cNvPr id="16" name="Group 15">
              <a:extLst>
                <a:ext uri="{FF2B5EF4-FFF2-40B4-BE49-F238E27FC236}">
                  <a16:creationId xmlns:a16="http://schemas.microsoft.com/office/drawing/2014/main" id="{519644FD-9A25-DFF4-35FC-5017B9981C5E}"/>
                </a:ext>
              </a:extLst>
            </p:cNvPr>
            <p:cNvGrpSpPr/>
            <p:nvPr/>
          </p:nvGrpSpPr>
          <p:grpSpPr>
            <a:xfrm>
              <a:off x="592155" y="1942222"/>
              <a:ext cx="9288654" cy="1330128"/>
              <a:chOff x="558702" y="1942222"/>
              <a:chExt cx="9288654" cy="1330128"/>
            </a:xfrm>
            <a:solidFill>
              <a:srgbClr val="33CCFF"/>
            </a:solidFill>
          </p:grpSpPr>
          <p:sp>
            <p:nvSpPr>
              <p:cNvPr id="5" name="Arrow: Pentagon 4">
                <a:extLst>
                  <a:ext uri="{FF2B5EF4-FFF2-40B4-BE49-F238E27FC236}">
                    <a16:creationId xmlns:a16="http://schemas.microsoft.com/office/drawing/2014/main" id="{49FFE231-A0BC-7668-791E-0F637416F216}"/>
                  </a:ext>
                </a:extLst>
              </p:cNvPr>
              <p:cNvSpPr/>
              <p:nvPr/>
            </p:nvSpPr>
            <p:spPr>
              <a:xfrm>
                <a:off x="558702" y="1942222"/>
                <a:ext cx="9288654" cy="1330128"/>
              </a:xfrm>
              <a:prstGeom prst="homePlate">
                <a:avLst/>
              </a:prstGeom>
              <a:grp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6" name="Arrow: Pentagon 4">
                <a:extLst>
                  <a:ext uri="{FF2B5EF4-FFF2-40B4-BE49-F238E27FC236}">
                    <a16:creationId xmlns:a16="http://schemas.microsoft.com/office/drawing/2014/main" id="{30AC3458-3FC2-37AB-13D7-D2DE5D941D2E}"/>
                  </a:ext>
                </a:extLst>
              </p:cNvPr>
              <p:cNvSpPr txBox="1"/>
              <p:nvPr/>
            </p:nvSpPr>
            <p:spPr>
              <a:xfrm>
                <a:off x="592156" y="1981180"/>
                <a:ext cx="8573274" cy="125221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06680" bIns="106680" numCol="1" spcCol="1270" anchor="ctr" anchorCtr="0">
                <a:noAutofit/>
              </a:bodyPr>
              <a:lstStyle/>
              <a:p>
                <a:pPr marL="0" lvl="0" indent="0" defTabSz="914400">
                  <a:lnSpc>
                    <a:spcPct val="90000"/>
                  </a:lnSpc>
                  <a:spcBef>
                    <a:spcPct val="0"/>
                  </a:spcBef>
                  <a:spcAft>
                    <a:spcPct val="35000"/>
                  </a:spcAft>
                </a:pPr>
                <a:r>
                  <a:rPr lang="en-IN" sz="3200" b="1" dirty="0">
                    <a:solidFill>
                      <a:schemeClr val="tx1"/>
                    </a:solidFill>
                    <a:latin typeface="Cambria" panose="02040503050406030204" pitchFamily="18" charset="0"/>
                    <a:ea typeface="Cambria" panose="02040503050406030204" pitchFamily="18" charset="0"/>
                    <a:cs typeface="Arial" panose="020B0604020202020204" pitchFamily="34" charset="0"/>
                  </a:rPr>
                  <a:t>LO 1:</a:t>
                </a:r>
                <a:r>
                  <a:rPr lang="en-US" sz="3200" b="1" dirty="0">
                    <a:solidFill>
                      <a:schemeClr val="tx1"/>
                    </a:solidFill>
                    <a:latin typeface="Cambria" panose="02040503050406030204" pitchFamily="18" charset="0"/>
                    <a:ea typeface="Cambria" panose="02040503050406030204" pitchFamily="18" charset="0"/>
                    <a:cs typeface="Arial" panose="020B0604020202020204" pitchFamily="34" charset="0"/>
                  </a:rPr>
                  <a:t>List and describe the four layers of the TCP/IP model along with their primary functions.</a:t>
                </a:r>
              </a:p>
            </p:txBody>
          </p:sp>
        </p:grpSp>
      </p:grpSp>
    </p:spTree>
    <p:extLst>
      <p:ext uri="{BB962C8B-B14F-4D97-AF65-F5344CB8AC3E}">
        <p14:creationId xmlns:p14="http://schemas.microsoft.com/office/powerpoint/2010/main" val="1687728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5"/>
          <p:cNvSpPr/>
          <p:nvPr/>
        </p:nvSpPr>
        <p:spPr>
          <a:xfrm>
            <a:off x="982213" y="1276927"/>
            <a:ext cx="9850337" cy="4876616"/>
          </a:xfrm>
          <a:prstGeom prst="roundRect">
            <a:avLst>
              <a:gd name="adj" fmla="val 2979"/>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2400" b="1" dirty="0">
                <a:solidFill>
                  <a:schemeClr val="dk1"/>
                </a:solidFill>
                <a:latin typeface="Arial"/>
                <a:ea typeface="Arial"/>
                <a:cs typeface="Arial"/>
                <a:sym typeface="Arial"/>
              </a:rPr>
              <a:t>What are the four layers of the TCP/IP model and their functions?</a:t>
            </a:r>
            <a:endParaRPr dirty="0"/>
          </a:p>
          <a:p>
            <a:pPr marL="0" marR="0" lvl="0" indent="0" algn="l" rtl="0">
              <a:spcBef>
                <a:spcPts val="0"/>
              </a:spcBef>
              <a:spcAft>
                <a:spcPts val="0"/>
              </a:spcAft>
              <a:buNone/>
            </a:pPr>
            <a:r>
              <a:rPr lang="en-IN" sz="2400" b="1" dirty="0">
                <a:solidFill>
                  <a:schemeClr val="dk1"/>
                </a:solidFill>
                <a:latin typeface="Arial"/>
                <a:ea typeface="Arial"/>
                <a:cs typeface="Arial"/>
                <a:sym typeface="Arial"/>
              </a:rPr>
              <a:t>Answer:</a:t>
            </a:r>
            <a:endParaRPr dirty="0"/>
          </a:p>
          <a:p>
            <a:pPr marL="0" marR="0" lvl="0" indent="0" algn="l" rtl="0">
              <a:spcBef>
                <a:spcPts val="0"/>
              </a:spcBef>
              <a:spcAft>
                <a:spcPts val="0"/>
              </a:spcAft>
              <a:buNone/>
            </a:pPr>
            <a:r>
              <a:rPr lang="en-IN" sz="2400" dirty="0">
                <a:solidFill>
                  <a:schemeClr val="dk1"/>
                </a:solidFill>
                <a:latin typeface="Arial"/>
                <a:ea typeface="Arial"/>
                <a:cs typeface="Arial"/>
                <a:sym typeface="Arial"/>
              </a:rPr>
              <a:t>The </a:t>
            </a:r>
            <a:r>
              <a:rPr lang="en-IN" sz="2400" b="1" dirty="0">
                <a:solidFill>
                  <a:schemeClr val="dk1"/>
                </a:solidFill>
                <a:latin typeface="Arial"/>
                <a:ea typeface="Arial"/>
                <a:cs typeface="Arial"/>
                <a:sym typeface="Arial"/>
              </a:rPr>
              <a:t>four layers of the TCP/IP model</a:t>
            </a:r>
            <a:r>
              <a:rPr lang="en-IN" sz="2400" dirty="0">
                <a:solidFill>
                  <a:schemeClr val="dk1"/>
                </a:solidFill>
                <a:latin typeface="Arial"/>
                <a:ea typeface="Arial"/>
                <a:cs typeface="Arial"/>
                <a:sym typeface="Arial"/>
              </a:rPr>
              <a:t> are:</a:t>
            </a:r>
            <a:endParaRPr dirty="0"/>
          </a:p>
          <a:p>
            <a:pPr marL="0" marR="0" lvl="0" indent="-152400" algn="l" rtl="0">
              <a:spcBef>
                <a:spcPts val="0"/>
              </a:spcBef>
              <a:spcAft>
                <a:spcPts val="0"/>
              </a:spcAft>
              <a:buClr>
                <a:schemeClr val="dk1"/>
              </a:buClr>
              <a:buSzPts val="2400"/>
              <a:buFont typeface="Play"/>
              <a:buAutoNum type="arabicPeriod"/>
            </a:pPr>
            <a:r>
              <a:rPr lang="en-IN" sz="2400" b="1" dirty="0">
                <a:solidFill>
                  <a:schemeClr val="dk1"/>
                </a:solidFill>
                <a:latin typeface="Arial"/>
                <a:ea typeface="Arial"/>
                <a:cs typeface="Arial"/>
                <a:sym typeface="Arial"/>
              </a:rPr>
              <a:t>Network Access Layer (Link Layer)</a:t>
            </a:r>
            <a:r>
              <a:rPr lang="en-IN" sz="2400" dirty="0">
                <a:solidFill>
                  <a:schemeClr val="dk1"/>
                </a:solidFill>
                <a:latin typeface="Arial"/>
                <a:ea typeface="Arial"/>
                <a:cs typeface="Arial"/>
                <a:sym typeface="Arial"/>
              </a:rPr>
              <a:t> – Handles physical transmission of data (Ethernet, Wi-Fi, MAC addressing).</a:t>
            </a:r>
            <a:endParaRPr dirty="0"/>
          </a:p>
          <a:p>
            <a:pPr marL="0" marR="0" lvl="0" indent="-152400" algn="l" rtl="0">
              <a:spcBef>
                <a:spcPts val="0"/>
              </a:spcBef>
              <a:spcAft>
                <a:spcPts val="0"/>
              </a:spcAft>
              <a:buClr>
                <a:schemeClr val="dk1"/>
              </a:buClr>
              <a:buSzPts val="2400"/>
              <a:buFont typeface="Play"/>
              <a:buAutoNum type="arabicPeriod"/>
            </a:pPr>
            <a:r>
              <a:rPr lang="en-IN" sz="2400" b="1" dirty="0">
                <a:solidFill>
                  <a:schemeClr val="dk1"/>
                </a:solidFill>
                <a:latin typeface="Arial"/>
                <a:ea typeface="Arial"/>
                <a:cs typeface="Arial"/>
                <a:sym typeface="Arial"/>
              </a:rPr>
              <a:t>Internet Layer</a:t>
            </a:r>
            <a:r>
              <a:rPr lang="en-IN" sz="2400" dirty="0">
                <a:solidFill>
                  <a:schemeClr val="dk1"/>
                </a:solidFill>
                <a:latin typeface="Arial"/>
                <a:ea typeface="Arial"/>
                <a:cs typeface="Arial"/>
                <a:sym typeface="Arial"/>
              </a:rPr>
              <a:t> – Provides logical addressing and routing (IP, ICMP, ARP).</a:t>
            </a:r>
            <a:endParaRPr dirty="0"/>
          </a:p>
          <a:p>
            <a:pPr marL="0" marR="0" lvl="0" indent="-152400" algn="l" rtl="0">
              <a:spcBef>
                <a:spcPts val="0"/>
              </a:spcBef>
              <a:spcAft>
                <a:spcPts val="0"/>
              </a:spcAft>
              <a:buClr>
                <a:schemeClr val="dk1"/>
              </a:buClr>
              <a:buSzPts val="2400"/>
              <a:buFont typeface="Play"/>
              <a:buAutoNum type="arabicPeriod"/>
            </a:pPr>
            <a:r>
              <a:rPr lang="en-IN" sz="2400" b="1" dirty="0">
                <a:solidFill>
                  <a:schemeClr val="dk1"/>
                </a:solidFill>
                <a:latin typeface="Arial"/>
                <a:ea typeface="Arial"/>
                <a:cs typeface="Arial"/>
                <a:sym typeface="Arial"/>
              </a:rPr>
              <a:t>Transport Layer</a:t>
            </a:r>
            <a:r>
              <a:rPr lang="en-IN" sz="2400" dirty="0">
                <a:solidFill>
                  <a:schemeClr val="dk1"/>
                </a:solidFill>
                <a:latin typeface="Arial"/>
                <a:ea typeface="Arial"/>
                <a:cs typeface="Arial"/>
                <a:sym typeface="Arial"/>
              </a:rPr>
              <a:t> – Ensures end-to-end communication (TCP for reliability, UDP for speed).</a:t>
            </a:r>
            <a:endParaRPr dirty="0"/>
          </a:p>
          <a:p>
            <a:pPr marL="0" marR="0" lvl="0" indent="-152400" algn="l" rtl="0">
              <a:spcBef>
                <a:spcPts val="0"/>
              </a:spcBef>
              <a:spcAft>
                <a:spcPts val="0"/>
              </a:spcAft>
              <a:buClr>
                <a:schemeClr val="dk1"/>
              </a:buClr>
              <a:buSzPts val="2400"/>
              <a:buFont typeface="Play"/>
              <a:buAutoNum type="arabicPeriod"/>
            </a:pPr>
            <a:r>
              <a:rPr lang="en-IN" sz="2400" b="1" dirty="0">
                <a:solidFill>
                  <a:schemeClr val="dk1"/>
                </a:solidFill>
                <a:latin typeface="Arial"/>
                <a:ea typeface="Arial"/>
                <a:cs typeface="Arial"/>
                <a:sym typeface="Arial"/>
              </a:rPr>
              <a:t>Application Layer</a:t>
            </a:r>
            <a:r>
              <a:rPr lang="en-IN" sz="2400" dirty="0">
                <a:solidFill>
                  <a:schemeClr val="dk1"/>
                </a:solidFill>
                <a:latin typeface="Arial"/>
                <a:ea typeface="Arial"/>
                <a:cs typeface="Arial"/>
                <a:sym typeface="Arial"/>
              </a:rPr>
              <a:t> – Supports user-facing applications (HTTP, FTP, SMTP, DNS).</a:t>
            </a:r>
            <a:endParaRPr dirty="0"/>
          </a:p>
        </p:txBody>
      </p:sp>
      <p:sp>
        <p:nvSpPr>
          <p:cNvPr id="235" name="Google Shape;23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236" name="Google Shape;23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pic>
        <p:nvPicPr>
          <p:cNvPr id="237" name="Google Shape;237;p15" descr="A blue circle with text and words&#10;&#10;Description automatically generated"/>
          <p:cNvPicPr preferRelativeResize="0"/>
          <p:nvPr/>
        </p:nvPicPr>
        <p:blipFill rotWithShape="1">
          <a:blip r:embed="rId3">
            <a:alphaModFix/>
          </a:blip>
          <a:srcRect/>
          <a:stretch/>
        </p:blipFill>
        <p:spPr>
          <a:xfrm>
            <a:off x="10758566" y="149459"/>
            <a:ext cx="874732" cy="874732"/>
          </a:xfrm>
          <a:prstGeom prst="rect">
            <a:avLst/>
          </a:prstGeom>
          <a:noFill/>
          <a:ln>
            <a:noFill/>
          </a:ln>
        </p:spPr>
      </p:pic>
      <p:pic>
        <p:nvPicPr>
          <p:cNvPr id="238" name="Google Shape;238;p15"/>
          <p:cNvPicPr preferRelativeResize="0"/>
          <p:nvPr/>
        </p:nvPicPr>
        <p:blipFill rotWithShape="1">
          <a:blip r:embed="rId4">
            <a:alphaModFix/>
          </a:blip>
          <a:srcRect/>
          <a:stretch/>
        </p:blipFill>
        <p:spPr>
          <a:xfrm>
            <a:off x="242966" y="208906"/>
            <a:ext cx="2215421" cy="612478"/>
          </a:xfrm>
          <a:prstGeom prst="rect">
            <a:avLst/>
          </a:prstGeom>
          <a:noFill/>
          <a:ln>
            <a:noFill/>
          </a:ln>
        </p:spPr>
      </p:pic>
      <p:sp>
        <p:nvSpPr>
          <p:cNvPr id="2" name="Title 1">
            <a:extLst>
              <a:ext uri="{FF2B5EF4-FFF2-40B4-BE49-F238E27FC236}">
                <a16:creationId xmlns:a16="http://schemas.microsoft.com/office/drawing/2014/main" id="{BAD615BB-5643-B0D0-B03F-58CEF66212BF}"/>
              </a:ext>
            </a:extLst>
          </p:cNvPr>
          <p:cNvSpPr txBox="1">
            <a:spLocks/>
          </p:cNvSpPr>
          <p:nvPr/>
        </p:nvSpPr>
        <p:spPr>
          <a:xfrm>
            <a:off x="838200" y="704457"/>
            <a:ext cx="10515600" cy="6124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u="sng" cap="all" dirty="0">
                <a:solidFill>
                  <a:schemeClr val="accent1"/>
                </a:solidFill>
                <a:latin typeface="Consolas" panose="020B0609020204030204" pitchFamily="49" charset="0"/>
                <a:cs typeface="Aharoni" panose="02010803020104030203" pitchFamily="2" charset="-79"/>
              </a:rPr>
              <a:t>Activity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p:nvPr/>
        </p:nvSpPr>
        <p:spPr>
          <a:xfrm>
            <a:off x="908229" y="1603317"/>
            <a:ext cx="9850337" cy="3651366"/>
          </a:xfrm>
          <a:prstGeom prst="roundRect">
            <a:avLst>
              <a:gd name="adj" fmla="val 16667"/>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800" b="0" i="0" u="none" strike="noStrike" cap="none">
                <a:solidFill>
                  <a:schemeClr val="dk1"/>
                </a:solidFill>
                <a:latin typeface="Arial"/>
                <a:ea typeface="Arial"/>
                <a:cs typeface="Arial"/>
                <a:sym typeface="Arial"/>
              </a:rPr>
              <a:t>The </a:t>
            </a:r>
            <a:r>
              <a:rPr lang="en-IN" sz="2800" b="1" i="0" u="none" strike="noStrike" cap="none">
                <a:solidFill>
                  <a:schemeClr val="dk1"/>
                </a:solidFill>
                <a:latin typeface="Arial"/>
                <a:ea typeface="Arial"/>
                <a:cs typeface="Arial"/>
                <a:sym typeface="Arial"/>
              </a:rPr>
              <a:t>TCP/IP (Transmission Control Protocol/Internet Protocol)</a:t>
            </a:r>
            <a:r>
              <a:rPr lang="en-IN" sz="2800" b="0" i="0" u="none" strike="noStrike" cap="none">
                <a:solidFill>
                  <a:schemeClr val="dk1"/>
                </a:solidFill>
                <a:latin typeface="Arial"/>
                <a:ea typeface="Arial"/>
                <a:cs typeface="Arial"/>
                <a:sym typeface="Arial"/>
              </a:rPr>
              <a:t> model is the fundamental communication protocol of the Internet and most computer networks. It enables devices to communicate with each other by defining how data should be packetized, addressed, transmitted, routed, and received.</a:t>
            </a:r>
            <a:endParaRPr/>
          </a:p>
        </p:txBody>
      </p:sp>
      <p:sp>
        <p:nvSpPr>
          <p:cNvPr id="104" name="Google Shape;104;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105" name="Google Shape;105;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pic>
        <p:nvPicPr>
          <p:cNvPr id="106" name="Google Shape;106;p2" descr="A blue circle with text and words&#10;&#10;Description automatically generated"/>
          <p:cNvPicPr preferRelativeResize="0"/>
          <p:nvPr/>
        </p:nvPicPr>
        <p:blipFill rotWithShape="1">
          <a:blip r:embed="rId3">
            <a:alphaModFix/>
          </a:blip>
          <a:srcRect/>
          <a:stretch/>
        </p:blipFill>
        <p:spPr>
          <a:xfrm>
            <a:off x="10758566" y="149459"/>
            <a:ext cx="874732" cy="874732"/>
          </a:xfrm>
          <a:prstGeom prst="rect">
            <a:avLst/>
          </a:prstGeom>
          <a:noFill/>
          <a:ln>
            <a:noFill/>
          </a:ln>
        </p:spPr>
      </p:pic>
      <p:pic>
        <p:nvPicPr>
          <p:cNvPr id="107" name="Google Shape;107;p2"/>
          <p:cNvPicPr preferRelativeResize="0"/>
          <p:nvPr/>
        </p:nvPicPr>
        <p:blipFill rotWithShape="1">
          <a:blip r:embed="rId4">
            <a:alphaModFix/>
          </a:blip>
          <a:srcRect/>
          <a:stretch/>
        </p:blipFill>
        <p:spPr>
          <a:xfrm>
            <a:off x="242966" y="208906"/>
            <a:ext cx="2215421" cy="61247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p:nvPr/>
        </p:nvSpPr>
        <p:spPr>
          <a:xfrm>
            <a:off x="197246" y="1028483"/>
            <a:ext cx="11827113" cy="5229907"/>
          </a:xfrm>
          <a:prstGeom prst="roundRect">
            <a:avLst>
              <a:gd name="adj" fmla="val 16667"/>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2800" b="0" i="0" u="none" strike="noStrike" cap="none">
                <a:solidFill>
                  <a:schemeClr val="dk1"/>
                </a:solidFill>
                <a:latin typeface="Arial"/>
                <a:ea typeface="Arial"/>
                <a:cs typeface="Arial"/>
                <a:sym typeface="Arial"/>
              </a:rPr>
              <a:t>TCP/IP is a </a:t>
            </a:r>
            <a:r>
              <a:rPr lang="en-IN" sz="2800" b="1" i="0" u="none" strike="noStrike" cap="none">
                <a:solidFill>
                  <a:schemeClr val="dk1"/>
                </a:solidFill>
                <a:latin typeface="Arial"/>
                <a:ea typeface="Arial"/>
                <a:cs typeface="Arial"/>
                <a:sym typeface="Arial"/>
              </a:rPr>
              <a:t>suite of communication protocols</a:t>
            </a:r>
            <a:r>
              <a:rPr lang="en-IN" sz="2800" b="0" i="0" u="none" strike="noStrike" cap="none">
                <a:solidFill>
                  <a:schemeClr val="dk1"/>
                </a:solidFill>
                <a:latin typeface="Arial"/>
                <a:ea typeface="Arial"/>
                <a:cs typeface="Arial"/>
                <a:sym typeface="Arial"/>
              </a:rPr>
              <a:t> that governs how data is transmitted across networks, including the Internet. It provides an end-to-end connection that specifies how data should be formatted, addressed, transmitted, and received.</a:t>
            </a:r>
            <a:endParaRPr/>
          </a:p>
          <a:p>
            <a:pPr marL="0" marR="0" lvl="0" indent="-177800" algn="l" rtl="0">
              <a:spcBef>
                <a:spcPts val="0"/>
              </a:spcBef>
              <a:spcAft>
                <a:spcPts val="0"/>
              </a:spcAft>
              <a:buClr>
                <a:schemeClr val="dk1"/>
              </a:buClr>
              <a:buSzPts val="2800"/>
              <a:buFont typeface="Arial"/>
              <a:buChar char="•"/>
            </a:pPr>
            <a:r>
              <a:rPr lang="en-IN" sz="2800" b="1">
                <a:solidFill>
                  <a:schemeClr val="dk1"/>
                </a:solidFill>
                <a:latin typeface="Arial"/>
                <a:ea typeface="Arial"/>
                <a:cs typeface="Arial"/>
                <a:sym typeface="Arial"/>
              </a:rPr>
              <a:t>TCP (Transmission Control Protocol)</a:t>
            </a:r>
            <a:r>
              <a:rPr lang="en-IN" sz="2800">
                <a:solidFill>
                  <a:schemeClr val="dk1"/>
                </a:solidFill>
                <a:latin typeface="Arial"/>
                <a:ea typeface="Arial"/>
                <a:cs typeface="Arial"/>
                <a:sym typeface="Arial"/>
              </a:rPr>
              <a:t> ensures reliable data transmission by establishing a connection before sending data and ensuring that all packets arrive correctly.</a:t>
            </a:r>
            <a:endParaRPr/>
          </a:p>
          <a:p>
            <a:pPr marL="0" marR="0" lvl="0" indent="-177800" algn="l" rtl="0">
              <a:spcBef>
                <a:spcPts val="0"/>
              </a:spcBef>
              <a:spcAft>
                <a:spcPts val="0"/>
              </a:spcAft>
              <a:buClr>
                <a:schemeClr val="dk1"/>
              </a:buClr>
              <a:buSzPts val="2800"/>
              <a:buFont typeface="Arial"/>
              <a:buChar char="•"/>
            </a:pPr>
            <a:r>
              <a:rPr lang="en-IN" sz="2800" b="1">
                <a:solidFill>
                  <a:schemeClr val="dk1"/>
                </a:solidFill>
                <a:latin typeface="Arial"/>
                <a:ea typeface="Arial"/>
                <a:cs typeface="Arial"/>
                <a:sym typeface="Arial"/>
              </a:rPr>
              <a:t>IP (Internet Protocol)</a:t>
            </a:r>
            <a:r>
              <a:rPr lang="en-IN" sz="2800">
                <a:solidFill>
                  <a:schemeClr val="dk1"/>
                </a:solidFill>
                <a:latin typeface="Arial"/>
                <a:ea typeface="Arial"/>
                <a:cs typeface="Arial"/>
                <a:sym typeface="Arial"/>
              </a:rPr>
              <a:t> is responsible for addressing and routing packets to their destination.</a:t>
            </a:r>
            <a:endParaRPr/>
          </a:p>
        </p:txBody>
      </p:sp>
      <p:sp>
        <p:nvSpPr>
          <p:cNvPr id="113" name="Google Shape;11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114" name="Google Shape;11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pic>
        <p:nvPicPr>
          <p:cNvPr id="115" name="Google Shape;115;p3" descr="A blue circle with text and words&#10;&#10;Description automatically generated"/>
          <p:cNvPicPr preferRelativeResize="0"/>
          <p:nvPr/>
        </p:nvPicPr>
        <p:blipFill rotWithShape="1">
          <a:blip r:embed="rId3">
            <a:alphaModFix/>
          </a:blip>
          <a:srcRect/>
          <a:stretch/>
        </p:blipFill>
        <p:spPr>
          <a:xfrm>
            <a:off x="10758566" y="149459"/>
            <a:ext cx="874732" cy="874732"/>
          </a:xfrm>
          <a:prstGeom prst="rect">
            <a:avLst/>
          </a:prstGeom>
          <a:noFill/>
          <a:ln>
            <a:noFill/>
          </a:ln>
        </p:spPr>
      </p:pic>
      <p:pic>
        <p:nvPicPr>
          <p:cNvPr id="116" name="Google Shape;116;p3"/>
          <p:cNvPicPr preferRelativeResize="0"/>
          <p:nvPr/>
        </p:nvPicPr>
        <p:blipFill rotWithShape="1">
          <a:blip r:embed="rId4">
            <a:alphaModFix/>
          </a:blip>
          <a:srcRect/>
          <a:stretch/>
        </p:blipFill>
        <p:spPr>
          <a:xfrm>
            <a:off x="197246" y="149459"/>
            <a:ext cx="2215421" cy="6124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p:nvPr/>
        </p:nvSpPr>
        <p:spPr>
          <a:xfrm>
            <a:off x="908229" y="846459"/>
            <a:ext cx="9850337" cy="1169771"/>
          </a:xfrm>
          <a:prstGeom prst="roundRect">
            <a:avLst>
              <a:gd name="adj" fmla="val 16667"/>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000" b="1">
                <a:solidFill>
                  <a:schemeClr val="dk1"/>
                </a:solidFill>
                <a:latin typeface="Arial"/>
                <a:ea typeface="Arial"/>
                <a:cs typeface="Arial"/>
                <a:sym typeface="Arial"/>
              </a:rPr>
              <a:t>Layers of TCP/IP Model</a:t>
            </a:r>
            <a:endParaRPr/>
          </a:p>
          <a:p>
            <a:pPr marL="0" marR="0" lvl="0" indent="0" algn="ctr" rtl="0">
              <a:spcBef>
                <a:spcPts val="0"/>
              </a:spcBef>
              <a:spcAft>
                <a:spcPts val="0"/>
              </a:spcAft>
              <a:buNone/>
            </a:pPr>
            <a:r>
              <a:rPr lang="en-IN" sz="2000">
                <a:solidFill>
                  <a:schemeClr val="dk1"/>
                </a:solidFill>
                <a:latin typeface="Arial"/>
                <a:ea typeface="Arial"/>
                <a:cs typeface="Arial"/>
                <a:sym typeface="Arial"/>
              </a:rPr>
              <a:t>The TCP/IP model consists of </a:t>
            </a:r>
            <a:r>
              <a:rPr lang="en-IN" sz="2000" b="1">
                <a:solidFill>
                  <a:schemeClr val="dk1"/>
                </a:solidFill>
                <a:latin typeface="Arial"/>
                <a:ea typeface="Arial"/>
                <a:cs typeface="Arial"/>
                <a:sym typeface="Arial"/>
              </a:rPr>
              <a:t>four layers</a:t>
            </a:r>
            <a:r>
              <a:rPr lang="en-IN" sz="2000">
                <a:solidFill>
                  <a:schemeClr val="dk1"/>
                </a:solidFill>
                <a:latin typeface="Arial"/>
                <a:ea typeface="Arial"/>
                <a:cs typeface="Arial"/>
                <a:sym typeface="Arial"/>
              </a:rPr>
              <a:t>, which correspond to the OSI (Open Systems Interconnection) model's seven layers.</a:t>
            </a:r>
            <a:endParaRPr/>
          </a:p>
        </p:txBody>
      </p:sp>
      <p:sp>
        <p:nvSpPr>
          <p:cNvPr id="122" name="Google Shape;122;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123" name="Google Shape;12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pic>
        <p:nvPicPr>
          <p:cNvPr id="124" name="Google Shape;124;p4" descr="A blue circle with text and words&#10;&#10;Description automatically generated"/>
          <p:cNvPicPr preferRelativeResize="0"/>
          <p:nvPr/>
        </p:nvPicPr>
        <p:blipFill rotWithShape="1">
          <a:blip r:embed="rId3">
            <a:alphaModFix/>
          </a:blip>
          <a:srcRect/>
          <a:stretch/>
        </p:blipFill>
        <p:spPr>
          <a:xfrm>
            <a:off x="10758566" y="149459"/>
            <a:ext cx="874732" cy="874732"/>
          </a:xfrm>
          <a:prstGeom prst="rect">
            <a:avLst/>
          </a:prstGeom>
          <a:noFill/>
          <a:ln>
            <a:noFill/>
          </a:ln>
        </p:spPr>
      </p:pic>
      <p:pic>
        <p:nvPicPr>
          <p:cNvPr id="125" name="Google Shape;125;p4"/>
          <p:cNvPicPr preferRelativeResize="0"/>
          <p:nvPr/>
        </p:nvPicPr>
        <p:blipFill rotWithShape="1">
          <a:blip r:embed="rId4">
            <a:alphaModFix/>
          </a:blip>
          <a:srcRect/>
          <a:stretch/>
        </p:blipFill>
        <p:spPr>
          <a:xfrm>
            <a:off x="242966" y="208906"/>
            <a:ext cx="2215421" cy="612478"/>
          </a:xfrm>
          <a:prstGeom prst="rect">
            <a:avLst/>
          </a:prstGeom>
          <a:noFill/>
          <a:ln>
            <a:noFill/>
          </a:ln>
        </p:spPr>
      </p:pic>
      <p:graphicFrame>
        <p:nvGraphicFramePr>
          <p:cNvPr id="126" name="Google Shape;126;p4"/>
          <p:cNvGraphicFramePr/>
          <p:nvPr/>
        </p:nvGraphicFramePr>
        <p:xfrm>
          <a:off x="761924" y="2157441"/>
          <a:ext cx="10521750" cy="3749090"/>
        </p:xfrm>
        <a:graphic>
          <a:graphicData uri="http://schemas.openxmlformats.org/drawingml/2006/table">
            <a:tbl>
              <a:tblPr>
                <a:noFill/>
                <a:tableStyleId>{396881DD-656B-4B6F-9048-B88C7D878465}</a:tableStyleId>
              </a:tblPr>
              <a:tblGrid>
                <a:gridCol w="3507250">
                  <a:extLst>
                    <a:ext uri="{9D8B030D-6E8A-4147-A177-3AD203B41FA5}">
                      <a16:colId xmlns:a16="http://schemas.microsoft.com/office/drawing/2014/main" val="20000"/>
                    </a:ext>
                  </a:extLst>
                </a:gridCol>
                <a:gridCol w="3507250">
                  <a:extLst>
                    <a:ext uri="{9D8B030D-6E8A-4147-A177-3AD203B41FA5}">
                      <a16:colId xmlns:a16="http://schemas.microsoft.com/office/drawing/2014/main" val="20001"/>
                    </a:ext>
                  </a:extLst>
                </a:gridCol>
                <a:gridCol w="3507250">
                  <a:extLst>
                    <a:ext uri="{9D8B030D-6E8A-4147-A177-3AD203B41FA5}">
                      <a16:colId xmlns:a16="http://schemas.microsoft.com/office/drawing/2014/main" val="20002"/>
                    </a:ext>
                  </a:extLst>
                </a:gridCol>
              </a:tblGrid>
              <a:tr h="228600">
                <a:tc>
                  <a:txBody>
                    <a:bodyPr/>
                    <a:lstStyle/>
                    <a:p>
                      <a:pPr marL="0" marR="0" lvl="0" indent="0" algn="l" rtl="0">
                        <a:spcBef>
                          <a:spcPts val="0"/>
                        </a:spcBef>
                        <a:spcAft>
                          <a:spcPts val="0"/>
                        </a:spcAft>
                        <a:buNone/>
                      </a:pPr>
                      <a:r>
                        <a:rPr lang="en-IN" sz="1800" b="1" u="none" strike="noStrike" cap="none"/>
                        <a:t>TCP/IP Layer</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a:t>Equivalent OSI Layers</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a:t>Function</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IN" sz="1800" b="1"/>
                        <a:t>1. Network Access Layer</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a:t>Physical + Data Link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a:t>Deals with the hardware transmission of data over physical media.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IN" sz="1800" b="1"/>
                        <a:t>2. Internet Layer</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a:t>Network Layer</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a:t>Handles addressing, routing, and packet forwarding.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en-IN" sz="1800" b="1"/>
                        <a:t>3. Transport Layer</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a:t>Transport Layer</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a:t>Ensures reliable or connectionless communication between devices.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en-IN" sz="1800" b="1"/>
                        <a:t>4. Application Layer</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a:t>Application + Presentation + Session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a:t>Provides network services to end-users, such as HTTP, FTP, and DNS.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27" name="Google Shape;127;p4"/>
          <p:cNvSpPr/>
          <p:nvPr/>
        </p:nvSpPr>
        <p:spPr>
          <a:xfrm>
            <a:off x="1375175" y="2523206"/>
            <a:ext cx="10965000" cy="2736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p:nvPr/>
        </p:nvSpPr>
        <p:spPr>
          <a:xfrm>
            <a:off x="316992" y="1024191"/>
            <a:ext cx="11558016" cy="5451185"/>
          </a:xfrm>
          <a:prstGeom prst="roundRect">
            <a:avLst>
              <a:gd name="adj" fmla="val 6602"/>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2800" b="1">
                <a:solidFill>
                  <a:schemeClr val="dk1"/>
                </a:solidFill>
                <a:latin typeface="Arial"/>
                <a:ea typeface="Arial"/>
                <a:cs typeface="Arial"/>
                <a:sym typeface="Arial"/>
              </a:rPr>
              <a:t>Layer 1: Network Access Layer (Link Layer)</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Arial"/>
                <a:ea typeface="Arial"/>
                <a:cs typeface="Arial"/>
                <a:sym typeface="Arial"/>
              </a:rPr>
              <a:t>Responsible for physically transmitting data over the network medium.</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Arial"/>
                <a:ea typeface="Arial"/>
                <a:cs typeface="Arial"/>
                <a:sym typeface="Arial"/>
              </a:rPr>
              <a:t>Defines protocols for accessing physical transmission media (Ethernet, Wi-Fi, etc.).</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Arial"/>
                <a:ea typeface="Arial"/>
                <a:cs typeface="Arial"/>
                <a:sym typeface="Arial"/>
              </a:rPr>
              <a:t>Ensures frame synchronization, error detection, and MAC (Media Access Control) addressing.</a:t>
            </a:r>
            <a:endParaRPr/>
          </a:p>
          <a:p>
            <a:pPr marL="0" marR="0" lvl="0" indent="0" algn="l" rtl="0">
              <a:spcBef>
                <a:spcPts val="0"/>
              </a:spcBef>
              <a:spcAft>
                <a:spcPts val="0"/>
              </a:spcAft>
              <a:buNone/>
            </a:pPr>
            <a:r>
              <a:rPr lang="en-IN" sz="2800" b="1">
                <a:solidFill>
                  <a:schemeClr val="dk1"/>
                </a:solidFill>
                <a:latin typeface="Arial"/>
                <a:ea typeface="Arial"/>
                <a:cs typeface="Arial"/>
                <a:sym typeface="Arial"/>
              </a:rPr>
              <a:t>Examples of protocols in this layer:</a:t>
            </a:r>
            <a:endParaRPr sz="2800">
              <a:solidFill>
                <a:schemeClr val="dk1"/>
              </a:solidFill>
              <a:latin typeface="Arial"/>
              <a:ea typeface="Arial"/>
              <a:cs typeface="Arial"/>
              <a:sym typeface="Arial"/>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Arial"/>
                <a:ea typeface="Arial"/>
                <a:cs typeface="Arial"/>
                <a:sym typeface="Arial"/>
              </a:rPr>
              <a:t>Ethernet</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Arial"/>
                <a:ea typeface="Arial"/>
                <a:cs typeface="Arial"/>
                <a:sym typeface="Arial"/>
              </a:rPr>
              <a:t>Wi-Fi (802.11)</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Arial"/>
                <a:ea typeface="Arial"/>
                <a:cs typeface="Arial"/>
                <a:sym typeface="Arial"/>
              </a:rPr>
              <a:t>ARP (Address Resolution Protocol)</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Arial"/>
                <a:ea typeface="Arial"/>
                <a:cs typeface="Arial"/>
                <a:sym typeface="Arial"/>
              </a:rPr>
              <a:t>PPP (Point-to-Point Protocol)</a:t>
            </a:r>
            <a:endParaRPr/>
          </a:p>
        </p:txBody>
      </p:sp>
      <p:sp>
        <p:nvSpPr>
          <p:cNvPr id="133" name="Google Shape;133;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134" name="Google Shape;134;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pic>
        <p:nvPicPr>
          <p:cNvPr id="135" name="Google Shape;135;p5" descr="A blue circle with text and words&#10;&#10;Description automatically generated"/>
          <p:cNvPicPr preferRelativeResize="0"/>
          <p:nvPr/>
        </p:nvPicPr>
        <p:blipFill rotWithShape="1">
          <a:blip r:embed="rId3">
            <a:alphaModFix/>
          </a:blip>
          <a:srcRect/>
          <a:stretch/>
        </p:blipFill>
        <p:spPr>
          <a:xfrm>
            <a:off x="10758566" y="149459"/>
            <a:ext cx="874732" cy="874732"/>
          </a:xfrm>
          <a:prstGeom prst="rect">
            <a:avLst/>
          </a:prstGeom>
          <a:noFill/>
          <a:ln>
            <a:noFill/>
          </a:ln>
        </p:spPr>
      </p:pic>
      <p:pic>
        <p:nvPicPr>
          <p:cNvPr id="136" name="Google Shape;136;p5"/>
          <p:cNvPicPr preferRelativeResize="0"/>
          <p:nvPr/>
        </p:nvPicPr>
        <p:blipFill rotWithShape="1">
          <a:blip r:embed="rId4">
            <a:alphaModFix/>
          </a:blip>
          <a:srcRect/>
          <a:stretch/>
        </p:blipFill>
        <p:spPr>
          <a:xfrm>
            <a:off x="242966" y="208906"/>
            <a:ext cx="2215421" cy="61247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6"/>
          <p:cNvSpPr/>
          <p:nvPr/>
        </p:nvSpPr>
        <p:spPr>
          <a:xfrm>
            <a:off x="100585" y="905164"/>
            <a:ext cx="11969496" cy="5451185"/>
          </a:xfrm>
          <a:prstGeom prst="roundRect">
            <a:avLst>
              <a:gd name="adj" fmla="val 3415"/>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2400" b="1">
                <a:solidFill>
                  <a:schemeClr val="dk1"/>
                </a:solidFill>
                <a:latin typeface="Arial"/>
                <a:ea typeface="Arial"/>
                <a:cs typeface="Arial"/>
                <a:sym typeface="Arial"/>
              </a:rPr>
              <a:t>Layer 2: Internet Layer</a:t>
            </a:r>
            <a:endParaRPr/>
          </a:p>
          <a:p>
            <a:pPr marL="0" marR="0" lvl="0" indent="-152400" algn="l" rtl="0">
              <a:spcBef>
                <a:spcPts val="0"/>
              </a:spcBef>
              <a:spcAft>
                <a:spcPts val="0"/>
              </a:spcAft>
              <a:buClr>
                <a:schemeClr val="dk1"/>
              </a:buClr>
              <a:buSzPts val="2400"/>
              <a:buFont typeface="Arial"/>
              <a:buChar char="•"/>
            </a:pPr>
            <a:r>
              <a:rPr lang="en-IN" sz="2400">
                <a:solidFill>
                  <a:schemeClr val="dk1"/>
                </a:solidFill>
                <a:latin typeface="Arial"/>
                <a:ea typeface="Arial"/>
                <a:cs typeface="Arial"/>
                <a:sym typeface="Arial"/>
              </a:rPr>
              <a:t>Responsible for addressing and routing packets across networks.</a:t>
            </a:r>
            <a:endParaRPr/>
          </a:p>
          <a:p>
            <a:pPr marL="0" marR="0" lvl="0" indent="-152400" algn="l" rtl="0">
              <a:spcBef>
                <a:spcPts val="0"/>
              </a:spcBef>
              <a:spcAft>
                <a:spcPts val="0"/>
              </a:spcAft>
              <a:buClr>
                <a:schemeClr val="dk1"/>
              </a:buClr>
              <a:buSzPts val="2400"/>
              <a:buFont typeface="Arial"/>
              <a:buChar char="•"/>
            </a:pPr>
            <a:r>
              <a:rPr lang="en-IN" sz="2400">
                <a:solidFill>
                  <a:schemeClr val="dk1"/>
                </a:solidFill>
                <a:latin typeface="Arial"/>
                <a:ea typeface="Arial"/>
                <a:cs typeface="Arial"/>
                <a:sym typeface="Arial"/>
              </a:rPr>
              <a:t>Uses the </a:t>
            </a:r>
            <a:r>
              <a:rPr lang="en-IN" sz="2400" b="1">
                <a:solidFill>
                  <a:schemeClr val="dk1"/>
                </a:solidFill>
                <a:latin typeface="Arial"/>
                <a:ea typeface="Arial"/>
                <a:cs typeface="Arial"/>
                <a:sym typeface="Arial"/>
              </a:rPr>
              <a:t>IP (Internet Protocol)</a:t>
            </a:r>
            <a:r>
              <a:rPr lang="en-IN" sz="2400">
                <a:solidFill>
                  <a:schemeClr val="dk1"/>
                </a:solidFill>
                <a:latin typeface="Arial"/>
                <a:ea typeface="Arial"/>
                <a:cs typeface="Arial"/>
                <a:sym typeface="Arial"/>
              </a:rPr>
              <a:t> to ensure packets reach the correct destination.</a:t>
            </a:r>
            <a:endParaRPr/>
          </a:p>
          <a:p>
            <a:pPr marL="0" marR="0" lvl="0" indent="-152400" algn="l" rtl="0">
              <a:spcBef>
                <a:spcPts val="0"/>
              </a:spcBef>
              <a:spcAft>
                <a:spcPts val="0"/>
              </a:spcAft>
              <a:buClr>
                <a:schemeClr val="dk1"/>
              </a:buClr>
              <a:buSzPts val="2400"/>
              <a:buFont typeface="Arial"/>
              <a:buChar char="•"/>
            </a:pPr>
            <a:r>
              <a:rPr lang="en-IN" sz="2400">
                <a:solidFill>
                  <a:schemeClr val="dk1"/>
                </a:solidFill>
                <a:latin typeface="Arial"/>
                <a:ea typeface="Arial"/>
                <a:cs typeface="Arial"/>
                <a:sym typeface="Arial"/>
              </a:rPr>
              <a:t>Includes mechanisms for packet fragmentation and reassembly.</a:t>
            </a:r>
            <a:endParaRPr/>
          </a:p>
          <a:p>
            <a:pPr marL="0" marR="0" lvl="0" indent="0" algn="l" rtl="0">
              <a:spcBef>
                <a:spcPts val="0"/>
              </a:spcBef>
              <a:spcAft>
                <a:spcPts val="0"/>
              </a:spcAft>
              <a:buNone/>
            </a:pPr>
            <a:r>
              <a:rPr lang="en-IN" sz="2400" b="1">
                <a:solidFill>
                  <a:schemeClr val="dk1"/>
                </a:solidFill>
                <a:latin typeface="Arial"/>
                <a:ea typeface="Arial"/>
                <a:cs typeface="Arial"/>
                <a:sym typeface="Arial"/>
              </a:rPr>
              <a:t>Key protocols:</a:t>
            </a:r>
            <a:endParaRPr sz="2400">
              <a:solidFill>
                <a:schemeClr val="dk1"/>
              </a:solidFill>
              <a:latin typeface="Arial"/>
              <a:ea typeface="Arial"/>
              <a:cs typeface="Arial"/>
              <a:sym typeface="Arial"/>
            </a:endParaRPr>
          </a:p>
          <a:p>
            <a:pPr marL="0" marR="0" lvl="0" indent="-152400" algn="l" rtl="0">
              <a:spcBef>
                <a:spcPts val="0"/>
              </a:spcBef>
              <a:spcAft>
                <a:spcPts val="0"/>
              </a:spcAft>
              <a:buClr>
                <a:schemeClr val="dk1"/>
              </a:buClr>
              <a:buSzPts val="2400"/>
              <a:buFont typeface="Arial"/>
              <a:buChar char="•"/>
            </a:pPr>
            <a:r>
              <a:rPr lang="en-IN" sz="2400" b="1">
                <a:solidFill>
                  <a:schemeClr val="dk1"/>
                </a:solidFill>
                <a:latin typeface="Arial"/>
                <a:ea typeface="Arial"/>
                <a:cs typeface="Arial"/>
                <a:sym typeface="Arial"/>
              </a:rPr>
              <a:t>IP (Internet Protocol):</a:t>
            </a:r>
            <a:r>
              <a:rPr lang="en-IN" sz="2400">
                <a:solidFill>
                  <a:schemeClr val="dk1"/>
                </a:solidFill>
                <a:latin typeface="Arial"/>
                <a:ea typeface="Arial"/>
                <a:cs typeface="Arial"/>
                <a:sym typeface="Arial"/>
              </a:rPr>
              <a:t> Defines IP addresses and handles routing.</a:t>
            </a:r>
            <a:endParaRPr/>
          </a:p>
          <a:p>
            <a:pPr marL="0" marR="0" lvl="0" indent="-152400" algn="l" rtl="0">
              <a:spcBef>
                <a:spcPts val="0"/>
              </a:spcBef>
              <a:spcAft>
                <a:spcPts val="0"/>
              </a:spcAft>
              <a:buClr>
                <a:schemeClr val="dk1"/>
              </a:buClr>
              <a:buSzPts val="2400"/>
              <a:buFont typeface="Arial"/>
              <a:buChar char="•"/>
            </a:pPr>
            <a:r>
              <a:rPr lang="en-IN" sz="2400" b="1">
                <a:solidFill>
                  <a:schemeClr val="dk1"/>
                </a:solidFill>
                <a:latin typeface="Arial"/>
                <a:ea typeface="Arial"/>
                <a:cs typeface="Arial"/>
                <a:sym typeface="Arial"/>
              </a:rPr>
              <a:t>ICMP (Internet Control Message Protocol):</a:t>
            </a:r>
            <a:r>
              <a:rPr lang="en-IN" sz="2400">
                <a:solidFill>
                  <a:schemeClr val="dk1"/>
                </a:solidFill>
                <a:latin typeface="Arial"/>
                <a:ea typeface="Arial"/>
                <a:cs typeface="Arial"/>
                <a:sym typeface="Arial"/>
              </a:rPr>
              <a:t> Used for network diagnostics (e.g., ping command).</a:t>
            </a:r>
            <a:endParaRPr/>
          </a:p>
          <a:p>
            <a:pPr marL="0" marR="0" lvl="0" indent="-152400" algn="l" rtl="0">
              <a:spcBef>
                <a:spcPts val="0"/>
              </a:spcBef>
              <a:spcAft>
                <a:spcPts val="0"/>
              </a:spcAft>
              <a:buClr>
                <a:schemeClr val="dk1"/>
              </a:buClr>
              <a:buSzPts val="2400"/>
              <a:buFont typeface="Arial"/>
              <a:buChar char="•"/>
            </a:pPr>
            <a:r>
              <a:rPr lang="en-IN" sz="2400" b="1">
                <a:solidFill>
                  <a:schemeClr val="dk1"/>
                </a:solidFill>
                <a:latin typeface="Arial"/>
                <a:ea typeface="Arial"/>
                <a:cs typeface="Arial"/>
                <a:sym typeface="Arial"/>
              </a:rPr>
              <a:t>ARP (Address Resolution Protocol):</a:t>
            </a:r>
            <a:r>
              <a:rPr lang="en-IN" sz="2400">
                <a:solidFill>
                  <a:schemeClr val="dk1"/>
                </a:solidFill>
                <a:latin typeface="Arial"/>
                <a:ea typeface="Arial"/>
                <a:cs typeface="Arial"/>
                <a:sym typeface="Arial"/>
              </a:rPr>
              <a:t> Resolves IP addresses to MAC addresses.</a:t>
            </a:r>
            <a:endParaRPr/>
          </a:p>
          <a:p>
            <a:pPr marL="0" marR="0" lvl="0" indent="-152400" algn="l" rtl="0">
              <a:spcBef>
                <a:spcPts val="0"/>
              </a:spcBef>
              <a:spcAft>
                <a:spcPts val="0"/>
              </a:spcAft>
              <a:buClr>
                <a:schemeClr val="dk1"/>
              </a:buClr>
              <a:buSzPts val="2400"/>
              <a:buFont typeface="Arial"/>
              <a:buChar char="•"/>
            </a:pPr>
            <a:r>
              <a:rPr lang="en-IN" sz="2400" b="1">
                <a:solidFill>
                  <a:schemeClr val="dk1"/>
                </a:solidFill>
                <a:latin typeface="Arial"/>
                <a:ea typeface="Arial"/>
                <a:cs typeface="Arial"/>
                <a:sym typeface="Arial"/>
              </a:rPr>
              <a:t>RARP (Reverse Address Resolution Protocol):</a:t>
            </a:r>
            <a:r>
              <a:rPr lang="en-IN" sz="2400">
                <a:solidFill>
                  <a:schemeClr val="dk1"/>
                </a:solidFill>
                <a:latin typeface="Arial"/>
                <a:ea typeface="Arial"/>
                <a:cs typeface="Arial"/>
                <a:sym typeface="Arial"/>
              </a:rPr>
              <a:t> Resolves MAC addresses to IP addresses.</a:t>
            </a:r>
            <a:endParaRPr/>
          </a:p>
        </p:txBody>
      </p:sp>
      <p:sp>
        <p:nvSpPr>
          <p:cNvPr id="142" name="Google Shape;142;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143" name="Google Shape;14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pic>
        <p:nvPicPr>
          <p:cNvPr id="144" name="Google Shape;144;p6" descr="A blue circle with text and words&#10;&#10;Description automatically generated"/>
          <p:cNvPicPr preferRelativeResize="0"/>
          <p:nvPr/>
        </p:nvPicPr>
        <p:blipFill rotWithShape="1">
          <a:blip r:embed="rId3">
            <a:alphaModFix/>
          </a:blip>
          <a:srcRect/>
          <a:stretch/>
        </p:blipFill>
        <p:spPr>
          <a:xfrm>
            <a:off x="10758566" y="149459"/>
            <a:ext cx="874732" cy="874732"/>
          </a:xfrm>
          <a:prstGeom prst="rect">
            <a:avLst/>
          </a:prstGeom>
          <a:noFill/>
          <a:ln>
            <a:noFill/>
          </a:ln>
        </p:spPr>
      </p:pic>
      <p:pic>
        <p:nvPicPr>
          <p:cNvPr id="145" name="Google Shape;145;p6"/>
          <p:cNvPicPr preferRelativeResize="0"/>
          <p:nvPr/>
        </p:nvPicPr>
        <p:blipFill rotWithShape="1">
          <a:blip r:embed="rId4">
            <a:alphaModFix/>
          </a:blip>
          <a:srcRect/>
          <a:stretch/>
        </p:blipFill>
        <p:spPr>
          <a:xfrm>
            <a:off x="242966" y="208906"/>
            <a:ext cx="2215421" cy="61247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p:nvPr/>
        </p:nvSpPr>
        <p:spPr>
          <a:xfrm>
            <a:off x="49003" y="713232"/>
            <a:ext cx="12101530" cy="2889504"/>
          </a:xfrm>
          <a:prstGeom prst="roundRect">
            <a:avLst>
              <a:gd name="adj" fmla="val 5168"/>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chemeClr val="dk1"/>
              </a:solidFill>
              <a:latin typeface="Arial"/>
              <a:ea typeface="Arial"/>
              <a:cs typeface="Arial"/>
              <a:sym typeface="Arial"/>
            </a:endParaRPr>
          </a:p>
          <a:p>
            <a:pPr marL="0" marR="0" lvl="0" indent="0" algn="l" rtl="0">
              <a:spcBef>
                <a:spcPts val="0"/>
              </a:spcBef>
              <a:spcAft>
                <a:spcPts val="0"/>
              </a:spcAft>
              <a:buNone/>
            </a:pPr>
            <a:r>
              <a:rPr lang="en-IN" sz="1800" b="1">
                <a:solidFill>
                  <a:schemeClr val="dk1"/>
                </a:solidFill>
                <a:latin typeface="Arial"/>
                <a:ea typeface="Arial"/>
                <a:cs typeface="Arial"/>
                <a:sym typeface="Arial"/>
              </a:rPr>
              <a:t>Layer 3: Transport Layer</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Ensures end-to-end communication between devices.</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Uses two major protocols:</a:t>
            </a:r>
            <a:endParaRPr/>
          </a:p>
          <a:p>
            <a:pPr marL="742950" marR="0" lvl="1" indent="-285750" algn="l" rtl="0">
              <a:spcBef>
                <a:spcPts val="0"/>
              </a:spcBef>
              <a:spcAft>
                <a:spcPts val="0"/>
              </a:spcAft>
              <a:buClr>
                <a:schemeClr val="dk1"/>
              </a:buClr>
              <a:buSzPts val="1800"/>
              <a:buFont typeface="Arial"/>
              <a:buChar char="•"/>
            </a:pPr>
            <a:r>
              <a:rPr lang="en-IN" sz="1800" b="1" i="0" u="none" strike="noStrike" cap="none">
                <a:solidFill>
                  <a:schemeClr val="dk1"/>
                </a:solidFill>
                <a:latin typeface="Arial"/>
                <a:ea typeface="Arial"/>
                <a:cs typeface="Arial"/>
                <a:sym typeface="Arial"/>
              </a:rPr>
              <a:t>TCP (Transmission Control Protocol):</a:t>
            </a:r>
            <a:r>
              <a:rPr lang="en-IN" sz="1800" b="0" i="0" u="none" strike="noStrike" cap="none">
                <a:solidFill>
                  <a:schemeClr val="dk1"/>
                </a:solidFill>
                <a:latin typeface="Arial"/>
                <a:ea typeface="Arial"/>
                <a:cs typeface="Arial"/>
                <a:sym typeface="Arial"/>
              </a:rPr>
              <a:t> Reliable, connection-oriented communication.</a:t>
            </a:r>
            <a:endParaRPr/>
          </a:p>
          <a:p>
            <a:pPr marL="742950" marR="0" lvl="1" indent="-285750" algn="l" rtl="0">
              <a:spcBef>
                <a:spcPts val="0"/>
              </a:spcBef>
              <a:spcAft>
                <a:spcPts val="0"/>
              </a:spcAft>
              <a:buClr>
                <a:schemeClr val="dk1"/>
              </a:buClr>
              <a:buSzPts val="1800"/>
              <a:buFont typeface="Arial"/>
              <a:buChar char="•"/>
            </a:pPr>
            <a:r>
              <a:rPr lang="en-IN" sz="1800" b="1" i="0" u="none" strike="noStrike" cap="none">
                <a:solidFill>
                  <a:schemeClr val="dk1"/>
                </a:solidFill>
                <a:latin typeface="Arial"/>
                <a:ea typeface="Arial"/>
                <a:cs typeface="Arial"/>
                <a:sym typeface="Arial"/>
              </a:rPr>
              <a:t>UDP (User Datagram Protocol):</a:t>
            </a:r>
            <a:r>
              <a:rPr lang="en-IN" sz="1800" b="0" i="0" u="none" strike="noStrike" cap="none">
                <a:solidFill>
                  <a:schemeClr val="dk1"/>
                </a:solidFill>
                <a:latin typeface="Arial"/>
                <a:ea typeface="Arial"/>
                <a:cs typeface="Arial"/>
                <a:sym typeface="Arial"/>
              </a:rPr>
              <a:t> Fast, connectionless communication.</a:t>
            </a:r>
            <a:endParaRPr/>
          </a:p>
          <a:p>
            <a:pPr marL="0" marR="0" lvl="0" indent="0" algn="l" rtl="0">
              <a:spcBef>
                <a:spcPts val="0"/>
              </a:spcBef>
              <a:spcAft>
                <a:spcPts val="0"/>
              </a:spcAft>
              <a:buNone/>
            </a:pPr>
            <a:r>
              <a:rPr lang="en-IN" sz="1800" b="1">
                <a:solidFill>
                  <a:schemeClr val="dk1"/>
                </a:solidFill>
                <a:latin typeface="Arial"/>
                <a:ea typeface="Arial"/>
                <a:cs typeface="Arial"/>
                <a:sym typeface="Arial"/>
              </a:rPr>
              <a:t>Key functions of the Transport Layer:</a:t>
            </a:r>
            <a:endParaRPr sz="1800">
              <a:solidFill>
                <a:schemeClr val="dk1"/>
              </a:solidFill>
              <a:latin typeface="Arial"/>
              <a:ea typeface="Arial"/>
              <a:cs typeface="Arial"/>
              <a:sym typeface="Arial"/>
            </a:endParaRPr>
          </a:p>
          <a:p>
            <a:pPr marL="0" marR="0" lvl="0" indent="-114300" algn="l" rtl="0">
              <a:spcBef>
                <a:spcPts val="0"/>
              </a:spcBef>
              <a:spcAft>
                <a:spcPts val="0"/>
              </a:spcAft>
              <a:buClr>
                <a:schemeClr val="dk1"/>
              </a:buClr>
              <a:buSzPts val="1800"/>
              <a:buFont typeface="Arial"/>
              <a:buChar char="•"/>
            </a:pPr>
            <a:r>
              <a:rPr lang="en-IN" sz="1800" b="1">
                <a:solidFill>
                  <a:schemeClr val="dk1"/>
                </a:solidFill>
                <a:latin typeface="Arial"/>
                <a:ea typeface="Arial"/>
                <a:cs typeface="Arial"/>
                <a:sym typeface="Arial"/>
              </a:rPr>
              <a:t>Segmentation and Reassembly:</a:t>
            </a:r>
            <a:r>
              <a:rPr lang="en-IN" sz="1800">
                <a:solidFill>
                  <a:schemeClr val="dk1"/>
                </a:solidFill>
                <a:latin typeface="Arial"/>
                <a:ea typeface="Arial"/>
                <a:cs typeface="Arial"/>
                <a:sym typeface="Arial"/>
              </a:rPr>
              <a:t> Breaks large data into smaller segments and reassembles them at the destination.</a:t>
            </a:r>
            <a:endParaRPr/>
          </a:p>
          <a:p>
            <a:pPr marL="0" marR="0" lvl="0" indent="-114300" algn="l" rtl="0">
              <a:spcBef>
                <a:spcPts val="0"/>
              </a:spcBef>
              <a:spcAft>
                <a:spcPts val="0"/>
              </a:spcAft>
              <a:buClr>
                <a:schemeClr val="dk1"/>
              </a:buClr>
              <a:buSzPts val="1800"/>
              <a:buFont typeface="Arial"/>
              <a:buChar char="•"/>
            </a:pPr>
            <a:r>
              <a:rPr lang="en-IN" sz="1800" b="1">
                <a:solidFill>
                  <a:schemeClr val="dk1"/>
                </a:solidFill>
                <a:latin typeface="Arial"/>
                <a:ea typeface="Arial"/>
                <a:cs typeface="Arial"/>
                <a:sym typeface="Arial"/>
              </a:rPr>
              <a:t>Flow Control:</a:t>
            </a:r>
            <a:r>
              <a:rPr lang="en-IN" sz="1800">
                <a:solidFill>
                  <a:schemeClr val="dk1"/>
                </a:solidFill>
                <a:latin typeface="Arial"/>
                <a:ea typeface="Arial"/>
                <a:cs typeface="Arial"/>
                <a:sym typeface="Arial"/>
              </a:rPr>
              <a:t> Prevents overwhelming the receiver.</a:t>
            </a:r>
            <a:endParaRPr/>
          </a:p>
          <a:p>
            <a:pPr marL="0" marR="0" lvl="0" indent="-114300" algn="l" rtl="0">
              <a:spcBef>
                <a:spcPts val="0"/>
              </a:spcBef>
              <a:spcAft>
                <a:spcPts val="0"/>
              </a:spcAft>
              <a:buClr>
                <a:schemeClr val="dk1"/>
              </a:buClr>
              <a:buSzPts val="1800"/>
              <a:buFont typeface="Arial"/>
              <a:buChar char="•"/>
            </a:pPr>
            <a:r>
              <a:rPr lang="en-IN" sz="1800" b="1">
                <a:solidFill>
                  <a:schemeClr val="dk1"/>
                </a:solidFill>
                <a:latin typeface="Arial"/>
                <a:ea typeface="Arial"/>
                <a:cs typeface="Arial"/>
                <a:sym typeface="Arial"/>
              </a:rPr>
              <a:t>Error Detection &amp; Correction:</a:t>
            </a:r>
            <a:r>
              <a:rPr lang="en-IN" sz="1800">
                <a:solidFill>
                  <a:schemeClr val="dk1"/>
                </a:solidFill>
                <a:latin typeface="Arial"/>
                <a:ea typeface="Arial"/>
                <a:cs typeface="Arial"/>
                <a:sym typeface="Arial"/>
              </a:rPr>
              <a:t> TCP ensures correct delivery through acknowledgments.</a:t>
            </a:r>
            <a:endParaRPr/>
          </a:p>
          <a:p>
            <a:pPr marL="457200" marR="0" lvl="1"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51" name="Google Shape;1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152" name="Google Shape;1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pic>
        <p:nvPicPr>
          <p:cNvPr id="153" name="Google Shape;153;p7" descr="A blue circle with text and words&#10;&#10;Description automatically generated"/>
          <p:cNvPicPr preferRelativeResize="0"/>
          <p:nvPr/>
        </p:nvPicPr>
        <p:blipFill rotWithShape="1">
          <a:blip r:embed="rId3">
            <a:alphaModFix/>
          </a:blip>
          <a:srcRect/>
          <a:stretch/>
        </p:blipFill>
        <p:spPr>
          <a:xfrm>
            <a:off x="11275801" y="47863"/>
            <a:ext cx="874732" cy="874732"/>
          </a:xfrm>
          <a:prstGeom prst="rect">
            <a:avLst/>
          </a:prstGeom>
          <a:noFill/>
          <a:ln>
            <a:noFill/>
          </a:ln>
        </p:spPr>
      </p:pic>
      <p:pic>
        <p:nvPicPr>
          <p:cNvPr id="154" name="Google Shape;154;p7"/>
          <p:cNvPicPr preferRelativeResize="0"/>
          <p:nvPr/>
        </p:nvPicPr>
        <p:blipFill rotWithShape="1">
          <a:blip r:embed="rId4">
            <a:alphaModFix/>
          </a:blip>
          <a:srcRect/>
          <a:stretch/>
        </p:blipFill>
        <p:spPr>
          <a:xfrm>
            <a:off x="49002" y="33422"/>
            <a:ext cx="2215421" cy="612478"/>
          </a:xfrm>
          <a:prstGeom prst="rect">
            <a:avLst/>
          </a:prstGeom>
          <a:noFill/>
          <a:ln>
            <a:noFill/>
          </a:ln>
        </p:spPr>
      </p:pic>
      <p:graphicFrame>
        <p:nvGraphicFramePr>
          <p:cNvPr id="155" name="Google Shape;155;p7"/>
          <p:cNvGraphicFramePr/>
          <p:nvPr/>
        </p:nvGraphicFramePr>
        <p:xfrm>
          <a:off x="49002" y="3602736"/>
          <a:ext cx="11631150" cy="2407970"/>
        </p:xfrm>
        <a:graphic>
          <a:graphicData uri="http://schemas.openxmlformats.org/drawingml/2006/table">
            <a:tbl>
              <a:tblPr>
                <a:noFill/>
                <a:tableStyleId>{396881DD-656B-4B6F-9048-B88C7D878465}</a:tableStyleId>
              </a:tblPr>
              <a:tblGrid>
                <a:gridCol w="3877050">
                  <a:extLst>
                    <a:ext uri="{9D8B030D-6E8A-4147-A177-3AD203B41FA5}">
                      <a16:colId xmlns:a16="http://schemas.microsoft.com/office/drawing/2014/main" val="20000"/>
                    </a:ext>
                  </a:extLst>
                </a:gridCol>
                <a:gridCol w="3877050">
                  <a:extLst>
                    <a:ext uri="{9D8B030D-6E8A-4147-A177-3AD203B41FA5}">
                      <a16:colId xmlns:a16="http://schemas.microsoft.com/office/drawing/2014/main" val="20001"/>
                    </a:ext>
                  </a:extLst>
                </a:gridCol>
                <a:gridCol w="3877050">
                  <a:extLst>
                    <a:ext uri="{9D8B030D-6E8A-4147-A177-3AD203B41FA5}">
                      <a16:colId xmlns:a16="http://schemas.microsoft.com/office/drawing/2014/main" val="20002"/>
                    </a:ext>
                  </a:extLst>
                </a:gridCol>
              </a:tblGrid>
              <a:tr h="203200">
                <a:tc>
                  <a:txBody>
                    <a:bodyPr/>
                    <a:lstStyle/>
                    <a:p>
                      <a:pPr marL="0" marR="0" lvl="0" indent="0" algn="ctr" rtl="0">
                        <a:spcBef>
                          <a:spcPts val="0"/>
                        </a:spcBef>
                        <a:spcAft>
                          <a:spcPts val="0"/>
                        </a:spcAft>
                        <a:buNone/>
                      </a:pPr>
                      <a:r>
                        <a:rPr lang="en-IN" sz="1600" b="1"/>
                        <a:t>Feature</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b="1"/>
                        <a:t>TCP (Transmission Control Protocol)</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b="1"/>
                        <a:t>UDP (User Datagram Protocol)</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03200">
                <a:tc>
                  <a:txBody>
                    <a:bodyPr/>
                    <a:lstStyle/>
                    <a:p>
                      <a:pPr marL="0" marR="0" lvl="0" indent="0" algn="ctr" rtl="0">
                        <a:spcBef>
                          <a:spcPts val="0"/>
                        </a:spcBef>
                        <a:spcAft>
                          <a:spcPts val="0"/>
                        </a:spcAft>
                        <a:buNone/>
                      </a:pPr>
                      <a:r>
                        <a:rPr lang="en-IN" sz="1600" b="1"/>
                        <a:t>Reliability</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Ensures delivery, retransmits lost packets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No retransmission, best effort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03200">
                <a:tc>
                  <a:txBody>
                    <a:bodyPr/>
                    <a:lstStyle/>
                    <a:p>
                      <a:pPr marL="0" marR="0" lvl="0" indent="0" algn="ctr" rtl="0">
                        <a:spcBef>
                          <a:spcPts val="0"/>
                        </a:spcBef>
                        <a:spcAft>
                          <a:spcPts val="0"/>
                        </a:spcAft>
                        <a:buNone/>
                      </a:pPr>
                      <a:r>
                        <a:rPr lang="en-IN" sz="1600" b="1"/>
                        <a:t>Connection Type</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Connection-oriented (requires a handshake)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Connectionless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03200">
                <a:tc>
                  <a:txBody>
                    <a:bodyPr/>
                    <a:lstStyle/>
                    <a:p>
                      <a:pPr marL="0" marR="0" lvl="0" indent="0" algn="ctr" rtl="0">
                        <a:spcBef>
                          <a:spcPts val="0"/>
                        </a:spcBef>
                        <a:spcAft>
                          <a:spcPts val="0"/>
                        </a:spcAft>
                        <a:buNone/>
                      </a:pPr>
                      <a:r>
                        <a:rPr lang="en-IN" sz="1600" b="1"/>
                        <a:t>Speed</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Slower due to error checking and acknowledgment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Faster, no error checking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03200">
                <a:tc>
                  <a:txBody>
                    <a:bodyPr/>
                    <a:lstStyle/>
                    <a:p>
                      <a:pPr marL="0" marR="0" lvl="0" indent="0" algn="ctr" rtl="0">
                        <a:spcBef>
                          <a:spcPts val="0"/>
                        </a:spcBef>
                        <a:spcAft>
                          <a:spcPts val="0"/>
                        </a:spcAft>
                        <a:buNone/>
                      </a:pPr>
                      <a:r>
                        <a:rPr lang="en-IN" sz="1600" b="1"/>
                        <a:t>Use Case</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Web browsing, file transfer, emails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VoIP, live streaming, online gaming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8"/>
          <p:cNvSpPr/>
          <p:nvPr/>
        </p:nvSpPr>
        <p:spPr>
          <a:xfrm>
            <a:off x="49003" y="984229"/>
            <a:ext cx="12101530" cy="2097300"/>
          </a:xfrm>
          <a:prstGeom prst="roundRect">
            <a:avLst>
              <a:gd name="adj" fmla="val 16667"/>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1800" b="1">
                <a:solidFill>
                  <a:schemeClr val="dk1"/>
                </a:solidFill>
                <a:latin typeface="Arial"/>
                <a:ea typeface="Arial"/>
                <a:cs typeface="Arial"/>
                <a:sym typeface="Arial"/>
              </a:rPr>
              <a:t>Layer 4: Application Layer</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Provides network services directly to users.</a:t>
            </a:r>
            <a:endParaRPr/>
          </a:p>
          <a:p>
            <a:pPr marL="0" marR="0" lvl="0" indent="-114300" algn="l" rtl="0">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Includes protocols for web browsing, email, file transfers, etc.</a:t>
            </a:r>
            <a:endParaRPr/>
          </a:p>
        </p:txBody>
      </p:sp>
      <p:sp>
        <p:nvSpPr>
          <p:cNvPr id="161" name="Google Shape;16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162" name="Google Shape;16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pic>
        <p:nvPicPr>
          <p:cNvPr id="163" name="Google Shape;163;p8" descr="A blue circle with text and words&#10;&#10;Description automatically generated"/>
          <p:cNvPicPr preferRelativeResize="0"/>
          <p:nvPr/>
        </p:nvPicPr>
        <p:blipFill rotWithShape="1">
          <a:blip r:embed="rId3">
            <a:alphaModFix/>
          </a:blip>
          <a:srcRect/>
          <a:stretch/>
        </p:blipFill>
        <p:spPr>
          <a:xfrm>
            <a:off x="11275801" y="47863"/>
            <a:ext cx="874732" cy="874732"/>
          </a:xfrm>
          <a:prstGeom prst="rect">
            <a:avLst/>
          </a:prstGeom>
          <a:noFill/>
          <a:ln>
            <a:noFill/>
          </a:ln>
        </p:spPr>
      </p:pic>
      <p:pic>
        <p:nvPicPr>
          <p:cNvPr id="164" name="Google Shape;164;p8"/>
          <p:cNvPicPr preferRelativeResize="0"/>
          <p:nvPr/>
        </p:nvPicPr>
        <p:blipFill rotWithShape="1">
          <a:blip r:embed="rId4">
            <a:alphaModFix/>
          </a:blip>
          <a:srcRect/>
          <a:stretch/>
        </p:blipFill>
        <p:spPr>
          <a:xfrm>
            <a:off x="49002" y="33422"/>
            <a:ext cx="2215421" cy="612478"/>
          </a:xfrm>
          <a:prstGeom prst="rect">
            <a:avLst/>
          </a:prstGeom>
          <a:noFill/>
          <a:ln>
            <a:noFill/>
          </a:ln>
        </p:spPr>
      </p:pic>
      <p:graphicFrame>
        <p:nvGraphicFramePr>
          <p:cNvPr id="165" name="Google Shape;165;p8"/>
          <p:cNvGraphicFramePr/>
          <p:nvPr/>
        </p:nvGraphicFramePr>
        <p:xfrm>
          <a:off x="428337" y="3237023"/>
          <a:ext cx="11335350" cy="2976475"/>
        </p:xfrm>
        <a:graphic>
          <a:graphicData uri="http://schemas.openxmlformats.org/drawingml/2006/table">
            <a:tbl>
              <a:tblPr>
                <a:noFill/>
                <a:tableStyleId>{396881DD-656B-4B6F-9048-B88C7D878465}</a:tableStyleId>
              </a:tblPr>
              <a:tblGrid>
                <a:gridCol w="3778450">
                  <a:extLst>
                    <a:ext uri="{9D8B030D-6E8A-4147-A177-3AD203B41FA5}">
                      <a16:colId xmlns:a16="http://schemas.microsoft.com/office/drawing/2014/main" val="20000"/>
                    </a:ext>
                  </a:extLst>
                </a:gridCol>
                <a:gridCol w="3778450">
                  <a:extLst>
                    <a:ext uri="{9D8B030D-6E8A-4147-A177-3AD203B41FA5}">
                      <a16:colId xmlns:a16="http://schemas.microsoft.com/office/drawing/2014/main" val="20001"/>
                    </a:ext>
                  </a:extLst>
                </a:gridCol>
                <a:gridCol w="3778450">
                  <a:extLst>
                    <a:ext uri="{9D8B030D-6E8A-4147-A177-3AD203B41FA5}">
                      <a16:colId xmlns:a16="http://schemas.microsoft.com/office/drawing/2014/main" val="20002"/>
                    </a:ext>
                  </a:extLst>
                </a:gridCol>
              </a:tblGrid>
              <a:tr h="457925">
                <a:tc>
                  <a:txBody>
                    <a:bodyPr/>
                    <a:lstStyle/>
                    <a:p>
                      <a:pPr marL="0" marR="0" lvl="0" indent="0" algn="ctr" rtl="0">
                        <a:spcBef>
                          <a:spcPts val="0"/>
                        </a:spcBef>
                        <a:spcAft>
                          <a:spcPts val="0"/>
                        </a:spcAft>
                        <a:buNone/>
                      </a:pPr>
                      <a:r>
                        <a:rPr lang="en-IN" sz="1600" b="1"/>
                        <a:t>Protocol</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b="1"/>
                        <a:t>Purpose</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b="1"/>
                        <a:t>Protocol</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801350">
                <a:tc>
                  <a:txBody>
                    <a:bodyPr/>
                    <a:lstStyle/>
                    <a:p>
                      <a:pPr marL="0" marR="0" lvl="0" indent="0" algn="ctr" rtl="0">
                        <a:spcBef>
                          <a:spcPts val="0"/>
                        </a:spcBef>
                        <a:spcAft>
                          <a:spcPts val="0"/>
                        </a:spcAft>
                        <a:buNone/>
                      </a:pPr>
                      <a:r>
                        <a:rPr lang="en-IN" sz="1600" b="1"/>
                        <a:t>HTTP/HTTPS (Hypertext Transfer Protocol)</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Web browsing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b="1"/>
                        <a:t>HTTP/HTTPS (Hypertext Transfer Protocol)</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7925">
                <a:tc>
                  <a:txBody>
                    <a:bodyPr/>
                    <a:lstStyle/>
                    <a:p>
                      <a:pPr marL="0" marR="0" lvl="0" indent="0" algn="ctr" rtl="0">
                        <a:spcBef>
                          <a:spcPts val="0"/>
                        </a:spcBef>
                        <a:spcAft>
                          <a:spcPts val="0"/>
                        </a:spcAft>
                        <a:buNone/>
                      </a:pPr>
                      <a:r>
                        <a:rPr lang="en-IN" sz="1600" b="1"/>
                        <a:t>FTP (File Transfer Protocol)</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File transfer</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b="1"/>
                        <a:t>FTP (File Transfer Protocol)</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801350">
                <a:tc>
                  <a:txBody>
                    <a:bodyPr/>
                    <a:lstStyle/>
                    <a:p>
                      <a:pPr marL="0" marR="0" lvl="0" indent="0" algn="ctr" rtl="0">
                        <a:spcBef>
                          <a:spcPts val="0"/>
                        </a:spcBef>
                        <a:spcAft>
                          <a:spcPts val="0"/>
                        </a:spcAft>
                        <a:buNone/>
                      </a:pPr>
                      <a:r>
                        <a:rPr lang="en-IN" sz="1600" b="1"/>
                        <a:t>SMTP (Simple Mail Transfer Protocol)</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Sending emails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b="1"/>
                        <a:t>SMTP (Simple Mail Transfer Protocol)</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7925">
                <a:tc>
                  <a:txBody>
                    <a:bodyPr/>
                    <a:lstStyle/>
                    <a:p>
                      <a:pPr marL="0" marR="0" lvl="0" indent="0" algn="ctr" rtl="0">
                        <a:spcBef>
                          <a:spcPts val="0"/>
                        </a:spcBef>
                        <a:spcAft>
                          <a:spcPts val="0"/>
                        </a:spcAft>
                        <a:buNone/>
                      </a:pPr>
                      <a:r>
                        <a:rPr lang="en-IN" sz="1600" b="1"/>
                        <a:t>POP3/IMAP</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a:t>Retrieving emails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600" b="1"/>
                        <a:t>POP3/IMAP</a:t>
                      </a:r>
                      <a:endParaRPr sz="16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9"/>
          <p:cNvSpPr/>
          <p:nvPr/>
        </p:nvSpPr>
        <p:spPr>
          <a:xfrm>
            <a:off x="138545" y="794328"/>
            <a:ext cx="11933382" cy="5562022"/>
          </a:xfrm>
          <a:prstGeom prst="roundRect">
            <a:avLst>
              <a:gd name="adj" fmla="val 3351"/>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2000" b="1">
                <a:solidFill>
                  <a:schemeClr val="dk1"/>
                </a:solidFill>
                <a:latin typeface="Arial"/>
                <a:ea typeface="Arial"/>
                <a:cs typeface="Arial"/>
                <a:sym typeface="Arial"/>
              </a:rPr>
              <a:t>Working of TCP/IP Model</a:t>
            </a:r>
            <a:endParaRPr/>
          </a:p>
          <a:p>
            <a:pPr marL="0" marR="0" lvl="0" indent="0" algn="l" rtl="0">
              <a:spcBef>
                <a:spcPts val="0"/>
              </a:spcBef>
              <a:spcAft>
                <a:spcPts val="0"/>
              </a:spcAft>
              <a:buNone/>
            </a:pPr>
            <a:r>
              <a:rPr lang="en-IN" sz="2000" b="1">
                <a:solidFill>
                  <a:schemeClr val="dk1"/>
                </a:solidFill>
                <a:latin typeface="Arial"/>
                <a:ea typeface="Arial"/>
                <a:cs typeface="Arial"/>
                <a:sym typeface="Arial"/>
              </a:rPr>
              <a:t>Step-by-step Data Transmission Process</a:t>
            </a:r>
            <a:endParaRPr/>
          </a:p>
          <a:p>
            <a:pPr marL="0" marR="0" lvl="0" indent="-127000" algn="l" rtl="0">
              <a:spcBef>
                <a:spcPts val="0"/>
              </a:spcBef>
              <a:spcAft>
                <a:spcPts val="0"/>
              </a:spcAft>
              <a:buClr>
                <a:schemeClr val="dk1"/>
              </a:buClr>
              <a:buSzPts val="2000"/>
              <a:buFont typeface="Play"/>
              <a:buAutoNum type="arabicPeriod"/>
            </a:pPr>
            <a:r>
              <a:rPr lang="en-IN" sz="2000" b="1">
                <a:solidFill>
                  <a:schemeClr val="dk1"/>
                </a:solidFill>
                <a:latin typeface="Arial"/>
                <a:ea typeface="Arial"/>
                <a:cs typeface="Arial"/>
                <a:sym typeface="Arial"/>
              </a:rPr>
              <a:t>Application Layer:</a:t>
            </a:r>
            <a:r>
              <a:rPr lang="en-IN" sz="2000">
                <a:solidFill>
                  <a:schemeClr val="dk1"/>
                </a:solidFill>
                <a:latin typeface="Arial"/>
                <a:ea typeface="Arial"/>
                <a:cs typeface="Arial"/>
                <a:sym typeface="Arial"/>
              </a:rPr>
              <a:t> The user sends data using an application (e.g., a web browser).</a:t>
            </a:r>
            <a:endParaRPr/>
          </a:p>
          <a:p>
            <a:pPr marL="0" marR="0" lvl="0" indent="-127000" algn="l" rtl="0">
              <a:spcBef>
                <a:spcPts val="0"/>
              </a:spcBef>
              <a:spcAft>
                <a:spcPts val="0"/>
              </a:spcAft>
              <a:buClr>
                <a:schemeClr val="dk1"/>
              </a:buClr>
              <a:buSzPts val="2000"/>
              <a:buFont typeface="Play"/>
              <a:buAutoNum type="arabicPeriod"/>
            </a:pPr>
            <a:r>
              <a:rPr lang="en-IN" sz="2000" b="1">
                <a:solidFill>
                  <a:schemeClr val="dk1"/>
                </a:solidFill>
                <a:latin typeface="Arial"/>
                <a:ea typeface="Arial"/>
                <a:cs typeface="Arial"/>
                <a:sym typeface="Arial"/>
              </a:rPr>
              <a:t>Transport Layer:</a:t>
            </a:r>
            <a:r>
              <a:rPr lang="en-IN" sz="2000">
                <a:solidFill>
                  <a:schemeClr val="dk1"/>
                </a:solidFill>
                <a:latin typeface="Arial"/>
                <a:ea typeface="Arial"/>
                <a:cs typeface="Arial"/>
                <a:sym typeface="Arial"/>
              </a:rPr>
              <a:t> TCP divides the data into segments and adds sequence numbers for reliability.</a:t>
            </a:r>
            <a:endParaRPr/>
          </a:p>
          <a:p>
            <a:pPr marL="0" marR="0" lvl="0" indent="-127000" algn="l" rtl="0">
              <a:spcBef>
                <a:spcPts val="0"/>
              </a:spcBef>
              <a:spcAft>
                <a:spcPts val="0"/>
              </a:spcAft>
              <a:buClr>
                <a:schemeClr val="dk1"/>
              </a:buClr>
              <a:buSzPts val="2000"/>
              <a:buFont typeface="Play"/>
              <a:buAutoNum type="arabicPeriod"/>
            </a:pPr>
            <a:r>
              <a:rPr lang="en-IN" sz="2000" b="1">
                <a:solidFill>
                  <a:schemeClr val="dk1"/>
                </a:solidFill>
                <a:latin typeface="Arial"/>
                <a:ea typeface="Arial"/>
                <a:cs typeface="Arial"/>
                <a:sym typeface="Arial"/>
              </a:rPr>
              <a:t>Internet Layer:</a:t>
            </a:r>
            <a:r>
              <a:rPr lang="en-IN" sz="2000">
                <a:solidFill>
                  <a:schemeClr val="dk1"/>
                </a:solidFill>
                <a:latin typeface="Arial"/>
                <a:ea typeface="Arial"/>
                <a:cs typeface="Arial"/>
                <a:sym typeface="Arial"/>
              </a:rPr>
              <a:t> IP assigns the source and destination IP addresses and routes the packets.</a:t>
            </a:r>
            <a:endParaRPr/>
          </a:p>
          <a:p>
            <a:pPr marL="0" marR="0" lvl="0" indent="-127000" algn="l" rtl="0">
              <a:spcBef>
                <a:spcPts val="0"/>
              </a:spcBef>
              <a:spcAft>
                <a:spcPts val="0"/>
              </a:spcAft>
              <a:buClr>
                <a:schemeClr val="dk1"/>
              </a:buClr>
              <a:buSzPts val="2000"/>
              <a:buFont typeface="Play"/>
              <a:buAutoNum type="arabicPeriod"/>
            </a:pPr>
            <a:r>
              <a:rPr lang="en-IN" sz="2000" b="1">
                <a:solidFill>
                  <a:schemeClr val="dk1"/>
                </a:solidFill>
                <a:latin typeface="Arial"/>
                <a:ea typeface="Arial"/>
                <a:cs typeface="Arial"/>
                <a:sym typeface="Arial"/>
              </a:rPr>
              <a:t>Network Access Layer:</a:t>
            </a:r>
            <a:r>
              <a:rPr lang="en-IN" sz="2000">
                <a:solidFill>
                  <a:schemeClr val="dk1"/>
                </a:solidFill>
                <a:latin typeface="Arial"/>
                <a:ea typeface="Arial"/>
                <a:cs typeface="Arial"/>
                <a:sym typeface="Arial"/>
              </a:rPr>
              <a:t> Converts packets into frames and transmits them over the physical medium.</a:t>
            </a:r>
            <a:endParaRPr/>
          </a:p>
          <a:p>
            <a:pPr marL="0" marR="0" lvl="0" indent="-127000" algn="l" rtl="0">
              <a:spcBef>
                <a:spcPts val="0"/>
              </a:spcBef>
              <a:spcAft>
                <a:spcPts val="0"/>
              </a:spcAft>
              <a:buClr>
                <a:schemeClr val="dk1"/>
              </a:buClr>
              <a:buSzPts val="2000"/>
              <a:buFont typeface="Play"/>
              <a:buAutoNum type="arabicPeriod"/>
            </a:pPr>
            <a:r>
              <a:rPr lang="en-IN" sz="2000" b="1">
                <a:solidFill>
                  <a:schemeClr val="dk1"/>
                </a:solidFill>
                <a:latin typeface="Arial"/>
                <a:ea typeface="Arial"/>
                <a:cs typeface="Arial"/>
                <a:sym typeface="Arial"/>
              </a:rPr>
              <a:t>At the Receiver’s End:</a:t>
            </a:r>
            <a:r>
              <a:rPr lang="en-IN" sz="2000">
                <a:solidFill>
                  <a:schemeClr val="dk1"/>
                </a:solidFill>
                <a:latin typeface="Arial"/>
                <a:ea typeface="Arial"/>
                <a:cs typeface="Arial"/>
                <a:sym typeface="Arial"/>
              </a:rPr>
              <a:t> The process is reversed to reconstruct the original message.</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n-IN" sz="2000" b="1">
                <a:solidFill>
                  <a:schemeClr val="dk1"/>
                </a:solidFill>
                <a:latin typeface="Arial"/>
                <a:ea typeface="Arial"/>
                <a:cs typeface="Arial"/>
                <a:sym typeface="Arial"/>
              </a:rPr>
              <a:t>Example: Sending a Web Request</a:t>
            </a:r>
            <a:endParaRPr/>
          </a:p>
          <a:p>
            <a:pPr marL="0" marR="0" lvl="0" indent="-127000" algn="l" rtl="0">
              <a:spcBef>
                <a:spcPts val="0"/>
              </a:spcBef>
              <a:spcAft>
                <a:spcPts val="0"/>
              </a:spcAft>
              <a:buClr>
                <a:schemeClr val="dk1"/>
              </a:buClr>
              <a:buSzPts val="2000"/>
              <a:buFont typeface="Play"/>
              <a:buAutoNum type="arabicPeriod"/>
            </a:pPr>
            <a:r>
              <a:rPr lang="en-IN" sz="2000">
                <a:solidFill>
                  <a:schemeClr val="dk1"/>
                </a:solidFill>
                <a:latin typeface="Arial"/>
                <a:ea typeface="Arial"/>
                <a:cs typeface="Arial"/>
                <a:sym typeface="Arial"/>
              </a:rPr>
              <a:t>A user enters "</a:t>
            </a:r>
            <a:r>
              <a:rPr lang="en-IN" sz="20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www.example.com</a:t>
            </a:r>
            <a:r>
              <a:rPr lang="en-IN" sz="2000">
                <a:solidFill>
                  <a:schemeClr val="dk1"/>
                </a:solidFill>
                <a:latin typeface="Arial"/>
                <a:ea typeface="Arial"/>
                <a:cs typeface="Arial"/>
                <a:sym typeface="Arial"/>
              </a:rPr>
              <a:t>" in a browser.</a:t>
            </a:r>
            <a:endParaRPr/>
          </a:p>
          <a:p>
            <a:pPr marL="0" marR="0" lvl="0" indent="-127000" algn="l" rtl="0">
              <a:spcBef>
                <a:spcPts val="0"/>
              </a:spcBef>
              <a:spcAft>
                <a:spcPts val="0"/>
              </a:spcAft>
              <a:buClr>
                <a:schemeClr val="dk1"/>
              </a:buClr>
              <a:buSzPts val="2000"/>
              <a:buFont typeface="Play"/>
              <a:buAutoNum type="arabicPeriod"/>
            </a:pPr>
            <a:r>
              <a:rPr lang="en-IN" sz="2000">
                <a:solidFill>
                  <a:schemeClr val="dk1"/>
                </a:solidFill>
                <a:latin typeface="Arial"/>
                <a:ea typeface="Arial"/>
                <a:cs typeface="Arial"/>
                <a:sym typeface="Arial"/>
              </a:rPr>
              <a:t>DNS resolves the domain to an IP address.</a:t>
            </a:r>
            <a:endParaRPr/>
          </a:p>
          <a:p>
            <a:pPr marL="0" marR="0" lvl="0" indent="-127000" algn="l" rtl="0">
              <a:spcBef>
                <a:spcPts val="0"/>
              </a:spcBef>
              <a:spcAft>
                <a:spcPts val="0"/>
              </a:spcAft>
              <a:buClr>
                <a:schemeClr val="dk1"/>
              </a:buClr>
              <a:buSzPts val="2000"/>
              <a:buFont typeface="Play"/>
              <a:buAutoNum type="arabicPeriod"/>
            </a:pPr>
            <a:r>
              <a:rPr lang="en-IN" sz="2000">
                <a:solidFill>
                  <a:schemeClr val="dk1"/>
                </a:solidFill>
                <a:latin typeface="Arial"/>
                <a:ea typeface="Arial"/>
                <a:cs typeface="Arial"/>
                <a:sym typeface="Arial"/>
              </a:rPr>
              <a:t>HTTP sends the request.</a:t>
            </a:r>
            <a:endParaRPr/>
          </a:p>
          <a:p>
            <a:pPr marL="0" marR="0" lvl="0" indent="-127000" algn="l" rtl="0">
              <a:spcBef>
                <a:spcPts val="0"/>
              </a:spcBef>
              <a:spcAft>
                <a:spcPts val="0"/>
              </a:spcAft>
              <a:buClr>
                <a:schemeClr val="dk1"/>
              </a:buClr>
              <a:buSzPts val="2000"/>
              <a:buFont typeface="Play"/>
              <a:buAutoNum type="arabicPeriod"/>
            </a:pPr>
            <a:r>
              <a:rPr lang="en-IN" sz="2000">
                <a:solidFill>
                  <a:schemeClr val="dk1"/>
                </a:solidFill>
                <a:latin typeface="Arial"/>
                <a:ea typeface="Arial"/>
                <a:cs typeface="Arial"/>
                <a:sym typeface="Arial"/>
              </a:rPr>
              <a:t>TCP breaks the request into segments.</a:t>
            </a:r>
            <a:endParaRPr sz="2000">
              <a:solidFill>
                <a:schemeClr val="dk1"/>
              </a:solidFill>
              <a:latin typeface="Arial"/>
              <a:ea typeface="Arial"/>
              <a:cs typeface="Arial"/>
              <a:sym typeface="Arial"/>
            </a:endParaRPr>
          </a:p>
        </p:txBody>
      </p:sp>
      <p:sp>
        <p:nvSpPr>
          <p:cNvPr id="171" name="Google Shape;17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172" name="Google Shape;172;p9"/>
          <p:cNvSpPr txBox="1">
            <a:spLocks noGrp="1"/>
          </p:cNvSpPr>
          <p:nvPr>
            <p:ph type="sldNum" idx="12"/>
          </p:nvPr>
        </p:nvSpPr>
        <p:spPr>
          <a:xfrm>
            <a:off x="856613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pic>
        <p:nvPicPr>
          <p:cNvPr id="173" name="Google Shape;173;p9" descr="A blue circle with text and words&#10;&#10;Description automatically generated"/>
          <p:cNvPicPr preferRelativeResize="0"/>
          <p:nvPr/>
        </p:nvPicPr>
        <p:blipFill rotWithShape="1">
          <a:blip r:embed="rId4">
            <a:alphaModFix/>
          </a:blip>
          <a:srcRect/>
          <a:stretch/>
        </p:blipFill>
        <p:spPr>
          <a:xfrm>
            <a:off x="11275806" y="57096"/>
            <a:ext cx="874732" cy="874732"/>
          </a:xfrm>
          <a:prstGeom prst="rect">
            <a:avLst/>
          </a:prstGeom>
          <a:noFill/>
          <a:ln>
            <a:noFill/>
          </a:ln>
        </p:spPr>
      </p:pic>
      <p:pic>
        <p:nvPicPr>
          <p:cNvPr id="174" name="Google Shape;174;p9"/>
          <p:cNvPicPr preferRelativeResize="0"/>
          <p:nvPr/>
        </p:nvPicPr>
        <p:blipFill rotWithShape="1">
          <a:blip r:embed="rId5">
            <a:alphaModFix/>
          </a:blip>
          <a:srcRect/>
          <a:stretch/>
        </p:blipFill>
        <p:spPr>
          <a:xfrm>
            <a:off x="49008" y="51891"/>
            <a:ext cx="2215421" cy="61247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180" name="Google Shape;18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pic>
        <p:nvPicPr>
          <p:cNvPr id="181" name="Google Shape;181;p10" descr="A blue circle with text and words&#10;&#10;Description automatically generated"/>
          <p:cNvPicPr preferRelativeResize="0"/>
          <p:nvPr/>
        </p:nvPicPr>
        <p:blipFill rotWithShape="1">
          <a:blip r:embed="rId3">
            <a:alphaModFix/>
          </a:blip>
          <a:srcRect/>
          <a:stretch/>
        </p:blipFill>
        <p:spPr>
          <a:xfrm>
            <a:off x="11275806" y="57096"/>
            <a:ext cx="874732" cy="874732"/>
          </a:xfrm>
          <a:prstGeom prst="rect">
            <a:avLst/>
          </a:prstGeom>
          <a:noFill/>
          <a:ln>
            <a:noFill/>
          </a:ln>
        </p:spPr>
      </p:pic>
      <p:pic>
        <p:nvPicPr>
          <p:cNvPr id="182" name="Google Shape;182;p10"/>
          <p:cNvPicPr preferRelativeResize="0"/>
          <p:nvPr/>
        </p:nvPicPr>
        <p:blipFill rotWithShape="1">
          <a:blip r:embed="rId4">
            <a:alphaModFix/>
          </a:blip>
          <a:srcRect/>
          <a:stretch/>
        </p:blipFill>
        <p:spPr>
          <a:xfrm>
            <a:off x="49008" y="51891"/>
            <a:ext cx="2215421" cy="612478"/>
          </a:xfrm>
          <a:prstGeom prst="rect">
            <a:avLst/>
          </a:prstGeom>
          <a:noFill/>
          <a:ln>
            <a:noFill/>
          </a:ln>
        </p:spPr>
      </p:pic>
      <p:sp>
        <p:nvSpPr>
          <p:cNvPr id="183" name="Google Shape;183;p10"/>
          <p:cNvSpPr txBox="1"/>
          <p:nvPr/>
        </p:nvSpPr>
        <p:spPr>
          <a:xfrm>
            <a:off x="3048000" y="700995"/>
            <a:ext cx="6096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1">
                <a:solidFill>
                  <a:schemeClr val="dk1"/>
                </a:solidFill>
                <a:latin typeface="Arial"/>
                <a:ea typeface="Arial"/>
                <a:cs typeface="Arial"/>
                <a:sym typeface="Arial"/>
              </a:rPr>
              <a:t>Comparison of TCP/IP vs OSI Model</a:t>
            </a:r>
            <a:endParaRPr sz="2400" b="1">
              <a:solidFill>
                <a:schemeClr val="dk1"/>
              </a:solidFill>
              <a:latin typeface="Arial"/>
              <a:ea typeface="Arial"/>
              <a:cs typeface="Arial"/>
              <a:sym typeface="Arial"/>
            </a:endParaRPr>
          </a:p>
        </p:txBody>
      </p:sp>
      <p:graphicFrame>
        <p:nvGraphicFramePr>
          <p:cNvPr id="184" name="Google Shape;184;p10"/>
          <p:cNvGraphicFramePr/>
          <p:nvPr/>
        </p:nvGraphicFramePr>
        <p:xfrm>
          <a:off x="304800" y="1676716"/>
          <a:ext cx="11730150" cy="3994425"/>
        </p:xfrm>
        <a:graphic>
          <a:graphicData uri="http://schemas.openxmlformats.org/drawingml/2006/table">
            <a:tbl>
              <a:tblPr>
                <a:noFill/>
                <a:tableStyleId>{396881DD-656B-4B6F-9048-B88C7D878465}</a:tableStyleId>
              </a:tblPr>
              <a:tblGrid>
                <a:gridCol w="3910050">
                  <a:extLst>
                    <a:ext uri="{9D8B030D-6E8A-4147-A177-3AD203B41FA5}">
                      <a16:colId xmlns:a16="http://schemas.microsoft.com/office/drawing/2014/main" val="20000"/>
                    </a:ext>
                  </a:extLst>
                </a:gridCol>
                <a:gridCol w="3910050">
                  <a:extLst>
                    <a:ext uri="{9D8B030D-6E8A-4147-A177-3AD203B41FA5}">
                      <a16:colId xmlns:a16="http://schemas.microsoft.com/office/drawing/2014/main" val="20001"/>
                    </a:ext>
                  </a:extLst>
                </a:gridCol>
                <a:gridCol w="3910050">
                  <a:extLst>
                    <a:ext uri="{9D8B030D-6E8A-4147-A177-3AD203B41FA5}">
                      <a16:colId xmlns:a16="http://schemas.microsoft.com/office/drawing/2014/main" val="20002"/>
                    </a:ext>
                  </a:extLst>
                </a:gridCol>
              </a:tblGrid>
              <a:tr h="550950">
                <a:tc>
                  <a:txBody>
                    <a:bodyPr/>
                    <a:lstStyle/>
                    <a:p>
                      <a:pPr marL="0" marR="0" lvl="0" indent="0" algn="ctr" rtl="0">
                        <a:spcBef>
                          <a:spcPts val="0"/>
                        </a:spcBef>
                        <a:spcAft>
                          <a:spcPts val="0"/>
                        </a:spcAft>
                        <a:buNone/>
                      </a:pPr>
                      <a:r>
                        <a:rPr lang="en-IN" sz="1800" b="1"/>
                        <a:t>Feature</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a:t>TCP/IP Model</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a:t>OSI Model</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50950">
                <a:tc>
                  <a:txBody>
                    <a:bodyPr/>
                    <a:lstStyle/>
                    <a:p>
                      <a:pPr marL="0" marR="0" lvl="0" indent="0" algn="ctr" rtl="0">
                        <a:spcBef>
                          <a:spcPts val="0"/>
                        </a:spcBef>
                        <a:spcAft>
                          <a:spcPts val="0"/>
                        </a:spcAft>
                        <a:buNone/>
                      </a:pPr>
                      <a:r>
                        <a:rPr lang="en-IN" sz="1800" b="1"/>
                        <a:t>Number of Layers</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a:t>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a:t>7</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964175">
                <a:tc>
                  <a:txBody>
                    <a:bodyPr/>
                    <a:lstStyle/>
                    <a:p>
                      <a:pPr marL="0" marR="0" lvl="0" indent="0" algn="ctr" rtl="0">
                        <a:spcBef>
                          <a:spcPts val="0"/>
                        </a:spcBef>
                        <a:spcAft>
                          <a:spcPts val="0"/>
                        </a:spcAft>
                        <a:buNone/>
                      </a:pPr>
                      <a:r>
                        <a:rPr lang="en-IN" sz="1800" b="1"/>
                        <a:t>Developed By</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a:t>DoD (Department of Defense)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a:t>ISO (International Organization for Standardization)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964175">
                <a:tc>
                  <a:txBody>
                    <a:bodyPr/>
                    <a:lstStyle/>
                    <a:p>
                      <a:pPr marL="0" marR="0" lvl="0" indent="0" algn="ctr" rtl="0">
                        <a:spcBef>
                          <a:spcPts val="0"/>
                        </a:spcBef>
                        <a:spcAft>
                          <a:spcPts val="0"/>
                        </a:spcAft>
                        <a:buNone/>
                      </a:pPr>
                      <a:r>
                        <a:rPr lang="en-IN" sz="1800" b="1"/>
                        <a:t>Usage</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a:t>Used in real-world networks, including the Internet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a:t>Theoretical model for networking</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964175">
                <a:tc>
                  <a:txBody>
                    <a:bodyPr/>
                    <a:lstStyle/>
                    <a:p>
                      <a:pPr marL="0" marR="0" lvl="0" indent="0" algn="ctr" rtl="0">
                        <a:spcBef>
                          <a:spcPts val="0"/>
                        </a:spcBef>
                        <a:spcAft>
                          <a:spcPts val="0"/>
                        </a:spcAft>
                        <a:buNone/>
                      </a:pPr>
                      <a:r>
                        <a:rPr lang="en-IN" sz="1800" b="1"/>
                        <a:t>Reliability</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a:t>Provides error handling via TCP</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a:t>Provides error checking at multiple layers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85" name="Google Shape;185;p10"/>
          <p:cNvSpPr/>
          <p:nvPr/>
        </p:nvSpPr>
        <p:spPr>
          <a:xfrm>
            <a:off x="6841834" y="2626539"/>
            <a:ext cx="184731" cy="55399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1200"/>
              <a:buFont typeface="Arial"/>
              <a:buNone/>
            </a:pPr>
            <a:endParaRPr sz="12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0E7A461E-1CC6-44A8-2441-A8F64E77D961}"/>
            </a:ext>
          </a:extLst>
        </p:cNvPr>
        <p:cNvGrpSpPr/>
        <p:nvPr/>
      </p:nvGrpSpPr>
      <p:grpSpPr>
        <a:xfrm>
          <a:off x="0" y="0"/>
          <a:ext cx="0" cy="0"/>
          <a:chOff x="0" y="0"/>
          <a:chExt cx="0" cy="0"/>
        </a:xfrm>
      </p:grpSpPr>
      <p:sp>
        <p:nvSpPr>
          <p:cNvPr id="235" name="Google Shape;235;p15">
            <a:extLst>
              <a:ext uri="{FF2B5EF4-FFF2-40B4-BE49-F238E27FC236}">
                <a16:creationId xmlns:a16="http://schemas.microsoft.com/office/drawing/2014/main" id="{4AF3882E-0296-2A7A-F41A-F2C44B09337F}"/>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236" name="Google Shape;236;p15">
            <a:extLst>
              <a:ext uri="{FF2B5EF4-FFF2-40B4-BE49-F238E27FC236}">
                <a16:creationId xmlns:a16="http://schemas.microsoft.com/office/drawing/2014/main" id="{BF23CDC3-4630-E352-9CE6-BD93B722DBF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pic>
        <p:nvPicPr>
          <p:cNvPr id="237" name="Google Shape;237;p15" descr="A blue circle with text and words&#10;&#10;Description automatically generated">
            <a:extLst>
              <a:ext uri="{FF2B5EF4-FFF2-40B4-BE49-F238E27FC236}">
                <a16:creationId xmlns:a16="http://schemas.microsoft.com/office/drawing/2014/main" id="{E3D80410-6E14-D1EA-ACFE-EB30A64A677A}"/>
              </a:ext>
            </a:extLst>
          </p:cNvPr>
          <p:cNvPicPr preferRelativeResize="0"/>
          <p:nvPr/>
        </p:nvPicPr>
        <p:blipFill rotWithShape="1">
          <a:blip r:embed="rId3">
            <a:alphaModFix/>
          </a:blip>
          <a:srcRect/>
          <a:stretch/>
        </p:blipFill>
        <p:spPr>
          <a:xfrm>
            <a:off x="10758566" y="149459"/>
            <a:ext cx="874732" cy="874732"/>
          </a:xfrm>
          <a:prstGeom prst="rect">
            <a:avLst/>
          </a:prstGeom>
          <a:noFill/>
          <a:ln>
            <a:noFill/>
          </a:ln>
        </p:spPr>
      </p:pic>
      <p:pic>
        <p:nvPicPr>
          <p:cNvPr id="238" name="Google Shape;238;p15">
            <a:extLst>
              <a:ext uri="{FF2B5EF4-FFF2-40B4-BE49-F238E27FC236}">
                <a16:creationId xmlns:a16="http://schemas.microsoft.com/office/drawing/2014/main" id="{9C634470-B9C6-AFAD-C4EE-1100D9EAE0E2}"/>
              </a:ext>
            </a:extLst>
          </p:cNvPr>
          <p:cNvPicPr preferRelativeResize="0"/>
          <p:nvPr/>
        </p:nvPicPr>
        <p:blipFill rotWithShape="1">
          <a:blip r:embed="rId4">
            <a:alphaModFix/>
          </a:blip>
          <a:srcRect/>
          <a:stretch/>
        </p:blipFill>
        <p:spPr>
          <a:xfrm>
            <a:off x="242966" y="208906"/>
            <a:ext cx="2215421" cy="612478"/>
          </a:xfrm>
          <a:prstGeom prst="rect">
            <a:avLst/>
          </a:prstGeom>
          <a:noFill/>
          <a:ln>
            <a:noFill/>
          </a:ln>
        </p:spPr>
      </p:pic>
      <p:sp>
        <p:nvSpPr>
          <p:cNvPr id="2" name="Title 1">
            <a:extLst>
              <a:ext uri="{FF2B5EF4-FFF2-40B4-BE49-F238E27FC236}">
                <a16:creationId xmlns:a16="http://schemas.microsoft.com/office/drawing/2014/main" id="{882D94B9-70E8-ED0A-2E84-6B23686C50AD}"/>
              </a:ext>
            </a:extLst>
          </p:cNvPr>
          <p:cNvSpPr txBox="1">
            <a:spLocks/>
          </p:cNvSpPr>
          <p:nvPr/>
        </p:nvSpPr>
        <p:spPr>
          <a:xfrm>
            <a:off x="838200" y="704457"/>
            <a:ext cx="10515600" cy="6124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u="sng" cap="all" dirty="0">
                <a:solidFill>
                  <a:schemeClr val="accent1"/>
                </a:solidFill>
                <a:latin typeface="Consolas" panose="020B0609020204030204" pitchFamily="49" charset="0"/>
                <a:cs typeface="Aharoni" panose="02010803020104030203" pitchFamily="2" charset="-79"/>
              </a:rPr>
              <a:t>Activity 2:</a:t>
            </a:r>
          </a:p>
        </p:txBody>
      </p:sp>
      <p:sp>
        <p:nvSpPr>
          <p:cNvPr id="4" name="TextBox 3">
            <a:extLst>
              <a:ext uri="{FF2B5EF4-FFF2-40B4-BE49-F238E27FC236}">
                <a16:creationId xmlns:a16="http://schemas.microsoft.com/office/drawing/2014/main" id="{82F91BAD-25DC-8CB8-8A78-B38EA832D9B1}"/>
              </a:ext>
            </a:extLst>
          </p:cNvPr>
          <p:cNvSpPr txBox="1"/>
          <p:nvPr/>
        </p:nvSpPr>
        <p:spPr>
          <a:xfrm>
            <a:off x="542004" y="1376381"/>
            <a:ext cx="11091294" cy="1477328"/>
          </a:xfrm>
          <a:prstGeom prst="rect">
            <a:avLst/>
          </a:prstGeom>
          <a:noFill/>
        </p:spPr>
        <p:txBody>
          <a:bodyPr wrap="square">
            <a:spAutoFit/>
          </a:bodyPr>
          <a:lstStyle/>
          <a:p>
            <a:r>
              <a:rPr lang="en-US" sz="1800" b="1" dirty="0"/>
              <a:t>A student opens a web browser and types www.google.com and presses Enter</a:t>
            </a:r>
            <a:r>
              <a:rPr lang="en-US" sz="1800" dirty="0"/>
              <a:t>.</a:t>
            </a:r>
          </a:p>
          <a:p>
            <a:endParaRPr lang="en-US" sz="1800" dirty="0"/>
          </a:p>
          <a:p>
            <a:pPr marL="285750" indent="-285750">
              <a:buFont typeface="Arial" panose="020B0604020202020204" pitchFamily="34" charset="0"/>
              <a:buChar char="•"/>
            </a:pPr>
            <a:r>
              <a:rPr lang="en-US" sz="1800" dirty="0"/>
              <a:t>Which TCP/IP layers are involved in this communication? </a:t>
            </a:r>
          </a:p>
          <a:p>
            <a:pPr marL="285750" indent="-285750">
              <a:buFont typeface="Arial" panose="020B0604020202020204" pitchFamily="34" charset="0"/>
              <a:buChar char="•"/>
            </a:pPr>
            <a:r>
              <a:rPr lang="en-US" sz="1800" dirty="0"/>
              <a:t>Name one protocol used at each layer. </a:t>
            </a:r>
          </a:p>
          <a:p>
            <a:pPr marL="285750" indent="-285750">
              <a:buFont typeface="Arial" panose="020B0604020202020204" pitchFamily="34" charset="0"/>
              <a:buChar char="•"/>
            </a:pPr>
            <a:r>
              <a:rPr lang="en-US" sz="1800" dirty="0"/>
              <a:t>Which OSI layers are merged into the TCP/IP Application layer?</a:t>
            </a:r>
          </a:p>
        </p:txBody>
      </p:sp>
      <p:graphicFrame>
        <p:nvGraphicFramePr>
          <p:cNvPr id="11" name="Table 10">
            <a:extLst>
              <a:ext uri="{FF2B5EF4-FFF2-40B4-BE49-F238E27FC236}">
                <a16:creationId xmlns:a16="http://schemas.microsoft.com/office/drawing/2014/main" id="{5B0B8DBC-C080-CF4B-1FEB-63EA34BC32A8}"/>
              </a:ext>
            </a:extLst>
          </p:cNvPr>
          <p:cNvGraphicFramePr>
            <a:graphicFrameLocks noGrp="1"/>
          </p:cNvGraphicFramePr>
          <p:nvPr>
            <p:extLst>
              <p:ext uri="{D42A27DB-BD31-4B8C-83A1-F6EECF244321}">
                <p14:modId xmlns:p14="http://schemas.microsoft.com/office/powerpoint/2010/main" val="4286229530"/>
              </p:ext>
            </p:extLst>
          </p:nvPr>
        </p:nvGraphicFramePr>
        <p:xfrm>
          <a:off x="542004" y="3571023"/>
          <a:ext cx="10607776" cy="1734810"/>
        </p:xfrm>
        <a:graphic>
          <a:graphicData uri="http://schemas.openxmlformats.org/drawingml/2006/table">
            <a:tbl>
              <a:tblPr>
                <a:tableStyleId>{396881DD-656B-4B6F-9048-B88C7D878465}</a:tableStyleId>
              </a:tblPr>
              <a:tblGrid>
                <a:gridCol w="1700128">
                  <a:extLst>
                    <a:ext uri="{9D8B030D-6E8A-4147-A177-3AD203B41FA5}">
                      <a16:colId xmlns:a16="http://schemas.microsoft.com/office/drawing/2014/main" val="3018610108"/>
                    </a:ext>
                  </a:extLst>
                </a:gridCol>
                <a:gridCol w="2969216">
                  <a:extLst>
                    <a:ext uri="{9D8B030D-6E8A-4147-A177-3AD203B41FA5}">
                      <a16:colId xmlns:a16="http://schemas.microsoft.com/office/drawing/2014/main" val="3170922143"/>
                    </a:ext>
                  </a:extLst>
                </a:gridCol>
                <a:gridCol w="2969216">
                  <a:extLst>
                    <a:ext uri="{9D8B030D-6E8A-4147-A177-3AD203B41FA5}">
                      <a16:colId xmlns:a16="http://schemas.microsoft.com/office/drawing/2014/main" val="3540858882"/>
                    </a:ext>
                  </a:extLst>
                </a:gridCol>
                <a:gridCol w="2969216">
                  <a:extLst>
                    <a:ext uri="{9D8B030D-6E8A-4147-A177-3AD203B41FA5}">
                      <a16:colId xmlns:a16="http://schemas.microsoft.com/office/drawing/2014/main" val="1997918919"/>
                    </a:ext>
                  </a:extLst>
                </a:gridCol>
              </a:tblGrid>
              <a:tr h="346962">
                <a:tc>
                  <a:txBody>
                    <a:bodyPr/>
                    <a:lstStyle/>
                    <a:p>
                      <a:pPr>
                        <a:buNone/>
                      </a:pPr>
                      <a:r>
                        <a:rPr lang="en-US"/>
                        <a:t>TCP/IP Layer</a:t>
                      </a:r>
                    </a:p>
                  </a:txBody>
                  <a:tcPr anchor="ctr"/>
                </a:tc>
                <a:tc>
                  <a:txBody>
                    <a:bodyPr/>
                    <a:lstStyle/>
                    <a:p>
                      <a:pPr>
                        <a:buNone/>
                      </a:pPr>
                      <a:r>
                        <a:rPr lang="en-US"/>
                        <a:t>Key Function</a:t>
                      </a:r>
                    </a:p>
                  </a:txBody>
                  <a:tcPr anchor="ctr"/>
                </a:tc>
                <a:tc>
                  <a:txBody>
                    <a:bodyPr/>
                    <a:lstStyle/>
                    <a:p>
                      <a:pPr>
                        <a:buNone/>
                      </a:pPr>
                      <a:r>
                        <a:rPr lang="en-US" dirty="0"/>
                        <a:t>Example Protocol</a:t>
                      </a:r>
                    </a:p>
                  </a:txBody>
                  <a:tcPr anchor="ctr"/>
                </a:tc>
                <a:tc>
                  <a:txBody>
                    <a:bodyPr/>
                    <a:lstStyle/>
                    <a:p>
                      <a:pPr>
                        <a:buNone/>
                      </a:pPr>
                      <a:r>
                        <a:rPr lang="en-US"/>
                        <a:t>Corresponding OSI Layers</a:t>
                      </a:r>
                    </a:p>
                  </a:txBody>
                  <a:tcPr anchor="ctr"/>
                </a:tc>
                <a:extLst>
                  <a:ext uri="{0D108BD9-81ED-4DB2-BD59-A6C34878D82A}">
                    <a16:rowId xmlns:a16="http://schemas.microsoft.com/office/drawing/2014/main" val="3228873721"/>
                  </a:ext>
                </a:extLst>
              </a:tr>
              <a:tr h="346962">
                <a:tc>
                  <a:txBody>
                    <a:bodyPr/>
                    <a:lstStyle/>
                    <a:p>
                      <a:pPr>
                        <a:buNone/>
                      </a:pPr>
                      <a:r>
                        <a:rPr lang="en-US"/>
                        <a:t>Application</a:t>
                      </a:r>
                    </a:p>
                  </a:txBody>
                  <a:tcPr anchor="ctr"/>
                </a:tc>
                <a:tc>
                  <a:txBody>
                    <a:bodyPr/>
                    <a:lstStyle/>
                    <a:p>
                      <a:pPr>
                        <a:buNone/>
                      </a:pPr>
                      <a:endParaRPr lang="en-US" dirty="0"/>
                    </a:p>
                  </a:txBody>
                  <a:tcPr anchor="ctr"/>
                </a:tc>
                <a:tc>
                  <a:txBody>
                    <a:bodyPr/>
                    <a:lstStyle/>
                    <a:p>
                      <a:pPr>
                        <a:buNone/>
                      </a:pPr>
                      <a:endParaRPr lang="en-US"/>
                    </a:p>
                  </a:txBody>
                  <a:tcPr anchor="ctr"/>
                </a:tc>
                <a:tc>
                  <a:txBody>
                    <a:bodyPr/>
                    <a:lstStyle/>
                    <a:p>
                      <a:pPr>
                        <a:buNone/>
                      </a:pPr>
                      <a:endParaRPr lang="en-US"/>
                    </a:p>
                  </a:txBody>
                  <a:tcPr anchor="ctr"/>
                </a:tc>
                <a:extLst>
                  <a:ext uri="{0D108BD9-81ED-4DB2-BD59-A6C34878D82A}">
                    <a16:rowId xmlns:a16="http://schemas.microsoft.com/office/drawing/2014/main" val="875438343"/>
                  </a:ext>
                </a:extLst>
              </a:tr>
              <a:tr h="346962">
                <a:tc>
                  <a:txBody>
                    <a:bodyPr/>
                    <a:lstStyle/>
                    <a:p>
                      <a:pPr>
                        <a:buNone/>
                      </a:pPr>
                      <a:r>
                        <a:rPr lang="en-US"/>
                        <a:t>Transport</a:t>
                      </a:r>
                    </a:p>
                  </a:txBody>
                  <a:tcPr anchor="ctr"/>
                </a:tc>
                <a:tc>
                  <a:txBody>
                    <a:bodyPr/>
                    <a:lstStyle/>
                    <a:p>
                      <a:pPr>
                        <a:buNone/>
                      </a:pPr>
                      <a:endParaRPr lang="en-US" dirty="0"/>
                    </a:p>
                  </a:txBody>
                  <a:tcPr anchor="ctr"/>
                </a:tc>
                <a:tc>
                  <a:txBody>
                    <a:bodyPr/>
                    <a:lstStyle/>
                    <a:p>
                      <a:pPr>
                        <a:buNone/>
                      </a:pPr>
                      <a:endParaRPr lang="en-US"/>
                    </a:p>
                  </a:txBody>
                  <a:tcPr anchor="ctr"/>
                </a:tc>
                <a:tc>
                  <a:txBody>
                    <a:bodyPr/>
                    <a:lstStyle/>
                    <a:p>
                      <a:pPr>
                        <a:buNone/>
                      </a:pPr>
                      <a:endParaRPr lang="en-US"/>
                    </a:p>
                  </a:txBody>
                  <a:tcPr anchor="ctr"/>
                </a:tc>
                <a:extLst>
                  <a:ext uri="{0D108BD9-81ED-4DB2-BD59-A6C34878D82A}">
                    <a16:rowId xmlns:a16="http://schemas.microsoft.com/office/drawing/2014/main" val="1053795160"/>
                  </a:ext>
                </a:extLst>
              </a:tr>
              <a:tr h="346962">
                <a:tc>
                  <a:txBody>
                    <a:bodyPr/>
                    <a:lstStyle/>
                    <a:p>
                      <a:pPr>
                        <a:buNone/>
                      </a:pPr>
                      <a:r>
                        <a:rPr lang="en-US"/>
                        <a:t>Internet</a:t>
                      </a:r>
                    </a:p>
                  </a:txBody>
                  <a:tcPr anchor="ctr"/>
                </a:tc>
                <a:tc>
                  <a:txBody>
                    <a:bodyPr/>
                    <a:lstStyle/>
                    <a:p>
                      <a:pPr>
                        <a:buNone/>
                      </a:pPr>
                      <a:endParaRPr lang="en-US"/>
                    </a:p>
                  </a:txBody>
                  <a:tcPr anchor="ctr"/>
                </a:tc>
                <a:tc>
                  <a:txBody>
                    <a:bodyPr/>
                    <a:lstStyle/>
                    <a:p>
                      <a:pPr>
                        <a:buNone/>
                      </a:pPr>
                      <a:endParaRPr lang="en-US"/>
                    </a:p>
                  </a:txBody>
                  <a:tcPr anchor="ctr"/>
                </a:tc>
                <a:tc>
                  <a:txBody>
                    <a:bodyPr/>
                    <a:lstStyle/>
                    <a:p>
                      <a:pPr>
                        <a:buNone/>
                      </a:pPr>
                      <a:endParaRPr lang="en-US"/>
                    </a:p>
                  </a:txBody>
                  <a:tcPr anchor="ctr"/>
                </a:tc>
                <a:extLst>
                  <a:ext uri="{0D108BD9-81ED-4DB2-BD59-A6C34878D82A}">
                    <a16:rowId xmlns:a16="http://schemas.microsoft.com/office/drawing/2014/main" val="1149154134"/>
                  </a:ext>
                </a:extLst>
              </a:tr>
              <a:tr h="346962">
                <a:tc>
                  <a:txBody>
                    <a:bodyPr/>
                    <a:lstStyle/>
                    <a:p>
                      <a:pPr>
                        <a:buNone/>
                      </a:pPr>
                      <a:r>
                        <a:rPr lang="en-US" dirty="0"/>
                        <a:t>Network Access</a:t>
                      </a:r>
                    </a:p>
                  </a:txBody>
                  <a:tcPr anchor="ctr"/>
                </a:tc>
                <a:tc>
                  <a:txBody>
                    <a:bodyPr/>
                    <a:lstStyle/>
                    <a:p>
                      <a:pPr>
                        <a:buNone/>
                      </a:pPr>
                      <a:endParaRPr lang="en-US" dirty="0"/>
                    </a:p>
                  </a:txBody>
                  <a:tcPr anchor="ctr"/>
                </a:tc>
                <a:tc>
                  <a:txBody>
                    <a:bodyPr/>
                    <a:lstStyle/>
                    <a:p>
                      <a:pPr>
                        <a:buNone/>
                      </a:pPr>
                      <a:endParaRPr lang="en-US"/>
                    </a:p>
                  </a:txBody>
                  <a:tcPr anchor="ctr"/>
                </a:tc>
                <a:tc>
                  <a:txBody>
                    <a:bodyPr/>
                    <a:lstStyle/>
                    <a:p>
                      <a:pPr>
                        <a:buNone/>
                      </a:pPr>
                      <a:endParaRPr lang="en-US" dirty="0"/>
                    </a:p>
                  </a:txBody>
                  <a:tcPr anchor="ctr"/>
                </a:tc>
                <a:extLst>
                  <a:ext uri="{0D108BD9-81ED-4DB2-BD59-A6C34878D82A}">
                    <a16:rowId xmlns:a16="http://schemas.microsoft.com/office/drawing/2014/main" val="2510348573"/>
                  </a:ext>
                </a:extLst>
              </a:tr>
            </a:tbl>
          </a:graphicData>
        </a:graphic>
      </p:graphicFrame>
      <p:sp>
        <p:nvSpPr>
          <p:cNvPr id="13" name="TextBox 12">
            <a:extLst>
              <a:ext uri="{FF2B5EF4-FFF2-40B4-BE49-F238E27FC236}">
                <a16:creationId xmlns:a16="http://schemas.microsoft.com/office/drawing/2014/main" id="{14DB33AD-7AAF-308B-002D-067D455B8595}"/>
              </a:ext>
            </a:extLst>
          </p:cNvPr>
          <p:cNvSpPr txBox="1"/>
          <p:nvPr/>
        </p:nvSpPr>
        <p:spPr>
          <a:xfrm>
            <a:off x="542003" y="2917302"/>
            <a:ext cx="9250925" cy="369675"/>
          </a:xfrm>
          <a:prstGeom prst="rect">
            <a:avLst/>
          </a:prstGeom>
          <a:noFill/>
        </p:spPr>
        <p:txBody>
          <a:bodyPr wrap="square">
            <a:spAutoFit/>
          </a:bodyPr>
          <a:lstStyle/>
          <a:p>
            <a:r>
              <a:rPr lang="en-US" sz="1800" b="1" dirty="0"/>
              <a:t>Students compare and refine their answers and complete the table:</a:t>
            </a:r>
          </a:p>
        </p:txBody>
      </p:sp>
      <p:sp>
        <p:nvSpPr>
          <p:cNvPr id="14" name="TextBox 13">
            <a:extLst>
              <a:ext uri="{FF2B5EF4-FFF2-40B4-BE49-F238E27FC236}">
                <a16:creationId xmlns:a16="http://schemas.microsoft.com/office/drawing/2014/main" id="{AB93DEAC-3A72-BD5F-049F-7EBEF942561E}"/>
              </a:ext>
            </a:extLst>
          </p:cNvPr>
          <p:cNvSpPr txBox="1"/>
          <p:nvPr/>
        </p:nvSpPr>
        <p:spPr>
          <a:xfrm>
            <a:off x="484238" y="5677203"/>
            <a:ext cx="7669162" cy="307777"/>
          </a:xfrm>
          <a:prstGeom prst="rect">
            <a:avLst/>
          </a:prstGeom>
          <a:noFill/>
        </p:spPr>
        <p:txBody>
          <a:bodyPr wrap="square" rtlCol="0">
            <a:spAutoFit/>
          </a:bodyPr>
          <a:lstStyle/>
          <a:p>
            <a:r>
              <a:rPr lang="en-US" b="1" dirty="0"/>
              <a:t>Share your Responses</a:t>
            </a:r>
          </a:p>
        </p:txBody>
      </p:sp>
    </p:spTree>
    <p:extLst>
      <p:ext uri="{BB962C8B-B14F-4D97-AF65-F5344CB8AC3E}">
        <p14:creationId xmlns:p14="http://schemas.microsoft.com/office/powerpoint/2010/main" val="1638053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3"/>
          <p:cNvSpPr/>
          <p:nvPr/>
        </p:nvSpPr>
        <p:spPr>
          <a:xfrm>
            <a:off x="991357" y="1276927"/>
            <a:ext cx="9850337" cy="4304145"/>
          </a:xfrm>
          <a:prstGeom prst="roundRect">
            <a:avLst>
              <a:gd name="adj" fmla="val 16667"/>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2400" b="1">
                <a:solidFill>
                  <a:schemeClr val="dk1"/>
                </a:solidFill>
                <a:latin typeface="Arial"/>
                <a:ea typeface="Arial"/>
                <a:cs typeface="Arial"/>
                <a:sym typeface="Arial"/>
              </a:rPr>
              <a:t>Conclusion</a:t>
            </a:r>
            <a:endParaRPr/>
          </a:p>
          <a:p>
            <a:pPr marL="0" marR="0" lvl="0" indent="0" algn="l" rtl="0">
              <a:spcBef>
                <a:spcPts val="0"/>
              </a:spcBef>
              <a:spcAft>
                <a:spcPts val="0"/>
              </a:spcAft>
              <a:buNone/>
            </a:pPr>
            <a:r>
              <a:rPr lang="en-IN" sz="2400">
                <a:solidFill>
                  <a:schemeClr val="dk1"/>
                </a:solidFill>
                <a:latin typeface="Arial"/>
                <a:ea typeface="Arial"/>
                <a:cs typeface="Arial"/>
                <a:sym typeface="Arial"/>
              </a:rPr>
              <a:t>The TCP/IP model is the backbone of modern networking, enabling seamless communication between devices worldwide. It ensures data transmission, error checking, and proper addressing, making it essential for applications like web browsing, email, and file sharing. Understanding its layered architecture helps in troubleshooting network issues and designing efficient communication systems.</a:t>
            </a:r>
            <a:endParaRPr/>
          </a:p>
        </p:txBody>
      </p:sp>
      <p:sp>
        <p:nvSpPr>
          <p:cNvPr id="209" name="Google Shape;20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210" name="Google Shape;21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pic>
        <p:nvPicPr>
          <p:cNvPr id="211" name="Google Shape;211;p13" descr="A blue circle with text and words&#10;&#10;Description automatically generated"/>
          <p:cNvPicPr preferRelativeResize="0"/>
          <p:nvPr/>
        </p:nvPicPr>
        <p:blipFill rotWithShape="1">
          <a:blip r:embed="rId3">
            <a:alphaModFix/>
          </a:blip>
          <a:srcRect/>
          <a:stretch/>
        </p:blipFill>
        <p:spPr>
          <a:xfrm>
            <a:off x="10758566" y="149459"/>
            <a:ext cx="874732" cy="874732"/>
          </a:xfrm>
          <a:prstGeom prst="rect">
            <a:avLst/>
          </a:prstGeom>
          <a:noFill/>
          <a:ln>
            <a:noFill/>
          </a:ln>
        </p:spPr>
      </p:pic>
      <p:pic>
        <p:nvPicPr>
          <p:cNvPr id="212" name="Google Shape;212;p13"/>
          <p:cNvPicPr preferRelativeResize="0"/>
          <p:nvPr/>
        </p:nvPicPr>
        <p:blipFill rotWithShape="1">
          <a:blip r:embed="rId4">
            <a:alphaModFix/>
          </a:blip>
          <a:srcRect/>
          <a:stretch/>
        </p:blipFill>
        <p:spPr>
          <a:xfrm>
            <a:off x="242966" y="208906"/>
            <a:ext cx="2215421" cy="6124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4892A-12EE-1B58-7D42-9FCADD05B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1F6E8-FE93-29CE-6E35-108438E78FDF}"/>
              </a:ext>
            </a:extLst>
          </p:cNvPr>
          <p:cNvSpPr>
            <a:spLocks noGrp="1"/>
          </p:cNvSpPr>
          <p:nvPr>
            <p:ph type="title"/>
          </p:nvPr>
        </p:nvSpPr>
        <p:spPr>
          <a:xfrm>
            <a:off x="533036" y="697648"/>
            <a:ext cx="10542973" cy="822858"/>
          </a:xfrm>
        </p:spPr>
        <p:txBody>
          <a:bodyPr anchor="ctr">
            <a:noAutofit/>
          </a:bodyPr>
          <a:lstStyle/>
          <a:p>
            <a:r>
              <a:rPr lang="en-IN" sz="3200" b="1" u="sng" cap="none" dirty="0">
                <a:solidFill>
                  <a:schemeClr val="tx1"/>
                </a:solidFill>
                <a:latin typeface="Arial" panose="020B0604020202020204" pitchFamily="34" charset="0"/>
                <a:cs typeface="Arial" panose="020B0604020202020204" pitchFamily="34" charset="0"/>
              </a:rPr>
              <a:t>LO attainment</a:t>
            </a:r>
            <a:r>
              <a:rPr lang="en-IN" sz="3200" b="1" cap="none" dirty="0">
                <a:solidFill>
                  <a:schemeClr val="tx1"/>
                </a:solidFill>
                <a:latin typeface="Arial" panose="020B0604020202020204" pitchFamily="34" charset="0"/>
                <a:cs typeface="Arial" panose="020B0604020202020204" pitchFamily="34" charset="0"/>
              </a:rPr>
              <a:t>: Please Check, if you are now able to</a:t>
            </a:r>
          </a:p>
        </p:txBody>
      </p:sp>
      <p:pic>
        <p:nvPicPr>
          <p:cNvPr id="8" name="Picture 7">
            <a:extLst>
              <a:ext uri="{FF2B5EF4-FFF2-40B4-BE49-F238E27FC236}">
                <a16:creationId xmlns:a16="http://schemas.microsoft.com/office/drawing/2014/main" id="{6D71A9C2-7E15-573B-8AA3-7F90716758D6}"/>
              </a:ext>
            </a:extLst>
          </p:cNvPr>
          <p:cNvPicPr>
            <a:picLocks noChangeAspect="1"/>
          </p:cNvPicPr>
          <p:nvPr/>
        </p:nvPicPr>
        <p:blipFill>
          <a:blip r:embed="rId3"/>
          <a:stretch>
            <a:fillRect/>
          </a:stretch>
        </p:blipFill>
        <p:spPr>
          <a:xfrm>
            <a:off x="242966" y="208906"/>
            <a:ext cx="2215421" cy="612478"/>
          </a:xfrm>
          <a:prstGeom prst="rect">
            <a:avLst/>
          </a:prstGeom>
        </p:spPr>
      </p:pic>
      <p:pic>
        <p:nvPicPr>
          <p:cNvPr id="24" name="Picture 23">
            <a:extLst>
              <a:ext uri="{FF2B5EF4-FFF2-40B4-BE49-F238E27FC236}">
                <a16:creationId xmlns:a16="http://schemas.microsoft.com/office/drawing/2014/main" id="{0A929D8C-3DE6-29B3-DBF2-F1231D0E43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03049" y="55415"/>
            <a:ext cx="986520" cy="884967"/>
          </a:xfrm>
          <a:prstGeom prst="rect">
            <a:avLst/>
          </a:prstGeom>
        </p:spPr>
      </p:pic>
      <p:grpSp>
        <p:nvGrpSpPr>
          <p:cNvPr id="3" name="Group 2">
            <a:extLst>
              <a:ext uri="{FF2B5EF4-FFF2-40B4-BE49-F238E27FC236}">
                <a16:creationId xmlns:a16="http://schemas.microsoft.com/office/drawing/2014/main" id="{89444E63-1476-1917-5ACE-4CD001E91BDC}"/>
              </a:ext>
            </a:extLst>
          </p:cNvPr>
          <p:cNvGrpSpPr/>
          <p:nvPr/>
        </p:nvGrpSpPr>
        <p:grpSpPr>
          <a:xfrm>
            <a:off x="592155" y="1943677"/>
            <a:ext cx="10364556" cy="2812797"/>
            <a:chOff x="592155" y="1942222"/>
            <a:chExt cx="10364556" cy="2812797"/>
          </a:xfrm>
        </p:grpSpPr>
        <p:grpSp>
          <p:nvGrpSpPr>
            <p:cNvPr id="4" name="Group 3">
              <a:extLst>
                <a:ext uri="{FF2B5EF4-FFF2-40B4-BE49-F238E27FC236}">
                  <a16:creationId xmlns:a16="http://schemas.microsoft.com/office/drawing/2014/main" id="{1256D42F-B9B6-D294-2908-577B4D6BB50C}"/>
                </a:ext>
              </a:extLst>
            </p:cNvPr>
            <p:cNvGrpSpPr/>
            <p:nvPr/>
          </p:nvGrpSpPr>
          <p:grpSpPr>
            <a:xfrm>
              <a:off x="1668057" y="3504914"/>
              <a:ext cx="9288654" cy="1250105"/>
              <a:chOff x="1668057" y="3504914"/>
              <a:chExt cx="9288654" cy="1250105"/>
            </a:xfrm>
          </p:grpSpPr>
          <p:sp>
            <p:nvSpPr>
              <p:cNvPr id="9" name="Arrow: Pentagon 8">
                <a:extLst>
                  <a:ext uri="{FF2B5EF4-FFF2-40B4-BE49-F238E27FC236}">
                    <a16:creationId xmlns:a16="http://schemas.microsoft.com/office/drawing/2014/main" id="{ACD518D3-DC7B-C853-FB69-93DD0324226A}"/>
                  </a:ext>
                </a:extLst>
              </p:cNvPr>
              <p:cNvSpPr/>
              <p:nvPr/>
            </p:nvSpPr>
            <p:spPr>
              <a:xfrm>
                <a:off x="1668057" y="3504914"/>
                <a:ext cx="9288654" cy="1250105"/>
              </a:xfrm>
              <a:prstGeom prst="homePlate">
                <a:avLst/>
              </a:prstGeom>
              <a:solidFill>
                <a:srgbClr val="FF9966"/>
              </a:solid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0" name="Arrow: Pentagon 4">
                <a:extLst>
                  <a:ext uri="{FF2B5EF4-FFF2-40B4-BE49-F238E27FC236}">
                    <a16:creationId xmlns:a16="http://schemas.microsoft.com/office/drawing/2014/main" id="{63CAC121-1047-2A97-FF72-B4E8CBC92F69}"/>
                  </a:ext>
                </a:extLst>
              </p:cNvPr>
              <p:cNvSpPr txBox="1"/>
              <p:nvPr/>
            </p:nvSpPr>
            <p:spPr>
              <a:xfrm>
                <a:off x="1739594" y="3541528"/>
                <a:ext cx="8441472" cy="117687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2000" tIns="108000" rIns="0" bIns="72000" numCol="1" spcCol="1270" anchor="ctr" anchorCtr="0">
                <a:noAutofit/>
              </a:bodyPr>
              <a:lstStyle/>
              <a:p>
                <a:pPr defTabSz="914400">
                  <a:lnSpc>
                    <a:spcPct val="90000"/>
                  </a:lnSpc>
                  <a:spcBef>
                    <a:spcPct val="0"/>
                  </a:spcBef>
                  <a:spcAft>
                    <a:spcPct val="35000"/>
                  </a:spcAft>
                  <a:buNone/>
                </a:pPr>
                <a:r>
                  <a:rPr lang="en-IN" sz="3200" b="1" dirty="0">
                    <a:solidFill>
                      <a:schemeClr val="tx1"/>
                    </a:solidFill>
                    <a:latin typeface="Cambria" panose="02040503050406030204" pitchFamily="18" charset="0"/>
                    <a:ea typeface="Cambria" panose="02040503050406030204" pitchFamily="18" charset="0"/>
                    <a:cs typeface="Arial" panose="020B0604020202020204" pitchFamily="34" charset="0"/>
                  </a:rPr>
                  <a:t>LO 2: </a:t>
                </a:r>
                <a:r>
                  <a:rPr lang="en-US" sz="3200" b="1" dirty="0">
                    <a:solidFill>
                      <a:schemeClr val="tx1"/>
                    </a:solidFill>
                    <a:latin typeface="Cambria" panose="02040503050406030204" pitchFamily="18" charset="0"/>
                    <a:ea typeface="Cambria" panose="02040503050406030204" pitchFamily="18" charset="0"/>
                    <a:cs typeface="Arial" panose="020B0604020202020204" pitchFamily="34" charset="0"/>
                  </a:rPr>
                  <a:t>Perform basic operations and reshape arrays to prepare data for ML workflows</a:t>
                </a:r>
              </a:p>
            </p:txBody>
          </p:sp>
        </p:grpSp>
        <p:grpSp>
          <p:nvGrpSpPr>
            <p:cNvPr id="5" name="Group 4">
              <a:extLst>
                <a:ext uri="{FF2B5EF4-FFF2-40B4-BE49-F238E27FC236}">
                  <a16:creationId xmlns:a16="http://schemas.microsoft.com/office/drawing/2014/main" id="{9902EA11-0573-C26D-A973-5757D3526DE5}"/>
                </a:ext>
              </a:extLst>
            </p:cNvPr>
            <p:cNvGrpSpPr/>
            <p:nvPr/>
          </p:nvGrpSpPr>
          <p:grpSpPr>
            <a:xfrm>
              <a:off x="592155" y="1942222"/>
              <a:ext cx="9288654" cy="1330128"/>
              <a:chOff x="558702" y="1942222"/>
              <a:chExt cx="9288654" cy="1330128"/>
            </a:xfrm>
            <a:solidFill>
              <a:srgbClr val="33CCFF"/>
            </a:solidFill>
          </p:grpSpPr>
          <p:sp>
            <p:nvSpPr>
              <p:cNvPr id="6" name="Arrow: Pentagon 5">
                <a:extLst>
                  <a:ext uri="{FF2B5EF4-FFF2-40B4-BE49-F238E27FC236}">
                    <a16:creationId xmlns:a16="http://schemas.microsoft.com/office/drawing/2014/main" id="{35E3A0C0-13C6-20FD-19AF-BF380F8781BB}"/>
                  </a:ext>
                </a:extLst>
              </p:cNvPr>
              <p:cNvSpPr/>
              <p:nvPr/>
            </p:nvSpPr>
            <p:spPr>
              <a:xfrm>
                <a:off x="558702" y="1942222"/>
                <a:ext cx="9288654" cy="1330128"/>
              </a:xfrm>
              <a:prstGeom prst="homePlate">
                <a:avLst/>
              </a:prstGeom>
              <a:grp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Arrow: Pentagon 4">
                <a:extLst>
                  <a:ext uri="{FF2B5EF4-FFF2-40B4-BE49-F238E27FC236}">
                    <a16:creationId xmlns:a16="http://schemas.microsoft.com/office/drawing/2014/main" id="{40C6E57D-F683-706E-EAF0-7D2EE224BB06}"/>
                  </a:ext>
                </a:extLst>
              </p:cNvPr>
              <p:cNvSpPr txBox="1"/>
              <p:nvPr/>
            </p:nvSpPr>
            <p:spPr>
              <a:xfrm>
                <a:off x="592156" y="1981180"/>
                <a:ext cx="8573274" cy="125221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06680" bIns="106680" numCol="1" spcCol="1270" anchor="ctr" anchorCtr="0">
                <a:noAutofit/>
              </a:bodyPr>
              <a:lstStyle/>
              <a:p>
                <a:pPr marL="0" lvl="0" indent="0" defTabSz="914400">
                  <a:lnSpc>
                    <a:spcPct val="90000"/>
                  </a:lnSpc>
                  <a:spcBef>
                    <a:spcPct val="0"/>
                  </a:spcBef>
                  <a:spcAft>
                    <a:spcPct val="35000"/>
                  </a:spcAft>
                </a:pPr>
                <a:r>
                  <a:rPr lang="en-IN" sz="3200" b="1" dirty="0">
                    <a:solidFill>
                      <a:schemeClr val="tx1"/>
                    </a:solidFill>
                    <a:latin typeface="Cambria" panose="02040503050406030204" pitchFamily="18" charset="0"/>
                    <a:ea typeface="Cambria" panose="02040503050406030204" pitchFamily="18" charset="0"/>
                    <a:cs typeface="Arial" panose="020B0604020202020204" pitchFamily="34" charset="0"/>
                  </a:rPr>
                  <a:t>LO 1: </a:t>
                </a:r>
                <a:r>
                  <a:rPr lang="en-US" sz="3200" b="1" dirty="0">
                    <a:solidFill>
                      <a:schemeClr val="tx1"/>
                    </a:solidFill>
                    <a:latin typeface="Cambria" panose="02040503050406030204" pitchFamily="18" charset="0"/>
                    <a:ea typeface="Cambria" panose="02040503050406030204" pitchFamily="18" charset="0"/>
                    <a:cs typeface="Arial" panose="020B0604020202020204" pitchFamily="34" charset="0"/>
                  </a:rPr>
                  <a:t>Create and manipulate NumPy arrays for numerical computations</a:t>
                </a:r>
              </a:p>
            </p:txBody>
          </p:sp>
        </p:grpSp>
      </p:grpSp>
    </p:spTree>
    <p:extLst>
      <p:ext uri="{BB962C8B-B14F-4D97-AF65-F5344CB8AC3E}">
        <p14:creationId xmlns:p14="http://schemas.microsoft.com/office/powerpoint/2010/main" val="1853005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844A6-F319-F6B1-EAAE-5E459A617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850DE-50F7-DD3B-E2DB-169A370A246C}"/>
              </a:ext>
            </a:extLst>
          </p:cNvPr>
          <p:cNvSpPr>
            <a:spLocks noGrp="1"/>
          </p:cNvSpPr>
          <p:nvPr>
            <p:ph type="title"/>
          </p:nvPr>
        </p:nvSpPr>
        <p:spPr>
          <a:xfrm>
            <a:off x="2458387" y="370237"/>
            <a:ext cx="7302190" cy="1140290"/>
          </a:xfrm>
        </p:spPr>
        <p:txBody>
          <a:bodyPr>
            <a:normAutofit/>
          </a:bodyPr>
          <a:lstStyle/>
          <a:p>
            <a:pPr algn="ctr"/>
            <a:r>
              <a:rPr lang="en-IN" sz="4400" b="1" u="sng" dirty="0">
                <a:solidFill>
                  <a:srgbClr val="FF0000"/>
                </a:solidFill>
                <a:latin typeface="Aptos" panose="020B0004020202020204" pitchFamily="34" charset="0"/>
              </a:rPr>
              <a:t>Post-lesson discussion</a:t>
            </a:r>
          </a:p>
        </p:txBody>
      </p:sp>
      <p:pic>
        <p:nvPicPr>
          <p:cNvPr id="8" name="Picture 7">
            <a:extLst>
              <a:ext uri="{FF2B5EF4-FFF2-40B4-BE49-F238E27FC236}">
                <a16:creationId xmlns:a16="http://schemas.microsoft.com/office/drawing/2014/main" id="{6851EC8E-C38E-8C7D-F408-1314F92BDF1C}"/>
              </a:ext>
            </a:extLst>
          </p:cNvPr>
          <p:cNvPicPr>
            <a:picLocks noChangeAspect="1"/>
          </p:cNvPicPr>
          <p:nvPr/>
        </p:nvPicPr>
        <p:blipFill>
          <a:blip r:embed="rId3"/>
          <a:stretch>
            <a:fillRect/>
          </a:stretch>
        </p:blipFill>
        <p:spPr>
          <a:xfrm>
            <a:off x="242966" y="208906"/>
            <a:ext cx="2215421" cy="612478"/>
          </a:xfrm>
          <a:prstGeom prst="rect">
            <a:avLst/>
          </a:prstGeom>
        </p:spPr>
      </p:pic>
      <p:sp>
        <p:nvSpPr>
          <p:cNvPr id="15" name="TextBox 14">
            <a:extLst>
              <a:ext uri="{FF2B5EF4-FFF2-40B4-BE49-F238E27FC236}">
                <a16:creationId xmlns:a16="http://schemas.microsoft.com/office/drawing/2014/main" id="{7130A1FC-AA97-A069-D46C-D6CB19EB34E6}"/>
              </a:ext>
            </a:extLst>
          </p:cNvPr>
          <p:cNvSpPr txBox="1"/>
          <p:nvPr/>
        </p:nvSpPr>
        <p:spPr>
          <a:xfrm>
            <a:off x="696043" y="1471005"/>
            <a:ext cx="10993526" cy="5016758"/>
          </a:xfrm>
          <a:prstGeom prst="rect">
            <a:avLst/>
          </a:prstGeom>
          <a:noFill/>
        </p:spPr>
        <p:txBody>
          <a:bodyPr wrap="square" rtlCol="0">
            <a:spAutoFit/>
          </a:bodyPr>
          <a:lstStyle/>
          <a:p>
            <a:pPr algn="just"/>
            <a:r>
              <a:rPr lang="en-US" sz="3200" dirty="0">
                <a:latin typeface="Cambria" panose="02040503050406030204" pitchFamily="18" charset="0"/>
              </a:rPr>
              <a:t>Which TCP/IP layer do you think is the most critical for Internet communication? Why? </a:t>
            </a:r>
          </a:p>
          <a:p>
            <a:pPr algn="just"/>
            <a:r>
              <a:rPr lang="en-US" sz="3200" dirty="0">
                <a:latin typeface="Cambria" panose="02040503050406030204" pitchFamily="18" charset="0"/>
              </a:rPr>
              <a:t>What could happen if the Transport Layer fails to ensure reliability?</a:t>
            </a:r>
          </a:p>
          <a:p>
            <a:pPr algn="just"/>
            <a:r>
              <a:rPr lang="en-US" sz="3200" dirty="0">
                <a:latin typeface="Cambria" panose="02040503050406030204" pitchFamily="18" charset="0"/>
              </a:rPr>
              <a:t>In the TCP/IP model, what exactly is being transmitted at each layer — data, segments, packets, or frames? </a:t>
            </a:r>
          </a:p>
          <a:p>
            <a:pPr algn="just"/>
            <a:r>
              <a:rPr lang="en-US" sz="3200" dirty="0">
                <a:latin typeface="Cambria" panose="02040503050406030204" pitchFamily="18" charset="0"/>
              </a:rPr>
              <a:t>How does TCP/IP handle data before sending it over the physical medium? </a:t>
            </a:r>
          </a:p>
          <a:p>
            <a:pPr algn="just"/>
            <a:r>
              <a:rPr lang="en-US" sz="3200" dirty="0">
                <a:latin typeface="Cambria" panose="02040503050406030204" pitchFamily="18" charset="0"/>
              </a:rPr>
              <a:t>Why is it important to convert application data into signals for transmission?</a:t>
            </a:r>
          </a:p>
        </p:txBody>
      </p:sp>
      <p:pic>
        <p:nvPicPr>
          <p:cNvPr id="3" name="Picture 2">
            <a:extLst>
              <a:ext uri="{FF2B5EF4-FFF2-40B4-BE49-F238E27FC236}">
                <a16:creationId xmlns:a16="http://schemas.microsoft.com/office/drawing/2014/main" id="{881210FE-952C-482C-0342-5351B3BC93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03049" y="55415"/>
            <a:ext cx="986520" cy="884967"/>
          </a:xfrm>
          <a:prstGeom prst="rect">
            <a:avLst/>
          </a:prstGeom>
        </p:spPr>
      </p:pic>
    </p:spTree>
    <p:extLst>
      <p:ext uri="{BB962C8B-B14F-4D97-AF65-F5344CB8AC3E}">
        <p14:creationId xmlns:p14="http://schemas.microsoft.com/office/powerpoint/2010/main" val="3567404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9"/>
          <p:cNvSpPr txBox="1">
            <a:spLocks noGrp="1"/>
          </p:cNvSpPr>
          <p:nvPr>
            <p:ph type="title"/>
          </p:nvPr>
        </p:nvSpPr>
        <p:spPr>
          <a:xfrm>
            <a:off x="2758639" y="269416"/>
            <a:ext cx="9818849" cy="158895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00"/>
              <a:buFont typeface="Times New Roman"/>
              <a:buNone/>
            </a:pPr>
            <a:r>
              <a:rPr lang="en-IN" sz="3200" b="1">
                <a:latin typeface="Times New Roman"/>
                <a:ea typeface="Times New Roman"/>
                <a:cs typeface="Times New Roman"/>
                <a:sym typeface="Times New Roman"/>
              </a:rPr>
              <a:t>Information to next topic of the course</a:t>
            </a:r>
            <a:endParaRPr/>
          </a:p>
        </p:txBody>
      </p:sp>
      <p:sp>
        <p:nvSpPr>
          <p:cNvPr id="275" name="Google Shape;27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276" name="Google Shape;27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21</a:t>
            </a:fld>
            <a:endParaRPr/>
          </a:p>
        </p:txBody>
      </p:sp>
      <p:pic>
        <p:nvPicPr>
          <p:cNvPr id="277" name="Google Shape;277;p19"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78" name="Google Shape;278;p19"/>
          <p:cNvPicPr preferRelativeResize="0"/>
          <p:nvPr/>
        </p:nvPicPr>
        <p:blipFill rotWithShape="1">
          <a:blip r:embed="rId4">
            <a:alphaModFix/>
          </a:blip>
          <a:srcRect/>
          <a:stretch/>
        </p:blipFill>
        <p:spPr>
          <a:xfrm>
            <a:off x="242966" y="208906"/>
            <a:ext cx="2215421" cy="612478"/>
          </a:xfrm>
          <a:prstGeom prst="rect">
            <a:avLst/>
          </a:prstGeom>
          <a:noFill/>
          <a:ln>
            <a:noFill/>
          </a:ln>
        </p:spPr>
      </p:pic>
      <p:sp>
        <p:nvSpPr>
          <p:cNvPr id="279" name="Google Shape;279;p19"/>
          <p:cNvSpPr/>
          <p:nvPr/>
        </p:nvSpPr>
        <p:spPr>
          <a:xfrm>
            <a:off x="1719386" y="1802698"/>
            <a:ext cx="9196800" cy="3746765"/>
          </a:xfrm>
          <a:prstGeom prst="roundRect">
            <a:avLst>
              <a:gd name="adj" fmla="val 16667"/>
            </a:avLst>
          </a:prstGeom>
          <a:solidFill>
            <a:schemeClr val="lt1"/>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2800" dirty="0">
                <a:solidFill>
                  <a:schemeClr val="dk1"/>
                </a:solidFill>
              </a:rPr>
              <a:t>DATA AND SIGNALS: Analog and Digital Data, Analog and Digital Signals, Periodic and Nonperiodic Signals</a:t>
            </a:r>
            <a:endParaRPr sz="2800" dirty="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20"/>
          <p:cNvSpPr/>
          <p:nvPr/>
        </p:nvSpPr>
        <p:spPr>
          <a:xfrm>
            <a:off x="0" y="-1"/>
            <a:ext cx="12191695" cy="685202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6" name="Google Shape;286;p20"/>
          <p:cNvSpPr/>
          <p:nvPr/>
        </p:nvSpPr>
        <p:spPr>
          <a:xfrm>
            <a:off x="305"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7" name="Google Shape;287;p20"/>
          <p:cNvSpPr txBox="1">
            <a:spLocks noGrp="1"/>
          </p:cNvSpPr>
          <p:nvPr>
            <p:ph type="title"/>
          </p:nvPr>
        </p:nvSpPr>
        <p:spPr>
          <a:xfrm>
            <a:off x="6736501" y="2247113"/>
            <a:ext cx="4805996" cy="1297115"/>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chemeClr val="dk2"/>
              </a:buClr>
              <a:buSzPct val="100000"/>
              <a:buFont typeface="Play"/>
              <a:buNone/>
            </a:pPr>
            <a:r>
              <a:rPr lang="en-IN" sz="4000">
                <a:solidFill>
                  <a:schemeClr val="dk2"/>
                </a:solidFill>
                <a:latin typeface="Play"/>
                <a:ea typeface="Play"/>
                <a:cs typeface="Play"/>
                <a:sym typeface="Play"/>
              </a:rPr>
              <a:t>Review and Reflection from students</a:t>
            </a:r>
            <a:endParaRPr/>
          </a:p>
        </p:txBody>
      </p:sp>
      <p:pic>
        <p:nvPicPr>
          <p:cNvPr id="288" name="Google Shape;288;p20" descr="Smiling Face with No Fill"/>
          <p:cNvPicPr preferRelativeResize="0"/>
          <p:nvPr/>
        </p:nvPicPr>
        <p:blipFill rotWithShape="1">
          <a:blip r:embed="rId3">
            <a:alphaModFix/>
          </a:blip>
          <a:srcRect/>
          <a:stretch/>
        </p:blipFill>
        <p:spPr>
          <a:xfrm>
            <a:off x="340470" y="1815320"/>
            <a:ext cx="4141760" cy="4141760"/>
          </a:xfrm>
          <a:custGeom>
            <a:avLst/>
            <a:gdLst/>
            <a:ahLst/>
            <a:cxnLst/>
            <a:rect l="l" t="t" r="r" b="b"/>
            <a:pathLst>
              <a:path w="4141760" h="4377846" extrusionOk="0">
                <a:moveTo>
                  <a:pt x="0" y="0"/>
                </a:moveTo>
                <a:lnTo>
                  <a:pt x="4141760" y="0"/>
                </a:lnTo>
                <a:lnTo>
                  <a:pt x="4141760" y="4377846"/>
                </a:lnTo>
                <a:lnTo>
                  <a:pt x="0" y="4377846"/>
                </a:lnTo>
                <a:close/>
              </a:path>
            </a:pathLst>
          </a:custGeom>
          <a:noFill/>
          <a:ln>
            <a:noFill/>
          </a:ln>
        </p:spPr>
      </p:pic>
      <p:grpSp>
        <p:nvGrpSpPr>
          <p:cNvPr id="289" name="Google Shape;289;p20"/>
          <p:cNvGrpSpPr/>
          <p:nvPr/>
        </p:nvGrpSpPr>
        <p:grpSpPr>
          <a:xfrm>
            <a:off x="-4253" y="-5977"/>
            <a:ext cx="6238675" cy="6863979"/>
            <a:chOff x="305" y="-5977"/>
            <a:chExt cx="6238675" cy="6863979"/>
          </a:xfrm>
        </p:grpSpPr>
        <p:sp>
          <p:nvSpPr>
            <p:cNvPr id="290" name="Google Shape;290;p20"/>
            <p:cNvSpPr/>
            <p:nvPr/>
          </p:nvSpPr>
          <p:spPr>
            <a:xfrm flipH="1">
              <a:off x="305" y="34854"/>
              <a:ext cx="6028697" cy="6817170"/>
            </a:xfrm>
            <a:custGeom>
              <a:avLst/>
              <a:gdLst/>
              <a:ahLst/>
              <a:cxnLst/>
              <a:rect l="l" t="t" r="r" b="b"/>
              <a:pathLst>
                <a:path w="6028697" h="6817170" extrusionOk="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1" name="Google Shape;291;p20"/>
            <p:cNvSpPr/>
            <p:nvPr/>
          </p:nvSpPr>
          <p:spPr>
            <a:xfrm flipH="1">
              <a:off x="305" y="1"/>
              <a:ext cx="6165116" cy="6858001"/>
            </a:xfrm>
            <a:custGeom>
              <a:avLst/>
              <a:gdLst/>
              <a:ahLst/>
              <a:cxnLst/>
              <a:rect l="l" t="t" r="r" b="b"/>
              <a:pathLst>
                <a:path w="6264586" h="6858001" extrusionOk="0">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2" name="Google Shape;292;p20"/>
            <p:cNvSpPr/>
            <p:nvPr/>
          </p:nvSpPr>
          <p:spPr>
            <a:xfrm flipH="1">
              <a:off x="305" y="-5977"/>
              <a:ext cx="6238675" cy="6858001"/>
            </a:xfrm>
            <a:custGeom>
              <a:avLst/>
              <a:gdLst/>
              <a:ahLst/>
              <a:cxnLst/>
              <a:rect l="l" t="t" r="r" b="b"/>
              <a:pathLst>
                <a:path w="6264586" h="6858001" extrusionOk="0">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93" name="Google Shape;29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Galgotias University</a:t>
            </a:r>
            <a:endParaRPr/>
          </a:p>
        </p:txBody>
      </p:sp>
      <p:sp>
        <p:nvSpPr>
          <p:cNvPr id="294" name="Google Shape;29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22</a:t>
            </a:fld>
            <a:endParaRPr/>
          </a:p>
        </p:txBody>
      </p:sp>
      <p:pic>
        <p:nvPicPr>
          <p:cNvPr id="295" name="Google Shape;295;p20" descr="A blue circle with text and words&#10;&#10;Description automatically generated"/>
          <p:cNvPicPr preferRelativeResize="0"/>
          <p:nvPr/>
        </p:nvPicPr>
        <p:blipFill rotWithShape="1">
          <a:blip r:embed="rId4">
            <a:alphaModFix/>
          </a:blip>
          <a:srcRect/>
          <a:stretch/>
        </p:blipFill>
        <p:spPr>
          <a:xfrm>
            <a:off x="10758566" y="176754"/>
            <a:ext cx="874732" cy="874732"/>
          </a:xfrm>
          <a:prstGeom prst="rect">
            <a:avLst/>
          </a:prstGeom>
          <a:noFill/>
          <a:ln>
            <a:noFill/>
          </a:ln>
        </p:spPr>
      </p:pic>
      <p:pic>
        <p:nvPicPr>
          <p:cNvPr id="296" name="Google Shape;296;p20"/>
          <p:cNvPicPr preferRelativeResize="0"/>
          <p:nvPr/>
        </p:nvPicPr>
        <p:blipFill rotWithShape="1">
          <a:blip r:embed="rId5">
            <a:alphaModFix/>
          </a:blip>
          <a:srcRect/>
          <a:stretch/>
        </p:blipFill>
        <p:spPr>
          <a:xfrm>
            <a:off x="242966" y="208906"/>
            <a:ext cx="2215421" cy="61247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TotalTime>
  <Words>1642</Words>
  <Application>Microsoft Office PowerPoint</Application>
  <PresentationFormat>Widescreen</PresentationFormat>
  <Paragraphs>209</Paragraphs>
  <Slides>22</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Aptos</vt:lpstr>
      <vt:lpstr>Courier New</vt:lpstr>
      <vt:lpstr>Cambria</vt:lpstr>
      <vt:lpstr>Play</vt:lpstr>
      <vt:lpstr>Arial</vt:lpstr>
      <vt:lpstr>Georgia</vt:lpstr>
      <vt:lpstr>Calibri</vt:lpstr>
      <vt:lpstr>Times New Roman</vt:lpstr>
      <vt:lpstr>Consolas</vt:lpstr>
      <vt:lpstr>Office Theme</vt:lpstr>
      <vt:lpstr>Session No.: -5 Course Name: Data Communication and Networking Course Code: R1UC406B Instructor Name: Gurmeet Singh</vt:lpstr>
      <vt:lpstr>Session Outline</vt:lpstr>
      <vt:lpstr>Recap</vt:lpstr>
      <vt:lpstr>REVISITING ACTIVITY FROM PREVIOUS LESSON</vt:lpstr>
      <vt:lpstr>PowerPoint Presentation</vt:lpstr>
      <vt:lpstr>At the end of this session students will be able to,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 attainment: Please Check, if you are now able to</vt:lpstr>
      <vt:lpstr>Post-lesson discussion</vt:lpstr>
      <vt:lpstr>Information to next topic of the course</vt:lpstr>
      <vt:lpstr>Review and Reflection from students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Deepak Gupta</dc:creator>
  <cp:lastModifiedBy>gurmeetsingh</cp:lastModifiedBy>
  <cp:revision>10</cp:revision>
  <dcterms:created xsi:type="dcterms:W3CDTF">2024-08-22T06:33:55Z</dcterms:created>
  <dcterms:modified xsi:type="dcterms:W3CDTF">2026-02-10T08:08:36Z</dcterms:modified>
</cp:coreProperties>
</file>