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87" r:id="rId6"/>
    <p:sldId id="260" r:id="rId7"/>
    <p:sldId id="261" r:id="rId8"/>
    <p:sldId id="288" r:id="rId9"/>
    <p:sldId id="262" r:id="rId10"/>
    <p:sldId id="263" r:id="rId11"/>
    <p:sldId id="264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65" r:id="rId22"/>
    <p:sldId id="284" r:id="rId23"/>
    <p:sldId id="279" r:id="rId24"/>
    <p:sldId id="266" r:id="rId25"/>
    <p:sldId id="278" r:id="rId26"/>
    <p:sldId id="277" r:id="rId27"/>
    <p:sldId id="281" r:id="rId28"/>
    <p:sldId id="285" r:id="rId29"/>
    <p:sldId id="282" r:id="rId30"/>
    <p:sldId id="283" r:id="rId31"/>
  </p:sldIdLst>
  <p:sldSz cx="12192000" cy="6858000"/>
  <p:notesSz cx="6858000" cy="9144000"/>
  <p:embeddedFontLst>
    <p:embeddedFont>
      <p:font typeface="Calibri" panose="020F0502020204030204"/>
      <p:regular r:id="rId35"/>
    </p:embeddedFont>
    <p:embeddedFont>
      <p:font typeface="Georgia" panose="02040502050405020303"/>
      <p:regular r:id="rId36"/>
    </p:embeddedFont>
    <p:embeddedFont>
      <p:font typeface="Tinos" panose="02020603050405020304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8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5.fntdata"/><Relationship Id="rId38" Type="http://schemas.openxmlformats.org/officeDocument/2006/relationships/font" Target="fonts/font4.fntdata"/><Relationship Id="rId37" Type="http://schemas.openxmlformats.org/officeDocument/2006/relationships/font" Target="fonts/font3.fntdata"/><Relationship Id="rId36" Type="http://schemas.openxmlformats.org/officeDocument/2006/relationships/font" Target="fonts/font2.fntdata"/><Relationship Id="rId35" Type="http://schemas.openxmlformats.org/officeDocument/2006/relationships/font" Target="fonts/font1.fntdata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7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9" name="Google Shape;1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" name="Google Shape;1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5" name="Google Shape;2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6" name="Google Shape;22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9" name="Google Shape;23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0" name="Google Shape;25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2" name="Google Shape;2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4" name="Google Shape;27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6" name="Google Shape;28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8" name="Google Shape;29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0" name="Google Shape;31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4" name="Google Shape;2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6" name="Google Shape;35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4" name="Google Shape;2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5" name="Google Shape;34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4" name="Google Shape;33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8" name="Google Shape;37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4" name="Google Shape;33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0" name="Google Shape;39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8" name="Google Shape;40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3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3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.jpeg"/><Relationship Id="rId3" Type="http://schemas.openxmlformats.org/officeDocument/2006/relationships/image" Target="../media/image2.jpe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image" Target="../media/image20.jpe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eorgia" panose="02040502050405020303"/>
              <a:buNone/>
            </a:pPr>
            <a:r>
              <a:rPr lang="en-US" sz="6600" b="1" dirty="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Network Topology</a:t>
            </a:r>
            <a:br>
              <a:rPr lang="en-US" sz="4800" b="1" dirty="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</a:br>
            <a:br>
              <a:rPr lang="en-US" sz="4800" b="1" dirty="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</a:br>
            <a:br>
              <a:rPr lang="en-US" sz="4800" b="1" dirty="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</a:br>
            <a:br>
              <a:rPr lang="en-US" sz="4800" b="1" dirty="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</a:br>
            <a:r>
              <a:rPr lang="en-US" sz="1800" b="1" dirty="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Session No.: 2</a:t>
            </a:r>
            <a:br>
              <a:rPr lang="en-US" sz="1800" b="1" dirty="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</a:br>
            <a:r>
              <a:rPr lang="en-US" sz="1800" b="1" dirty="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Course Name: Data Communication and Networking</a:t>
            </a:r>
            <a:br>
              <a:rPr lang="en-US" sz="1800" b="1" dirty="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</a:br>
            <a:r>
              <a:rPr lang="en-US" sz="1800" b="1" dirty="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Course Code: 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R1UC406B</a:t>
            </a:r>
            <a:br>
              <a:rPr lang="en-US" sz="18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18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Instructor Name: ASHWANI KUMAR</a:t>
            </a:r>
            <a:br>
              <a:rPr lang="en-US" sz="1800" b="1" dirty="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</a:br>
            <a:br>
              <a:rPr lang="en-US" sz="1800" b="1" dirty="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</a:br>
            <a:br>
              <a:rPr lang="en-US" sz="1800" b="1" dirty="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</a:br>
            <a:endParaRPr sz="4800" b="1" dirty="0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 lang="en-US"/>
          </a:p>
        </p:txBody>
      </p:sp>
      <p:sp>
        <p:nvSpPr>
          <p:cNvPr id="90" name="Google Shape;9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91" name="Google Shape;91;p1" descr="A blue circle with text and words&#10;&#10;Description automatically generated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928384" y="46123"/>
            <a:ext cx="1190469" cy="1190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-1" y="0"/>
            <a:ext cx="12191999" cy="90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Learning Outcomes</a:t>
            </a:r>
            <a:endParaRPr lang="en-US" sz="4400" b="1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-1" y="6416040"/>
            <a:ext cx="12191997" cy="441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Tinos" panose="02020603050405020304"/>
                <a:ea typeface="Tinos" panose="02020603050405020304"/>
                <a:cs typeface="Tinos" panose="02020603050405020304"/>
                <a:sym typeface="Tinos" panose="02020603050405020304"/>
              </a:rPr>
              <a:t>  					</a:t>
            </a:r>
            <a:endParaRPr lang="en-US" sz="1800" b="1" i="0" u="none" strike="noStrike" cap="none">
              <a:solidFill>
                <a:schemeClr val="lt1"/>
              </a:solidFill>
              <a:latin typeface="Tinos" panose="02020603050405020304"/>
              <a:ea typeface="Tinos" panose="02020603050405020304"/>
              <a:cs typeface="Tinos" panose="02020603050405020304"/>
              <a:sym typeface="Tinos" panose="02020603050405020304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 lang="en-US"/>
          </a:p>
        </p:txBody>
      </p:sp>
      <p:sp>
        <p:nvSpPr>
          <p:cNvPr id="100" name="Google Shape;10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01" name="Google Shape;101;p2"/>
          <p:cNvSpPr txBox="1"/>
          <p:nvPr/>
        </p:nvSpPr>
        <p:spPr>
          <a:xfrm>
            <a:off x="558702" y="1102452"/>
            <a:ext cx="10542973" cy="822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 panose="020B0604020202020204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At the end session students will be able to </a:t>
            </a:r>
            <a:endParaRPr lang="en-US" sz="4000" b="1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02" name="Google Shape;102;p2"/>
          <p:cNvGrpSpPr/>
          <p:nvPr/>
        </p:nvGrpSpPr>
        <p:grpSpPr>
          <a:xfrm>
            <a:off x="558702" y="2066143"/>
            <a:ext cx="10927828" cy="3689404"/>
            <a:chOff x="0" y="0"/>
            <a:chExt cx="10927828" cy="3689404"/>
          </a:xfrm>
        </p:grpSpPr>
        <p:sp>
          <p:nvSpPr>
            <p:cNvPr id="103" name="Google Shape;103;p2"/>
            <p:cNvSpPr/>
            <p:nvPr/>
          </p:nvSpPr>
          <p:spPr>
            <a:xfrm>
              <a:off x="0" y="0"/>
              <a:ext cx="9288654" cy="1660232"/>
            </a:xfrm>
            <a:prstGeom prst="roundRect">
              <a:avLst>
                <a:gd name="adj" fmla="val 10000"/>
              </a:avLst>
            </a:prstGeom>
            <a:solidFill>
              <a:schemeClr val="accent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48627" y="48627"/>
              <a:ext cx="7572674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0000" tIns="160000" rIns="160000" bIns="160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200"/>
                <a:buFont typeface="Calibri" panose="020F0502020204030204"/>
                <a:buNone/>
              </a:pPr>
              <a:r>
                <a:rPr lang="en-US" sz="4200" b="0" i="0" u="none" strike="noStrike" cap="none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Learning Outcome 1: </a:t>
              </a:r>
              <a:r>
                <a:rPr lang="en-US" sz="4200" b="0" i="0" u="none" strike="noStrike" cap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Identify the Computer Network Topologies </a:t>
              </a:r>
              <a:endParaRPr sz="4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639174" y="2029172"/>
              <a:ext cx="9288654" cy="1660232"/>
            </a:xfrm>
            <a:prstGeom prst="roundRect">
              <a:avLst>
                <a:gd name="adj" fmla="val 10000"/>
              </a:avLst>
            </a:prstGeom>
            <a:solidFill>
              <a:srgbClr val="A4A4A4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1687801" y="2077799"/>
              <a:ext cx="6473075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0000" tIns="160000" rIns="160000" bIns="160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200"/>
                <a:buFont typeface="Calibri" panose="020F0502020204030204"/>
                <a:buNone/>
              </a:pPr>
              <a:r>
                <a:rPr lang="en-US" sz="4200" b="0" i="0" u="none" strike="noStrike" cap="none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Learning Outcome 2: </a:t>
              </a:r>
              <a:r>
                <a:rPr lang="en-US" sz="4200" b="0" i="0" u="none" strike="noStrike" cap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Apply topology in networking</a:t>
              </a:r>
              <a:endParaRPr sz="4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8209503" y="1305127"/>
              <a:ext cx="1079150" cy="1079150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7D5CB">
                <a:alpha val="89803"/>
              </a:srgbClr>
            </a:solidFill>
            <a:ln w="12700" cap="flat" cmpd="sng">
              <a:solidFill>
                <a:srgbClr val="F7D5CB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8452312" y="1305127"/>
              <a:ext cx="593532" cy="812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alibri" panose="020F0502020204030204"/>
                <a:buNone/>
              </a:pPr>
              <a:endParaRPr sz="3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109" name="Google Shape;109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3500846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" descr="A blue circle with text and words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281527" y="0"/>
            <a:ext cx="908720" cy="908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/>
          <p:nvPr/>
        </p:nvSpPr>
        <p:spPr>
          <a:xfrm>
            <a:off x="-1" y="0"/>
            <a:ext cx="12191999" cy="90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Identify the Differences in the following network</a:t>
            </a:r>
            <a:endParaRPr sz="2000" b="1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-1" y="6416040"/>
            <a:ext cx="12191997" cy="441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nos" panose="02020603050405020304"/>
                <a:ea typeface="Tinos" panose="02020603050405020304"/>
                <a:cs typeface="Tinos" panose="02020603050405020304"/>
                <a:sym typeface="Tinos" panose="02020603050405020304"/>
              </a:rPr>
              <a:t>  					</a:t>
            </a:r>
            <a:endParaRPr lang="en-US" sz="1800" b="1" i="0" u="none" strike="noStrike" cap="none">
              <a:solidFill>
                <a:schemeClr val="dk1"/>
              </a:solidFill>
              <a:latin typeface="Tinos" panose="02020603050405020304"/>
              <a:ea typeface="Tinos" panose="02020603050405020304"/>
              <a:cs typeface="Tinos" panose="02020603050405020304"/>
              <a:sym typeface="Tinos" panose="02020603050405020304"/>
            </a:endParaRPr>
          </a:p>
        </p:txBody>
      </p:sp>
      <p:sp>
        <p:nvSpPr>
          <p:cNvPr id="140" name="Google Shape;14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 lang="en-US"/>
          </a:p>
        </p:txBody>
      </p:sp>
      <p:sp>
        <p:nvSpPr>
          <p:cNvPr id="141" name="Google Shape;14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42" name="Google Shape;142;p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2939144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5" descr="A blue circle with text and words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281526" y="0"/>
            <a:ext cx="912111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719" y="2146503"/>
            <a:ext cx="4507178" cy="25649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8906" y="1876271"/>
            <a:ext cx="4792620" cy="36874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/>
          <p:nvPr/>
        </p:nvSpPr>
        <p:spPr>
          <a:xfrm>
            <a:off x="-1" y="0"/>
            <a:ext cx="12191999" cy="90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Network Topology</a:t>
            </a:r>
            <a:endParaRPr dirty="0"/>
          </a:p>
        </p:txBody>
      </p:sp>
      <p:sp>
        <p:nvSpPr>
          <p:cNvPr id="138" name="Google Shape;138;p5"/>
          <p:cNvSpPr txBox="1"/>
          <p:nvPr/>
        </p:nvSpPr>
        <p:spPr>
          <a:xfrm>
            <a:off x="-1" y="6416040"/>
            <a:ext cx="12191997" cy="441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nos" panose="02020603050405020304"/>
                <a:ea typeface="Tinos" panose="02020603050405020304"/>
                <a:cs typeface="Tinos" panose="02020603050405020304"/>
                <a:sym typeface="Tinos" panose="02020603050405020304"/>
              </a:rPr>
              <a:t>  					</a:t>
            </a:r>
            <a:endParaRPr lang="en-US" sz="1800" b="1" i="0" u="none" strike="noStrike" cap="none">
              <a:solidFill>
                <a:schemeClr val="dk1"/>
              </a:solidFill>
              <a:latin typeface="Tinos" panose="02020603050405020304"/>
              <a:ea typeface="Tinos" panose="02020603050405020304"/>
              <a:cs typeface="Tinos" panose="02020603050405020304"/>
              <a:sym typeface="Tinos" panose="02020603050405020304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798783" y="2111057"/>
            <a:ext cx="1059442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Network topology refers to the physical or logical arrangement of network devices and how data flows between them. </a:t>
            </a:r>
            <a:endParaRPr dirty="0"/>
          </a:p>
          <a:p>
            <a:pPr marL="457200" marR="0" lvl="0" indent="-279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endParaRPr sz="2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choice of topology affects performance, scalability, and reliability.</a:t>
            </a:r>
            <a:endParaRPr dirty="0"/>
          </a:p>
        </p:txBody>
      </p:sp>
      <p:sp>
        <p:nvSpPr>
          <p:cNvPr id="140" name="Google Shape;14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 lang="en-US"/>
          </a:p>
        </p:txBody>
      </p:sp>
      <p:sp>
        <p:nvSpPr>
          <p:cNvPr id="141" name="Google Shape;14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42" name="Google Shape;142;p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2939144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5" descr="A blue circle with text and words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281526" y="0"/>
            <a:ext cx="912111" cy="908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/>
          <p:nvPr/>
        </p:nvSpPr>
        <p:spPr>
          <a:xfrm>
            <a:off x="-1" y="0"/>
            <a:ext cx="12191999" cy="90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Tinos" panose="02020603050405020304"/>
              <a:ea typeface="Tinos" panose="02020603050405020304"/>
              <a:cs typeface="Tinos" panose="02020603050405020304"/>
              <a:sym typeface="Tinos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lt1"/>
                </a:solidFill>
                <a:latin typeface="Tinos" panose="02020603050405020304"/>
                <a:ea typeface="Tinos" panose="02020603050405020304"/>
                <a:cs typeface="Tinos" panose="02020603050405020304"/>
                <a:sym typeface="Tinos" panose="02020603050405020304"/>
              </a:rPr>
              <a:t>Basic Idea of Topology</a:t>
            </a:r>
            <a:endParaRPr lang="en-US" sz="4400" b="1">
              <a:solidFill>
                <a:schemeClr val="lt1"/>
              </a:solidFill>
              <a:latin typeface="Tinos" panose="02020603050405020304"/>
              <a:ea typeface="Tinos" panose="02020603050405020304"/>
              <a:cs typeface="Tinos" panose="02020603050405020304"/>
              <a:sym typeface="Tinos" panose="02020603050405020304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-1" y="6416040"/>
            <a:ext cx="12191997" cy="441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Tinos" panose="02020603050405020304"/>
                <a:ea typeface="Tinos" panose="02020603050405020304"/>
                <a:cs typeface="Tinos" panose="02020603050405020304"/>
                <a:sym typeface="Tinos" panose="02020603050405020304"/>
              </a:rPr>
              <a:t>  					</a:t>
            </a:r>
            <a:endParaRPr lang="en-US" sz="1800" b="1" i="0" u="none" strike="noStrike" cap="none">
              <a:solidFill>
                <a:schemeClr val="lt1"/>
              </a:solidFill>
              <a:latin typeface="Tinos" panose="02020603050405020304"/>
              <a:ea typeface="Tinos" panose="02020603050405020304"/>
              <a:cs typeface="Tinos" panose="02020603050405020304"/>
              <a:sym typeface="Tinos" panose="02020603050405020304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7888114" y="1693862"/>
            <a:ext cx="3815255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indent="-457200"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Mesh Topology</a:t>
            </a:r>
            <a:endParaRPr lang="en-US" sz="2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Bus Topology</a:t>
            </a:r>
            <a:endParaRPr dirty="0"/>
          </a:p>
          <a:p>
            <a:pPr marL="457200" marR="0" lvl="0" indent="-457200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Star Topology</a:t>
            </a:r>
            <a:endParaRPr dirty="0"/>
          </a:p>
          <a:p>
            <a:pPr marL="457200" marR="0" lvl="0" indent="-457200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Ring Topology</a:t>
            </a:r>
            <a:endParaRPr dirty="0"/>
          </a:p>
          <a:p>
            <a:pPr marL="457200" marR="0" lvl="0" indent="-457200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Tree Topology</a:t>
            </a:r>
            <a:endParaRPr dirty="0"/>
          </a:p>
          <a:p>
            <a:pPr marL="457200" marR="0" lvl="0" indent="-457200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Hybrid Topology</a:t>
            </a:r>
            <a:endParaRPr dirty="0"/>
          </a:p>
        </p:txBody>
      </p:sp>
      <p:sp>
        <p:nvSpPr>
          <p:cNvPr id="151" name="Google Shape;15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 lang="en-US"/>
          </a:p>
        </p:txBody>
      </p:sp>
      <p:sp>
        <p:nvSpPr>
          <p:cNvPr id="152" name="Google Shape;15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53" name="Google Shape;153;p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2939144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6" descr="A blue circle with text and words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281526" y="0"/>
            <a:ext cx="912111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543" y="1914714"/>
            <a:ext cx="6466667" cy="30285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/>
          <p:nvPr/>
        </p:nvSpPr>
        <p:spPr>
          <a:xfrm>
            <a:off x="-1" y="0"/>
            <a:ext cx="12191999" cy="90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chemeClr val="lt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Group Activity</a:t>
            </a:r>
            <a:endParaRPr dirty="0"/>
          </a:p>
        </p:txBody>
      </p:sp>
      <p:sp>
        <p:nvSpPr>
          <p:cNvPr id="138" name="Google Shape;138;p5"/>
          <p:cNvSpPr txBox="1"/>
          <p:nvPr/>
        </p:nvSpPr>
        <p:spPr>
          <a:xfrm>
            <a:off x="-1" y="6416040"/>
            <a:ext cx="12191997" cy="441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nos" panose="02020603050405020304"/>
                <a:ea typeface="Tinos" panose="02020603050405020304"/>
                <a:cs typeface="Tinos" panose="02020603050405020304"/>
                <a:sym typeface="Tinos" panose="02020603050405020304"/>
              </a:rPr>
              <a:t>  					</a:t>
            </a:r>
            <a:endParaRPr lang="en-US" sz="1800" b="1" i="0" u="none" strike="noStrike" cap="none">
              <a:solidFill>
                <a:schemeClr val="dk1"/>
              </a:solidFill>
              <a:latin typeface="Tinos" panose="02020603050405020304"/>
              <a:ea typeface="Tinos" panose="02020603050405020304"/>
              <a:cs typeface="Tinos" panose="02020603050405020304"/>
              <a:sym typeface="Tinos" panose="02020603050405020304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508819" y="1794632"/>
            <a:ext cx="7059562" cy="3648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2400" dirty="0"/>
              <a:t>Each table(group) have to discuss &amp; share the </a:t>
            </a:r>
            <a:r>
              <a:rPr lang="en-US" sz="2400" b="1" dirty="0"/>
              <a:t>properties, diagram , advantages &amp; disadvantages</a:t>
            </a:r>
            <a:r>
              <a:rPr lang="en-US" sz="2400" dirty="0"/>
              <a:t> of the assigned topology.</a:t>
            </a:r>
            <a:endParaRPr lang="en-US" sz="2400" dirty="0"/>
          </a:p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en-US" sz="2400" dirty="0"/>
          </a:p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2400" dirty="0"/>
              <a:t>Group 1/7   : Star</a:t>
            </a:r>
            <a:endParaRPr lang="en-US" sz="2400" dirty="0"/>
          </a:p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2400" dirty="0"/>
              <a:t>Group 2/8   : Mesh</a:t>
            </a:r>
            <a:endParaRPr lang="en-US" sz="2400" dirty="0"/>
          </a:p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2400" dirty="0"/>
              <a:t>Group 3/9   : Bus</a:t>
            </a:r>
            <a:endParaRPr lang="en-US" sz="2400" dirty="0"/>
          </a:p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2400" dirty="0"/>
              <a:t>Group 4/10 : Ring</a:t>
            </a:r>
            <a:endParaRPr lang="en-US" sz="2400" dirty="0"/>
          </a:p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2400" dirty="0"/>
              <a:t>Group 5/11 : Tree</a:t>
            </a:r>
            <a:endParaRPr lang="en-US" sz="2400" dirty="0"/>
          </a:p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2400" dirty="0"/>
              <a:t>Group 6/12 : Hybrid</a:t>
            </a:r>
            <a:endParaRPr sz="2400" dirty="0"/>
          </a:p>
        </p:txBody>
      </p:sp>
      <p:sp>
        <p:nvSpPr>
          <p:cNvPr id="140" name="Google Shape;14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 lang="en-US"/>
          </a:p>
        </p:txBody>
      </p:sp>
      <p:sp>
        <p:nvSpPr>
          <p:cNvPr id="141" name="Google Shape;14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42" name="Google Shape;142;p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2939144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5" descr="A blue circle with text and words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281526" y="0"/>
            <a:ext cx="912111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8374" y="1582476"/>
            <a:ext cx="3947652" cy="39476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 txBox="1"/>
          <p:nvPr/>
        </p:nvSpPr>
        <p:spPr>
          <a:xfrm>
            <a:off x="-1" y="0"/>
            <a:ext cx="12191999" cy="90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Mesh Topology </a:t>
            </a:r>
            <a:endParaRPr lang="en-US" sz="44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-1" y="6416040"/>
            <a:ext cx="12191997" cy="441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Tinos" panose="02020603050405020304"/>
                <a:ea typeface="Tinos" panose="02020603050405020304"/>
                <a:cs typeface="Tinos" panose="02020603050405020304"/>
                <a:sym typeface="Tinos" panose="02020603050405020304"/>
              </a:rPr>
              <a:t>  					</a:t>
            </a:r>
            <a:endParaRPr lang="en-US" sz="1800" b="1" i="0" u="none" strike="noStrike" cap="none">
              <a:solidFill>
                <a:schemeClr val="lt1"/>
              </a:solidFill>
              <a:latin typeface="Tinos" panose="02020603050405020304"/>
              <a:ea typeface="Tinos" panose="02020603050405020304"/>
              <a:cs typeface="Tinos" panose="02020603050405020304"/>
              <a:sym typeface="Tinos" panose="02020603050405020304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762000" y="1163637"/>
            <a:ext cx="10428514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0" marR="0" lvl="1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Every link is dedicated  point-to-point link</a:t>
            </a:r>
            <a:endParaRPr lang="en-US" sz="2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14400" marR="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term dedicated means that the link carries traffic only between the two devices it connects</a:t>
            </a:r>
            <a:endParaRPr lang="en-US" sz="2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endParaRPr sz="2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62" name="Google Shape;162;p7" descr="Mesh Topology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438400" y="2496911"/>
            <a:ext cx="7075713" cy="372291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 lang="en-US"/>
          </a:p>
        </p:txBody>
      </p:sp>
      <p:sp>
        <p:nvSpPr>
          <p:cNvPr id="164" name="Google Shape;16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65" name="Google Shape;165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2939144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7" descr="A blue circle with text and words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281526" y="0"/>
            <a:ext cx="912111" cy="908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 txBox="1"/>
          <p:nvPr/>
        </p:nvSpPr>
        <p:spPr>
          <a:xfrm>
            <a:off x="-1" y="0"/>
            <a:ext cx="12191999" cy="90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Mesh Topology </a:t>
            </a:r>
            <a:endParaRPr lang="en-US" sz="44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US" sz="44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-1" y="6416040"/>
            <a:ext cx="12191997" cy="441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Tinos" panose="02020603050405020304"/>
                <a:ea typeface="Tinos" panose="02020603050405020304"/>
                <a:cs typeface="Tinos" panose="02020603050405020304"/>
                <a:sym typeface="Tinos" panose="02020603050405020304"/>
              </a:rPr>
              <a:t>  					</a:t>
            </a:r>
            <a:endParaRPr lang="en-US" sz="1800" b="1" i="0" u="none" strike="noStrike" cap="none">
              <a:solidFill>
                <a:schemeClr val="lt1"/>
              </a:solidFill>
              <a:latin typeface="Tinos" panose="02020603050405020304"/>
              <a:ea typeface="Tinos" panose="02020603050405020304"/>
              <a:cs typeface="Tinos" panose="02020603050405020304"/>
              <a:sym typeface="Tinos" panose="02020603050405020304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993228" y="1263667"/>
            <a:ext cx="9995337" cy="475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</a:pPr>
            <a:r>
              <a:rPr lang="en-US" sz="3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Mesh</a:t>
            </a:r>
            <a:endParaRPr sz="3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link</a:t>
            </a:r>
            <a:r>
              <a:rPr lang="en-US" sz="28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800" b="1" i="1" u="none" strike="noStrike" cap="none">
                <a:solidFill>
                  <a:srgbClr val="3333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devices</a:t>
            </a:r>
            <a:r>
              <a:rPr lang="en-US" sz="28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fully connected mesh has:</a:t>
            </a:r>
            <a:br>
              <a:rPr lang="en-US"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    </a:t>
            </a:r>
            <a:r>
              <a:rPr lang="en-US" sz="2800" b="1" i="1" u="none" strike="noStrike" cap="none">
                <a:solidFill>
                  <a:srgbClr val="3333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 ( n - 1) / 2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physical channels (Full-Duplex)</a:t>
            </a:r>
            <a:endParaRPr lang="en-US" sz="2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Every Device on the network must have</a:t>
            </a:r>
            <a:br>
              <a:rPr lang="en-US"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	 </a:t>
            </a:r>
            <a:r>
              <a:rPr lang="en-US" sz="2800" b="1" i="1" u="none" strike="noStrike" cap="none">
                <a:solidFill>
                  <a:srgbClr val="3333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 - 1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ports</a:t>
            </a:r>
            <a:endParaRPr lang="en-US" sz="2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74" name="Google Shape;174;p8" descr="mesh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041814" y="2580545"/>
            <a:ext cx="3562571" cy="291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 lang="en-US"/>
          </a:p>
        </p:txBody>
      </p:sp>
      <p:sp>
        <p:nvSpPr>
          <p:cNvPr id="176" name="Google Shape;17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77" name="Google Shape;177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2939144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8" descr="A blue circle with text and words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281526" y="0"/>
            <a:ext cx="912111" cy="908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 txBox="1"/>
          <p:nvPr/>
        </p:nvSpPr>
        <p:spPr>
          <a:xfrm>
            <a:off x="-1" y="0"/>
            <a:ext cx="12191999" cy="90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Mesh Topology </a:t>
            </a:r>
            <a:endParaRPr lang="en-US" sz="44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US" sz="44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-1" y="6416040"/>
            <a:ext cx="12191997" cy="441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Tinos" panose="02020603050405020304"/>
                <a:ea typeface="Tinos" panose="02020603050405020304"/>
                <a:cs typeface="Tinos" panose="02020603050405020304"/>
                <a:sym typeface="Tinos" panose="02020603050405020304"/>
              </a:rPr>
              <a:t>  					</a:t>
            </a:r>
            <a:endParaRPr lang="en-US" sz="1800" b="1" i="0" u="none" strike="noStrike" cap="none">
              <a:solidFill>
                <a:schemeClr val="lt1"/>
              </a:solidFill>
              <a:latin typeface="Tinos" panose="02020603050405020304"/>
              <a:ea typeface="Tinos" panose="02020603050405020304"/>
              <a:cs typeface="Tinos" panose="02020603050405020304"/>
              <a:sym typeface="Tinos" panose="02020603050405020304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1827194" y="1576497"/>
            <a:ext cx="9019481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</a:pPr>
            <a:r>
              <a:rPr lang="en-US" sz="3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Mesh</a:t>
            </a:r>
            <a:endParaRPr lang="en-US" sz="3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Example:</a:t>
            </a:r>
            <a:endParaRPr sz="2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Noto Sans Symbols"/>
              <a:buNone/>
            </a:pPr>
            <a:r>
              <a:rPr lang="en-US" sz="2800" b="1" i="0" u="none" strike="noStrike" cap="none">
                <a:solidFill>
                  <a:srgbClr val="CC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	8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devices in mesh has links: n(n-1) / 2</a:t>
            </a:r>
            <a:endParaRPr lang="en-US" sz="2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	number of links = 8 (8-1)/2 = </a:t>
            </a:r>
            <a:r>
              <a:rPr lang="en-US" sz="2800" b="1" i="0" u="none" strike="noStrike" cap="none">
                <a:solidFill>
                  <a:srgbClr val="CC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28</a:t>
            </a:r>
            <a:endParaRPr lang="en-US" sz="2800" b="1" i="0" u="none" strike="noStrike" cap="none">
              <a:solidFill>
                <a:srgbClr val="CC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rgbClr val="CC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	number of ports per device = n – 1 = 8 –1 = </a:t>
            </a:r>
            <a:r>
              <a:rPr lang="en-US" sz="2800" b="1" i="0" u="none" strike="noStrike" cap="none">
                <a:solidFill>
                  <a:srgbClr val="CC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7</a:t>
            </a:r>
            <a:endParaRPr lang="en-US" sz="2800" b="1" i="0" u="none" strike="noStrike" cap="none">
              <a:solidFill>
                <a:srgbClr val="CC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br>
              <a:rPr lang="en-US"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sz="2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86" name="Google Shape;186;p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774002" y="1576497"/>
            <a:ext cx="1680713" cy="130333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 lang="en-US"/>
          </a:p>
        </p:txBody>
      </p:sp>
      <p:sp>
        <p:nvSpPr>
          <p:cNvPr id="188" name="Google Shape;18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89" name="Google Shape;189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2939144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9" descr="A blue circle with text and words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281526" y="0"/>
            <a:ext cx="912111" cy="908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 txBox="1"/>
          <p:nvPr/>
        </p:nvSpPr>
        <p:spPr>
          <a:xfrm>
            <a:off x="-1" y="0"/>
            <a:ext cx="12191999" cy="90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Mesh Topology </a:t>
            </a:r>
            <a:endParaRPr lang="en-US" sz="44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8" name="Google Shape;218;p12"/>
          <p:cNvSpPr txBox="1"/>
          <p:nvPr/>
        </p:nvSpPr>
        <p:spPr>
          <a:xfrm>
            <a:off x="-1" y="6416040"/>
            <a:ext cx="12191997" cy="441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Tinos" panose="02020603050405020304"/>
                <a:ea typeface="Tinos" panose="02020603050405020304"/>
                <a:cs typeface="Tinos" panose="02020603050405020304"/>
                <a:sym typeface="Tinos" panose="02020603050405020304"/>
              </a:rPr>
              <a:t>  					</a:t>
            </a:r>
            <a:endParaRPr lang="en-US" sz="1800" b="1" i="0" u="none" strike="noStrike" cap="none">
              <a:solidFill>
                <a:schemeClr val="lt1"/>
              </a:solidFill>
              <a:latin typeface="Tinos" panose="02020603050405020304"/>
              <a:ea typeface="Tinos" panose="02020603050405020304"/>
              <a:cs typeface="Tinos" panose="02020603050405020304"/>
              <a:sym typeface="Tinos" panose="02020603050405020304"/>
            </a:endParaRPr>
          </a:p>
        </p:txBody>
      </p:sp>
      <p:sp>
        <p:nvSpPr>
          <p:cNvPr id="219" name="Google Shape;219;p12"/>
          <p:cNvSpPr txBox="1"/>
          <p:nvPr/>
        </p:nvSpPr>
        <p:spPr>
          <a:xfrm>
            <a:off x="1417292" y="1399398"/>
            <a:ext cx="1020029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Each device connects to multiple others for redundancy.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endParaRPr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Advantages:</a:t>
            </a:r>
            <a:endParaRPr lang="en-US" sz="24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 Highly reliable and fault-tolerant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 No single point of failure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 Supports high traffic loads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endParaRPr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Disadvantages:</a:t>
            </a:r>
            <a:endParaRPr lang="en-US" sz="24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 Very expensive due to cabling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 Complex to set up and maintain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0" name="Google Shape;22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 lang="en-US"/>
          </a:p>
        </p:txBody>
      </p:sp>
      <p:sp>
        <p:nvSpPr>
          <p:cNvPr id="221" name="Google Shape;22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22" name="Google Shape;222;p1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2939144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2" descr="A blue circle with text and words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281526" y="0"/>
            <a:ext cx="912111" cy="908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"/>
          <p:cNvSpPr txBox="1"/>
          <p:nvPr/>
        </p:nvSpPr>
        <p:spPr>
          <a:xfrm>
            <a:off x="-1" y="0"/>
            <a:ext cx="12191999" cy="90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Star Topology </a:t>
            </a:r>
            <a:endParaRPr lang="en-US" sz="44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9" name="Google Shape;229;p13"/>
          <p:cNvSpPr txBox="1"/>
          <p:nvPr/>
        </p:nvSpPr>
        <p:spPr>
          <a:xfrm>
            <a:off x="-1" y="6416040"/>
            <a:ext cx="12191997" cy="441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Tinos" panose="02020603050405020304"/>
                <a:ea typeface="Tinos" panose="02020603050405020304"/>
                <a:cs typeface="Tinos" panose="02020603050405020304"/>
                <a:sym typeface="Tinos" panose="02020603050405020304"/>
              </a:rPr>
              <a:t>  					</a:t>
            </a:r>
            <a:endParaRPr lang="en-US" sz="1800" b="1" i="0" u="none" strike="noStrike" cap="none">
              <a:solidFill>
                <a:schemeClr val="lt1"/>
              </a:solidFill>
              <a:latin typeface="Tinos" panose="02020603050405020304"/>
              <a:ea typeface="Tinos" panose="02020603050405020304"/>
              <a:cs typeface="Tinos" panose="02020603050405020304"/>
              <a:sym typeface="Tinos" panose="02020603050405020304"/>
            </a:endParaRPr>
          </a:p>
        </p:txBody>
      </p:sp>
      <p:sp>
        <p:nvSpPr>
          <p:cNvPr id="230" name="Google Shape;230;p13"/>
          <p:cNvSpPr txBox="1"/>
          <p:nvPr/>
        </p:nvSpPr>
        <p:spPr>
          <a:xfrm>
            <a:off x="804043" y="1212867"/>
            <a:ext cx="11072644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</a:pPr>
            <a:r>
              <a:rPr lang="en-US" sz="3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Star:</a:t>
            </a:r>
            <a:endParaRPr sz="3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14400" marR="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Dedicated point-to-point to a central controller (Hub)</a:t>
            </a:r>
            <a:endParaRPr lang="en-US" sz="2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14400" marR="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 direct traffic between devices</a:t>
            </a:r>
            <a:endParaRPr lang="en-US" sz="2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14400" marR="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control acts as an exchange</a:t>
            </a:r>
            <a:endParaRPr lang="en-US" sz="2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31" name="Google Shape;231;p1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64532" y="3480468"/>
            <a:ext cx="5512138" cy="2184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3" descr="Network Topology - Meaning &amp; Type of ...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417291" y="3397683"/>
            <a:ext cx="3895687" cy="2905669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 lang="en-US"/>
          </a:p>
        </p:txBody>
      </p:sp>
      <p:sp>
        <p:nvSpPr>
          <p:cNvPr id="234" name="Google Shape;23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35" name="Google Shape;235;p1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2939144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3" descr="A blue circle with text and words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281526" y="0"/>
            <a:ext cx="912111" cy="908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"/>
          <p:cNvSpPr txBox="1"/>
          <p:nvPr/>
        </p:nvSpPr>
        <p:spPr>
          <a:xfrm>
            <a:off x="-1" y="0"/>
            <a:ext cx="12191999" cy="90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Star Topology </a:t>
            </a:r>
            <a:endParaRPr lang="en-US" sz="44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2" name="Google Shape;242;p14"/>
          <p:cNvSpPr txBox="1"/>
          <p:nvPr/>
        </p:nvSpPr>
        <p:spPr>
          <a:xfrm>
            <a:off x="-1" y="6416040"/>
            <a:ext cx="12191997" cy="441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Tinos" panose="02020603050405020304"/>
                <a:ea typeface="Tinos" panose="02020603050405020304"/>
                <a:cs typeface="Tinos" panose="02020603050405020304"/>
                <a:sym typeface="Tinos" panose="02020603050405020304"/>
              </a:rPr>
              <a:t>  					</a:t>
            </a:r>
            <a:endParaRPr lang="en-US" sz="1800" b="1" i="0" u="none" strike="noStrike" cap="none">
              <a:solidFill>
                <a:schemeClr val="lt1"/>
              </a:solidFill>
              <a:latin typeface="Tinos" panose="02020603050405020304"/>
              <a:ea typeface="Tinos" panose="02020603050405020304"/>
              <a:cs typeface="Tinos" panose="02020603050405020304"/>
              <a:sym typeface="Tinos" panose="02020603050405020304"/>
            </a:endParaRPr>
          </a:p>
        </p:txBody>
      </p:sp>
      <p:sp>
        <p:nvSpPr>
          <p:cNvPr id="243" name="Google Shape;243;p14"/>
          <p:cNvSpPr txBox="1"/>
          <p:nvPr/>
        </p:nvSpPr>
        <p:spPr>
          <a:xfrm>
            <a:off x="457200" y="1600200"/>
            <a:ext cx="1083091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All devices are connected to a central hub or switch.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endParaRPr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Advantages:</a:t>
            </a:r>
            <a:endParaRPr lang="en-US" sz="24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 Easy to manage and troubleshoot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 High performance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 Failure of one device does not affect the rest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endParaRPr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Disadvantages:</a:t>
            </a:r>
            <a:endParaRPr lang="en-US" sz="24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 Failure of the central hub disrupts the entire network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 Expensive due to extra cabling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4" name="Google Shape;24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 lang="en-US"/>
          </a:p>
        </p:txBody>
      </p:sp>
      <p:sp>
        <p:nvSpPr>
          <p:cNvPr id="245" name="Google Shape;24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46" name="Google Shape;246;p1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2939144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4" descr="A blue circle with text and words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281526" y="0"/>
            <a:ext cx="912111" cy="908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"/>
          <p:cNvSpPr txBox="1"/>
          <p:nvPr/>
        </p:nvSpPr>
        <p:spPr>
          <a:xfrm>
            <a:off x="-3" y="9772"/>
            <a:ext cx="12191999" cy="90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Ring Topology </a:t>
            </a:r>
            <a:endParaRPr lang="en-US" sz="44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3" name="Google Shape;253;p15"/>
          <p:cNvSpPr txBox="1"/>
          <p:nvPr/>
        </p:nvSpPr>
        <p:spPr>
          <a:xfrm>
            <a:off x="-1" y="6416040"/>
            <a:ext cx="12191997" cy="441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Tinos" panose="02020603050405020304"/>
                <a:ea typeface="Tinos" panose="02020603050405020304"/>
                <a:cs typeface="Tinos" panose="02020603050405020304"/>
                <a:sym typeface="Tinos" panose="02020603050405020304"/>
              </a:rPr>
              <a:t>  					</a:t>
            </a:r>
            <a:endParaRPr lang="en-US" sz="1800" b="1" i="0" u="none" strike="noStrike" cap="none">
              <a:solidFill>
                <a:schemeClr val="lt1"/>
              </a:solidFill>
              <a:latin typeface="Tinos" panose="02020603050405020304"/>
              <a:ea typeface="Tinos" panose="02020603050405020304"/>
              <a:cs typeface="Tinos" panose="02020603050405020304"/>
              <a:sym typeface="Tinos" panose="02020603050405020304"/>
            </a:endParaRPr>
          </a:p>
        </p:txBody>
      </p:sp>
      <p:sp>
        <p:nvSpPr>
          <p:cNvPr id="254" name="Google Shape;254;p15"/>
          <p:cNvSpPr txBox="1"/>
          <p:nvPr/>
        </p:nvSpPr>
        <p:spPr>
          <a:xfrm>
            <a:off x="588805" y="1163637"/>
            <a:ext cx="10468303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Ring</a:t>
            </a:r>
            <a:endParaRPr lang="en-US" sz="2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001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Each device has dedicated point-to-point connection with only the two devices on either side of it</a:t>
            </a:r>
            <a:endParaRPr lang="en-US" sz="2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001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 signal is passed along the ring in one direction from device to device until it reaches its destination</a:t>
            </a:r>
            <a:endParaRPr lang="en-US" sz="2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001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Each devices incorporates a Repeater</a:t>
            </a:r>
            <a:endParaRPr lang="en-US" sz="2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55" name="Google Shape;255;p1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204725" y="4067969"/>
            <a:ext cx="8398470" cy="2379662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 lang="en-US"/>
          </a:p>
        </p:txBody>
      </p:sp>
      <p:sp>
        <p:nvSpPr>
          <p:cNvPr id="257" name="Google Shape;25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58" name="Google Shape;258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2939144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5" descr="A blue circle with text and words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281526" y="0"/>
            <a:ext cx="912111" cy="908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6"/>
          <p:cNvSpPr txBox="1"/>
          <p:nvPr/>
        </p:nvSpPr>
        <p:spPr>
          <a:xfrm>
            <a:off x="-1" y="0"/>
            <a:ext cx="12191999" cy="90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Ring Topology </a:t>
            </a:r>
            <a:endParaRPr lang="en-US" sz="44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5" name="Google Shape;265;p16"/>
          <p:cNvSpPr txBox="1"/>
          <p:nvPr/>
        </p:nvSpPr>
        <p:spPr>
          <a:xfrm>
            <a:off x="-1" y="6416040"/>
            <a:ext cx="12191997" cy="441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Tinos" panose="02020603050405020304"/>
                <a:ea typeface="Tinos" panose="02020603050405020304"/>
                <a:cs typeface="Tinos" panose="02020603050405020304"/>
                <a:sym typeface="Tinos" panose="02020603050405020304"/>
              </a:rPr>
              <a:t>  					</a:t>
            </a:r>
            <a:endParaRPr lang="en-US" sz="1800" b="1" i="0" u="none" strike="noStrike" cap="none">
              <a:solidFill>
                <a:schemeClr val="lt1"/>
              </a:solidFill>
              <a:latin typeface="Tinos" panose="02020603050405020304"/>
              <a:ea typeface="Tinos" panose="02020603050405020304"/>
              <a:cs typeface="Tinos" panose="02020603050405020304"/>
              <a:sym typeface="Tinos" panose="02020603050405020304"/>
            </a:endParaRPr>
          </a:p>
        </p:txBody>
      </p:sp>
      <p:sp>
        <p:nvSpPr>
          <p:cNvPr id="266" name="Google Shape;266;p16"/>
          <p:cNvSpPr txBox="1"/>
          <p:nvPr/>
        </p:nvSpPr>
        <p:spPr>
          <a:xfrm>
            <a:off x="457199" y="1600200"/>
            <a:ext cx="9459311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Ring</a:t>
            </a:r>
            <a:endParaRPr lang="en-US" sz="2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001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Advantages</a:t>
            </a:r>
            <a:endParaRPr lang="en-US" sz="2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573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Easy of install and reconfigure</a:t>
            </a:r>
            <a:endParaRPr lang="en-US" sz="2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573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Connect to immediate neighbors</a:t>
            </a:r>
            <a:endParaRPr lang="en-US" sz="2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573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Move two connections for any moving (Add/Delete)</a:t>
            </a:r>
            <a:endParaRPr lang="en-US" sz="2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573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Easy of fault isolation</a:t>
            </a:r>
            <a:endParaRPr lang="en-US" sz="2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001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Disadvantage</a:t>
            </a:r>
            <a:endParaRPr lang="en-US" sz="2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573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Unidirectional</a:t>
            </a:r>
            <a:endParaRPr lang="en-US" sz="2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573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One broken device can disable the entire network. This weakness can be solved by using a dual ring or a switch capable of closing off the break</a:t>
            </a:r>
            <a:endParaRPr lang="en-US" sz="2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67" name="Google Shape;267;p1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391775" y="1305910"/>
            <a:ext cx="1343025" cy="1263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 lang="en-US"/>
          </a:p>
        </p:txBody>
      </p:sp>
      <p:sp>
        <p:nvSpPr>
          <p:cNvPr id="269" name="Google Shape;26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70" name="Google Shape;270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2939144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6" descr="A blue circle with text and words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281526" y="0"/>
            <a:ext cx="912111" cy="908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"/>
          <p:cNvSpPr txBox="1"/>
          <p:nvPr/>
        </p:nvSpPr>
        <p:spPr>
          <a:xfrm>
            <a:off x="-1" y="0"/>
            <a:ext cx="12191999" cy="90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Bus Topology</a:t>
            </a:r>
            <a:endParaRPr lang="en-US" sz="44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7" name="Google Shape;277;p17"/>
          <p:cNvSpPr txBox="1"/>
          <p:nvPr/>
        </p:nvSpPr>
        <p:spPr>
          <a:xfrm>
            <a:off x="-1" y="6416040"/>
            <a:ext cx="12191997" cy="441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Tinos" panose="02020603050405020304"/>
                <a:ea typeface="Tinos" panose="02020603050405020304"/>
                <a:cs typeface="Tinos" panose="02020603050405020304"/>
                <a:sym typeface="Tinos" panose="02020603050405020304"/>
              </a:rPr>
              <a:t>  					</a:t>
            </a:r>
            <a:endParaRPr lang="en-US" sz="1800" b="1" i="0" u="none" strike="noStrike" cap="none">
              <a:solidFill>
                <a:schemeClr val="lt1"/>
              </a:solidFill>
              <a:latin typeface="Tinos" panose="02020603050405020304"/>
              <a:ea typeface="Tinos" panose="02020603050405020304"/>
              <a:cs typeface="Tinos" panose="02020603050405020304"/>
              <a:sym typeface="Tinos" panose="02020603050405020304"/>
            </a:endParaRPr>
          </a:p>
        </p:txBody>
      </p:sp>
      <p:sp>
        <p:nvSpPr>
          <p:cNvPr id="278" name="Google Shape;278;p17"/>
          <p:cNvSpPr txBox="1"/>
          <p:nvPr/>
        </p:nvSpPr>
        <p:spPr>
          <a:xfrm>
            <a:off x="504496" y="1397017"/>
            <a:ext cx="11098925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sz="2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Bus</a:t>
            </a:r>
            <a:endParaRPr lang="en-US" sz="2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It is multipoint </a:t>
            </a:r>
            <a:endParaRPr lang="en-US" sz="2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One long cable acts as a backbone</a:t>
            </a:r>
            <a:endParaRPr lang="en-US" sz="2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Used in the design of early LANS, and Ethernet LANs</a:t>
            </a:r>
            <a:endParaRPr lang="en-US" sz="2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79" name="Google Shape;279;p1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457122" y="4241817"/>
            <a:ext cx="6410143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 lang="en-US"/>
          </a:p>
        </p:txBody>
      </p:sp>
      <p:sp>
        <p:nvSpPr>
          <p:cNvPr id="281" name="Google Shape;28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82" name="Google Shape;282;p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2939144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7" descr="A blue circle with text and words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281526" y="0"/>
            <a:ext cx="912111" cy="908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"/>
          <p:cNvSpPr txBox="1"/>
          <p:nvPr/>
        </p:nvSpPr>
        <p:spPr>
          <a:xfrm>
            <a:off x="-1" y="0"/>
            <a:ext cx="12191999" cy="90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Bus Topology</a:t>
            </a:r>
            <a:endParaRPr lang="en-US" sz="44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9" name="Google Shape;289;p18"/>
          <p:cNvSpPr txBox="1"/>
          <p:nvPr/>
        </p:nvSpPr>
        <p:spPr>
          <a:xfrm>
            <a:off x="-1" y="6416040"/>
            <a:ext cx="12191997" cy="441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Tinos" panose="02020603050405020304"/>
                <a:ea typeface="Tinos" panose="02020603050405020304"/>
                <a:cs typeface="Tinos" panose="02020603050405020304"/>
                <a:sym typeface="Tinos" panose="02020603050405020304"/>
              </a:rPr>
              <a:t>  					</a:t>
            </a:r>
            <a:endParaRPr lang="en-US" sz="1800" b="1" i="0" u="none" strike="noStrike" cap="none">
              <a:solidFill>
                <a:schemeClr val="lt1"/>
              </a:solidFill>
              <a:latin typeface="Tinos" panose="02020603050405020304"/>
              <a:ea typeface="Tinos" panose="02020603050405020304"/>
              <a:cs typeface="Tinos" panose="02020603050405020304"/>
              <a:sym typeface="Tinos" panose="02020603050405020304"/>
            </a:endParaRPr>
          </a:p>
        </p:txBody>
      </p:sp>
      <p:sp>
        <p:nvSpPr>
          <p:cNvPr id="290" name="Google Shape;290;p18"/>
          <p:cNvSpPr txBox="1"/>
          <p:nvPr/>
        </p:nvSpPr>
        <p:spPr>
          <a:xfrm>
            <a:off x="585951" y="1347952"/>
            <a:ext cx="11020097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Bus</a:t>
            </a:r>
            <a:endParaRPr lang="en-US" sz="2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001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Nodes connect to cable by drop lines and taps</a:t>
            </a:r>
            <a:endParaRPr lang="en-US" sz="2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001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Signal travels along the backbone and some of its energy is transformed to heat</a:t>
            </a:r>
            <a:endParaRPr lang="en-US" sz="2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001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Limit of number of taps and the distance between taps</a:t>
            </a:r>
            <a:endParaRPr lang="en-US" sz="2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91" name="Google Shape;291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70126" y="4562640"/>
            <a:ext cx="10563053" cy="1668462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 lang="en-US"/>
          </a:p>
        </p:txBody>
      </p:sp>
      <p:sp>
        <p:nvSpPr>
          <p:cNvPr id="293" name="Google Shape;29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94" name="Google Shape;294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2939144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8" descr="A blue circle with text and words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281526" y="0"/>
            <a:ext cx="912111" cy="908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"/>
          <p:cNvSpPr txBox="1"/>
          <p:nvPr/>
        </p:nvSpPr>
        <p:spPr>
          <a:xfrm>
            <a:off x="-1" y="0"/>
            <a:ext cx="12191999" cy="90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Bus Topology</a:t>
            </a:r>
            <a:endParaRPr lang="en-US" sz="44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01" name="Google Shape;301;p19"/>
          <p:cNvSpPr txBox="1"/>
          <p:nvPr/>
        </p:nvSpPr>
        <p:spPr>
          <a:xfrm>
            <a:off x="-1" y="6416040"/>
            <a:ext cx="12191997" cy="441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Tinos" panose="02020603050405020304"/>
                <a:ea typeface="Tinos" panose="02020603050405020304"/>
                <a:cs typeface="Tinos" panose="02020603050405020304"/>
                <a:sym typeface="Tinos" panose="02020603050405020304"/>
              </a:rPr>
              <a:t>  					</a:t>
            </a:r>
            <a:endParaRPr lang="en-US" sz="1800" b="1" i="0" u="none" strike="noStrike" cap="none">
              <a:solidFill>
                <a:schemeClr val="lt1"/>
              </a:solidFill>
              <a:latin typeface="Tinos" panose="02020603050405020304"/>
              <a:ea typeface="Tinos" panose="02020603050405020304"/>
              <a:cs typeface="Tinos" panose="02020603050405020304"/>
              <a:sym typeface="Tinos" panose="02020603050405020304"/>
            </a:endParaRPr>
          </a:p>
        </p:txBody>
      </p:sp>
      <p:sp>
        <p:nvSpPr>
          <p:cNvPr id="302" name="Google Shape;302;p19"/>
          <p:cNvSpPr txBox="1"/>
          <p:nvPr/>
        </p:nvSpPr>
        <p:spPr>
          <a:xfrm>
            <a:off x="551793" y="1397017"/>
            <a:ext cx="10767848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</a:pPr>
            <a:r>
              <a:rPr lang="en-US" sz="3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Bus</a:t>
            </a:r>
            <a:endParaRPr lang="en-US" sz="3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001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Advantages</a:t>
            </a:r>
            <a:endParaRPr lang="en-US" sz="2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00150" marR="0" lvl="2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Ease of installation</a:t>
            </a:r>
            <a:endParaRPr lang="en-US" sz="2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00150" marR="0" lvl="2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Less cables than mesh, star topologies</a:t>
            </a:r>
            <a:endParaRPr lang="en-US" sz="2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001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Disadvantages</a:t>
            </a:r>
            <a:endParaRPr lang="en-US" sz="2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00150" marR="0" lvl="2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Difficult reconnection and fault isolation ( limit of taps)</a:t>
            </a:r>
            <a:endParaRPr lang="en-US" sz="2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00150" marR="0" lvl="2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Adding new device requires modification of backbone</a:t>
            </a:r>
            <a:endParaRPr lang="en-US" sz="2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00150" marR="0" lvl="2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Fault or break stops all transmission</a:t>
            </a:r>
            <a:endParaRPr lang="en-US" sz="2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00150" marR="0" lvl="2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damaged area reflects signals back in the direction of the origin, creating noise in both directions</a:t>
            </a:r>
            <a:endParaRPr sz="2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03" name="Google Shape;303;p1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579068" y="1397017"/>
            <a:ext cx="2293153" cy="941387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 lang="en-US"/>
          </a:p>
        </p:txBody>
      </p:sp>
      <p:sp>
        <p:nvSpPr>
          <p:cNvPr id="305" name="Google Shape;30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306" name="Google Shape;306;p1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2939144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9" descr="A blue circle with text and words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281526" y="0"/>
            <a:ext cx="912111" cy="908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0"/>
          <p:cNvSpPr txBox="1"/>
          <p:nvPr/>
        </p:nvSpPr>
        <p:spPr>
          <a:xfrm>
            <a:off x="-1" y="0"/>
            <a:ext cx="12191999" cy="90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Tree Topology </a:t>
            </a:r>
            <a:endParaRPr lang="en-US" sz="44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13" name="Google Shape;313;p20"/>
          <p:cNvSpPr txBox="1"/>
          <p:nvPr/>
        </p:nvSpPr>
        <p:spPr>
          <a:xfrm>
            <a:off x="-1" y="6416040"/>
            <a:ext cx="12191997" cy="441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Tinos" panose="02020603050405020304"/>
                <a:ea typeface="Tinos" panose="02020603050405020304"/>
                <a:cs typeface="Tinos" panose="02020603050405020304"/>
                <a:sym typeface="Tinos" panose="02020603050405020304"/>
              </a:rPr>
              <a:t>  					</a:t>
            </a:r>
            <a:endParaRPr lang="en-US" sz="1800" b="1" i="0" u="none" strike="noStrike" cap="none">
              <a:solidFill>
                <a:schemeClr val="lt1"/>
              </a:solidFill>
              <a:latin typeface="Tinos" panose="02020603050405020304"/>
              <a:ea typeface="Tinos" panose="02020603050405020304"/>
              <a:cs typeface="Tinos" panose="02020603050405020304"/>
              <a:sym typeface="Tinos" panose="02020603050405020304"/>
            </a:endParaRPr>
          </a:p>
        </p:txBody>
      </p:sp>
      <p:sp>
        <p:nvSpPr>
          <p:cNvPr id="314" name="Google Shape;314;p20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 hierarchical structure combining multiple star topologies.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endParaRPr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Advantages:</a:t>
            </a:r>
            <a:endParaRPr lang="en-US" sz="24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 Scalable for large networks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 Easy to manage in a structured way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endParaRPr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Disadvantages:</a:t>
            </a:r>
            <a:endParaRPr lang="en-US" sz="24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 If the main backbone fails, the network collapses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 Complex and costly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15" name="Google Shape;315;p20" descr="A Guide to Tree Topology. Definition ...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792220" y="2033752"/>
            <a:ext cx="5242791" cy="3911928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 lang="en-US"/>
          </a:p>
        </p:txBody>
      </p:sp>
      <p:sp>
        <p:nvSpPr>
          <p:cNvPr id="317" name="Google Shape;31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318" name="Google Shape;318;p2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2939144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0" descr="A blue circle with text and words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281526" y="0"/>
            <a:ext cx="912111" cy="908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 txBox="1"/>
          <p:nvPr/>
        </p:nvSpPr>
        <p:spPr>
          <a:xfrm>
            <a:off x="-1" y="0"/>
            <a:ext cx="12191999" cy="90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Identify Topology ( Image 1)</a:t>
            </a:r>
            <a:endParaRPr dirty="0"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dirty="0"/>
          </a:p>
        </p:txBody>
      </p:sp>
      <p:sp>
        <p:nvSpPr>
          <p:cNvPr id="196" name="Google Shape;196;p10"/>
          <p:cNvSpPr txBox="1"/>
          <p:nvPr/>
        </p:nvSpPr>
        <p:spPr>
          <a:xfrm>
            <a:off x="-1" y="6416040"/>
            <a:ext cx="12191997" cy="441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Tinos" panose="02020603050405020304"/>
                <a:ea typeface="Tinos" panose="02020603050405020304"/>
                <a:cs typeface="Tinos" panose="02020603050405020304"/>
                <a:sym typeface="Tinos" panose="02020603050405020304"/>
              </a:rPr>
              <a:t>  					</a:t>
            </a:r>
            <a:endParaRPr lang="en-US" sz="1800" b="1" i="0" u="none" strike="noStrike" cap="none">
              <a:solidFill>
                <a:schemeClr val="lt1"/>
              </a:solidFill>
              <a:latin typeface="Tinos" panose="02020603050405020304"/>
              <a:ea typeface="Tinos" panose="02020603050405020304"/>
              <a:cs typeface="Tinos" panose="02020603050405020304"/>
              <a:sym typeface="Tinos" panose="02020603050405020304"/>
            </a:endParaRPr>
          </a:p>
        </p:txBody>
      </p:sp>
      <p:pic>
        <p:nvPicPr>
          <p:cNvPr id="197" name="Google Shape;197;p1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135117" y="950025"/>
            <a:ext cx="10152993" cy="546601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 lang="en-US"/>
          </a:p>
        </p:txBody>
      </p:sp>
      <p:sp>
        <p:nvSpPr>
          <p:cNvPr id="199" name="Google Shape;19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00" name="Google Shape;200;p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2939144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0" descr="A blue circle with text and words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281526" y="0"/>
            <a:ext cx="912111" cy="908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 txBox="1"/>
          <p:nvPr/>
        </p:nvSpPr>
        <p:spPr>
          <a:xfrm>
            <a:off x="-1" y="0"/>
            <a:ext cx="12191999" cy="90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Scan the QR Code</a:t>
            </a:r>
            <a:endParaRPr lang="en-US" sz="44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7" name="Google Shape;207;p11"/>
          <p:cNvSpPr txBox="1"/>
          <p:nvPr/>
        </p:nvSpPr>
        <p:spPr>
          <a:xfrm>
            <a:off x="-1" y="6416040"/>
            <a:ext cx="12191997" cy="441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Tinos" panose="02020603050405020304"/>
                <a:ea typeface="Tinos" panose="02020603050405020304"/>
                <a:cs typeface="Tinos" panose="02020603050405020304"/>
                <a:sym typeface="Tinos" panose="02020603050405020304"/>
              </a:rPr>
              <a:t>  					</a:t>
            </a:r>
            <a:endParaRPr lang="en-US" sz="1800" b="1" i="0" u="none" strike="noStrike" cap="none">
              <a:solidFill>
                <a:schemeClr val="lt1"/>
              </a:solidFill>
              <a:latin typeface="Tinos" panose="02020603050405020304"/>
              <a:ea typeface="Tinos" panose="02020603050405020304"/>
              <a:cs typeface="Tinos" panose="02020603050405020304"/>
              <a:sym typeface="Tinos" panose="02020603050405020304"/>
            </a:endParaRPr>
          </a:p>
        </p:txBody>
      </p:sp>
      <p:sp>
        <p:nvSpPr>
          <p:cNvPr id="209" name="Google Shape;20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 lang="en-US"/>
          </a:p>
        </p:txBody>
      </p:sp>
      <p:sp>
        <p:nvSpPr>
          <p:cNvPr id="210" name="Google Shape;21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11" name="Google Shape;211;p1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2939144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1" descr="A blue circle with text and words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281526" y="0"/>
            <a:ext cx="912111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16" y="2094911"/>
            <a:ext cx="10468223" cy="36798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4"/>
          <p:cNvSpPr txBox="1"/>
          <p:nvPr/>
        </p:nvSpPr>
        <p:spPr>
          <a:xfrm>
            <a:off x="-1" y="0"/>
            <a:ext cx="12191999" cy="90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           I</a:t>
            </a:r>
            <a:r>
              <a:rPr lang="en-US" sz="2800" b="1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dentify the network topology in given image 2</a:t>
            </a:r>
            <a:endParaRPr sz="3600" b="1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59" name="Google Shape;359;p24"/>
          <p:cNvSpPr txBox="1"/>
          <p:nvPr/>
        </p:nvSpPr>
        <p:spPr>
          <a:xfrm>
            <a:off x="-1" y="6416040"/>
            <a:ext cx="12191997" cy="441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Tinos" panose="02020603050405020304"/>
                <a:ea typeface="Tinos" panose="02020603050405020304"/>
                <a:cs typeface="Tinos" panose="02020603050405020304"/>
                <a:sym typeface="Tinos" panose="02020603050405020304"/>
              </a:rPr>
              <a:t>  					</a:t>
            </a:r>
            <a:endParaRPr lang="en-US" sz="1800" b="1" i="0" u="none" strike="noStrike" cap="none">
              <a:solidFill>
                <a:schemeClr val="lt1"/>
              </a:solidFill>
              <a:latin typeface="Tinos" panose="02020603050405020304"/>
              <a:ea typeface="Tinos" panose="02020603050405020304"/>
              <a:cs typeface="Tinos" panose="02020603050405020304"/>
              <a:sym typeface="Tinos" panose="02020603050405020304"/>
            </a:endParaRPr>
          </a:p>
        </p:txBody>
      </p:sp>
      <p:pic>
        <p:nvPicPr>
          <p:cNvPr id="360" name="Google Shape;360;p2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72965" y="1371601"/>
            <a:ext cx="11303875" cy="4968208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 lang="en-US"/>
          </a:p>
        </p:txBody>
      </p:sp>
      <p:sp>
        <p:nvSpPr>
          <p:cNvPr id="362" name="Google Shape;362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363" name="Google Shape;363;p2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2939144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4" descr="A blue circle with text and words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281526" y="0"/>
            <a:ext cx="912111" cy="908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 txBox="1"/>
          <p:nvPr/>
        </p:nvSpPr>
        <p:spPr>
          <a:xfrm>
            <a:off x="-1" y="0"/>
            <a:ext cx="12191999" cy="90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Scan the QR Code</a:t>
            </a:r>
            <a:endParaRPr lang="en-US" sz="44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7" name="Google Shape;207;p11"/>
          <p:cNvSpPr txBox="1"/>
          <p:nvPr/>
        </p:nvSpPr>
        <p:spPr>
          <a:xfrm>
            <a:off x="-1" y="6416040"/>
            <a:ext cx="12191997" cy="441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Tinos" panose="02020603050405020304"/>
                <a:ea typeface="Tinos" panose="02020603050405020304"/>
                <a:cs typeface="Tinos" panose="02020603050405020304"/>
                <a:sym typeface="Tinos" panose="02020603050405020304"/>
              </a:rPr>
              <a:t>  					</a:t>
            </a:r>
            <a:endParaRPr lang="en-US" sz="1800" b="1" i="0" u="none" strike="noStrike" cap="none">
              <a:solidFill>
                <a:schemeClr val="lt1"/>
              </a:solidFill>
              <a:latin typeface="Tinos" panose="02020603050405020304"/>
              <a:ea typeface="Tinos" panose="02020603050405020304"/>
              <a:cs typeface="Tinos" panose="02020603050405020304"/>
              <a:sym typeface="Tinos" panose="02020603050405020304"/>
            </a:endParaRPr>
          </a:p>
        </p:txBody>
      </p:sp>
      <p:sp>
        <p:nvSpPr>
          <p:cNvPr id="209" name="Google Shape;20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 lang="en-US"/>
          </a:p>
        </p:txBody>
      </p:sp>
      <p:sp>
        <p:nvSpPr>
          <p:cNvPr id="210" name="Google Shape;21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11" name="Google Shape;211;p1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2939144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1" descr="A blue circle with text and words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281526" y="0"/>
            <a:ext cx="912111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03" y="1589090"/>
            <a:ext cx="10468223" cy="36798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3"/>
          <p:cNvSpPr txBox="1"/>
          <p:nvPr/>
        </p:nvSpPr>
        <p:spPr>
          <a:xfrm>
            <a:off x="-1" y="0"/>
            <a:ext cx="12191999" cy="90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		Real Life Applications</a:t>
            </a:r>
            <a:endParaRPr dirty="0"/>
          </a:p>
        </p:txBody>
      </p:sp>
      <p:sp>
        <p:nvSpPr>
          <p:cNvPr id="348" name="Google Shape;348;p23"/>
          <p:cNvSpPr txBox="1"/>
          <p:nvPr/>
        </p:nvSpPr>
        <p:spPr>
          <a:xfrm>
            <a:off x="-1" y="6416040"/>
            <a:ext cx="12191997" cy="441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Tinos" panose="02020603050405020304"/>
                <a:ea typeface="Tinos" panose="02020603050405020304"/>
                <a:cs typeface="Tinos" panose="02020603050405020304"/>
                <a:sym typeface="Tinos" panose="02020603050405020304"/>
              </a:rPr>
              <a:t>  					</a:t>
            </a:r>
            <a:endParaRPr lang="en-US" sz="1800" b="1" i="0" u="none" strike="noStrike" cap="none">
              <a:solidFill>
                <a:schemeClr val="lt1"/>
              </a:solidFill>
              <a:latin typeface="Tinos" panose="02020603050405020304"/>
              <a:ea typeface="Tinos" panose="02020603050405020304"/>
              <a:cs typeface="Tinos" panose="02020603050405020304"/>
              <a:sym typeface="Tinos" panose="02020603050405020304"/>
            </a:endParaRPr>
          </a:p>
        </p:txBody>
      </p:sp>
      <p:sp>
        <p:nvSpPr>
          <p:cNvPr id="350" name="Google Shape;350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 lang="en-US"/>
          </a:p>
        </p:txBody>
      </p:sp>
      <p:sp>
        <p:nvSpPr>
          <p:cNvPr id="351" name="Google Shape;35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352" name="Google Shape;352;p2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2939144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3" descr="A blue circle with text and words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281526" y="0"/>
            <a:ext cx="912111" cy="9087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1278294" y="1203650"/>
            <a:ext cx="9134669" cy="36933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Share some examples where the above topologies can be implemented in real life</a:t>
            </a:r>
            <a:endParaRPr lang="en-IN" sz="1800" b="1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16" y="2094911"/>
            <a:ext cx="10468223" cy="36798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2"/>
          <p:cNvSpPr txBox="1"/>
          <p:nvPr/>
        </p:nvSpPr>
        <p:spPr>
          <a:xfrm>
            <a:off x="1072050" y="13"/>
            <a:ext cx="10428300" cy="9087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		           Real Life Applications</a:t>
            </a:r>
            <a:endParaRPr dirty="0"/>
          </a:p>
        </p:txBody>
      </p:sp>
      <p:sp>
        <p:nvSpPr>
          <p:cNvPr id="337" name="Google Shape;337;p22"/>
          <p:cNvSpPr txBox="1"/>
          <p:nvPr/>
        </p:nvSpPr>
        <p:spPr>
          <a:xfrm>
            <a:off x="-1" y="6416040"/>
            <a:ext cx="12191997" cy="441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Tinos" panose="02020603050405020304"/>
                <a:ea typeface="Tinos" panose="02020603050405020304"/>
                <a:cs typeface="Tinos" panose="02020603050405020304"/>
                <a:sym typeface="Tinos" panose="02020603050405020304"/>
              </a:rPr>
              <a:t>  					</a:t>
            </a:r>
            <a:endParaRPr lang="en-US" sz="1800" b="1" i="0" u="none" strike="noStrike" cap="none">
              <a:solidFill>
                <a:schemeClr val="lt1"/>
              </a:solidFill>
              <a:latin typeface="Tinos" panose="02020603050405020304"/>
              <a:ea typeface="Tinos" panose="02020603050405020304"/>
              <a:cs typeface="Tinos" panose="02020603050405020304"/>
              <a:sym typeface="Tinos" panose="02020603050405020304"/>
            </a:endParaRPr>
          </a:p>
        </p:txBody>
      </p:sp>
      <p:sp>
        <p:nvSpPr>
          <p:cNvPr id="339" name="Google Shape;33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 lang="en-US"/>
          </a:p>
        </p:txBody>
      </p:sp>
      <p:sp>
        <p:nvSpPr>
          <p:cNvPr id="340" name="Google Shape;34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341" name="Google Shape;341;p2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2939144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2" descr="A blue circle with text and words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281526" y="0"/>
            <a:ext cx="912111" cy="9087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83771" y="1632856"/>
          <a:ext cx="10101863" cy="3610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4262"/>
                <a:gridCol w="8207601"/>
              </a:tblGrid>
              <a:tr h="515850"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>
                          <a:effectLst/>
                        </a:rPr>
                        <a:t>Topology</a:t>
                      </a:r>
                      <a:endParaRPr lang="en-IN" sz="1800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Real-Life Applications</a:t>
                      </a:r>
                      <a:endParaRPr lang="en-IN" sz="1800" dirty="0"/>
                    </a:p>
                  </a:txBody>
                  <a:tcPr/>
                </a:tc>
              </a:tr>
              <a:tr h="515850"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Star</a:t>
                      </a:r>
                      <a:endParaRPr lang="en-IN" sz="18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Home networks, small offices, Ethernet LANs.</a:t>
                      </a:r>
                      <a:endParaRPr lang="en-US" sz="1800" dirty="0">
                        <a:effectLst/>
                      </a:endParaRPr>
                    </a:p>
                  </a:txBody>
                  <a:tcPr anchor="ctr"/>
                </a:tc>
              </a:tr>
              <a:tr h="515850"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Bus</a:t>
                      </a:r>
                      <a:endParaRPr lang="en-IN" sz="18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Legacy networks, industrial systems, CCTV.</a:t>
                      </a:r>
                      <a:endParaRPr lang="en-US" sz="1800" dirty="0">
                        <a:effectLst/>
                      </a:endParaRPr>
                    </a:p>
                  </a:txBody>
                  <a:tcPr anchor="ctr"/>
                </a:tc>
              </a:tr>
              <a:tr h="515850"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Ring</a:t>
                      </a:r>
                      <a:endParaRPr lang="en-IN" sz="18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Token Ring networks, FDDI, telecommunications.</a:t>
                      </a:r>
                      <a:endParaRPr lang="en-US" sz="1800" dirty="0">
                        <a:effectLst/>
                      </a:endParaRPr>
                    </a:p>
                  </a:txBody>
                  <a:tcPr anchor="ctr"/>
                </a:tc>
              </a:tr>
              <a:tr h="515850"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Mesh</a:t>
                      </a:r>
                      <a:endParaRPr lang="en-IN" sz="18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Military networks, IoT, smart cities.</a:t>
                      </a:r>
                      <a:endParaRPr lang="en-US" sz="1800" dirty="0">
                        <a:effectLst/>
                      </a:endParaRPr>
                    </a:p>
                  </a:txBody>
                  <a:tcPr anchor="ctr"/>
                </a:tc>
              </a:tr>
              <a:tr h="515850"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Tree</a:t>
                      </a:r>
                      <a:endParaRPr lang="en-IN" sz="18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Enterprise networks, campus networks, ISPs.</a:t>
                      </a:r>
                      <a:endParaRPr lang="en-US" sz="1800" dirty="0">
                        <a:effectLst/>
                      </a:endParaRPr>
                    </a:p>
                  </a:txBody>
                  <a:tcPr anchor="ctr"/>
                </a:tc>
              </a:tr>
              <a:tr h="515850"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Hybrid</a:t>
                      </a:r>
                      <a:endParaRPr lang="en-IN" sz="18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Large enterprises, data </a:t>
                      </a:r>
                      <a:r>
                        <a:rPr lang="en-IN" sz="1800" dirty="0" err="1">
                          <a:effectLst/>
                        </a:rPr>
                        <a:t>centers</a:t>
                      </a:r>
                      <a:r>
                        <a:rPr lang="en-IN" sz="1800" dirty="0">
                          <a:effectLst/>
                        </a:rPr>
                        <a:t>, telecommunications.</a:t>
                      </a:r>
                      <a:endParaRPr lang="en-IN" sz="1800" dirty="0">
                        <a:effectLst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6"/>
          <p:cNvSpPr txBox="1"/>
          <p:nvPr/>
        </p:nvSpPr>
        <p:spPr>
          <a:xfrm>
            <a:off x="-1" y="0"/>
            <a:ext cx="12191999" cy="90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Summary</a:t>
            </a:r>
            <a:endParaRPr dirty="0"/>
          </a:p>
        </p:txBody>
      </p:sp>
      <p:sp>
        <p:nvSpPr>
          <p:cNvPr id="381" name="Google Shape;381;p26"/>
          <p:cNvSpPr txBox="1"/>
          <p:nvPr/>
        </p:nvSpPr>
        <p:spPr>
          <a:xfrm>
            <a:off x="-1" y="6416040"/>
            <a:ext cx="12191997" cy="441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Tinos" panose="02020603050405020304"/>
                <a:ea typeface="Tinos" panose="02020603050405020304"/>
                <a:cs typeface="Tinos" panose="02020603050405020304"/>
                <a:sym typeface="Tinos" panose="02020603050405020304"/>
              </a:rPr>
              <a:t>  					</a:t>
            </a:r>
            <a:endParaRPr lang="en-US" sz="1800" b="1" i="0" u="none" strike="noStrike" cap="none">
              <a:solidFill>
                <a:schemeClr val="lt1"/>
              </a:solidFill>
              <a:latin typeface="Tinos" panose="02020603050405020304"/>
              <a:ea typeface="Tinos" panose="02020603050405020304"/>
              <a:cs typeface="Tinos" panose="02020603050405020304"/>
              <a:sym typeface="Tinos" panose="02020603050405020304"/>
            </a:endParaRPr>
          </a:p>
        </p:txBody>
      </p:sp>
      <p:sp>
        <p:nvSpPr>
          <p:cNvPr id="383" name="Google Shape;383;p26"/>
          <p:cNvSpPr txBox="1"/>
          <p:nvPr/>
        </p:nvSpPr>
        <p:spPr>
          <a:xfrm>
            <a:off x="1469572" y="1987055"/>
            <a:ext cx="9144000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choice of topology depends on factors such as cost, scalability, reliability, and ease of maintenance. A well-planned network topology ensures efficient data flow, minimizes downtime, and enhances overall network performance.</a:t>
            </a:r>
            <a:endParaRPr sz="2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84" name="Google Shape;38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 lang="en-US"/>
          </a:p>
        </p:txBody>
      </p:sp>
      <p:sp>
        <p:nvSpPr>
          <p:cNvPr id="385" name="Google Shape;38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386" name="Google Shape;386;p2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2939144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descr="A blue circle with text and words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281526" y="0"/>
            <a:ext cx="912111" cy="908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2"/>
          <p:cNvSpPr txBox="1"/>
          <p:nvPr/>
        </p:nvSpPr>
        <p:spPr>
          <a:xfrm>
            <a:off x="1072050" y="13"/>
            <a:ext cx="10428300" cy="9087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		           Summary</a:t>
            </a:r>
            <a:endParaRPr dirty="0"/>
          </a:p>
        </p:txBody>
      </p:sp>
      <p:sp>
        <p:nvSpPr>
          <p:cNvPr id="337" name="Google Shape;337;p22"/>
          <p:cNvSpPr txBox="1"/>
          <p:nvPr/>
        </p:nvSpPr>
        <p:spPr>
          <a:xfrm>
            <a:off x="-1" y="6416040"/>
            <a:ext cx="12191997" cy="441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Tinos" panose="02020603050405020304"/>
                <a:ea typeface="Tinos" panose="02020603050405020304"/>
                <a:cs typeface="Tinos" panose="02020603050405020304"/>
                <a:sym typeface="Tinos" panose="02020603050405020304"/>
              </a:rPr>
              <a:t>  					</a:t>
            </a:r>
            <a:endParaRPr lang="en-US" sz="1800" b="1" i="0" u="none" strike="noStrike" cap="none">
              <a:solidFill>
                <a:schemeClr val="lt1"/>
              </a:solidFill>
              <a:latin typeface="Tinos" panose="02020603050405020304"/>
              <a:ea typeface="Tinos" panose="02020603050405020304"/>
              <a:cs typeface="Tinos" panose="02020603050405020304"/>
              <a:sym typeface="Tinos" panose="02020603050405020304"/>
            </a:endParaRPr>
          </a:p>
        </p:txBody>
      </p:sp>
      <p:sp>
        <p:nvSpPr>
          <p:cNvPr id="339" name="Google Shape;33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 lang="en-US"/>
          </a:p>
        </p:txBody>
      </p:sp>
      <p:sp>
        <p:nvSpPr>
          <p:cNvPr id="340" name="Google Shape;34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341" name="Google Shape;341;p2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2939144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2" descr="A blue circle with text and words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281526" y="0"/>
            <a:ext cx="912111" cy="9087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072050" y="1334278"/>
          <a:ext cx="9443548" cy="437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887"/>
                <a:gridCol w="2360887"/>
                <a:gridCol w="2360887"/>
                <a:gridCol w="2360887"/>
              </a:tblGrid>
              <a:tr h="449603"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>
                          <a:effectLst/>
                        </a:rPr>
                        <a:t>Topology</a:t>
                      </a:r>
                      <a:endParaRPr lang="en-IN" sz="1800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1">
                          <a:effectLst/>
                        </a:rPr>
                        <a:t>Performance</a:t>
                      </a:r>
                      <a:endParaRPr lang="en-IN" sz="18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1">
                          <a:effectLst/>
                        </a:rPr>
                        <a:t>Scalability</a:t>
                      </a:r>
                      <a:endParaRPr lang="en-IN" sz="18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>
                          <a:effectLst/>
                        </a:rPr>
                        <a:t>Reliability</a:t>
                      </a:r>
                      <a:endParaRPr lang="en-IN" sz="1800" b="1" dirty="0">
                        <a:effectLst/>
                      </a:endParaRPr>
                    </a:p>
                  </a:txBody>
                  <a:tcPr anchor="ctr"/>
                </a:tc>
              </a:tr>
              <a:tr h="764325"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Star</a:t>
                      </a:r>
                      <a:endParaRPr lang="en-IN" sz="18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High (small-medium)</a:t>
                      </a:r>
                      <a:endParaRPr lang="en-IN" sz="18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Easy to scale</a:t>
                      </a:r>
                      <a:endParaRPr lang="en-IN" sz="18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High (if hub/switch is reliable)</a:t>
                      </a:r>
                      <a:endParaRPr lang="en-US" sz="1800">
                        <a:effectLst/>
                      </a:endParaRPr>
                    </a:p>
                  </a:txBody>
                  <a:tcPr anchor="ctr"/>
                </a:tc>
              </a:tr>
              <a:tr h="547017">
                <a:tc>
                  <a:txBody>
                    <a:bodyPr/>
                    <a:lstStyle/>
                    <a:p>
                      <a:r>
                        <a:rPr lang="en-IN" sz="1800" b="1">
                          <a:effectLst/>
                        </a:rPr>
                        <a:t>Bus</a:t>
                      </a:r>
                      <a:endParaRPr lang="en-IN" sz="18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Low to moderate</a:t>
                      </a:r>
                      <a:endParaRPr lang="en-IN" sz="18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Poor</a:t>
                      </a:r>
                      <a:endParaRPr lang="en-IN" sz="18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Low</a:t>
                      </a:r>
                      <a:endParaRPr lang="en-IN" sz="1800">
                        <a:effectLst/>
                      </a:endParaRPr>
                    </a:p>
                  </a:txBody>
                  <a:tcPr anchor="ctr"/>
                </a:tc>
              </a:tr>
              <a:tr h="977616">
                <a:tc>
                  <a:txBody>
                    <a:bodyPr/>
                    <a:lstStyle/>
                    <a:p>
                      <a:r>
                        <a:rPr lang="en-IN" sz="1800" b="1">
                          <a:effectLst/>
                        </a:rPr>
                        <a:t>Ring</a:t>
                      </a:r>
                      <a:endParaRPr lang="en-IN" sz="18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Moderate to high</a:t>
                      </a:r>
                      <a:endParaRPr lang="en-IN" sz="18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Moderate</a:t>
                      </a:r>
                      <a:endParaRPr lang="en-IN" sz="18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Moderate (bidirectional improves reliability)</a:t>
                      </a:r>
                      <a:endParaRPr lang="en-IN" sz="1800">
                        <a:effectLst/>
                      </a:endParaRPr>
                    </a:p>
                  </a:txBody>
                  <a:tcPr anchor="ctr"/>
                </a:tc>
              </a:tr>
              <a:tr h="547017">
                <a:tc>
                  <a:txBody>
                    <a:bodyPr/>
                    <a:lstStyle/>
                    <a:p>
                      <a:r>
                        <a:rPr lang="en-IN" sz="1800" b="1">
                          <a:effectLst/>
                        </a:rPr>
                        <a:t>Mesh</a:t>
                      </a:r>
                      <a:endParaRPr lang="en-IN" sz="18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High</a:t>
                      </a:r>
                      <a:endParaRPr lang="en-IN" sz="18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High (but complex)</a:t>
                      </a:r>
                      <a:endParaRPr lang="en-IN" sz="18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Very high</a:t>
                      </a:r>
                      <a:endParaRPr lang="en-IN" sz="1800">
                        <a:effectLst/>
                      </a:endParaRPr>
                    </a:p>
                  </a:txBody>
                  <a:tcPr anchor="ctr"/>
                </a:tc>
              </a:tr>
              <a:tr h="547017">
                <a:tc>
                  <a:txBody>
                    <a:bodyPr/>
                    <a:lstStyle/>
                    <a:p>
                      <a:r>
                        <a:rPr lang="en-IN" sz="1800" b="1">
                          <a:effectLst/>
                        </a:rPr>
                        <a:t>Tree</a:t>
                      </a:r>
                      <a:endParaRPr lang="en-IN" sz="18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High</a:t>
                      </a:r>
                      <a:endParaRPr lang="en-IN" sz="18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High</a:t>
                      </a:r>
                      <a:endParaRPr lang="en-IN" sz="18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High</a:t>
                      </a:r>
                      <a:endParaRPr lang="en-IN" sz="1800">
                        <a:effectLst/>
                      </a:endParaRPr>
                    </a:p>
                  </a:txBody>
                  <a:tcPr anchor="ctr"/>
                </a:tc>
              </a:tr>
              <a:tr h="547017">
                <a:tc>
                  <a:txBody>
                    <a:bodyPr/>
                    <a:lstStyle/>
                    <a:p>
                      <a:r>
                        <a:rPr lang="en-IN" sz="1800" b="1">
                          <a:effectLst/>
                        </a:rPr>
                        <a:t>Hybrid</a:t>
                      </a:r>
                      <a:endParaRPr lang="en-IN" sz="18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High</a:t>
                      </a:r>
                      <a:endParaRPr lang="en-IN" sz="18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High</a:t>
                      </a:r>
                      <a:endParaRPr lang="en-IN" sz="18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High</a:t>
                      </a:r>
                      <a:endParaRPr lang="en-IN" sz="1800" dirty="0">
                        <a:effectLst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7"/>
          <p:cNvSpPr txBox="1"/>
          <p:nvPr/>
        </p:nvSpPr>
        <p:spPr>
          <a:xfrm>
            <a:off x="-1" y="0"/>
            <a:ext cx="12191999" cy="90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Attainment</a:t>
            </a:r>
            <a:endParaRPr lang="en-US" sz="44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93" name="Google Shape;393;p27"/>
          <p:cNvSpPr txBox="1"/>
          <p:nvPr/>
        </p:nvSpPr>
        <p:spPr>
          <a:xfrm>
            <a:off x="-1" y="6416040"/>
            <a:ext cx="12191997" cy="441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Tinos" panose="02020603050405020304"/>
                <a:ea typeface="Tinos" panose="02020603050405020304"/>
                <a:cs typeface="Tinos" panose="02020603050405020304"/>
                <a:sym typeface="Tinos" panose="02020603050405020304"/>
              </a:rPr>
              <a:t>  					</a:t>
            </a:r>
            <a:endParaRPr lang="en-US" sz="1800" b="1" i="0" u="none" strike="noStrike" cap="none">
              <a:solidFill>
                <a:schemeClr val="lt1"/>
              </a:solidFill>
              <a:latin typeface="Tinos" panose="02020603050405020304"/>
              <a:ea typeface="Tinos" panose="02020603050405020304"/>
              <a:cs typeface="Tinos" panose="02020603050405020304"/>
              <a:sym typeface="Tinos" panose="02020603050405020304"/>
            </a:endParaRPr>
          </a:p>
        </p:txBody>
      </p:sp>
      <p:sp>
        <p:nvSpPr>
          <p:cNvPr id="394" name="Google Shape;394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 lang="en-US"/>
          </a:p>
        </p:txBody>
      </p:sp>
      <p:sp>
        <p:nvSpPr>
          <p:cNvPr id="395" name="Google Shape;395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396" name="Google Shape;396;p2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2939144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7" descr="A blue circle with text and words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281526" y="0"/>
            <a:ext cx="912111" cy="90872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7"/>
          <p:cNvSpPr txBox="1"/>
          <p:nvPr/>
        </p:nvSpPr>
        <p:spPr>
          <a:xfrm>
            <a:off x="558702" y="1102452"/>
            <a:ext cx="10542973" cy="822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 panose="02020603050405020304"/>
              <a:buNone/>
            </a:pPr>
            <a:r>
              <a:rPr lang="en-US" sz="28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US" sz="28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399" name="Google Shape;399;p27"/>
          <p:cNvGrpSpPr/>
          <p:nvPr/>
        </p:nvGrpSpPr>
        <p:grpSpPr>
          <a:xfrm>
            <a:off x="558702" y="2066143"/>
            <a:ext cx="10927828" cy="3689404"/>
            <a:chOff x="0" y="0"/>
            <a:chExt cx="10927828" cy="3689404"/>
          </a:xfrm>
        </p:grpSpPr>
        <p:sp>
          <p:nvSpPr>
            <p:cNvPr id="400" name="Google Shape;400;p27"/>
            <p:cNvSpPr/>
            <p:nvPr/>
          </p:nvSpPr>
          <p:spPr>
            <a:xfrm>
              <a:off x="0" y="0"/>
              <a:ext cx="9288654" cy="1660232"/>
            </a:xfrm>
            <a:prstGeom prst="roundRect">
              <a:avLst>
                <a:gd name="adj" fmla="val 10000"/>
              </a:avLst>
            </a:prstGeom>
            <a:solidFill>
              <a:schemeClr val="accent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1" name="Google Shape;401;p27"/>
            <p:cNvSpPr txBox="1"/>
            <p:nvPr/>
          </p:nvSpPr>
          <p:spPr>
            <a:xfrm>
              <a:off x="48627" y="48627"/>
              <a:ext cx="7572674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0000" tIns="160000" rIns="160000" bIns="160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200"/>
                <a:buFont typeface="Calibri" panose="020F0502020204030204"/>
                <a:buNone/>
              </a:pPr>
              <a:r>
                <a:rPr lang="en-US" sz="42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Learning Outcome 1: </a:t>
              </a:r>
              <a:r>
                <a:rPr lang="en-US" sz="4200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Identify the Computer Network Topologies </a:t>
              </a:r>
              <a:endParaRPr sz="42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02" name="Google Shape;402;p27"/>
            <p:cNvSpPr/>
            <p:nvPr/>
          </p:nvSpPr>
          <p:spPr>
            <a:xfrm>
              <a:off x="1639174" y="2029172"/>
              <a:ext cx="9288654" cy="1660232"/>
            </a:xfrm>
            <a:prstGeom prst="roundRect">
              <a:avLst>
                <a:gd name="adj" fmla="val 10000"/>
              </a:avLst>
            </a:prstGeom>
            <a:solidFill>
              <a:srgbClr val="A4A4A4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3" name="Google Shape;403;p27"/>
            <p:cNvSpPr txBox="1"/>
            <p:nvPr/>
          </p:nvSpPr>
          <p:spPr>
            <a:xfrm>
              <a:off x="1687801" y="2077799"/>
              <a:ext cx="6473075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0000" tIns="160000" rIns="160000" bIns="160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200"/>
                <a:buFont typeface="Calibri" panose="020F0502020204030204"/>
                <a:buNone/>
              </a:pPr>
              <a:r>
                <a:rPr lang="en-US" sz="42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Learning Outcome 2: </a:t>
              </a:r>
              <a:r>
                <a:rPr lang="en-US" sz="4200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Apply topology in networking</a:t>
              </a:r>
              <a:endParaRPr sz="42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04" name="Google Shape;404;p27"/>
            <p:cNvSpPr/>
            <p:nvPr/>
          </p:nvSpPr>
          <p:spPr>
            <a:xfrm>
              <a:off x="8209503" y="1305127"/>
              <a:ext cx="1079150" cy="1079150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7D5CB">
                <a:alpha val="89803"/>
              </a:srgbClr>
            </a:solidFill>
            <a:ln w="12700" cap="flat" cmpd="sng">
              <a:solidFill>
                <a:srgbClr val="F7D5CB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5" name="Google Shape;405;p27"/>
            <p:cNvSpPr txBox="1"/>
            <p:nvPr/>
          </p:nvSpPr>
          <p:spPr>
            <a:xfrm>
              <a:off x="8452312" y="1305127"/>
              <a:ext cx="593532" cy="812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alibri" panose="020F0502020204030204"/>
                <a:buNone/>
              </a:pPr>
              <a:endParaRPr sz="3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8"/>
          <p:cNvSpPr txBox="1"/>
          <p:nvPr/>
        </p:nvSpPr>
        <p:spPr>
          <a:xfrm>
            <a:off x="-1" y="0"/>
            <a:ext cx="12191999" cy="90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 next class</a:t>
            </a:r>
            <a:endParaRPr lang="en-US" sz="44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11" name="Google Shape;411;p28"/>
          <p:cNvSpPr txBox="1"/>
          <p:nvPr/>
        </p:nvSpPr>
        <p:spPr>
          <a:xfrm>
            <a:off x="-1" y="6416040"/>
            <a:ext cx="12191997" cy="441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Tinos" panose="02020603050405020304"/>
                <a:ea typeface="Tinos" panose="02020603050405020304"/>
                <a:cs typeface="Tinos" panose="02020603050405020304"/>
                <a:sym typeface="Tinos" panose="02020603050405020304"/>
              </a:rPr>
              <a:t>  					</a:t>
            </a:r>
            <a:endParaRPr lang="en-US" sz="1800" b="1" i="0" u="none" strike="noStrike" cap="none">
              <a:solidFill>
                <a:schemeClr val="lt1"/>
              </a:solidFill>
              <a:latin typeface="Tinos" panose="02020603050405020304"/>
              <a:ea typeface="Tinos" panose="02020603050405020304"/>
              <a:cs typeface="Tinos" panose="02020603050405020304"/>
              <a:sym typeface="Tinos" panose="02020603050405020304"/>
            </a:endParaRPr>
          </a:p>
        </p:txBody>
      </p:sp>
      <p:sp>
        <p:nvSpPr>
          <p:cNvPr id="412" name="Google Shape;41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 lang="en-US"/>
          </a:p>
        </p:txBody>
      </p:sp>
      <p:sp>
        <p:nvSpPr>
          <p:cNvPr id="413" name="Google Shape;41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414" name="Google Shape;414;p2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2939144" cy="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8" descr="A blue circle with text and words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281526" y="0"/>
            <a:ext cx="912111" cy="90872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28"/>
          <p:cNvSpPr txBox="1"/>
          <p:nvPr/>
        </p:nvSpPr>
        <p:spPr>
          <a:xfrm>
            <a:off x="558702" y="1102452"/>
            <a:ext cx="10542973" cy="822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 panose="02020603050405020304"/>
              <a:buNone/>
            </a:pPr>
            <a:r>
              <a:rPr lang="en-US" sz="28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US" sz="28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17" name="Google Shape;417;p28"/>
          <p:cNvSpPr txBox="1"/>
          <p:nvPr/>
        </p:nvSpPr>
        <p:spPr>
          <a:xfrm>
            <a:off x="1295401" y="1658984"/>
            <a:ext cx="9806274" cy="427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Assignment:</a:t>
            </a:r>
            <a:endParaRPr lang="en-US" sz="28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Assignment of todays class is given on LMS. Attempt the quiz on time.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 next class we will study:</a:t>
            </a:r>
            <a:b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alt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Categories of Networks , Internet and Protocols, Standards and Standard Organization</a:t>
            </a:r>
            <a:endParaRPr lang="en-US" alt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Go through LMS for pre class material, attempt the  Pre- study quiz given on LMS.</a:t>
            </a:r>
            <a:endParaRPr sz="2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5852</Words>
  <Application>WPS Presentation</Application>
  <PresentationFormat>Widescreen</PresentationFormat>
  <Paragraphs>449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1" baseType="lpstr">
      <vt:lpstr>Arial</vt:lpstr>
      <vt:lpstr>SimSun</vt:lpstr>
      <vt:lpstr>Wingdings</vt:lpstr>
      <vt:lpstr>Arial</vt:lpstr>
      <vt:lpstr>Calibri</vt:lpstr>
      <vt:lpstr>Georgia</vt:lpstr>
      <vt:lpstr>Times New Roman</vt:lpstr>
      <vt:lpstr>Tinos</vt:lpstr>
      <vt:lpstr>Noto Sans Symbols</vt:lpstr>
      <vt:lpstr>Noto Sans</vt:lpstr>
      <vt:lpstr>Microsoft YaHei</vt:lpstr>
      <vt:lpstr>Arial Unicode MS</vt:lpstr>
      <vt:lpstr>Office Theme</vt:lpstr>
      <vt:lpstr>Network Topology    Session No.: 4 Course Name: Data Communication and Networking Course Code: R1UC406B Instructor Name: ASHWANI KUMAR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Mr. Ashwani Kumar</cp:lastModifiedBy>
  <cp:revision>8</cp:revision>
  <dcterms:created xsi:type="dcterms:W3CDTF">2024-04-24T06:16:00Z</dcterms:created>
  <dcterms:modified xsi:type="dcterms:W3CDTF">2026-02-14T05:27:10Z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34DF3981A06E44458C2995CB081B7F41_13</vt:lpwstr>
  </property>
  <property fmtid="{D5CDD505-2E9C-101B-9397-08002B2CF9AE}" pid="3" name="KSOProductBuildVer">
    <vt:lpwstr>1033-12.2.0.23196</vt:lpwstr>
  </property>
</Properties>
</file>