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8" r:id="rId2"/>
    <p:sldId id="282" r:id="rId3"/>
    <p:sldId id="283" r:id="rId4"/>
    <p:sldId id="257" r:id="rId5"/>
    <p:sldId id="276" r:id="rId6"/>
    <p:sldId id="259" r:id="rId7"/>
    <p:sldId id="285" r:id="rId8"/>
    <p:sldId id="260" r:id="rId9"/>
    <p:sldId id="291" r:id="rId10"/>
    <p:sldId id="293" r:id="rId11"/>
    <p:sldId id="294" r:id="rId12"/>
    <p:sldId id="262" r:id="rId13"/>
    <p:sldId id="284" r:id="rId14"/>
    <p:sldId id="296" r:id="rId15"/>
    <p:sldId id="297" r:id="rId16"/>
    <p:sldId id="298" r:id="rId17"/>
    <p:sldId id="264" r:id="rId18"/>
    <p:sldId id="265" r:id="rId19"/>
    <p:sldId id="266" r:id="rId20"/>
    <p:sldId id="267" r:id="rId21"/>
    <p:sldId id="268" r:id="rId22"/>
    <p:sldId id="269" r:id="rId23"/>
    <p:sldId id="263" r:id="rId24"/>
    <p:sldId id="28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50CE14-2800-CD78-6F6B-8C81C5931336}" name="Manish Verma" initials="MV" userId="6a873786cd2e41c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CE2BF-E837-4849-B11C-0944C199F6A4}" v="228" dt="2024-09-19T16:05:47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3969" autoAdjust="0"/>
  </p:normalViewPr>
  <p:slideViewPr>
    <p:cSldViewPr snapToGrid="0">
      <p:cViewPr>
        <p:scale>
          <a:sx n="60" d="100"/>
          <a:sy n="60" d="100"/>
        </p:scale>
        <p:origin x="9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C967B-D532-43D3-AFE4-9868DA9E2AF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DC3616-D6FE-448F-8B8A-1B2A78F74581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Which type of network is best suited for connecting multiple computers in a small office or home setting ?</a:t>
          </a:r>
          <a:endParaRPr lang="en-US" sz="2600" dirty="0"/>
        </a:p>
      </dgm:t>
    </dgm:pt>
    <dgm:pt modelId="{D0FB601A-14D3-4B7D-A673-CC9EE6B8FC6A}" type="parTrans" cxnId="{135D2E51-77C6-4BB3-94AE-100F029FE5A5}">
      <dgm:prSet/>
      <dgm:spPr/>
      <dgm:t>
        <a:bodyPr/>
        <a:lstStyle/>
        <a:p>
          <a:endParaRPr lang="en-US"/>
        </a:p>
      </dgm:t>
    </dgm:pt>
    <dgm:pt modelId="{73C04852-EFA0-4E29-AF28-CAC84CB0EABA}" type="sibTrans" cxnId="{135D2E51-77C6-4BB3-94AE-100F029FE5A5}">
      <dgm:prSet/>
      <dgm:spPr/>
      <dgm:t>
        <a:bodyPr/>
        <a:lstStyle/>
        <a:p>
          <a:endParaRPr lang="en-US"/>
        </a:p>
      </dgm:t>
    </dgm:pt>
    <dgm:pt modelId="{365E7DE0-94B8-4068-BE7B-CA748B2123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This question will reinforces the understanding of network types and their practical applications, as covered in today’s session. 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918EB2-5C29-4D8A-85EB-3B147C66C86B}" type="sibTrans" cxnId="{4B0E66BF-721A-4FDC-8F52-633C8A0ECDD9}">
      <dgm:prSet/>
      <dgm:spPr/>
      <dgm:t>
        <a:bodyPr/>
        <a:lstStyle/>
        <a:p>
          <a:endParaRPr lang="en-US"/>
        </a:p>
      </dgm:t>
    </dgm:pt>
    <dgm:pt modelId="{B2492943-D8C1-40B5-9CD9-390A340AFD9D}" type="parTrans" cxnId="{4B0E66BF-721A-4FDC-8F52-633C8A0ECDD9}">
      <dgm:prSet/>
      <dgm:spPr/>
      <dgm:t>
        <a:bodyPr/>
        <a:lstStyle/>
        <a:p>
          <a:endParaRPr lang="en-US"/>
        </a:p>
      </dgm:t>
    </dgm:pt>
    <dgm:pt modelId="{5FEB8C7E-3E52-449C-A8A3-311C1BABF30E}" type="pres">
      <dgm:prSet presAssocID="{E5CC967B-D532-43D3-AFE4-9868DA9E2AFA}" presName="root" presStyleCnt="0">
        <dgm:presLayoutVars>
          <dgm:dir/>
          <dgm:resizeHandles val="exact"/>
        </dgm:presLayoutVars>
      </dgm:prSet>
      <dgm:spPr/>
    </dgm:pt>
    <dgm:pt modelId="{5251719D-0A93-46EF-B06D-F5118D87F7BD}" type="pres">
      <dgm:prSet presAssocID="{57DC3616-D6FE-448F-8B8A-1B2A78F74581}" presName="compNode" presStyleCnt="0"/>
      <dgm:spPr/>
    </dgm:pt>
    <dgm:pt modelId="{4B622E99-6EF6-4714-A151-692F8298A724}" type="pres">
      <dgm:prSet presAssocID="{57DC3616-D6FE-448F-8B8A-1B2A78F74581}" presName="iconRect" presStyleLbl="node1" presStyleIdx="0" presStyleCnt="2" custScaleX="232530" custScaleY="120128" custLinFactNeighborX="-10893" custLinFactNeighborY="247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3303C4A2-A3EF-437F-BB40-49CB0072FE0C}" type="pres">
      <dgm:prSet presAssocID="{57DC3616-D6FE-448F-8B8A-1B2A78F74581}" presName="spaceRect" presStyleCnt="0"/>
      <dgm:spPr/>
    </dgm:pt>
    <dgm:pt modelId="{91822D5E-6C77-4A5A-8BFC-03CB3FBEDC90}" type="pres">
      <dgm:prSet presAssocID="{57DC3616-D6FE-448F-8B8A-1B2A78F74581}" presName="textRect" presStyleLbl="revTx" presStyleIdx="0" presStyleCnt="2" custScaleX="111012" custLinFactNeighborX="-3220" custLinFactNeighborY="-3683">
        <dgm:presLayoutVars>
          <dgm:chMax val="1"/>
          <dgm:chPref val="1"/>
        </dgm:presLayoutVars>
      </dgm:prSet>
      <dgm:spPr/>
    </dgm:pt>
    <dgm:pt modelId="{55CF457C-7460-423D-B0E9-D3ED0625E7EE}" type="pres">
      <dgm:prSet presAssocID="{73C04852-EFA0-4E29-AF28-CAC84CB0EABA}" presName="sibTrans" presStyleCnt="0"/>
      <dgm:spPr/>
    </dgm:pt>
    <dgm:pt modelId="{3596255F-56C9-4A0B-B994-6D9A56510CE4}" type="pres">
      <dgm:prSet presAssocID="{365E7DE0-94B8-4068-BE7B-CA748B212368}" presName="compNode" presStyleCnt="0"/>
      <dgm:spPr/>
    </dgm:pt>
    <dgm:pt modelId="{CC6432B2-6D09-4891-82E2-F9B65191BC2C}" type="pres">
      <dgm:prSet presAssocID="{365E7DE0-94B8-4068-BE7B-CA748B212368}" presName="iconRect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 Pieces"/>
        </a:ext>
      </dgm:extLst>
    </dgm:pt>
    <dgm:pt modelId="{98EAD11D-A731-466D-90FF-A2C1BB38C89D}" type="pres">
      <dgm:prSet presAssocID="{365E7DE0-94B8-4068-BE7B-CA748B212368}" presName="spaceRect" presStyleCnt="0"/>
      <dgm:spPr/>
    </dgm:pt>
    <dgm:pt modelId="{09C081C5-3487-4D31-BBB1-5133460056EC}" type="pres">
      <dgm:prSet presAssocID="{365E7DE0-94B8-4068-BE7B-CA748B21236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90D255C-CAEE-4655-B451-3716957BC7B9}" type="presOf" srcId="{57DC3616-D6FE-448F-8B8A-1B2A78F74581}" destId="{91822D5E-6C77-4A5A-8BFC-03CB3FBEDC90}" srcOrd="0" destOrd="0" presId="urn:microsoft.com/office/officeart/2018/2/layout/IconLabelList"/>
    <dgm:cxn modelId="{5C42B96D-A0BD-435A-B093-1A6D48C16CDD}" type="presOf" srcId="{365E7DE0-94B8-4068-BE7B-CA748B212368}" destId="{09C081C5-3487-4D31-BBB1-5133460056EC}" srcOrd="0" destOrd="0" presId="urn:microsoft.com/office/officeart/2018/2/layout/IconLabelList"/>
    <dgm:cxn modelId="{135D2E51-77C6-4BB3-94AE-100F029FE5A5}" srcId="{E5CC967B-D532-43D3-AFE4-9868DA9E2AFA}" destId="{57DC3616-D6FE-448F-8B8A-1B2A78F74581}" srcOrd="0" destOrd="0" parTransId="{D0FB601A-14D3-4B7D-A673-CC9EE6B8FC6A}" sibTransId="{73C04852-EFA0-4E29-AF28-CAC84CB0EABA}"/>
    <dgm:cxn modelId="{9BA25456-F1D0-4020-88AE-AEED8F6FC23B}" type="presOf" srcId="{E5CC967B-D532-43D3-AFE4-9868DA9E2AFA}" destId="{5FEB8C7E-3E52-449C-A8A3-311C1BABF30E}" srcOrd="0" destOrd="0" presId="urn:microsoft.com/office/officeart/2018/2/layout/IconLabelList"/>
    <dgm:cxn modelId="{4B0E66BF-721A-4FDC-8F52-633C8A0ECDD9}" srcId="{E5CC967B-D532-43D3-AFE4-9868DA9E2AFA}" destId="{365E7DE0-94B8-4068-BE7B-CA748B212368}" srcOrd="1" destOrd="0" parTransId="{B2492943-D8C1-40B5-9CD9-390A340AFD9D}" sibTransId="{BC918EB2-5C29-4D8A-85EB-3B147C66C86B}"/>
    <dgm:cxn modelId="{5413E313-9C51-475A-B2BF-001B65DDDF01}" type="presParOf" srcId="{5FEB8C7E-3E52-449C-A8A3-311C1BABF30E}" destId="{5251719D-0A93-46EF-B06D-F5118D87F7BD}" srcOrd="0" destOrd="0" presId="urn:microsoft.com/office/officeart/2018/2/layout/IconLabelList"/>
    <dgm:cxn modelId="{BAB9448E-58F1-4DE2-A380-92E3DD071B10}" type="presParOf" srcId="{5251719D-0A93-46EF-B06D-F5118D87F7BD}" destId="{4B622E99-6EF6-4714-A151-692F8298A724}" srcOrd="0" destOrd="0" presId="urn:microsoft.com/office/officeart/2018/2/layout/IconLabelList"/>
    <dgm:cxn modelId="{FE6885F5-54FF-43B6-B507-0E99D710A58D}" type="presParOf" srcId="{5251719D-0A93-46EF-B06D-F5118D87F7BD}" destId="{3303C4A2-A3EF-437F-BB40-49CB0072FE0C}" srcOrd="1" destOrd="0" presId="urn:microsoft.com/office/officeart/2018/2/layout/IconLabelList"/>
    <dgm:cxn modelId="{CE93A710-0DAE-4BC9-9921-40D7AADB5CE4}" type="presParOf" srcId="{5251719D-0A93-46EF-B06D-F5118D87F7BD}" destId="{91822D5E-6C77-4A5A-8BFC-03CB3FBEDC90}" srcOrd="2" destOrd="0" presId="urn:microsoft.com/office/officeart/2018/2/layout/IconLabelList"/>
    <dgm:cxn modelId="{866A1480-4778-4FEB-A4DA-DC3DDC706A9E}" type="presParOf" srcId="{5FEB8C7E-3E52-449C-A8A3-311C1BABF30E}" destId="{55CF457C-7460-423D-B0E9-D3ED0625E7EE}" srcOrd="1" destOrd="0" presId="urn:microsoft.com/office/officeart/2018/2/layout/IconLabelList"/>
    <dgm:cxn modelId="{344A6B46-F0C2-43E7-850C-D8C75719F7CA}" type="presParOf" srcId="{5FEB8C7E-3E52-449C-A8A3-311C1BABF30E}" destId="{3596255F-56C9-4A0B-B994-6D9A56510CE4}" srcOrd="2" destOrd="0" presId="urn:microsoft.com/office/officeart/2018/2/layout/IconLabelList"/>
    <dgm:cxn modelId="{DC6EC28C-FCE1-4CCC-80AF-46C344BCB5DC}" type="presParOf" srcId="{3596255F-56C9-4A0B-B994-6D9A56510CE4}" destId="{CC6432B2-6D09-4891-82E2-F9B65191BC2C}" srcOrd="0" destOrd="0" presId="urn:microsoft.com/office/officeart/2018/2/layout/IconLabelList"/>
    <dgm:cxn modelId="{B62EC377-AEE1-4954-AFCB-C363DE8F93C4}" type="presParOf" srcId="{3596255F-56C9-4A0B-B994-6D9A56510CE4}" destId="{98EAD11D-A731-466D-90FF-A2C1BB38C89D}" srcOrd="1" destOrd="0" presId="urn:microsoft.com/office/officeart/2018/2/layout/IconLabelList"/>
    <dgm:cxn modelId="{D6BDFA9E-BB60-4978-BB1A-61B8406E98A8}" type="presParOf" srcId="{3596255F-56C9-4A0B-B994-6D9A56510CE4}" destId="{09C081C5-3487-4D31-BBB1-5133460056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 1:</a:t>
          </a:r>
        </a:p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Differentiate between LAN, WAN, and MAN, Internet Protocols and Standards.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 2:</a:t>
          </a:r>
        </a:p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Analyse the real-time scenario for network types, protocols, and standards.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50B3B115-9ED4-4424-B000-6C66B8D607D6}" type="pres">
      <dgm:prSet presAssocID="{B7ED251F-A7A3-4D25-B004-4241BE03EDC3}" presName="TwoNodes_1" presStyleLbl="node1" presStyleIdx="0" presStyleCnt="2" custScaleX="115482" custLinFactNeighborX="4824" custLinFactNeighborY="-871">
        <dgm:presLayoutVars>
          <dgm:bulletEnabled val="1"/>
        </dgm:presLayoutVars>
      </dgm:prSet>
      <dgm:spPr/>
    </dgm:pt>
    <dgm:pt modelId="{66D5292E-E31B-47C3-B7F6-6E92D8DBC596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C65C44E2-047F-4F51-A8DC-FF51C925FC7F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A4FE43DF-38F9-4E9D-BFAC-B056439DD239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D6550B05-CA9B-414C-B02C-0996B53629B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B7C90E5D-C08D-4C7A-BC09-978891E6C996}" type="presOf" srcId="{0715BA3E-6351-4C71-A2A0-855403651045}" destId="{C65C44E2-047F-4F51-A8DC-FF51C925FC7F}" srcOrd="0" destOrd="0" presId="urn:microsoft.com/office/officeart/2005/8/layout/vProcess5"/>
    <dgm:cxn modelId="{F8377941-5A76-4607-BD83-62C7797B0244}" type="presOf" srcId="{DFBD6BAB-0140-48B9-9073-E08FDCB01885}" destId="{A4FE43DF-38F9-4E9D-BFAC-B056439DD239}" srcOrd="1" destOrd="0" presId="urn:microsoft.com/office/officeart/2005/8/layout/vProcess5"/>
    <dgm:cxn modelId="{D8FD6265-6EFF-41EA-A3FD-157498354C48}" type="presOf" srcId="{A3B4F848-7886-4B10-8E34-39E0B844A474}" destId="{66D5292E-E31B-47C3-B7F6-6E92D8DBC596}" srcOrd="0" destOrd="0" presId="urn:microsoft.com/office/officeart/2005/8/layout/vProcess5"/>
    <dgm:cxn modelId="{77311569-CDC2-49AC-95DB-7463C529128E}" type="presOf" srcId="{A3B4F848-7886-4B10-8E34-39E0B844A474}" destId="{D6550B05-CA9B-414C-B02C-0996B53629B5}" srcOrd="1" destOrd="0" presId="urn:microsoft.com/office/officeart/2005/8/layout/vProcess5"/>
    <dgm:cxn modelId="{7987A051-5FB1-40A3-A3C7-DD53D6028BFC}" type="presOf" srcId="{DFBD6BAB-0140-48B9-9073-E08FDCB01885}" destId="{50B3B115-9ED4-4424-B000-6C66B8D607D6}" srcOrd="0" destOrd="0" presId="urn:microsoft.com/office/officeart/2005/8/layout/vProcess5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91FFE510-5AEF-4699-93BA-62BCE0929612}" type="presParOf" srcId="{E218E0F1-97EC-4D60-8F4A-A6E21D910199}" destId="{50B3B115-9ED4-4424-B000-6C66B8D607D6}" srcOrd="1" destOrd="0" presId="urn:microsoft.com/office/officeart/2005/8/layout/vProcess5"/>
    <dgm:cxn modelId="{A6323143-C21B-48C4-A26E-C1BE1D3FDFA3}" type="presParOf" srcId="{E218E0F1-97EC-4D60-8F4A-A6E21D910199}" destId="{66D5292E-E31B-47C3-B7F6-6E92D8DBC596}" srcOrd="2" destOrd="0" presId="urn:microsoft.com/office/officeart/2005/8/layout/vProcess5"/>
    <dgm:cxn modelId="{A7712366-DE27-4D2D-9EA4-E72C08291FDF}" type="presParOf" srcId="{E218E0F1-97EC-4D60-8F4A-A6E21D910199}" destId="{C65C44E2-047F-4F51-A8DC-FF51C925FC7F}" srcOrd="3" destOrd="0" presId="urn:microsoft.com/office/officeart/2005/8/layout/vProcess5"/>
    <dgm:cxn modelId="{D9234DA3-5745-412D-96F2-93EDC8C718C2}" type="presParOf" srcId="{E218E0F1-97EC-4D60-8F4A-A6E21D910199}" destId="{A4FE43DF-38F9-4E9D-BFAC-B056439DD239}" srcOrd="4" destOrd="0" presId="urn:microsoft.com/office/officeart/2005/8/layout/vProcess5"/>
    <dgm:cxn modelId="{9F1A614F-0DA6-43D7-AACB-1E517E8A8B09}" type="presParOf" srcId="{E218E0F1-97EC-4D60-8F4A-A6E21D910199}" destId="{D6550B05-CA9B-414C-B02C-0996B53629B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Definition of Network</a:t>
          </a:r>
          <a:endParaRPr lang="en-US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Types of Networks</a:t>
          </a:r>
          <a:endParaRPr lang="en-US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Comparison between LAN, WAN, MAN </a:t>
          </a:r>
          <a:endParaRPr lang="en-US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The Internet</a:t>
          </a:r>
          <a:endParaRPr lang="en-US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Internet Protocols</a:t>
          </a:r>
          <a:endParaRPr lang="en-US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r>
            <a: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 Standards and Organizations</a:t>
          </a:r>
          <a:endParaRPr lang="en-US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6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6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6" custLinFactNeighborX="123" custLinFactNeighborY="1011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6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6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6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6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6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6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6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6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6"/>
      <dgm:spPr/>
    </dgm:pt>
    <dgm:pt modelId="{41D82D7D-82CC-403F-8FAA-7EF8B4434DBF}" type="pres">
      <dgm:prSet presAssocID="{B3A5C720-F6BA-415B-BACC-D6E1E00A3E9C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IN" sz="2400" dirty="0"/>
            <a:t>Outcome 1:</a:t>
          </a:r>
        </a:p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Definition, examples advantage and disadvantage of all the three network (i.e. LAN, WAN, and MAN), Internet Protocols and </a:t>
          </a:r>
          <a:r>
            <a:rPr lang="en-IN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Standartds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are discussed.</a:t>
          </a:r>
          <a:endParaRPr lang="en-US" sz="24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r>
            <a:rPr lang="en-IN" sz="2400" dirty="0"/>
            <a:t>Outcome 2: </a:t>
          </a:r>
        </a:p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 real-time scenario is discussed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to illustrate the types of networks and the Internet protocols and standards, along with 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proper justification.</a:t>
          </a:r>
          <a:endParaRPr lang="en-US" sz="24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50B3B115-9ED4-4424-B000-6C66B8D607D6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66D5292E-E31B-47C3-B7F6-6E92D8DBC596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C65C44E2-047F-4F51-A8DC-FF51C925FC7F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A4FE43DF-38F9-4E9D-BFAC-B056439DD239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D6550B05-CA9B-414C-B02C-0996B53629B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B7C90E5D-C08D-4C7A-BC09-978891E6C996}" type="presOf" srcId="{0715BA3E-6351-4C71-A2A0-855403651045}" destId="{C65C44E2-047F-4F51-A8DC-FF51C925FC7F}" srcOrd="0" destOrd="0" presId="urn:microsoft.com/office/officeart/2005/8/layout/vProcess5"/>
    <dgm:cxn modelId="{F8377941-5A76-4607-BD83-62C7797B0244}" type="presOf" srcId="{DFBD6BAB-0140-48B9-9073-E08FDCB01885}" destId="{A4FE43DF-38F9-4E9D-BFAC-B056439DD239}" srcOrd="1" destOrd="0" presId="urn:microsoft.com/office/officeart/2005/8/layout/vProcess5"/>
    <dgm:cxn modelId="{D8FD6265-6EFF-41EA-A3FD-157498354C48}" type="presOf" srcId="{A3B4F848-7886-4B10-8E34-39E0B844A474}" destId="{66D5292E-E31B-47C3-B7F6-6E92D8DBC596}" srcOrd="0" destOrd="0" presId="urn:microsoft.com/office/officeart/2005/8/layout/vProcess5"/>
    <dgm:cxn modelId="{77311569-CDC2-49AC-95DB-7463C529128E}" type="presOf" srcId="{A3B4F848-7886-4B10-8E34-39E0B844A474}" destId="{D6550B05-CA9B-414C-B02C-0996B53629B5}" srcOrd="1" destOrd="0" presId="urn:microsoft.com/office/officeart/2005/8/layout/vProcess5"/>
    <dgm:cxn modelId="{7987A051-5FB1-40A3-A3C7-DD53D6028BFC}" type="presOf" srcId="{DFBD6BAB-0140-48B9-9073-E08FDCB01885}" destId="{50B3B115-9ED4-4424-B000-6C66B8D607D6}" srcOrd="0" destOrd="0" presId="urn:microsoft.com/office/officeart/2005/8/layout/vProcess5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91FFE510-5AEF-4699-93BA-62BCE0929612}" type="presParOf" srcId="{E218E0F1-97EC-4D60-8F4A-A6E21D910199}" destId="{50B3B115-9ED4-4424-B000-6C66B8D607D6}" srcOrd="1" destOrd="0" presId="urn:microsoft.com/office/officeart/2005/8/layout/vProcess5"/>
    <dgm:cxn modelId="{A6323143-C21B-48C4-A26E-C1BE1D3FDFA3}" type="presParOf" srcId="{E218E0F1-97EC-4D60-8F4A-A6E21D910199}" destId="{66D5292E-E31B-47C3-B7F6-6E92D8DBC596}" srcOrd="2" destOrd="0" presId="urn:microsoft.com/office/officeart/2005/8/layout/vProcess5"/>
    <dgm:cxn modelId="{A7712366-DE27-4D2D-9EA4-E72C08291FDF}" type="presParOf" srcId="{E218E0F1-97EC-4D60-8F4A-A6E21D910199}" destId="{C65C44E2-047F-4F51-A8DC-FF51C925FC7F}" srcOrd="3" destOrd="0" presId="urn:microsoft.com/office/officeart/2005/8/layout/vProcess5"/>
    <dgm:cxn modelId="{D9234DA3-5745-412D-96F2-93EDC8C718C2}" type="presParOf" srcId="{E218E0F1-97EC-4D60-8F4A-A6E21D910199}" destId="{A4FE43DF-38F9-4E9D-BFAC-B056439DD239}" srcOrd="4" destOrd="0" presId="urn:microsoft.com/office/officeart/2005/8/layout/vProcess5"/>
    <dgm:cxn modelId="{9F1A614F-0DA6-43D7-AACB-1E517E8A8B09}" type="presParOf" srcId="{E218E0F1-97EC-4D60-8F4A-A6E21D910199}" destId="{D6550B05-CA9B-414C-B02C-0996B53629B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22E99-6EF6-4714-A151-692F8298A724}">
      <dsp:nvSpPr>
        <dsp:cNvPr id="0" name=""/>
        <dsp:cNvSpPr/>
      </dsp:nvSpPr>
      <dsp:spPr>
        <a:xfrm>
          <a:off x="827770" y="161121"/>
          <a:ext cx="4520383" cy="2335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22D5E-6C77-4A5A-8BFC-03CB3FBEDC90}">
      <dsp:nvSpPr>
        <dsp:cNvPr id="0" name=""/>
        <dsp:cNvSpPr/>
      </dsp:nvSpPr>
      <dsp:spPr>
        <a:xfrm>
          <a:off x="762758" y="2815815"/>
          <a:ext cx="4795718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Which type of network is best suited for connecting multiple computers in a small office or home setting ?</a:t>
          </a:r>
          <a:endParaRPr lang="en-US" sz="2600" kern="1200" dirty="0"/>
        </a:p>
      </dsp:txBody>
      <dsp:txXfrm>
        <a:off x="762758" y="2815815"/>
        <a:ext cx="4795718" cy="1575000"/>
      </dsp:txXfrm>
    </dsp:sp>
    <dsp:sp modelId="{CC6432B2-6D09-4891-82E2-F9B65191BC2C}">
      <dsp:nvSpPr>
        <dsp:cNvPr id="0" name=""/>
        <dsp:cNvSpPr/>
      </dsp:nvSpPr>
      <dsp:spPr>
        <a:xfrm>
          <a:off x="7641581" y="210810"/>
          <a:ext cx="1944000" cy="194400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081C5-3487-4D31-BBB1-5133460056EC}">
      <dsp:nvSpPr>
        <dsp:cNvPr id="0" name=""/>
        <dsp:cNvSpPr/>
      </dsp:nvSpPr>
      <dsp:spPr>
        <a:xfrm>
          <a:off x="6453581" y="2776000"/>
          <a:ext cx="432000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question will reinforces the understanding of network types and their practical applications, as covered in today’s session. 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53581" y="2776000"/>
        <a:ext cx="4320000" cy="157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3B115-9ED4-4424-B000-6C66B8D607D6}">
      <dsp:nvSpPr>
        <dsp:cNvPr id="0" name=""/>
        <dsp:cNvSpPr/>
      </dsp:nvSpPr>
      <dsp:spPr>
        <a:xfrm>
          <a:off x="78381" y="0"/>
          <a:ext cx="9493042" cy="17902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 1: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Differentiate between LAN, WAN, and MAN, Internet Protocols and Standards.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0817" y="52436"/>
        <a:ext cx="7372384" cy="1685426"/>
      </dsp:txXfrm>
    </dsp:sp>
    <dsp:sp modelId="{66D5292E-E31B-47C3-B7F6-6E92D8DBC596}">
      <dsp:nvSpPr>
        <dsp:cNvPr id="0" name=""/>
        <dsp:cNvSpPr/>
      </dsp:nvSpPr>
      <dsp:spPr>
        <a:xfrm>
          <a:off x="1768821" y="2188143"/>
          <a:ext cx="8220365" cy="1790298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Outcome 2: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Analyse the real-time scenario for network types, protocols, and standards.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1257" y="2240579"/>
        <a:ext cx="5501146" cy="1685426"/>
      </dsp:txXfrm>
    </dsp:sp>
    <dsp:sp modelId="{C65C44E2-047F-4F51-A8DC-FF51C925FC7F}">
      <dsp:nvSpPr>
        <dsp:cNvPr id="0" name=""/>
        <dsp:cNvSpPr/>
      </dsp:nvSpPr>
      <dsp:spPr>
        <a:xfrm>
          <a:off x="7374840" y="1407373"/>
          <a:ext cx="1163694" cy="116369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636671" y="1407373"/>
        <a:ext cx="640032" cy="8756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2460"/>
          <a:ext cx="69005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2460"/>
          <a:ext cx="6900512" cy="83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Definition of Network</a:t>
          </a:r>
          <a:endParaRPr lang="en-US" sz="3000" kern="1200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460"/>
        <a:ext cx="6900512" cy="839197"/>
      </dsp:txXfrm>
    </dsp:sp>
    <dsp:sp modelId="{F83A5B86-9D43-4C81-A6D4-87875817B689}">
      <dsp:nvSpPr>
        <dsp:cNvPr id="0" name=""/>
        <dsp:cNvSpPr/>
      </dsp:nvSpPr>
      <dsp:spPr>
        <a:xfrm>
          <a:off x="0" y="850142"/>
          <a:ext cx="69005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841658"/>
          <a:ext cx="6900512" cy="83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Types of Networks</a:t>
          </a:r>
          <a:endParaRPr lang="en-US" sz="3000" kern="1200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841658"/>
        <a:ext cx="6900512" cy="839197"/>
      </dsp:txXfrm>
    </dsp:sp>
    <dsp:sp modelId="{7EE56E18-6978-43E9-9D4D-E31AA5BEE441}">
      <dsp:nvSpPr>
        <dsp:cNvPr id="0" name=""/>
        <dsp:cNvSpPr/>
      </dsp:nvSpPr>
      <dsp:spPr>
        <a:xfrm>
          <a:off x="0" y="1680855"/>
          <a:ext cx="69005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680855"/>
          <a:ext cx="6900512" cy="83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Comparison between LAN, WAN, MAN </a:t>
          </a:r>
          <a:endParaRPr lang="en-US" sz="3000" kern="1200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680855"/>
        <a:ext cx="6900512" cy="839197"/>
      </dsp:txXfrm>
    </dsp:sp>
    <dsp:sp modelId="{B514687E-679F-4404-A929-C733AA004539}">
      <dsp:nvSpPr>
        <dsp:cNvPr id="0" name=""/>
        <dsp:cNvSpPr/>
      </dsp:nvSpPr>
      <dsp:spPr>
        <a:xfrm>
          <a:off x="0" y="2520053"/>
          <a:ext cx="69005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520053"/>
          <a:ext cx="6900512" cy="83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The Internet</a:t>
          </a:r>
          <a:endParaRPr lang="en-US" sz="3000" kern="1200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20053"/>
        <a:ext cx="6900512" cy="839197"/>
      </dsp:txXfrm>
    </dsp:sp>
    <dsp:sp modelId="{0B062B2C-FD23-461E-89A1-3ECDF7A567C2}">
      <dsp:nvSpPr>
        <dsp:cNvPr id="0" name=""/>
        <dsp:cNvSpPr/>
      </dsp:nvSpPr>
      <dsp:spPr>
        <a:xfrm>
          <a:off x="0" y="3359250"/>
          <a:ext cx="69005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359250"/>
          <a:ext cx="6900512" cy="83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Internet Protocols</a:t>
          </a:r>
          <a:endParaRPr lang="en-US" sz="3000" kern="1200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359250"/>
        <a:ext cx="6900512" cy="839197"/>
      </dsp:txXfrm>
    </dsp:sp>
    <dsp:sp modelId="{2B37DFBD-1045-417A-89DD-348147EAB4F5}">
      <dsp:nvSpPr>
        <dsp:cNvPr id="0" name=""/>
        <dsp:cNvSpPr/>
      </dsp:nvSpPr>
      <dsp:spPr>
        <a:xfrm>
          <a:off x="0" y="4198447"/>
          <a:ext cx="69005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4198447"/>
          <a:ext cx="6900512" cy="83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 Standards and Organizations</a:t>
          </a:r>
          <a:endParaRPr lang="en-US" sz="3000" kern="1200" dirty="0">
            <a:solidFill>
              <a:schemeClr val="accent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198447"/>
        <a:ext cx="6900512" cy="8391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3B115-9ED4-4424-B000-6C66B8D607D6}">
      <dsp:nvSpPr>
        <dsp:cNvPr id="0" name=""/>
        <dsp:cNvSpPr/>
      </dsp:nvSpPr>
      <dsp:spPr>
        <a:xfrm>
          <a:off x="0" y="0"/>
          <a:ext cx="9288654" cy="17907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Outcome 1: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Definition, examples advantage and disadvantage of all the three network (i.e. LAN, WAN, and MAN), Internet Protocols and </a:t>
          </a:r>
          <a:r>
            <a:rPr lang="en-IN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Standartds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are discussed.</a:t>
          </a:r>
          <a:endParaRPr lang="en-US" sz="2400" kern="1200" dirty="0"/>
        </a:p>
      </dsp:txBody>
      <dsp:txXfrm>
        <a:off x="52449" y="52449"/>
        <a:ext cx="7437781" cy="1685845"/>
      </dsp:txXfrm>
    </dsp:sp>
    <dsp:sp modelId="{66D5292E-E31B-47C3-B7F6-6E92D8DBC596}">
      <dsp:nvSpPr>
        <dsp:cNvPr id="0" name=""/>
        <dsp:cNvSpPr/>
      </dsp:nvSpPr>
      <dsp:spPr>
        <a:xfrm>
          <a:off x="1639174" y="2188686"/>
          <a:ext cx="9288654" cy="1790743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Outcome 2: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real-time scenario is discussed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illustrate the types of networks and the Internet protocols and standards, along with 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proper justification.</a:t>
          </a:r>
          <a:endParaRPr lang="en-US" sz="2400" kern="1200" dirty="0"/>
        </a:p>
      </dsp:txBody>
      <dsp:txXfrm>
        <a:off x="1691623" y="2241135"/>
        <a:ext cx="6380599" cy="1685845"/>
      </dsp:txXfrm>
    </dsp:sp>
    <dsp:sp modelId="{C65C44E2-047F-4F51-A8DC-FF51C925FC7F}">
      <dsp:nvSpPr>
        <dsp:cNvPr id="0" name=""/>
        <dsp:cNvSpPr/>
      </dsp:nvSpPr>
      <dsp:spPr>
        <a:xfrm>
          <a:off x="8124671" y="1407723"/>
          <a:ext cx="1163983" cy="116398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86567" y="1407723"/>
        <a:ext cx="640191" cy="875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94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4.xml"/><Relationship Id="rId7" Type="http://schemas.openxmlformats.org/officeDocument/2006/relationships/image" Target="../media/image2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292" y="1639614"/>
            <a:ext cx="9674908" cy="4164333"/>
          </a:xfrm>
        </p:spPr>
        <p:txBody>
          <a:bodyPr anchor="b">
            <a:normAutofit/>
          </a:bodyPr>
          <a:lstStyle/>
          <a:p>
            <a:pPr algn="l">
              <a:tabLst>
                <a:tab pos="6369050" algn="l"/>
              </a:tabLst>
            </a:pPr>
            <a:r>
              <a:rPr lang="en-US" sz="4000" b="1" dirty="0">
                <a:latin typeface="Georgia" panose="02040502050405020303" pitchFamily="18" charset="0"/>
              </a:rPr>
              <a:t>Categories of Networks, </a:t>
            </a:r>
            <a:br>
              <a:rPr lang="en-US" sz="4000" b="1" dirty="0">
                <a:latin typeface="Georgia" panose="02040502050405020303" pitchFamily="18" charset="0"/>
              </a:rPr>
            </a:br>
            <a:r>
              <a:rPr lang="en-US" sz="4000" b="1" dirty="0">
                <a:latin typeface="Georgia" panose="02040502050405020303" pitchFamily="18" charset="0"/>
              </a:rPr>
              <a:t>Internet and Protocols, </a:t>
            </a:r>
            <a:br>
              <a:rPr lang="en-US" sz="4000" b="1" dirty="0">
                <a:latin typeface="Georgia" panose="02040502050405020303" pitchFamily="18" charset="0"/>
              </a:rPr>
            </a:br>
            <a:r>
              <a:rPr lang="en-US" sz="4000" b="1" dirty="0">
                <a:latin typeface="Georgia" panose="02040502050405020303" pitchFamily="18" charset="0"/>
              </a:rPr>
              <a:t>Standards and Organizations</a:t>
            </a:r>
            <a:br>
              <a:rPr lang="en-US" sz="4000" b="1" dirty="0">
                <a:latin typeface="Georgia" panose="02040502050405020303" pitchFamily="18" charset="0"/>
              </a:rPr>
            </a:br>
            <a:br>
              <a:rPr lang="en-US" sz="4000" b="1" dirty="0">
                <a:latin typeface="Georgia" panose="02040502050405020303" pitchFamily="18" charset="0"/>
              </a:rPr>
            </a:br>
            <a:br>
              <a:rPr lang="en-US" sz="4000" b="1" dirty="0">
                <a:latin typeface="Georgia" panose="02040502050405020303" pitchFamily="18" charset="0"/>
              </a:rPr>
            </a:br>
            <a: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  <a:t>Session No.: 3</a:t>
            </a:r>
            <a:b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Data Communication and Networking</a:t>
            </a:r>
            <a:b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US" sz="1600" b="1" dirty="0">
                <a:latin typeface="Georgia" panose="02040502050405020303" pitchFamily="18" charset="0"/>
              </a:rPr>
              <a:t>R1UC406B</a:t>
            </a:r>
            <a:b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Abadhan Sabyasachi</a:t>
            </a:r>
            <a:br>
              <a:rPr lang="en-IN" sz="1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6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</a:t>
            </a:r>
            <a:endParaRPr lang="en-IN" sz="40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59D7E0-C4B0-63C1-6D9B-2EEF7825E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7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17" y="1086086"/>
            <a:ext cx="10515600" cy="62958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Some key concepts of session no. 2</a:t>
            </a:r>
            <a:br>
              <a:rPr lang="en-US" dirty="0"/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1026" name="Picture 2" descr="Image result for wired or wireless network">
            <a:extLst>
              <a:ext uri="{FF2B5EF4-FFF2-40B4-BE49-F238E27FC236}">
                <a16:creationId xmlns:a16="http://schemas.microsoft.com/office/drawing/2014/main" id="{C13D62DD-49CA-2D1A-9CBA-FDCF839AB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78"/>
          <a:stretch/>
        </p:blipFill>
        <p:spPr bwMode="auto">
          <a:xfrm>
            <a:off x="352926" y="1960364"/>
            <a:ext cx="5449236" cy="356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DAADB6-24FD-D064-EB9A-B3A690253DE3}"/>
              </a:ext>
            </a:extLst>
          </p:cNvPr>
          <p:cNvSpPr txBox="1"/>
          <p:nvPr/>
        </p:nvSpPr>
        <p:spPr>
          <a:xfrm>
            <a:off x="104933" y="5694799"/>
            <a:ext cx="5991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Connection in a Network </a:t>
            </a:r>
          </a:p>
          <a:p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(Wired vs. Wireless Network)</a:t>
            </a:r>
            <a:endParaRPr lang="en-IN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Image result for network topologies in computer networks">
            <a:extLst>
              <a:ext uri="{FF2B5EF4-FFF2-40B4-BE49-F238E27FC236}">
                <a16:creationId xmlns:a16="http://schemas.microsoft.com/office/drawing/2014/main" id="{247E5787-3566-74C2-4B7D-52FE7868D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14" y="1960364"/>
            <a:ext cx="5347992" cy="356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92A0DE-4977-C16C-E52D-7AC02FE01F89}"/>
              </a:ext>
            </a:extLst>
          </p:cNvPr>
          <p:cNvSpPr txBox="1"/>
          <p:nvPr/>
        </p:nvSpPr>
        <p:spPr>
          <a:xfrm>
            <a:off x="6654714" y="5805641"/>
            <a:ext cx="5347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Physical Topologies in a Network</a:t>
            </a:r>
            <a:endParaRPr lang="en-IN" sz="2400" dirty="0">
              <a:solidFill>
                <a:schemeClr val="accent2"/>
              </a:solidFill>
            </a:endParaRP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E305154-FB73-1011-FD9F-E4E9F7FBC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04D73D-A1CE-3130-53AF-026A7363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853192"/>
              </p:ext>
            </p:extLst>
          </p:nvPr>
        </p:nvGraphicFramePr>
        <p:xfrm>
          <a:off x="612956" y="1461597"/>
          <a:ext cx="10515599" cy="458306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70683">
                  <a:extLst>
                    <a:ext uri="{9D8B030D-6E8A-4147-A177-3AD203B41FA5}">
                      <a16:colId xmlns:a16="http://schemas.microsoft.com/office/drawing/2014/main" val="2578326106"/>
                    </a:ext>
                  </a:extLst>
                </a:gridCol>
                <a:gridCol w="4776529">
                  <a:extLst>
                    <a:ext uri="{9D8B030D-6E8A-4147-A177-3AD203B41FA5}">
                      <a16:colId xmlns:a16="http://schemas.microsoft.com/office/drawing/2014/main" val="981981321"/>
                    </a:ext>
                  </a:extLst>
                </a:gridCol>
                <a:gridCol w="528314">
                  <a:extLst>
                    <a:ext uri="{9D8B030D-6E8A-4147-A177-3AD203B41FA5}">
                      <a16:colId xmlns:a16="http://schemas.microsoft.com/office/drawing/2014/main" val="1435279950"/>
                    </a:ext>
                  </a:extLst>
                </a:gridCol>
                <a:gridCol w="4440073">
                  <a:extLst>
                    <a:ext uri="{9D8B030D-6E8A-4147-A177-3AD203B41FA5}">
                      <a16:colId xmlns:a16="http://schemas.microsoft.com/office/drawing/2014/main" val="2592946472"/>
                    </a:ext>
                  </a:extLst>
                </a:gridCol>
              </a:tblGrid>
              <a:tr h="2533942"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of the following network topologies connects all devices in a closed-loop, where each device is connected to exactly two other devices?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of the following is an example of a wireless network connection?</a:t>
                      </a:r>
                      <a:endParaRPr lang="en-US" sz="2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17636"/>
                  </a:ext>
                </a:extLst>
              </a:tr>
              <a:tr h="2049127">
                <a:tc>
                  <a:txBody>
                    <a:bodyPr/>
                    <a:lstStyle/>
                    <a:p>
                      <a:endParaRPr lang="en-IN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A) Star Topology</a:t>
                      </a:r>
                      <a:b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B) Ring Topology</a:t>
                      </a:r>
                      <a:b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C) Bus Topology</a:t>
                      </a:r>
                      <a:b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D) Mesh Topology</a:t>
                      </a:r>
                      <a:endParaRPr lang="en-IN" sz="26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6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A) Fiber Optic Cable</a:t>
                      </a:r>
                      <a:b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B) Ethernet</a:t>
                      </a:r>
                      <a:b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C) Wi-Fi</a:t>
                      </a:r>
                      <a:b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6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D) Coaxial Cable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63938"/>
                  </a:ext>
                </a:extLst>
              </a:tr>
            </a:tbl>
          </a:graphicData>
        </a:graphic>
      </p:graphicFrame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A0EA6C6-6DB3-6A5F-0C22-06A52F6E6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92795"/>
            <a:ext cx="1190469" cy="1190469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05333B8-E2DA-6EE0-3A6D-04B0A8F0C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92795"/>
            <a:ext cx="1190469" cy="1190469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0252E4C-BC56-9EBD-E511-4CD6C50AF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40F3-E1DD-E82F-3F29-9401CD52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008" y="1415532"/>
            <a:ext cx="9551544" cy="4576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type of network is best suited for connecting multiple computers in a small office or home setting ?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69DC-8D11-0F83-CECC-16C8D86A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21A7-5B1D-94E2-DB07-9FE4C43A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9ECFAAD-17D4-0306-3A15-FB8674D17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93B7E2-CC5E-CDA8-4EF8-BDA29B524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7C0FD3F-5782-573D-19B7-57EE57753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5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F4C576-15C8-7C09-9DA0-E5729D32F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38692"/>
              </p:ext>
            </p:extLst>
          </p:nvPr>
        </p:nvGraphicFramePr>
        <p:xfrm>
          <a:off x="250257" y="1615152"/>
          <a:ext cx="11675444" cy="4561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406B36-D765-D8A2-99EB-F126932151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29551E6-F6B6-EF96-1094-AE054E9038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9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91" y="1347440"/>
            <a:ext cx="10542973" cy="822858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session, students will be able 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7A3F3-F9E0-0ED6-9640-C09E20B4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BD711-0225-BB81-E56E-97842AEF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6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426572"/>
              </p:ext>
            </p:extLst>
          </p:nvPr>
        </p:nvGraphicFramePr>
        <p:xfrm>
          <a:off x="1260491" y="2239501"/>
          <a:ext cx="9671018" cy="3978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DC91442-66F2-504B-C67F-2CC391B8C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E66B6B-F371-2A0A-CB0C-8E7576D58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ABD8ACF-61C1-C227-88AC-FD0E7FEE9E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9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>
                <a:solidFill>
                  <a:schemeClr val="accent4"/>
                </a:solidFill>
              </a:rPr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192721"/>
              </p:ext>
            </p:extLst>
          </p:nvPr>
        </p:nvGraphicFramePr>
        <p:xfrm>
          <a:off x="4650691" y="1183865"/>
          <a:ext cx="6900512" cy="5040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62DD5-123E-828B-BD74-061BEE1C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5880A51-43DA-2498-27D3-D16B9C21D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3808"/>
            <a:ext cx="4114800" cy="365125"/>
          </a:xfrm>
        </p:spPr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4A167F-015D-DE48-BECB-36AF3D440754}"/>
              </a:ext>
            </a:extLst>
          </p:cNvPr>
          <p:cNvSpPr txBox="1"/>
          <p:nvPr/>
        </p:nvSpPr>
        <p:spPr>
          <a:xfrm>
            <a:off x="77007" y="943174"/>
            <a:ext cx="652686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 of Networks: </a:t>
            </a:r>
          </a:p>
          <a:p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field of Data Communication and Networking, a Network is a system of interconnected devices (such as computers, servers, routers, and switches) that communicate to share data, resources, and services.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network enables seamless data sharing, communication, and resource utilization, making it the backbone of modern digital communication.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Networks can be classified based on their size, geographical coverage, and purpose. Based on geographical coverage, it is classified as 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 (LAN)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 Area Network (WAN)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Metropolitan Area Network (MAN)</a:t>
            </a:r>
          </a:p>
        </p:txBody>
      </p:sp>
      <p:pic>
        <p:nvPicPr>
          <p:cNvPr id="12" name="Picture 2" descr="Science Computer In Matriculation: Network Basic">
            <a:extLst>
              <a:ext uri="{FF2B5EF4-FFF2-40B4-BE49-F238E27FC236}">
                <a16:creationId xmlns:a16="http://schemas.microsoft.com/office/drawing/2014/main" id="{000F671D-9403-5540-F3E0-23DE9CAE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01" y="1518699"/>
            <a:ext cx="5483192" cy="435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99B6610-23EA-6151-DFD3-54CFFA2F8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CB5B4-CB72-8521-FC13-79465392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867AD-8D0B-BEDA-3D0B-D13770CB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0F029-597F-4EF6-1CA7-CDCE9275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C18B330-DCE6-522B-5B29-86CE2001B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548A7D-B735-2235-7B87-5FD139C21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55598B-4B0F-ECF3-C019-0307BFAC0907}"/>
              </a:ext>
            </a:extLst>
          </p:cNvPr>
          <p:cNvSpPr txBox="1"/>
          <p:nvPr/>
        </p:nvSpPr>
        <p:spPr>
          <a:xfrm>
            <a:off x="214045" y="1066476"/>
            <a:ext cx="11763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 Area Network (LAN): </a:t>
            </a:r>
            <a:endParaRPr lang="en-IN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BA20003-F988-34BE-6FF8-2A35D937F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166997"/>
              </p:ext>
            </p:extLst>
          </p:nvPr>
        </p:nvGraphicFramePr>
        <p:xfrm>
          <a:off x="214045" y="1712807"/>
          <a:ext cx="11763910" cy="2346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8644">
                  <a:extLst>
                    <a:ext uri="{9D8B030D-6E8A-4147-A177-3AD203B41FA5}">
                      <a16:colId xmlns:a16="http://schemas.microsoft.com/office/drawing/2014/main" val="1539147765"/>
                    </a:ext>
                  </a:extLst>
                </a:gridCol>
                <a:gridCol w="9165266">
                  <a:extLst>
                    <a:ext uri="{9D8B030D-6E8A-4147-A177-3AD203B41FA5}">
                      <a16:colId xmlns:a16="http://schemas.microsoft.com/office/drawing/2014/main" val="1967521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6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Definition</a:t>
                      </a:r>
                      <a:r>
                        <a:rPr lang="en-IN" sz="26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network that connects computers within a small area (e.g., home, office, school).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20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6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  <a:r>
                        <a:rPr lang="en-IN" sz="26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Office networks, campus networks, home Wi-Fi.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50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6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r>
                        <a:rPr lang="en-IN" sz="26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speed, low cost, secure data sharing.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9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6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Disadvantages</a:t>
                      </a:r>
                      <a:r>
                        <a:rPr lang="en-IN" sz="26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6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Limited range, requires maintenance.</a:t>
                      </a:r>
                      <a:endParaRPr lang="en-IN" sz="26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259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36AB61C-EED4-5560-6B4E-3D3477229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45" y="4264189"/>
            <a:ext cx="4345739" cy="22747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3B5014-FF75-4F62-9102-B8B5CB8B6D00}"/>
              </a:ext>
            </a:extLst>
          </p:cNvPr>
          <p:cNvSpPr txBox="1"/>
          <p:nvPr/>
        </p:nvSpPr>
        <p:spPr>
          <a:xfrm>
            <a:off x="4206239" y="4960527"/>
            <a:ext cx="7771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dentify where you have seen a LAN in use.</a:t>
            </a:r>
            <a:endParaRPr lang="en-I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E981B0C-F510-352F-D8A3-2AE758D5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9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E9F4C-AFFC-BF7D-1FE2-533C43D7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57069-D41D-309A-DEE2-30CAA29C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1F732-1468-A3DC-8D23-C44B8A17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9118B92-0B85-DD58-54EA-56A2A2E67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34464-2D93-B0A7-1583-35A138B94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BD7A27-B08D-3165-E70D-E9A7CD08759A}"/>
              </a:ext>
            </a:extLst>
          </p:cNvPr>
          <p:cNvSpPr txBox="1"/>
          <p:nvPr/>
        </p:nvSpPr>
        <p:spPr>
          <a:xfrm>
            <a:off x="214045" y="1066476"/>
            <a:ext cx="65407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Wide Area Network (WAN): </a:t>
            </a:r>
            <a:endParaRPr lang="en-IN" sz="2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A7CCD6-0F78-9AA5-9817-4242BE9EC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544159"/>
              </p:ext>
            </p:extLst>
          </p:nvPr>
        </p:nvGraphicFramePr>
        <p:xfrm>
          <a:off x="289941" y="1558918"/>
          <a:ext cx="6540783" cy="4668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2646">
                  <a:extLst>
                    <a:ext uri="{9D8B030D-6E8A-4147-A177-3AD203B41FA5}">
                      <a16:colId xmlns:a16="http://schemas.microsoft.com/office/drawing/2014/main" val="1539147765"/>
                    </a:ext>
                  </a:extLst>
                </a:gridCol>
                <a:gridCol w="4358137">
                  <a:extLst>
                    <a:ext uri="{9D8B030D-6E8A-4147-A177-3AD203B41FA5}">
                      <a16:colId xmlns:a16="http://schemas.microsoft.com/office/drawing/2014/main" val="1967521662"/>
                    </a:ext>
                  </a:extLst>
                </a:gridCol>
              </a:tblGrid>
              <a:tr h="1145500">
                <a:tc>
                  <a:txBody>
                    <a:bodyPr/>
                    <a:lstStyle/>
                    <a:p>
                      <a:r>
                        <a:rPr lang="en-IN" sz="24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Definition</a:t>
                      </a:r>
                      <a:r>
                        <a:rPr lang="en-IN" sz="24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IN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network that covers large geographical areas such as countries or continents.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202195"/>
                  </a:ext>
                </a:extLst>
              </a:tr>
              <a:tr h="1145500">
                <a:tc>
                  <a:txBody>
                    <a:bodyPr/>
                    <a:lstStyle/>
                    <a:p>
                      <a:r>
                        <a:rPr lang="en-IN" sz="24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  <a:r>
                        <a:rPr lang="en-IN" sz="24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24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internet, multinational corporate networks.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508540"/>
                  </a:ext>
                </a:extLst>
              </a:tr>
              <a:tr h="1145500">
                <a:tc>
                  <a:txBody>
                    <a:bodyPr/>
                    <a:lstStyle/>
                    <a:p>
                      <a:r>
                        <a:rPr lang="en-IN" sz="24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r>
                        <a:rPr lang="en-IN" sz="24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multiple LANs and therefore </a:t>
                      </a:r>
                      <a:r>
                        <a:rPr lang="en-IN" sz="24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Global connectivity, remote access.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97116"/>
                  </a:ext>
                </a:extLst>
              </a:tr>
              <a:tr h="1145500">
                <a:tc>
                  <a:txBody>
                    <a:bodyPr/>
                    <a:lstStyle/>
                    <a:p>
                      <a:r>
                        <a:rPr lang="en-IN" sz="24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Disadvantages</a:t>
                      </a:r>
                      <a:r>
                        <a:rPr lang="en-IN" sz="24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cost, slower speeds, </a:t>
                      </a:r>
                      <a:r>
                        <a:rPr lang="en-IN" sz="24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advanced security measures.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2591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6736E628-6C9B-086F-9BF7-FF342410E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999" y="1558918"/>
            <a:ext cx="4114800" cy="289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9888F-C780-C7D2-5609-D46F55846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123" y="4564065"/>
            <a:ext cx="4114799" cy="2102191"/>
          </a:xfrm>
          <a:prstGeom prst="rect">
            <a:avLst/>
          </a:prstGeom>
        </p:spPr>
      </p:pic>
      <p:pic>
        <p:nvPicPr>
          <p:cNvPr id="12" name="Picture 1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111441C-D7B4-DD6A-231F-019A30B28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0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C900B-F153-A126-F51E-281F0816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730A3-D90A-B90D-18F3-4F3E8112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6A5C9-14C1-EDD2-05CB-E460D78C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511DBAF-5411-1693-D0D5-CC58038B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A04455-7995-10D8-8B94-5060E5A0A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E58941-DA0D-15AF-98A1-7E16EA4C09F7}"/>
              </a:ext>
            </a:extLst>
          </p:cNvPr>
          <p:cNvSpPr txBox="1"/>
          <p:nvPr/>
        </p:nvSpPr>
        <p:spPr>
          <a:xfrm>
            <a:off x="214045" y="1066476"/>
            <a:ext cx="6540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Metropolitan Area Network (MAN)</a:t>
            </a:r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275131-B7B7-EAE7-7AD0-30B5790BA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91463"/>
              </p:ext>
            </p:extLst>
          </p:nvPr>
        </p:nvGraphicFramePr>
        <p:xfrm>
          <a:off x="174661" y="1633078"/>
          <a:ext cx="7323419" cy="463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30038">
                  <a:extLst>
                    <a:ext uri="{9D8B030D-6E8A-4147-A177-3AD203B41FA5}">
                      <a16:colId xmlns:a16="http://schemas.microsoft.com/office/drawing/2014/main" val="1539147765"/>
                    </a:ext>
                  </a:extLst>
                </a:gridCol>
                <a:gridCol w="4793381">
                  <a:extLst>
                    <a:ext uri="{9D8B030D-6E8A-4147-A177-3AD203B41FA5}">
                      <a16:colId xmlns:a16="http://schemas.microsoft.com/office/drawing/2014/main" val="1967521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Definition</a:t>
                      </a:r>
                      <a:r>
                        <a:rPr lang="en-IN" sz="28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IN" sz="28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network that spans a city or a large campus, 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than LAN but smaller than WAN</a:t>
                      </a:r>
                      <a:r>
                        <a:rPr lang="en-IN" sz="28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20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  <a:r>
                        <a:rPr lang="en-IN" sz="28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8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uses fiber optics such as </a:t>
                      </a:r>
                      <a:r>
                        <a:rPr lang="en-IN" sz="28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University networks, city-wide Wi-Fi, cable TV networks.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50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r>
                        <a:rPr lang="en-IN" sz="28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8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Covers a larger area than LAN, efficient communication.</a:t>
                      </a:r>
                      <a:endParaRPr lang="en-IN" sz="2800" kern="1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9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1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Disadvantages</a:t>
                      </a:r>
                      <a:r>
                        <a:rPr lang="en-IN" sz="2800" kern="1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N" sz="28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Higher cost, potential data congestion.</a:t>
                      </a:r>
                      <a:endParaRPr lang="en-I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2591"/>
                  </a:ext>
                </a:extLst>
              </a:tr>
            </a:tbl>
          </a:graphicData>
        </a:graphic>
      </p:graphicFrame>
      <p:pic>
        <p:nvPicPr>
          <p:cNvPr id="11" name="Picture 2" descr="Difference between LAN CAN MAN and WAN in Tabular Form - LEARNABHI.COM">
            <a:extLst>
              <a:ext uri="{FF2B5EF4-FFF2-40B4-BE49-F238E27FC236}">
                <a16:creationId xmlns:a16="http://schemas.microsoft.com/office/drawing/2014/main" id="{56019353-F091-7F7F-4B0C-6D6AAFBA9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0" y="2618560"/>
            <a:ext cx="4633533" cy="260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DAABC3A-EC8A-51A1-269E-024F547AD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8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E3D3-5416-2940-1D05-671B50B1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222818"/>
            <a:ext cx="8996586" cy="8747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Learning Activity 1 </a:t>
            </a:r>
            <a:r>
              <a:rPr lang="en-IN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(Woo Flash Quiz):</a:t>
            </a:r>
            <a:endParaRPr lang="en-US" sz="4000" b="1" dirty="0">
              <a:solidFill>
                <a:schemeClr val="accent2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BBCF98-7194-A5B3-66D3-440169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36879-2E50-808F-68A7-FB01CEB9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20737F5-4AA9-BC02-8957-C9DB2C2DF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F28D91-705A-E725-0E92-0E3494439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AE9509-129B-54A8-75A8-E2591B32C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57" y="2465929"/>
            <a:ext cx="5823857" cy="3693375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BF06709-D902-D2C1-8190-3CAC3403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6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A30CF6-0F08-DCA7-0901-2F9B8B17DA7D}"/>
              </a:ext>
            </a:extLst>
          </p:cNvPr>
          <p:cNvSpPr txBox="1"/>
          <p:nvPr/>
        </p:nvSpPr>
        <p:spPr>
          <a:xfrm>
            <a:off x="1588169" y="1075970"/>
            <a:ext cx="96077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Comparison: LAN </a:t>
            </a:r>
            <a:r>
              <a:rPr lang="en-IN" sz="4400" b="1" cap="none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lang="en-IN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WAN </a:t>
            </a:r>
            <a:r>
              <a:rPr lang="en-IN" sz="4400" b="1" cap="none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lang="en-IN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</a:t>
            </a:r>
            <a:endParaRPr lang="en-IN" sz="4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983868-4470-D97B-9096-616FBF381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51709"/>
              </p:ext>
            </p:extLst>
          </p:nvPr>
        </p:nvGraphicFramePr>
        <p:xfrm>
          <a:off x="341972" y="2113612"/>
          <a:ext cx="11508056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6849">
                  <a:extLst>
                    <a:ext uri="{9D8B030D-6E8A-4147-A177-3AD203B41FA5}">
                      <a16:colId xmlns:a16="http://schemas.microsoft.com/office/drawing/2014/main" val="554933134"/>
                    </a:ext>
                  </a:extLst>
                </a:gridCol>
                <a:gridCol w="3497179">
                  <a:extLst>
                    <a:ext uri="{9D8B030D-6E8A-4147-A177-3AD203B41FA5}">
                      <a16:colId xmlns:a16="http://schemas.microsoft.com/office/drawing/2014/main" val="3094092199"/>
                    </a:ext>
                  </a:extLst>
                </a:gridCol>
                <a:gridCol w="3028749">
                  <a:extLst>
                    <a:ext uri="{9D8B030D-6E8A-4147-A177-3AD203B41FA5}">
                      <a16:colId xmlns:a16="http://schemas.microsoft.com/office/drawing/2014/main" val="494814489"/>
                    </a:ext>
                  </a:extLst>
                </a:gridCol>
                <a:gridCol w="2725279">
                  <a:extLst>
                    <a:ext uri="{9D8B030D-6E8A-4147-A177-3AD203B41FA5}">
                      <a16:colId xmlns:a16="http://schemas.microsoft.com/office/drawing/2014/main" val="2369828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23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(Building)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(Country/Globe)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 (City)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20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70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31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 Wi-Fi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 Wi-Fi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1217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19B99C4-31E1-8CFA-A850-DC071AAA4E6C}"/>
              </a:ext>
            </a:extLst>
          </p:cNvPr>
          <p:cNvSpPr txBox="1"/>
          <p:nvPr/>
        </p:nvSpPr>
        <p:spPr>
          <a:xfrm>
            <a:off x="341972" y="4438232"/>
            <a:ext cx="44859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Disadvantages:</a:t>
            </a:r>
            <a:endParaRPr lang="en-US" sz="2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FC73A-FC34-DEEA-5D2C-5C4194FE14B3}"/>
              </a:ext>
            </a:extLst>
          </p:cNvPr>
          <p:cNvSpPr txBox="1"/>
          <p:nvPr/>
        </p:nvSpPr>
        <p:spPr>
          <a:xfrm>
            <a:off x="430730" y="4850949"/>
            <a:ext cx="11419298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speed, secure, low cost but limited to a small area.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distant locations, but expensive and slower.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a city, cost-effective, but requires maintenance.</a:t>
            </a: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914E9F6-452B-8101-8DF2-714755AAD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B7D87-85B5-8830-F624-F93BF1EF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A8D0A-073B-5069-2E71-B71E9343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8F988-BC40-66F8-1152-8C967F1E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9709092-526C-B667-95E0-B2C956B5B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57443-2308-B48F-7455-8A04690A1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2010C08-2700-D19A-E9EE-9A5251DE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7536CBF-A730-6D2B-0D69-44E563A0E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663" y="1690688"/>
            <a:ext cx="8229600" cy="4525963"/>
          </a:xfrm>
        </p:spPr>
        <p:txBody>
          <a:bodyPr>
            <a:normAutofit/>
          </a:bodyPr>
          <a:lstStyle/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network of interconnected networks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TCP/IP protocol suite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packet switching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WWW, Email, FTP services</a:t>
            </a: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A6775D6-B923-5ED7-2660-1B269071E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92795"/>
            <a:ext cx="1190469" cy="1190469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CF2CC91-5253-2EBB-A4FD-B21A040AF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9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03909"/>
            <a:ext cx="10515600" cy="1325563"/>
          </a:xfrm>
        </p:spPr>
        <p:txBody>
          <a:bodyPr/>
          <a:lstStyle/>
          <a:p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 Reference Model (7 Layers)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078013" y="199276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8013" y="263284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8013" y="327292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8013" y="391300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78013" y="455308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8013" y="519316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Data Link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4078013" y="5833241"/>
            <a:ext cx="3657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DF1E194-A89D-D0B9-6997-463F74E9F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E5B5F2-1F53-2539-6524-4796DD5E4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58F7A472-D10D-DA6A-FA94-811A0651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13" name="Picture 12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48927B8-A734-9B30-4921-192F7A507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7696"/>
            <a:ext cx="10515600" cy="1325563"/>
          </a:xfrm>
        </p:spPr>
        <p:txBody>
          <a:bodyPr/>
          <a:lstStyle/>
          <a:p>
            <a:pPr algn="ctr"/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TCP/IP Model (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7200" y="182880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200" y="265176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200" y="347472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67200" y="429768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1E53577-DDBA-8A23-E75F-48895916A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04A318-43D5-BBF4-96A0-B5C865573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94D6FD80-D60B-981B-0B1F-4128EFB08C22}"/>
              </a:ext>
            </a:extLst>
          </p:cNvPr>
          <p:cNvSpPr/>
          <p:nvPr/>
        </p:nvSpPr>
        <p:spPr>
          <a:xfrm>
            <a:off x="4267200" y="512064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9432-3CD2-5EC0-FDEB-948485F8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11" name="Picture 10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D40DDA8-C97D-4DE6-BA8A-68415FE93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4440"/>
            <a:ext cx="10515600" cy="1325563"/>
          </a:xfrm>
        </p:spPr>
        <p:txBody>
          <a:bodyPr/>
          <a:lstStyle/>
          <a:p>
            <a:pPr algn="ctr"/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 vs TCP/IP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44112"/>
              </p:ext>
            </p:extLst>
          </p:nvPr>
        </p:nvGraphicFramePr>
        <p:xfrm>
          <a:off x="1560786" y="2033754"/>
          <a:ext cx="9070428" cy="3969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3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165">
                <a:tc>
                  <a:txBody>
                    <a:bodyPr/>
                    <a:lstStyle/>
                    <a:p>
                      <a:pPr algn="ctr"/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OSI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TCP/IP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165"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165"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165"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5146"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C30B134-9A9D-5ED3-CDBB-B51C1C97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386E8E5-1928-2E64-5E32-5D9460385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0B2BE-7C97-A2AC-3835-9DFD00C55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23B2C63-8CB1-9ACF-6959-7A3217550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– Reliable, connection-oriented</a:t>
            </a:r>
          </a:p>
          <a:p>
            <a:pPr lvl="1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– Fast, connectionless</a:t>
            </a:r>
          </a:p>
          <a:p>
            <a:pPr lvl="1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– Web communication</a:t>
            </a:r>
          </a:p>
          <a:p>
            <a:pPr lvl="1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 – File transfer</a:t>
            </a:r>
          </a:p>
          <a:p>
            <a:pPr lvl="1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– Email sending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5BA1F36-4B46-FEA6-4867-4990B57E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073E37A-BE2E-A411-3BD0-2F58B7D92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646194-445C-6491-1B1C-8679AA9C9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54A259-1EC8-A498-66CD-C258C3A3E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8704"/>
            <a:ext cx="10515600" cy="1325563"/>
          </a:xfrm>
        </p:spPr>
        <p:txBody>
          <a:bodyPr/>
          <a:lstStyle/>
          <a:p>
            <a:pPr algn="ctr"/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IPv4 vs IPv6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42081"/>
              </p:ext>
            </p:extLst>
          </p:nvPr>
        </p:nvGraphicFramePr>
        <p:xfrm>
          <a:off x="2002749" y="1953783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128-bit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2001:0db8::1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CE9EC56-FC90-6D25-9801-E7FCA7A1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7E007B-BD09-5DDD-F7C1-2CD8BB93A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9F1232-1EE5-4ECB-DC60-8E4DDCBBD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EDE4072-A773-F5AC-6128-25BC5FC61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5244"/>
            <a:ext cx="10515600" cy="1325563"/>
          </a:xfrm>
        </p:spPr>
        <p:txBody>
          <a:bodyPr/>
          <a:lstStyle/>
          <a:p>
            <a:pPr algn="ctr"/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98" y="1941611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communication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acceptance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52D61FC-2143-222A-E810-AB293F63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16C0DB7-CEC9-1BC9-D52F-55146BC7A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F43D8F-4D6C-7E3A-05AF-22569744B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1545809-4E1F-1DEC-0C49-FC8D5D5D9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9372"/>
            <a:ext cx="10515600" cy="1325563"/>
          </a:xfrm>
        </p:spPr>
        <p:txBody>
          <a:bodyPr/>
          <a:lstStyle/>
          <a:p>
            <a:pPr algn="ctr"/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facto</a:t>
            </a:r>
          </a:p>
          <a:p>
            <a:pPr lvl="1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jure</a:t>
            </a:r>
          </a:p>
          <a:p>
            <a:pPr lvl="1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standards</a:t>
            </a:r>
          </a:p>
          <a:p>
            <a:pPr lvl="1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standards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2B61793-1A7B-E5C0-1BAC-5E9BB0E3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5432034-C048-BE47-0CCD-63F1D7E32D47}"/>
              </a:ext>
            </a:extLst>
          </p:cNvPr>
          <p:cNvSpPr txBox="1">
            <a:spLocks/>
          </p:cNvSpPr>
          <p:nvPr/>
        </p:nvSpPr>
        <p:spPr>
          <a:xfrm>
            <a:off x="4038600" y="64476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Galgotias University</a:t>
            </a:r>
            <a:endParaRPr lang="en-IN" dirty="0"/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3C758F8-7B3C-FE91-5C89-CFC26C1B8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888036-B9A6-189B-42E2-407EC1C61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F7D3010-6DFA-AF03-9D5E-A2E18E5A7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171" y="388704"/>
            <a:ext cx="10515600" cy="1325563"/>
          </a:xfrm>
        </p:spPr>
        <p:txBody>
          <a:bodyPr/>
          <a:lstStyle/>
          <a:p>
            <a:pPr algn="ctr"/>
            <a:r>
              <a:rPr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Organizations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878551"/>
              </p:ext>
            </p:extLst>
          </p:nvPr>
        </p:nvGraphicFramePr>
        <p:xfrm>
          <a:off x="916870" y="1486939"/>
          <a:ext cx="10129959" cy="4742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6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157"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9043">
                <a:tc>
                  <a:txBody>
                    <a:bodyPr/>
                    <a:lstStyle/>
                    <a:p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Organization for Standardization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OSI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3635">
                <a:tc>
                  <a:txBody>
                    <a:bodyPr/>
                    <a:lstStyle/>
                    <a:p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Institute of Electrical and Electronics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043"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Engineering Task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043">
                <a:tc>
                  <a:txBody>
                    <a:bodyPr/>
                    <a:lstStyle/>
                    <a:p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Telecommunication 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Telecom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533D75C-BCA0-4110-8AEB-943BFADD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631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1830C9B-B9CF-A07E-886B-144E318DF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989C5-BBEA-3AFB-BDDE-A1AF139CF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AC5C474-1FA0-0685-354C-23E8B7531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D490-ABDC-45CE-4871-9039F881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99" y="1226588"/>
            <a:ext cx="10330167" cy="102464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Activity-2 (</a:t>
            </a:r>
            <a:r>
              <a:rPr lang="en-IN" sz="40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Role-Playing Exercise</a:t>
            </a:r>
            <a:r>
              <a:rPr lang="en-IN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3840C26-7FEF-7DEE-1FE6-C2FC8B40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213A1C2-456F-1608-85D6-8CE28AB4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17" name="Picture 1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57EADCA-AAF4-A0F1-EC18-583A4169E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4611B9-0745-E418-1A83-F8B0764E0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2D3B3-856C-922D-F272-0FA95BF7C344}"/>
              </a:ext>
            </a:extLst>
          </p:cNvPr>
          <p:cNvSpPr txBox="1"/>
          <p:nvPr/>
        </p:nvSpPr>
        <p:spPr>
          <a:xfrm>
            <a:off x="1202793" y="2426339"/>
            <a:ext cx="9786414" cy="359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600" kern="100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table is assigned with different university name some of which are of same city, some are of different city/country (GU, Sharda, Bennett, GLA Mathura, IIT Kanpur, NIT </a:t>
            </a:r>
            <a:r>
              <a:rPr lang="en-IN" sz="2600" kern="100" dirty="0" err="1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Kkr</a:t>
            </a:r>
            <a:r>
              <a:rPr lang="en-IN" sz="2600" kern="100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NIT Hamirpur, NTU Singapore, NIT Delhi, NTU Taiwan, Stanford University USA, Oxford University UK ).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600" kern="100" dirty="0">
                <a:solidFill>
                  <a:schemeClr val="accent4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Now, have them decide which network type they would use to </a:t>
            </a:r>
            <a:r>
              <a:rPr lang="en-IN" sz="2600" kern="1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share resources on same table or different table</a:t>
            </a:r>
            <a:r>
              <a:rPr lang="en-IN" sz="2600" kern="100" dirty="0">
                <a:solidFill>
                  <a:schemeClr val="accent4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why?</a:t>
            </a:r>
            <a:r>
              <a:rPr lang="en-IN" sz="2600" kern="1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Moreover, what are pros. and cons. of each ?</a:t>
            </a:r>
            <a:endParaRPr lang="en-IN" sz="2600" kern="100" dirty="0">
              <a:solidFill>
                <a:schemeClr val="accent4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50B2607-3BEE-0123-DCFE-344789827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60711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1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02" y="854440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536A4-797C-628B-1B91-D2B0AFAF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graphicFrame>
        <p:nvGraphicFramePr>
          <p:cNvPr id="6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8321623"/>
              </p:ext>
            </p:extLst>
          </p:nvPr>
        </p:nvGraphicFramePr>
        <p:xfrm>
          <a:off x="644056" y="2325955"/>
          <a:ext cx="10927829" cy="3979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70138A2-C455-CBEB-BFFA-47D6B7DA14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2299</TotalTime>
  <Words>1124</Words>
  <Application>Microsoft Office PowerPoint</Application>
  <PresentationFormat>Widescreen</PresentationFormat>
  <Paragraphs>217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Cambria</vt:lpstr>
      <vt:lpstr>Georgia</vt:lpstr>
      <vt:lpstr>Times New Roman</vt:lpstr>
      <vt:lpstr>Wingdings</vt:lpstr>
      <vt:lpstr>Office Theme</vt:lpstr>
      <vt:lpstr>Categories of Networks,  Internet and Protocols,  Standards and Organizations   Session No.: 3 Course Name: Data Communication and Networking Course Code: R1UC406B Instructor Name: Abadhan Sabyasachi Duration: 50 mins Date of Conduction of Class:</vt:lpstr>
      <vt:lpstr> Some key concepts of session no. 2 </vt:lpstr>
      <vt:lpstr>PowerPoint Presentation</vt:lpstr>
      <vt:lpstr>Which type of network is best suited for connecting multiple computers in a small office or home setting ?  </vt:lpstr>
      <vt:lpstr>PowerPoint Presentation</vt:lpstr>
      <vt:lpstr>At the end of this session, students will be able to</vt:lpstr>
      <vt:lpstr>Session Outline</vt:lpstr>
      <vt:lpstr>PowerPoint Presentation</vt:lpstr>
      <vt:lpstr>PowerPoint Presentation</vt:lpstr>
      <vt:lpstr>PowerPoint Presentation</vt:lpstr>
      <vt:lpstr>PowerPoint Presentation</vt:lpstr>
      <vt:lpstr>Learning Activity 1 (Woo Flash Quiz):</vt:lpstr>
      <vt:lpstr>PowerPoint Presentation</vt:lpstr>
      <vt:lpstr>The Internet</vt:lpstr>
      <vt:lpstr>OSI Reference Model (7 Layers)</vt:lpstr>
      <vt:lpstr>TCP/IP Model (5 Layers)</vt:lpstr>
      <vt:lpstr>OSI vs TCP/IP Comparison</vt:lpstr>
      <vt:lpstr>Internet Protocols</vt:lpstr>
      <vt:lpstr>IPv4 vs IPv6</vt:lpstr>
      <vt:lpstr>Need for Standards</vt:lpstr>
      <vt:lpstr>Types of Standards</vt:lpstr>
      <vt:lpstr>Standard Organizations</vt:lpstr>
      <vt:lpstr>Activity-2 (Role-Playing Exercise):</vt:lpstr>
      <vt:lpstr>Ensure attainment of LOs in alignment to the learning activities: outcomes (1-2)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Types: LAN, WAN, MAN    Session No.: 5 Course Name: Data Communication and Networking Course Code: R1UC406B Instructor Name: Mrs.R.Radhika Date of Conduction of Class:</dc:title>
  <dc:creator>Deepak Gupta</dc:creator>
  <cp:lastModifiedBy>A S</cp:lastModifiedBy>
  <cp:revision>89</cp:revision>
  <dcterms:created xsi:type="dcterms:W3CDTF">2024-08-22T06:33:55Z</dcterms:created>
  <dcterms:modified xsi:type="dcterms:W3CDTF">2026-02-14T05:54:02Z</dcterms:modified>
</cp:coreProperties>
</file>