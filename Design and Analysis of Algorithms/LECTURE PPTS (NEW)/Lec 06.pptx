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7"/>
  </p:notesMasterIdLst>
  <p:sldIdLst>
    <p:sldId id="256" r:id="rId2"/>
    <p:sldId id="337" r:id="rId3"/>
    <p:sldId id="285" r:id="rId4"/>
    <p:sldId id="257" r:id="rId5"/>
    <p:sldId id="258" r:id="rId6"/>
    <p:sldId id="277" r:id="rId7"/>
    <p:sldId id="262" r:id="rId8"/>
    <p:sldId id="295" r:id="rId9"/>
    <p:sldId id="296" r:id="rId10"/>
    <p:sldId id="297" r:id="rId11"/>
    <p:sldId id="298" r:id="rId12"/>
    <p:sldId id="299" r:id="rId13"/>
    <p:sldId id="335" r:id="rId14"/>
    <p:sldId id="494" r:id="rId15"/>
    <p:sldId id="508" r:id="rId16"/>
    <p:sldId id="509" r:id="rId17"/>
    <p:sldId id="291" r:id="rId18"/>
    <p:sldId id="304" r:id="rId19"/>
    <p:sldId id="315" r:id="rId20"/>
    <p:sldId id="336" r:id="rId21"/>
    <p:sldId id="524" r:id="rId22"/>
    <p:sldId id="281" r:id="rId23"/>
    <p:sldId id="269" r:id="rId24"/>
    <p:sldId id="273" r:id="rId25"/>
    <p:sldId id="525"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1" d="100"/>
          <a:sy n="61" d="100"/>
        </p:scale>
        <p:origin x="88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186D4A-6AFE-446F-99BE-69EB5DB2E0C9}" type="datetimeFigureOut">
              <a:rPr lang="en-ID" smtClean="0"/>
              <a:t>19/02/2026</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5B88CA-5253-4B39-9AF0-D7D0A3F4E82E}" type="slidenum">
              <a:rPr lang="en-ID" smtClean="0"/>
              <a:t>‹#›</a:t>
            </a:fld>
            <a:endParaRPr lang="en-ID"/>
          </a:p>
        </p:txBody>
      </p:sp>
    </p:spTree>
    <p:extLst>
      <p:ext uri="{BB962C8B-B14F-4D97-AF65-F5344CB8AC3E}">
        <p14:creationId xmlns:p14="http://schemas.microsoft.com/office/powerpoint/2010/main" val="1709873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D"/>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D"/>
          </a:p>
        </p:txBody>
      </p:sp>
    </p:spTree>
    <p:extLst>
      <p:ext uri="{BB962C8B-B14F-4D97-AF65-F5344CB8AC3E}">
        <p14:creationId xmlns:p14="http://schemas.microsoft.com/office/powerpoint/2010/main" val="13457004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D"/>
          </a:p>
        </p:txBody>
      </p:sp>
    </p:spTree>
    <p:extLst>
      <p:ext uri="{BB962C8B-B14F-4D97-AF65-F5344CB8AC3E}">
        <p14:creationId xmlns:p14="http://schemas.microsoft.com/office/powerpoint/2010/main" val="964778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D"/>
          </a:p>
        </p:txBody>
      </p:sp>
    </p:spTree>
    <p:extLst>
      <p:ext uri="{BB962C8B-B14F-4D97-AF65-F5344CB8AC3E}">
        <p14:creationId xmlns:p14="http://schemas.microsoft.com/office/powerpoint/2010/main" val="13657774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D"/>
          </a:p>
        </p:txBody>
      </p:sp>
      <p:sp>
        <p:nvSpPr>
          <p:cNvPr id="3" name="Notes Placeholder 2"/>
          <p:cNvSpPr>
            <a:spLocks noGrp="1"/>
          </p:cNvSpPr>
          <p:nvPr>
            <p:ph type="body" idx="1"/>
          </p:nvPr>
        </p:nvSpPr>
        <p:spPr/>
        <p:txBody>
          <a:bodyPr>
            <a:normAutofit/>
          </a:bodyPr>
          <a:lstStyle/>
          <a:p>
            <a:endParaRPr lang="en-US" dirty="0"/>
          </a:p>
        </p:txBody>
      </p:sp>
      <p:sp>
        <p:nvSpPr>
          <p:cNvPr id="4" name="Date Placeholder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247752-78CA-404D-91C8-45DA75B158D6}" type="datetime1">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19-02-2026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DDEA72-A9DA-0241-B584-7E6AEC2B0F1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123375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D"/>
          </a:p>
        </p:txBody>
      </p:sp>
      <p:sp>
        <p:nvSpPr>
          <p:cNvPr id="3" name="Notes Placeholder 2"/>
          <p:cNvSpPr>
            <a:spLocks noGrp="1"/>
          </p:cNvSpPr>
          <p:nvPr>
            <p:ph type="body" idx="1"/>
          </p:nvPr>
        </p:nvSpPr>
        <p:spPr/>
        <p:txBody>
          <a:bodyPr>
            <a:normAutofit/>
          </a:bodyPr>
          <a:lstStyle/>
          <a:p>
            <a:endParaRPr lang="en-US" dirty="0"/>
          </a:p>
        </p:txBody>
      </p:sp>
      <p:sp>
        <p:nvSpPr>
          <p:cNvPr id="4" name="Date Placeholder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247752-78CA-404D-91C8-45DA75B158D6}" type="datetime1">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19-02-2026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DDEA72-A9DA-0241-B584-7E6AEC2B0F1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169735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D"/>
          </a:p>
        </p:txBody>
      </p:sp>
      <p:sp>
        <p:nvSpPr>
          <p:cNvPr id="3" name="Notes Placeholder 2"/>
          <p:cNvSpPr>
            <a:spLocks noGrp="1"/>
          </p:cNvSpPr>
          <p:nvPr>
            <p:ph type="body" idx="1"/>
          </p:nvPr>
        </p:nvSpPr>
        <p:spPr/>
        <p:txBody>
          <a:bodyPr>
            <a:normAutofit/>
          </a:bodyPr>
          <a:lstStyle/>
          <a:p>
            <a:endParaRPr lang="en-US" dirty="0"/>
          </a:p>
        </p:txBody>
      </p:sp>
      <p:sp>
        <p:nvSpPr>
          <p:cNvPr id="4" name="Date Placeholder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247752-78CA-404D-91C8-45DA75B158D6}" type="datetime1">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19-02-2026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DDEA72-A9DA-0241-B584-7E6AEC2B0F1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272188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D"/>
          </a:p>
        </p:txBody>
      </p:sp>
      <p:sp>
        <p:nvSpPr>
          <p:cNvPr id="3" name="Notes Placeholder 2"/>
          <p:cNvSpPr>
            <a:spLocks noGrp="1"/>
          </p:cNvSpPr>
          <p:nvPr>
            <p:ph type="body" idx="1"/>
          </p:nvPr>
        </p:nvSpPr>
        <p:spPr/>
        <p:txBody>
          <a:bodyPr>
            <a:normAutofit/>
          </a:bodyPr>
          <a:lstStyle/>
          <a:p>
            <a:endParaRPr lang="en-US" dirty="0"/>
          </a:p>
        </p:txBody>
      </p:sp>
      <p:sp>
        <p:nvSpPr>
          <p:cNvPr id="4" name="Date Placeholder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247752-78CA-404D-91C8-45DA75B158D6}" type="datetime1">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19-02-2026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DDEA72-A9DA-0241-B584-7E6AEC2B0F1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85874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D"/>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D"/>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2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7" name="Google Shape;17;p2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r>
              <a:rPr lang="en-US"/>
              <a:t>Click to edit Master subtitle style</a:t>
            </a:r>
            <a:endParaRPr/>
          </a:p>
        </p:txBody>
      </p:sp>
      <p:sp>
        <p:nvSpPr>
          <p:cNvPr id="18" name="Google Shape;18;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8E368ABF-0999-4D3B-BAC7-F4D62FDC6681}" type="datetimeFigureOut">
              <a:rPr lang="en-ID" smtClean="0"/>
              <a:t>19/02/2026</a:t>
            </a:fld>
            <a:endParaRPr lang="en-ID"/>
          </a:p>
        </p:txBody>
      </p:sp>
      <p:sp>
        <p:nvSpPr>
          <p:cNvPr id="19" name="Google Shape;19;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ID"/>
          </a:p>
        </p:txBody>
      </p:sp>
      <p:sp>
        <p:nvSpPr>
          <p:cNvPr id="20" name="Google Shape;20;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64C1831A-98FC-4C1D-A4CB-336BD7D6621F}" type="slidenum">
              <a:rPr lang="en-ID" smtClean="0"/>
              <a:t>‹#›</a:t>
            </a:fld>
            <a:endParaRPr lang="en-ID"/>
          </a:p>
        </p:txBody>
      </p:sp>
    </p:spTree>
    <p:extLst>
      <p:ext uri="{BB962C8B-B14F-4D97-AF65-F5344CB8AC3E}">
        <p14:creationId xmlns:p14="http://schemas.microsoft.com/office/powerpoint/2010/main" val="3880321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3" name="Google Shape;23;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24" name="Google Shape;2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8E368ABF-0999-4D3B-BAC7-F4D62FDC6681}" type="datetimeFigureOut">
              <a:rPr lang="en-ID" smtClean="0"/>
              <a:t>19/02/2026</a:t>
            </a:fld>
            <a:endParaRPr lang="en-ID"/>
          </a:p>
        </p:txBody>
      </p:sp>
      <p:sp>
        <p:nvSpPr>
          <p:cNvPr id="25" name="Google Shape;25;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ID"/>
          </a:p>
        </p:txBody>
      </p:sp>
      <p:sp>
        <p:nvSpPr>
          <p:cNvPr id="26" name="Google Shape;2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64C1831A-98FC-4C1D-A4CB-336BD7D6621F}" type="slidenum">
              <a:rPr lang="en-ID" smtClean="0"/>
              <a:t>‹#›</a:t>
            </a:fld>
            <a:endParaRPr lang="en-ID"/>
          </a:p>
        </p:txBody>
      </p:sp>
    </p:spTree>
    <p:extLst>
      <p:ext uri="{BB962C8B-B14F-4D97-AF65-F5344CB8AC3E}">
        <p14:creationId xmlns:p14="http://schemas.microsoft.com/office/powerpoint/2010/main" val="1162200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9" name="Google Shape;29;p2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pPr lvl="0"/>
            <a:r>
              <a:rPr lang="en-US"/>
              <a:t>Click to edit Master text styles</a:t>
            </a:r>
          </a:p>
        </p:txBody>
      </p:sp>
      <p:sp>
        <p:nvSpPr>
          <p:cNvPr id="30" name="Google Shape;30;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8E368ABF-0999-4D3B-BAC7-F4D62FDC6681}" type="datetimeFigureOut">
              <a:rPr lang="en-ID" smtClean="0"/>
              <a:t>19/02/2026</a:t>
            </a:fld>
            <a:endParaRPr lang="en-ID"/>
          </a:p>
        </p:txBody>
      </p:sp>
      <p:sp>
        <p:nvSpPr>
          <p:cNvPr id="31" name="Google Shape;31;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ID"/>
          </a:p>
        </p:txBody>
      </p:sp>
      <p:sp>
        <p:nvSpPr>
          <p:cNvPr id="32" name="Google Shape;32;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64C1831A-98FC-4C1D-A4CB-336BD7D6621F}" type="slidenum">
              <a:rPr lang="en-ID" smtClean="0"/>
              <a:t>‹#›</a:t>
            </a:fld>
            <a:endParaRPr lang="en-ID"/>
          </a:p>
        </p:txBody>
      </p:sp>
    </p:spTree>
    <p:extLst>
      <p:ext uri="{BB962C8B-B14F-4D97-AF65-F5344CB8AC3E}">
        <p14:creationId xmlns:p14="http://schemas.microsoft.com/office/powerpoint/2010/main" val="1447313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3"/>
        <p:cNvGrpSpPr/>
        <p:nvPr/>
      </p:nvGrpSpPr>
      <p:grpSpPr>
        <a:xfrm>
          <a:off x="0" y="0"/>
          <a:ext cx="0" cy="0"/>
          <a:chOff x="0" y="0"/>
          <a:chExt cx="0" cy="0"/>
        </a:xfrm>
      </p:grpSpPr>
      <p:sp>
        <p:nvSpPr>
          <p:cNvPr id="34" name="Google Shape;34;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5" name="Google Shape;35;p2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36" name="Google Shape;36;p2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37" name="Google Shape;3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8E368ABF-0999-4D3B-BAC7-F4D62FDC6681}" type="datetimeFigureOut">
              <a:rPr lang="en-ID" smtClean="0"/>
              <a:t>19/02/2026</a:t>
            </a:fld>
            <a:endParaRPr lang="en-ID"/>
          </a:p>
        </p:txBody>
      </p:sp>
      <p:sp>
        <p:nvSpPr>
          <p:cNvPr id="38" name="Google Shape;3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ID"/>
          </a:p>
        </p:txBody>
      </p:sp>
      <p:sp>
        <p:nvSpPr>
          <p:cNvPr id="39" name="Google Shape;3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64C1831A-98FC-4C1D-A4CB-336BD7D6621F}" type="slidenum">
              <a:rPr lang="en-ID" smtClean="0"/>
              <a:t>‹#›</a:t>
            </a:fld>
            <a:endParaRPr lang="en-ID"/>
          </a:p>
        </p:txBody>
      </p:sp>
    </p:spTree>
    <p:extLst>
      <p:ext uri="{BB962C8B-B14F-4D97-AF65-F5344CB8AC3E}">
        <p14:creationId xmlns:p14="http://schemas.microsoft.com/office/powerpoint/2010/main" val="72043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0"/>
        <p:cNvGrpSpPr/>
        <p:nvPr/>
      </p:nvGrpSpPr>
      <p:grpSpPr>
        <a:xfrm>
          <a:off x="0" y="0"/>
          <a:ext cx="0" cy="0"/>
          <a:chOff x="0" y="0"/>
          <a:chExt cx="0" cy="0"/>
        </a:xfrm>
      </p:grpSpPr>
      <p:sp>
        <p:nvSpPr>
          <p:cNvPr id="41" name="Google Shape;41;p2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2" name="Google Shape;42;p2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43" name="Google Shape;43;p2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44" name="Google Shape;44;p2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45" name="Google Shape;45;p2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46" name="Google Shape;4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8E368ABF-0999-4D3B-BAC7-F4D62FDC6681}" type="datetimeFigureOut">
              <a:rPr lang="en-ID" smtClean="0"/>
              <a:t>19/02/2026</a:t>
            </a:fld>
            <a:endParaRPr lang="en-ID"/>
          </a:p>
        </p:txBody>
      </p:sp>
      <p:sp>
        <p:nvSpPr>
          <p:cNvPr id="47" name="Google Shape;4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ID"/>
          </a:p>
        </p:txBody>
      </p:sp>
      <p:sp>
        <p:nvSpPr>
          <p:cNvPr id="48" name="Google Shape;4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64C1831A-98FC-4C1D-A4CB-336BD7D6621F}" type="slidenum">
              <a:rPr lang="en-ID" smtClean="0"/>
              <a:t>‹#›</a:t>
            </a:fld>
            <a:endParaRPr lang="en-ID"/>
          </a:p>
        </p:txBody>
      </p:sp>
    </p:spTree>
    <p:extLst>
      <p:ext uri="{BB962C8B-B14F-4D97-AF65-F5344CB8AC3E}">
        <p14:creationId xmlns:p14="http://schemas.microsoft.com/office/powerpoint/2010/main" val="15264939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9"/>
        <p:cNvGrpSpPr/>
        <p:nvPr/>
      </p:nvGrpSpPr>
      <p:grpSpPr>
        <a:xfrm>
          <a:off x="0" y="0"/>
          <a:ext cx="0" cy="0"/>
          <a:chOff x="0" y="0"/>
          <a:chExt cx="0" cy="0"/>
        </a:xfrm>
      </p:grpSpPr>
      <p:sp>
        <p:nvSpPr>
          <p:cNvPr id="50" name="Google Shape;5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1" name="Google Shape;5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8E368ABF-0999-4D3B-BAC7-F4D62FDC6681}" type="datetimeFigureOut">
              <a:rPr lang="en-ID" smtClean="0"/>
              <a:t>19/02/2026</a:t>
            </a:fld>
            <a:endParaRPr lang="en-ID"/>
          </a:p>
        </p:txBody>
      </p:sp>
      <p:sp>
        <p:nvSpPr>
          <p:cNvPr id="52" name="Google Shape;5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ID"/>
          </a:p>
        </p:txBody>
      </p:sp>
      <p:sp>
        <p:nvSpPr>
          <p:cNvPr id="53" name="Google Shape;5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64C1831A-98FC-4C1D-A4CB-336BD7D6621F}" type="slidenum">
              <a:rPr lang="en-ID" smtClean="0"/>
              <a:t>‹#›</a:t>
            </a:fld>
            <a:endParaRPr lang="en-ID"/>
          </a:p>
        </p:txBody>
      </p:sp>
    </p:spTree>
    <p:extLst>
      <p:ext uri="{BB962C8B-B14F-4D97-AF65-F5344CB8AC3E}">
        <p14:creationId xmlns:p14="http://schemas.microsoft.com/office/powerpoint/2010/main" val="1441591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8E368ABF-0999-4D3B-BAC7-F4D62FDC6681}" type="datetimeFigureOut">
              <a:rPr lang="en-ID" smtClean="0"/>
              <a:t>19/02/2026</a:t>
            </a:fld>
            <a:endParaRPr lang="en-ID"/>
          </a:p>
        </p:txBody>
      </p:sp>
      <p:sp>
        <p:nvSpPr>
          <p:cNvPr id="56" name="Google Shape;56;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ID"/>
          </a:p>
        </p:txBody>
      </p:sp>
      <p:sp>
        <p:nvSpPr>
          <p:cNvPr id="57" name="Google Shape;57;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64C1831A-98FC-4C1D-A4CB-336BD7D6621F}" type="slidenum">
              <a:rPr lang="en-ID" smtClean="0"/>
              <a:t>‹#›</a:t>
            </a:fld>
            <a:endParaRPr lang="en-ID"/>
          </a:p>
        </p:txBody>
      </p:sp>
    </p:spTree>
    <p:extLst>
      <p:ext uri="{BB962C8B-B14F-4D97-AF65-F5344CB8AC3E}">
        <p14:creationId xmlns:p14="http://schemas.microsoft.com/office/powerpoint/2010/main" val="2340408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8"/>
        <p:cNvGrpSpPr/>
        <p:nvPr/>
      </p:nvGrpSpPr>
      <p:grpSpPr>
        <a:xfrm>
          <a:off x="0" y="0"/>
          <a:ext cx="0" cy="0"/>
          <a:chOff x="0" y="0"/>
          <a:chExt cx="0" cy="0"/>
        </a:xfrm>
      </p:grpSpPr>
      <p:sp>
        <p:nvSpPr>
          <p:cNvPr id="59" name="Google Shape;59;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0" name="Google Shape;60;p2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pPr lvl="0"/>
            <a:r>
              <a:rPr lang="en-US"/>
              <a:t>Click to edit Master text styles</a:t>
            </a:r>
          </a:p>
        </p:txBody>
      </p:sp>
      <p:sp>
        <p:nvSpPr>
          <p:cNvPr id="61" name="Google Shape;61;p2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62" name="Google Shape;62;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8E368ABF-0999-4D3B-BAC7-F4D62FDC6681}" type="datetimeFigureOut">
              <a:rPr lang="en-ID" smtClean="0"/>
              <a:t>19/02/2026</a:t>
            </a:fld>
            <a:endParaRPr lang="en-ID"/>
          </a:p>
        </p:txBody>
      </p:sp>
      <p:sp>
        <p:nvSpPr>
          <p:cNvPr id="63" name="Google Shape;63;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ID"/>
          </a:p>
        </p:txBody>
      </p:sp>
      <p:sp>
        <p:nvSpPr>
          <p:cNvPr id="64" name="Google Shape;64;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64C1831A-98FC-4C1D-A4CB-336BD7D6621F}" type="slidenum">
              <a:rPr lang="en-ID" smtClean="0"/>
              <a:t>‹#›</a:t>
            </a:fld>
            <a:endParaRPr lang="en-ID"/>
          </a:p>
        </p:txBody>
      </p:sp>
    </p:spTree>
    <p:extLst>
      <p:ext uri="{BB962C8B-B14F-4D97-AF65-F5344CB8AC3E}">
        <p14:creationId xmlns:p14="http://schemas.microsoft.com/office/powerpoint/2010/main" val="955639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5"/>
        <p:cNvGrpSpPr/>
        <p:nvPr/>
      </p:nvGrpSpPr>
      <p:grpSpPr>
        <a:xfrm>
          <a:off x="0" y="0"/>
          <a:ext cx="0" cy="0"/>
          <a:chOff x="0" y="0"/>
          <a:chExt cx="0" cy="0"/>
        </a:xfrm>
      </p:grpSpPr>
      <p:sp>
        <p:nvSpPr>
          <p:cNvPr id="66" name="Google Shape;66;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7" name="Google Shape;67;p28"/>
          <p:cNvSpPr>
            <a:spLocks noGrp="1"/>
          </p:cNvSpPr>
          <p:nvPr>
            <p:ph type="pic" idx="2"/>
          </p:nvPr>
        </p:nvSpPr>
        <p:spPr>
          <a:xfrm>
            <a:off x="5183188" y="987425"/>
            <a:ext cx="6172200" cy="4873625"/>
          </a:xfrm>
          <a:prstGeom prst="rect">
            <a:avLst/>
          </a:prstGeom>
          <a:noFill/>
          <a:ln>
            <a:noFill/>
          </a:ln>
        </p:spPr>
        <p:txBody>
          <a:bodyPr/>
          <a:lstStyle/>
          <a:p>
            <a:endParaRPr lang="en-ID"/>
          </a:p>
        </p:txBody>
      </p:sp>
      <p:sp>
        <p:nvSpPr>
          <p:cNvPr id="68" name="Google Shape;68;p2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69" name="Google Shape;69;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8E368ABF-0999-4D3B-BAC7-F4D62FDC6681}" type="datetimeFigureOut">
              <a:rPr lang="en-ID" smtClean="0"/>
              <a:t>19/02/2026</a:t>
            </a:fld>
            <a:endParaRPr lang="en-ID"/>
          </a:p>
        </p:txBody>
      </p:sp>
      <p:sp>
        <p:nvSpPr>
          <p:cNvPr id="70" name="Google Shape;70;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ID"/>
          </a:p>
        </p:txBody>
      </p:sp>
      <p:sp>
        <p:nvSpPr>
          <p:cNvPr id="71" name="Google Shape;71;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64C1831A-98FC-4C1D-A4CB-336BD7D6621F}" type="slidenum">
              <a:rPr lang="en-ID" smtClean="0"/>
              <a:t>‹#›</a:t>
            </a:fld>
            <a:endParaRPr lang="en-ID"/>
          </a:p>
        </p:txBody>
      </p:sp>
    </p:spTree>
    <p:extLst>
      <p:ext uri="{BB962C8B-B14F-4D97-AF65-F5344CB8AC3E}">
        <p14:creationId xmlns:p14="http://schemas.microsoft.com/office/powerpoint/2010/main" val="3731284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2"/>
        <p:cNvGrpSpPr/>
        <p:nvPr/>
      </p:nvGrpSpPr>
      <p:grpSpPr>
        <a:xfrm>
          <a:off x="0" y="0"/>
          <a:ext cx="0" cy="0"/>
          <a:chOff x="0" y="0"/>
          <a:chExt cx="0" cy="0"/>
        </a:xfrm>
      </p:grpSpPr>
      <p:sp>
        <p:nvSpPr>
          <p:cNvPr id="73" name="Google Shape;73;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4" name="Google Shape;74;p2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75" name="Google Shape;75;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8E368ABF-0999-4D3B-BAC7-F4D62FDC6681}" type="datetimeFigureOut">
              <a:rPr lang="en-ID" smtClean="0"/>
              <a:t>19/02/2026</a:t>
            </a:fld>
            <a:endParaRPr lang="en-ID"/>
          </a:p>
        </p:txBody>
      </p:sp>
      <p:sp>
        <p:nvSpPr>
          <p:cNvPr id="76" name="Google Shape;76;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ID"/>
          </a:p>
        </p:txBody>
      </p:sp>
      <p:sp>
        <p:nvSpPr>
          <p:cNvPr id="77" name="Google Shape;77;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64C1831A-98FC-4C1D-A4CB-336BD7D6621F}" type="slidenum">
              <a:rPr lang="en-ID" smtClean="0"/>
              <a:t>‹#›</a:t>
            </a:fld>
            <a:endParaRPr lang="en-ID"/>
          </a:p>
        </p:txBody>
      </p:sp>
    </p:spTree>
    <p:extLst>
      <p:ext uri="{BB962C8B-B14F-4D97-AF65-F5344CB8AC3E}">
        <p14:creationId xmlns:p14="http://schemas.microsoft.com/office/powerpoint/2010/main" val="14863467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8"/>
        <p:cNvGrpSpPr/>
        <p:nvPr/>
      </p:nvGrpSpPr>
      <p:grpSpPr>
        <a:xfrm>
          <a:off x="0" y="0"/>
          <a:ext cx="0" cy="0"/>
          <a:chOff x="0" y="0"/>
          <a:chExt cx="0" cy="0"/>
        </a:xfrm>
      </p:grpSpPr>
      <p:sp>
        <p:nvSpPr>
          <p:cNvPr id="79" name="Google Shape;79;p3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80" name="Google Shape;80;p3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1" name="Google Shape;81;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8E368ABF-0999-4D3B-BAC7-F4D62FDC6681}" type="datetimeFigureOut">
              <a:rPr lang="en-ID" smtClean="0"/>
              <a:t>19/02/2026</a:t>
            </a:fld>
            <a:endParaRPr lang="en-ID"/>
          </a:p>
        </p:txBody>
      </p:sp>
      <p:sp>
        <p:nvSpPr>
          <p:cNvPr id="82" name="Google Shape;82;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ID"/>
          </a:p>
        </p:txBody>
      </p:sp>
      <p:sp>
        <p:nvSpPr>
          <p:cNvPr id="83" name="Google Shape;83;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64C1831A-98FC-4C1D-A4CB-336BD7D6621F}" type="slidenum">
              <a:rPr lang="en-ID" smtClean="0"/>
              <a:t>‹#›</a:t>
            </a:fld>
            <a:endParaRPr lang="en-ID"/>
          </a:p>
        </p:txBody>
      </p:sp>
    </p:spTree>
    <p:extLst>
      <p:ext uri="{BB962C8B-B14F-4D97-AF65-F5344CB8AC3E}">
        <p14:creationId xmlns:p14="http://schemas.microsoft.com/office/powerpoint/2010/main" val="266179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fld id="{8E368ABF-0999-4D3B-BAC7-F4D62FDC6681}" type="datetimeFigureOut">
              <a:rPr lang="en-ID" smtClean="0"/>
              <a:t>19/02/2026</a:t>
            </a:fld>
            <a:endParaRPr lang="en-ID"/>
          </a:p>
        </p:txBody>
      </p:sp>
      <p:sp>
        <p:nvSpPr>
          <p:cNvPr id="13" name="Google Shape;1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lang="en-ID"/>
          </a:p>
        </p:txBody>
      </p:sp>
      <p:sp>
        <p:nvSpPr>
          <p:cNvPr id="14" name="Google Shape;1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fld id="{64C1831A-98FC-4C1D-A4CB-336BD7D6621F}" type="slidenum">
              <a:rPr lang="en-ID" smtClean="0"/>
              <a:t>‹#›</a:t>
            </a:fld>
            <a:endParaRPr lang="en-ID"/>
          </a:p>
        </p:txBody>
      </p:sp>
    </p:spTree>
    <p:extLst>
      <p:ext uri="{BB962C8B-B14F-4D97-AF65-F5344CB8AC3E}">
        <p14:creationId xmlns:p14="http://schemas.microsoft.com/office/powerpoint/2010/main" val="1443680333"/>
      </p:ext>
    </p:extLst>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11.png"/><Relationship Id="rId4" Type="http://schemas.openxmlformats.org/officeDocument/2006/relationships/image" Target="../media/image50.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0.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0.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0.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70.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1112520" y="2659753"/>
            <a:ext cx="9410575" cy="3696597"/>
          </a:xfrm>
          <a:prstGeom prst="rect">
            <a:avLst/>
          </a:prstGeom>
          <a:noFill/>
          <a:ln>
            <a:noFill/>
          </a:ln>
        </p:spPr>
        <p:txBody>
          <a:bodyPr spcFirstLastPara="1" wrap="square" lIns="91425" tIns="45700" rIns="91425" bIns="45700" anchor="b" anchorCtr="0">
            <a:normAutofit fontScale="90000"/>
          </a:bodyPr>
          <a:lstStyle/>
          <a:p>
            <a:pPr lvl="0">
              <a:buSzPct val="100000"/>
            </a:pPr>
            <a:r>
              <a:rPr lang="en-US" sz="4000" b="1" dirty="0">
                <a:solidFill>
                  <a:schemeClr val="accent6">
                    <a:lumMod val="75000"/>
                  </a:schemeClr>
                </a:solidFill>
                <a:latin typeface="Georgia"/>
                <a:sym typeface="Georgia"/>
              </a:rPr>
              <a:t>Introduction: Recurrence Relations</a:t>
            </a:r>
            <a:br>
              <a:rPr lang="en-US" sz="4000" b="1" dirty="0">
                <a:solidFill>
                  <a:schemeClr val="accent6">
                    <a:lumMod val="75000"/>
                  </a:schemeClr>
                </a:solidFill>
                <a:latin typeface="Georgia"/>
                <a:sym typeface="Georgia"/>
              </a:rPr>
            </a:br>
            <a:r>
              <a:rPr lang="en-US" sz="4000" b="1" dirty="0">
                <a:solidFill>
                  <a:schemeClr val="tx1"/>
                </a:solidFill>
                <a:latin typeface="Georgia"/>
                <a:sym typeface="Georgia"/>
              </a:rPr>
              <a:t>and</a:t>
            </a:r>
            <a:br>
              <a:rPr lang="en-US" sz="3600" b="1" dirty="0">
                <a:latin typeface="Georgia"/>
                <a:ea typeface="Georgia"/>
                <a:cs typeface="Georgia"/>
                <a:sym typeface="Georgia"/>
              </a:rPr>
            </a:br>
            <a:r>
              <a:rPr lang="en-US" sz="4000" b="1" dirty="0">
                <a:solidFill>
                  <a:schemeClr val="accent2"/>
                </a:solidFill>
                <a:latin typeface="Georgia"/>
                <a:ea typeface="Georgia"/>
                <a:cs typeface="Georgia"/>
                <a:sym typeface="Georgia"/>
              </a:rPr>
              <a:t>Analysis of Recursive Algorithms</a:t>
            </a:r>
            <a:br>
              <a:rPr lang="en-US" sz="3600" b="1" dirty="0">
                <a:solidFill>
                  <a:schemeClr val="accent2"/>
                </a:solidFill>
                <a:latin typeface="Georgia"/>
                <a:ea typeface="Georgia"/>
                <a:cs typeface="Georgia"/>
                <a:sym typeface="Georgia"/>
              </a:rPr>
            </a:br>
            <a:br>
              <a:rPr lang="en-US" altLang="en-US" sz="3200" b="1" dirty="0">
                <a:solidFill>
                  <a:srgbClr val="990000"/>
                </a:solidFill>
                <a:latin typeface="Times New Roman" panose="02020603050405020304" pitchFamily="18" charset="0"/>
              </a:rPr>
            </a:br>
            <a:br>
              <a:rPr lang="en-US" sz="4800" b="1" dirty="0">
                <a:latin typeface="Georgia"/>
                <a:ea typeface="Georgia"/>
                <a:cs typeface="Georgia"/>
                <a:sym typeface="Georgia"/>
              </a:rPr>
            </a:br>
            <a:br>
              <a:rPr lang="en-US" sz="4800" b="1" dirty="0">
                <a:latin typeface="Georgia"/>
                <a:ea typeface="Georgia"/>
                <a:cs typeface="Georgia"/>
                <a:sym typeface="Georgia"/>
              </a:rPr>
            </a:br>
            <a:r>
              <a:rPr lang="en-US" sz="1800" b="1" dirty="0">
                <a:latin typeface="Georgia"/>
                <a:ea typeface="Georgia"/>
                <a:cs typeface="Georgia"/>
                <a:sym typeface="Georgia"/>
              </a:rPr>
              <a:t>Session No.: 6</a:t>
            </a:r>
            <a:br>
              <a:rPr lang="en-US" sz="1800" b="1" dirty="0">
                <a:latin typeface="Georgia"/>
                <a:ea typeface="Georgia"/>
                <a:cs typeface="Georgia"/>
                <a:sym typeface="Georgia"/>
              </a:rPr>
            </a:br>
            <a:r>
              <a:rPr lang="en-US" sz="1800" b="1" dirty="0">
                <a:latin typeface="Georgia"/>
                <a:ea typeface="Georgia"/>
                <a:cs typeface="Georgia"/>
                <a:sym typeface="Georgia"/>
              </a:rPr>
              <a:t>Course Name: Design and analysis of algorithm</a:t>
            </a:r>
            <a:br>
              <a:rPr lang="en-US" sz="1800" b="1" dirty="0">
                <a:latin typeface="Georgia"/>
                <a:ea typeface="Georgia"/>
                <a:cs typeface="Georgia"/>
                <a:sym typeface="Georgia"/>
              </a:rPr>
            </a:br>
            <a:r>
              <a:rPr lang="en-US" sz="1800" b="1" dirty="0">
                <a:latin typeface="Georgia"/>
                <a:ea typeface="Georgia"/>
                <a:cs typeface="Georgia"/>
                <a:sym typeface="Georgia"/>
              </a:rPr>
              <a:t>Course Code: R1UC407B</a:t>
            </a:r>
            <a:br>
              <a:rPr lang="en-US" sz="1800" b="1" dirty="0">
                <a:latin typeface="Georgia"/>
                <a:ea typeface="Georgia"/>
                <a:cs typeface="Georgia"/>
                <a:sym typeface="Georgia"/>
              </a:rPr>
            </a:br>
            <a:r>
              <a:rPr lang="en-US" sz="1800" b="1" dirty="0">
                <a:latin typeface="Georgia"/>
                <a:ea typeface="Georgia"/>
                <a:cs typeface="Georgia"/>
                <a:sym typeface="Georgia"/>
              </a:rPr>
              <a:t>Instructor Name: Rakesh Bharati</a:t>
            </a:r>
            <a:br>
              <a:rPr lang="en-US" sz="1800" b="1" dirty="0">
                <a:latin typeface="Georgia"/>
                <a:ea typeface="Georgia"/>
                <a:cs typeface="Georgia"/>
                <a:sym typeface="Georgia"/>
              </a:rPr>
            </a:br>
            <a:r>
              <a:rPr lang="en-US" sz="1800" b="1" dirty="0">
                <a:latin typeface="Georgia"/>
                <a:ea typeface="Georgia"/>
                <a:cs typeface="Georgia"/>
                <a:sym typeface="Georgia"/>
              </a:rPr>
              <a:t>Duration: 50 Min.</a:t>
            </a:r>
            <a:br>
              <a:rPr lang="en-US" sz="1800" b="1" dirty="0">
                <a:latin typeface="Georgia"/>
                <a:ea typeface="Georgia"/>
                <a:cs typeface="Georgia"/>
                <a:sym typeface="Georgia"/>
              </a:rPr>
            </a:br>
            <a:r>
              <a:rPr lang="en-US" sz="1800" b="1" dirty="0">
                <a:latin typeface="Georgia"/>
                <a:ea typeface="Georgia"/>
                <a:cs typeface="Georgia"/>
                <a:sym typeface="Georgia"/>
              </a:rPr>
              <a:t>Date of Conduction of Class:</a:t>
            </a:r>
            <a:br>
              <a:rPr lang="en-US" sz="1800" b="1" dirty="0">
                <a:latin typeface="Georgia"/>
                <a:ea typeface="Georgia"/>
                <a:cs typeface="Georgia"/>
                <a:sym typeface="Georgia"/>
              </a:rPr>
            </a:br>
            <a:br>
              <a:rPr lang="en-US" sz="1800" b="1" dirty="0">
                <a:latin typeface="Georgia"/>
                <a:ea typeface="Georgia"/>
                <a:cs typeface="Georgia"/>
                <a:sym typeface="Georgia"/>
              </a:rPr>
            </a:br>
            <a:endParaRPr sz="4800" b="1" dirty="0">
              <a:latin typeface="Georgia"/>
              <a:ea typeface="Georgia"/>
              <a:cs typeface="Georgia"/>
              <a:sym typeface="Georgia"/>
            </a:endParaRPr>
          </a:p>
        </p:txBody>
      </p:sp>
      <p:sp>
        <p:nvSpPr>
          <p:cNvPr id="89" name="Google Shape;8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90" name="Google Shape;9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pic>
        <p:nvPicPr>
          <p:cNvPr id="91" name="Google Shape;91;p1" descr="A blue circle with text and words&#10;&#10;Description automatically generated"/>
          <p:cNvPicPr preferRelativeResize="0"/>
          <p:nvPr/>
        </p:nvPicPr>
        <p:blipFill rotWithShape="1">
          <a:blip r:embed="rId3">
            <a:alphaModFix/>
          </a:blip>
          <a:srcRect/>
          <a:stretch/>
        </p:blipFill>
        <p:spPr>
          <a:xfrm>
            <a:off x="10758565" y="176753"/>
            <a:ext cx="1190469" cy="1190469"/>
          </a:xfrm>
          <a:prstGeom prst="rect">
            <a:avLst/>
          </a:prstGeom>
          <a:noFill/>
          <a:ln>
            <a:noFill/>
          </a:ln>
        </p:spPr>
      </p:pic>
      <p:pic>
        <p:nvPicPr>
          <p:cNvPr id="92" name="Google Shape;92;p1"/>
          <p:cNvPicPr preferRelativeResize="0"/>
          <p:nvPr/>
        </p:nvPicPr>
        <p:blipFill rotWithShape="1">
          <a:blip r:embed="rId4">
            <a:alphaModFix/>
          </a:blip>
          <a:srcRect/>
          <a:stretch/>
        </p:blipFill>
        <p:spPr>
          <a:xfrm>
            <a:off x="104932" y="114202"/>
            <a:ext cx="3795634" cy="74023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8EF4F-6060-143D-E2D3-D39BCB3ADDA4}"/>
              </a:ext>
            </a:extLst>
          </p:cNvPr>
          <p:cNvSpPr>
            <a:spLocks noGrp="1"/>
          </p:cNvSpPr>
          <p:nvPr>
            <p:ph type="title"/>
          </p:nvPr>
        </p:nvSpPr>
        <p:spPr>
          <a:xfrm>
            <a:off x="558702" y="1102452"/>
            <a:ext cx="10542973" cy="822858"/>
          </a:xfrm>
        </p:spPr>
        <p:txBody>
          <a:bodyPr anchor="ctr">
            <a:normAutofit/>
          </a:bodyPr>
          <a:lstStyle/>
          <a:p>
            <a:r>
              <a:rPr lang="en-IN" sz="4000" b="1" dirty="0">
                <a:latin typeface="Arial" panose="020B0604020202020204" pitchFamily="34" charset="0"/>
                <a:cs typeface="Arial" panose="020B0604020202020204" pitchFamily="34" charset="0"/>
              </a:rPr>
              <a:t>Learning Outcome</a:t>
            </a:r>
          </a:p>
        </p:txBody>
      </p:sp>
      <p:sp>
        <p:nvSpPr>
          <p:cNvPr id="4" name="Footer Placeholder 3">
            <a:extLst>
              <a:ext uri="{FF2B5EF4-FFF2-40B4-BE49-F238E27FC236}">
                <a16:creationId xmlns:a16="http://schemas.microsoft.com/office/drawing/2014/main" id="{9FA7A3F3-F9E0-0ED6-9640-C09E20B4F31D}"/>
              </a:ext>
            </a:extLst>
          </p:cNvPr>
          <p:cNvSpPr>
            <a:spLocks noGrp="1"/>
          </p:cNvSpPr>
          <p:nvPr>
            <p:ph type="ftr" sz="quarter" idx="11"/>
          </p:nvPr>
        </p:nvSpPr>
        <p:spPr/>
        <p:txBody>
          <a:bodyPr/>
          <a:lstStyle/>
          <a:p>
            <a:r>
              <a:rPr lang="en-IN" dirty="0"/>
              <a:t>     Galgotias University</a:t>
            </a:r>
          </a:p>
        </p:txBody>
      </p:sp>
      <p:sp>
        <p:nvSpPr>
          <p:cNvPr id="5" name="Slide Number Placeholder 4">
            <a:extLst>
              <a:ext uri="{FF2B5EF4-FFF2-40B4-BE49-F238E27FC236}">
                <a16:creationId xmlns:a16="http://schemas.microsoft.com/office/drawing/2014/main" id="{712BD711-0225-BB81-E56E-97842AEFBAFF}"/>
              </a:ext>
            </a:extLst>
          </p:cNvPr>
          <p:cNvSpPr>
            <a:spLocks noGrp="1"/>
          </p:cNvSpPr>
          <p:nvPr>
            <p:ph type="sldNum" sz="quarter" idx="12"/>
          </p:nvPr>
        </p:nvSpPr>
        <p:spPr/>
        <p:txBody>
          <a:bodyPr/>
          <a:lstStyle/>
          <a:p>
            <a:fld id="{26510230-8DD5-4BA5-AB2D-CA30FC08F9D7}" type="slidenum">
              <a:rPr lang="en-IN" smtClean="0"/>
              <a:t>2</a:t>
            </a:fld>
            <a:endParaRPr lang="en-IN" dirty="0"/>
          </a:p>
        </p:txBody>
      </p:sp>
      <p:pic>
        <p:nvPicPr>
          <p:cNvPr id="7" name="Picture 6" descr="A blue circle with text and words&#10;&#10;Description automatically generated">
            <a:extLst>
              <a:ext uri="{FF2B5EF4-FFF2-40B4-BE49-F238E27FC236}">
                <a16:creationId xmlns:a16="http://schemas.microsoft.com/office/drawing/2014/main" id="{6DC91442-66F2-504B-C67F-2CC391B8CA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3" name="Picture 2">
            <a:extLst>
              <a:ext uri="{FF2B5EF4-FFF2-40B4-BE49-F238E27FC236}">
                <a16:creationId xmlns:a16="http://schemas.microsoft.com/office/drawing/2014/main" id="{BCE66B6B-F371-2A0A-CB0C-8E7576D582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
        <p:nvSpPr>
          <p:cNvPr id="8" name="Footer Placeholder 2">
            <a:extLst>
              <a:ext uri="{FF2B5EF4-FFF2-40B4-BE49-F238E27FC236}">
                <a16:creationId xmlns:a16="http://schemas.microsoft.com/office/drawing/2014/main" id="{C19E9DF3-52FF-710F-A779-96A715D3601B}"/>
              </a:ext>
            </a:extLst>
          </p:cNvPr>
          <p:cNvSpPr txBox="1">
            <a:spLocks/>
          </p:cNvSpPr>
          <p:nvPr/>
        </p:nvSpPr>
        <p:spPr>
          <a:xfrm>
            <a:off x="4191000" y="65087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Dr. Pooja Singh</a:t>
            </a:r>
          </a:p>
        </p:txBody>
      </p:sp>
      <p:grpSp>
        <p:nvGrpSpPr>
          <p:cNvPr id="9" name="Google Shape;127;p5">
            <a:extLst>
              <a:ext uri="{FF2B5EF4-FFF2-40B4-BE49-F238E27FC236}">
                <a16:creationId xmlns:a16="http://schemas.microsoft.com/office/drawing/2014/main" id="{9CC9DDD3-F264-B684-32AD-FF638F7E5347}"/>
              </a:ext>
            </a:extLst>
          </p:cNvPr>
          <p:cNvGrpSpPr/>
          <p:nvPr/>
        </p:nvGrpSpPr>
        <p:grpSpPr>
          <a:xfrm>
            <a:off x="1176605" y="2201775"/>
            <a:ext cx="10927828" cy="3280751"/>
            <a:chOff x="0" y="0"/>
            <a:chExt cx="10927828" cy="3689404"/>
          </a:xfrm>
        </p:grpSpPr>
        <p:sp>
          <p:nvSpPr>
            <p:cNvPr id="10" name="Google Shape;128;p5">
              <a:extLst>
                <a:ext uri="{FF2B5EF4-FFF2-40B4-BE49-F238E27FC236}">
                  <a16:creationId xmlns:a16="http://schemas.microsoft.com/office/drawing/2014/main" id="{224B4042-7AB0-5791-2976-274BDAE77720}"/>
                </a:ext>
              </a:extLst>
            </p:cNvPr>
            <p:cNvSpPr/>
            <p:nvPr/>
          </p:nvSpPr>
          <p:spPr>
            <a:xfrm>
              <a:off x="0" y="0"/>
              <a:ext cx="9288654" cy="1660232"/>
            </a:xfrm>
            <a:prstGeom prst="roundRect">
              <a:avLst>
                <a:gd name="adj" fmla="val 10000"/>
              </a:avLst>
            </a:prstGeom>
            <a:solidFill>
              <a:srgbClr val="E97131"/>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30;p5">
              <a:extLst>
                <a:ext uri="{FF2B5EF4-FFF2-40B4-BE49-F238E27FC236}">
                  <a16:creationId xmlns:a16="http://schemas.microsoft.com/office/drawing/2014/main" id="{DAF8AA63-70E4-883F-8869-04840D7EE7EE}"/>
                </a:ext>
              </a:extLst>
            </p:cNvPr>
            <p:cNvSpPr/>
            <p:nvPr/>
          </p:nvSpPr>
          <p:spPr>
            <a:xfrm>
              <a:off x="1639174" y="2029172"/>
              <a:ext cx="9288654" cy="1660232"/>
            </a:xfrm>
            <a:prstGeom prst="roundRect">
              <a:avLst>
                <a:gd name="adj" fmla="val 10000"/>
              </a:avLst>
            </a:prstGeom>
            <a:solidFill>
              <a:srgbClr val="18692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1;p5">
              <a:extLst>
                <a:ext uri="{FF2B5EF4-FFF2-40B4-BE49-F238E27FC236}">
                  <a16:creationId xmlns:a16="http://schemas.microsoft.com/office/drawing/2014/main" id="{16562A88-501E-CC32-BA17-EC9518E0476B}"/>
                </a:ext>
              </a:extLst>
            </p:cNvPr>
            <p:cNvSpPr txBox="1"/>
            <p:nvPr/>
          </p:nvSpPr>
          <p:spPr>
            <a:xfrm>
              <a:off x="1687801" y="2077799"/>
              <a:ext cx="6473075" cy="1562978"/>
            </a:xfrm>
            <a:prstGeom prst="rect">
              <a:avLst/>
            </a:prstGeom>
            <a:noFill/>
            <a:ln>
              <a:noFill/>
            </a:ln>
          </p:spPr>
          <p:txBody>
            <a:bodyPr spcFirstLastPara="1" wrap="square" lIns="144775" tIns="144775" rIns="144775" bIns="144775" anchor="ctr" anchorCtr="0">
              <a:noAutofit/>
            </a:bodyPr>
            <a:lstStyle/>
            <a:p>
              <a:pPr marL="0" marR="0" lvl="0" indent="0" algn="l" rtl="0">
                <a:lnSpc>
                  <a:spcPct val="90000"/>
                </a:lnSpc>
                <a:spcBef>
                  <a:spcPts val="0"/>
                </a:spcBef>
                <a:spcAft>
                  <a:spcPts val="0"/>
                </a:spcAft>
                <a:buClr>
                  <a:schemeClr val="lt1"/>
                </a:buClr>
                <a:buSzPts val="3800"/>
                <a:buFont typeface="Arial"/>
                <a:buNone/>
              </a:pPr>
              <a:r>
                <a:rPr lang="en-US" sz="3800" b="0" i="0" u="none" strike="noStrike" cap="none" dirty="0">
                  <a:solidFill>
                    <a:schemeClr val="lt1"/>
                  </a:solidFill>
                  <a:latin typeface="Arial"/>
                  <a:ea typeface="Arial"/>
                  <a:cs typeface="Arial"/>
                  <a:sym typeface="Arial"/>
                </a:rPr>
                <a:t>Identify best, worst, and average case scenarios.</a:t>
              </a:r>
              <a:endParaRPr dirty="0"/>
            </a:p>
          </p:txBody>
        </p:sp>
        <p:sp>
          <p:nvSpPr>
            <p:cNvPr id="14" name="Google Shape;132;p5">
              <a:extLst>
                <a:ext uri="{FF2B5EF4-FFF2-40B4-BE49-F238E27FC236}">
                  <a16:creationId xmlns:a16="http://schemas.microsoft.com/office/drawing/2014/main" id="{929BC21D-CB92-728B-7FFB-85A2F8B3DE7D}"/>
                </a:ext>
              </a:extLst>
            </p:cNvPr>
            <p:cNvSpPr/>
            <p:nvPr/>
          </p:nvSpPr>
          <p:spPr>
            <a:xfrm>
              <a:off x="8209503" y="1305127"/>
              <a:ext cx="1079150" cy="1079150"/>
            </a:xfrm>
            <a:prstGeom prst="downArrow">
              <a:avLst>
                <a:gd name="adj1" fmla="val 55000"/>
                <a:gd name="adj2" fmla="val 45000"/>
              </a:avLst>
            </a:prstGeom>
            <a:solidFill>
              <a:srgbClr val="F6D4CC">
                <a:alpha val="89803"/>
              </a:srgbClr>
            </a:solidFill>
            <a:ln w="19050" cap="flat" cmpd="sng">
              <a:solidFill>
                <a:srgbClr val="F6D4CC">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33;p5">
              <a:extLst>
                <a:ext uri="{FF2B5EF4-FFF2-40B4-BE49-F238E27FC236}">
                  <a16:creationId xmlns:a16="http://schemas.microsoft.com/office/drawing/2014/main" id="{2B7C3B4D-BB7E-D677-A6F6-9B7C4486E9FD}"/>
                </a:ext>
              </a:extLst>
            </p:cNvPr>
            <p:cNvSpPr txBox="1"/>
            <p:nvPr/>
          </p:nvSpPr>
          <p:spPr>
            <a:xfrm>
              <a:off x="8452312" y="1305127"/>
              <a:ext cx="593532" cy="812060"/>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endParaRPr sz="3600" b="0" i="0" u="none" strike="noStrike" cap="none">
                <a:solidFill>
                  <a:schemeClr val="dk1"/>
                </a:solidFill>
                <a:latin typeface="Arial"/>
                <a:ea typeface="Arial"/>
                <a:cs typeface="Arial"/>
                <a:sym typeface="Arial"/>
              </a:endParaRPr>
            </a:p>
          </p:txBody>
        </p:sp>
      </p:grpSp>
      <p:sp>
        <p:nvSpPr>
          <p:cNvPr id="19" name="TextBox 18">
            <a:extLst>
              <a:ext uri="{FF2B5EF4-FFF2-40B4-BE49-F238E27FC236}">
                <a16:creationId xmlns:a16="http://schemas.microsoft.com/office/drawing/2014/main" id="{D83F2D55-04FC-CEAD-A5B0-C9D3E83EC85B}"/>
              </a:ext>
            </a:extLst>
          </p:cNvPr>
          <p:cNvSpPr txBox="1"/>
          <p:nvPr/>
        </p:nvSpPr>
        <p:spPr>
          <a:xfrm>
            <a:off x="1951095" y="2253385"/>
            <a:ext cx="8271354" cy="1323439"/>
          </a:xfrm>
          <a:prstGeom prst="rect">
            <a:avLst/>
          </a:prstGeom>
          <a:noFill/>
        </p:spPr>
        <p:txBody>
          <a:bodyPr wrap="square">
            <a:spAutoFit/>
          </a:bodyPr>
          <a:lstStyle/>
          <a:p>
            <a:pPr lvl="0"/>
            <a:r>
              <a:rPr lang="en-SG" sz="4000" dirty="0">
                <a:solidFill>
                  <a:schemeClr val="bg1">
                    <a:lumMod val="95000"/>
                  </a:schemeClr>
                </a:solidFill>
              </a:rPr>
              <a:t>Solve Recurrence relations and </a:t>
            </a:r>
            <a:r>
              <a:rPr lang="en-ID" sz="4000" dirty="0">
                <a:solidFill>
                  <a:schemeClr val="bg1">
                    <a:lumMod val="95000"/>
                  </a:schemeClr>
                </a:solidFill>
              </a:rPr>
              <a:t>Analysis of Recursive Algorithms</a:t>
            </a:r>
            <a:endParaRPr lang="en-ID" dirty="0">
              <a:solidFill>
                <a:schemeClr val="bg1">
                  <a:lumMod val="95000"/>
                </a:schemeClr>
              </a:solidFill>
            </a:endParaRPr>
          </a:p>
        </p:txBody>
      </p:sp>
    </p:spTree>
    <p:extLst>
      <p:ext uri="{BB962C8B-B14F-4D97-AF65-F5344CB8AC3E}">
        <p14:creationId xmlns:p14="http://schemas.microsoft.com/office/powerpoint/2010/main" val="2838591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1553B-A216-73BB-FAAB-1FF7D4C33C20}"/>
              </a:ext>
            </a:extLst>
          </p:cNvPr>
          <p:cNvSpPr>
            <a:spLocks noGrp="1"/>
          </p:cNvSpPr>
          <p:nvPr>
            <p:ph type="title"/>
          </p:nvPr>
        </p:nvSpPr>
        <p:spPr>
          <a:xfrm>
            <a:off x="635000" y="640823"/>
            <a:ext cx="3418659" cy="5583148"/>
          </a:xfrm>
        </p:spPr>
        <p:txBody>
          <a:bodyPr anchor="ctr">
            <a:normAutofit/>
          </a:bodyPr>
          <a:lstStyle/>
          <a:p>
            <a:r>
              <a:rPr lang="en-IN" sz="5400" dirty="0"/>
              <a:t>Session Outline</a:t>
            </a:r>
          </a:p>
        </p:txBody>
      </p:sp>
      <p:grpSp>
        <p:nvGrpSpPr>
          <p:cNvPr id="11" name="Group 10">
            <a:extLst>
              <a:ext uri="{FF2B5EF4-FFF2-40B4-BE49-F238E27FC236}">
                <a16:creationId xmlns:a16="http://schemas.microsoft.com/office/drawing/2014/main" id="{54136EA9-7639-9BD1-9034-1040424A2C6E}"/>
              </a:ext>
            </a:extLst>
          </p:cNvPr>
          <p:cNvGrpSpPr/>
          <p:nvPr/>
        </p:nvGrpSpPr>
        <p:grpSpPr>
          <a:xfrm>
            <a:off x="4453288" y="748138"/>
            <a:ext cx="6900512" cy="4684439"/>
            <a:chOff x="4648018" y="643256"/>
            <a:chExt cx="6900512" cy="4149379"/>
          </a:xfrm>
        </p:grpSpPr>
        <p:sp>
          <p:nvSpPr>
            <p:cNvPr id="12" name="Straight Connector 11">
              <a:extLst>
                <a:ext uri="{FF2B5EF4-FFF2-40B4-BE49-F238E27FC236}">
                  <a16:creationId xmlns:a16="http://schemas.microsoft.com/office/drawing/2014/main" id="{4293797C-D5FF-6766-020F-34563A09BEF6}"/>
                </a:ext>
              </a:extLst>
            </p:cNvPr>
            <p:cNvSpPr/>
            <p:nvPr/>
          </p:nvSpPr>
          <p:spPr>
            <a:xfrm>
              <a:off x="4648018" y="643256"/>
              <a:ext cx="6900512" cy="0"/>
            </a:xfrm>
            <a:prstGeom prst="line">
              <a:avLst/>
            </a:pr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ID"/>
            </a:p>
          </p:txBody>
        </p:sp>
        <p:sp>
          <p:nvSpPr>
            <p:cNvPr id="13" name="Freeform: Shape 12">
              <a:extLst>
                <a:ext uri="{FF2B5EF4-FFF2-40B4-BE49-F238E27FC236}">
                  <a16:creationId xmlns:a16="http://schemas.microsoft.com/office/drawing/2014/main" id="{A5B27B0C-9201-F0BC-C273-D121950DEED6}"/>
                </a:ext>
              </a:extLst>
            </p:cNvPr>
            <p:cNvSpPr/>
            <p:nvPr/>
          </p:nvSpPr>
          <p:spPr>
            <a:xfrm>
              <a:off x="4648018" y="643256"/>
              <a:ext cx="6900512" cy="829875"/>
            </a:xfrm>
            <a:custGeom>
              <a:avLst/>
              <a:gdLst>
                <a:gd name="csX0" fmla="*/ 0 w 6900512"/>
                <a:gd name="csY0" fmla="*/ 0 h 829875"/>
                <a:gd name="csX1" fmla="*/ 6900512 w 6900512"/>
                <a:gd name="csY1" fmla="*/ 0 h 829875"/>
                <a:gd name="csX2" fmla="*/ 6900512 w 6900512"/>
                <a:gd name="csY2" fmla="*/ 829875 h 829875"/>
                <a:gd name="csX3" fmla="*/ 0 w 6900512"/>
                <a:gd name="csY3" fmla="*/ 829875 h 829875"/>
                <a:gd name="csX4" fmla="*/ 0 w 6900512"/>
                <a:gd name="csY4" fmla="*/ 0 h 829875"/>
              </a:gdLst>
              <a:ahLst/>
              <a:cxnLst>
                <a:cxn ang="0">
                  <a:pos x="csX0" y="csY0"/>
                </a:cxn>
                <a:cxn ang="0">
                  <a:pos x="csX1" y="csY1"/>
                </a:cxn>
                <a:cxn ang="0">
                  <a:pos x="csX2" y="csY2"/>
                </a:cxn>
                <a:cxn ang="0">
                  <a:pos x="csX3" y="csY3"/>
                </a:cxn>
                <a:cxn ang="0">
                  <a:pos x="csX4" y="csY4"/>
                </a:cxn>
              </a:cxnLst>
              <a:rect l="l" t="t" r="r" b="b"/>
              <a:pathLst>
                <a:path w="6900512" h="829875">
                  <a:moveTo>
                    <a:pt x="0" y="0"/>
                  </a:moveTo>
                  <a:lnTo>
                    <a:pt x="6900512" y="0"/>
                  </a:lnTo>
                  <a:lnTo>
                    <a:pt x="6900512" y="829875"/>
                  </a:lnTo>
                  <a:lnTo>
                    <a:pt x="0" y="82987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endParaRPr lang="en-US" sz="2200" kern="1200" dirty="0">
                <a:solidFill>
                  <a:prstClr val="black">
                    <a:hueOff val="0"/>
                    <a:satOff val="0"/>
                    <a:lumOff val="0"/>
                    <a:alphaOff val="0"/>
                  </a:prstClr>
                </a:solidFill>
                <a:latin typeface="Aptos" panose="02110004020202020204"/>
                <a:ea typeface="+mn-ea"/>
                <a:cs typeface="+mn-cs"/>
              </a:endParaRPr>
            </a:p>
          </p:txBody>
        </p:sp>
        <p:sp>
          <p:nvSpPr>
            <p:cNvPr id="14" name="Straight Connector 13">
              <a:extLst>
                <a:ext uri="{FF2B5EF4-FFF2-40B4-BE49-F238E27FC236}">
                  <a16:creationId xmlns:a16="http://schemas.microsoft.com/office/drawing/2014/main" id="{AB11FA1F-9ECC-2ECD-DF96-BEC3A0BEED07}"/>
                </a:ext>
              </a:extLst>
            </p:cNvPr>
            <p:cNvSpPr/>
            <p:nvPr/>
          </p:nvSpPr>
          <p:spPr>
            <a:xfrm>
              <a:off x="4648018" y="1473132"/>
              <a:ext cx="6900512" cy="0"/>
            </a:xfrm>
            <a:prstGeom prst="line">
              <a:avLst/>
            </a:prstGeom>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ID"/>
            </a:p>
          </p:txBody>
        </p:sp>
        <p:sp>
          <p:nvSpPr>
            <p:cNvPr id="15" name="Freeform: Shape 14">
              <a:extLst>
                <a:ext uri="{FF2B5EF4-FFF2-40B4-BE49-F238E27FC236}">
                  <a16:creationId xmlns:a16="http://schemas.microsoft.com/office/drawing/2014/main" id="{91301B06-73F0-7214-2E2F-44D4CCAC424A}"/>
                </a:ext>
              </a:extLst>
            </p:cNvPr>
            <p:cNvSpPr/>
            <p:nvPr/>
          </p:nvSpPr>
          <p:spPr>
            <a:xfrm>
              <a:off x="4648018" y="1473132"/>
              <a:ext cx="6900512" cy="829875"/>
            </a:xfrm>
            <a:custGeom>
              <a:avLst/>
              <a:gdLst>
                <a:gd name="csX0" fmla="*/ 0 w 6900512"/>
                <a:gd name="csY0" fmla="*/ 0 h 829875"/>
                <a:gd name="csX1" fmla="*/ 6900512 w 6900512"/>
                <a:gd name="csY1" fmla="*/ 0 h 829875"/>
                <a:gd name="csX2" fmla="*/ 6900512 w 6900512"/>
                <a:gd name="csY2" fmla="*/ 829875 h 829875"/>
                <a:gd name="csX3" fmla="*/ 0 w 6900512"/>
                <a:gd name="csY3" fmla="*/ 829875 h 829875"/>
                <a:gd name="csX4" fmla="*/ 0 w 6900512"/>
                <a:gd name="csY4" fmla="*/ 0 h 829875"/>
              </a:gdLst>
              <a:ahLst/>
              <a:cxnLst>
                <a:cxn ang="0">
                  <a:pos x="csX0" y="csY0"/>
                </a:cxn>
                <a:cxn ang="0">
                  <a:pos x="csX1" y="csY1"/>
                </a:cxn>
                <a:cxn ang="0">
                  <a:pos x="csX2" y="csY2"/>
                </a:cxn>
                <a:cxn ang="0">
                  <a:pos x="csX3" y="csY3"/>
                </a:cxn>
                <a:cxn ang="0">
                  <a:pos x="csX4" y="csY4"/>
                </a:cxn>
              </a:cxnLst>
              <a:rect l="l" t="t" r="r" b="b"/>
              <a:pathLst>
                <a:path w="6900512" h="829875">
                  <a:moveTo>
                    <a:pt x="0" y="0"/>
                  </a:moveTo>
                  <a:lnTo>
                    <a:pt x="6900512" y="0"/>
                  </a:lnTo>
                  <a:lnTo>
                    <a:pt x="6900512" y="829875"/>
                  </a:lnTo>
                  <a:lnTo>
                    <a:pt x="0" y="82987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endParaRPr lang="en-US" sz="2200" kern="1200" dirty="0">
                <a:solidFill>
                  <a:prstClr val="black">
                    <a:hueOff val="0"/>
                    <a:satOff val="0"/>
                    <a:lumOff val="0"/>
                    <a:alphaOff val="0"/>
                  </a:prstClr>
                </a:solidFill>
                <a:latin typeface="Aptos" panose="02110004020202020204"/>
                <a:ea typeface="+mn-ea"/>
                <a:cs typeface="+mn-cs"/>
              </a:endParaRPr>
            </a:p>
          </p:txBody>
        </p:sp>
        <p:sp>
          <p:nvSpPr>
            <p:cNvPr id="16" name="Straight Connector 15">
              <a:extLst>
                <a:ext uri="{FF2B5EF4-FFF2-40B4-BE49-F238E27FC236}">
                  <a16:creationId xmlns:a16="http://schemas.microsoft.com/office/drawing/2014/main" id="{746BBC42-E5C4-C92C-2448-578884C51D2D}"/>
                </a:ext>
              </a:extLst>
            </p:cNvPr>
            <p:cNvSpPr/>
            <p:nvPr/>
          </p:nvSpPr>
          <p:spPr>
            <a:xfrm>
              <a:off x="4648018" y="2303008"/>
              <a:ext cx="6900512" cy="0"/>
            </a:xfrm>
            <a:prstGeom prst="line">
              <a:avLst/>
            </a:prstGeom>
          </p:spPr>
          <p:style>
            <a:lnRef idx="2">
              <a:schemeClr val="accent4">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n-ID"/>
            </a:p>
          </p:txBody>
        </p:sp>
        <p:sp>
          <p:nvSpPr>
            <p:cNvPr id="17" name="Freeform: Shape 16">
              <a:extLst>
                <a:ext uri="{FF2B5EF4-FFF2-40B4-BE49-F238E27FC236}">
                  <a16:creationId xmlns:a16="http://schemas.microsoft.com/office/drawing/2014/main" id="{1AC23356-F50E-3FBF-D851-3E74677D6F9A}"/>
                </a:ext>
              </a:extLst>
            </p:cNvPr>
            <p:cNvSpPr/>
            <p:nvPr/>
          </p:nvSpPr>
          <p:spPr>
            <a:xfrm>
              <a:off x="4648018" y="2303008"/>
              <a:ext cx="6900512" cy="829875"/>
            </a:xfrm>
            <a:custGeom>
              <a:avLst/>
              <a:gdLst>
                <a:gd name="csX0" fmla="*/ 0 w 6900512"/>
                <a:gd name="csY0" fmla="*/ 0 h 829875"/>
                <a:gd name="csX1" fmla="*/ 6900512 w 6900512"/>
                <a:gd name="csY1" fmla="*/ 0 h 829875"/>
                <a:gd name="csX2" fmla="*/ 6900512 w 6900512"/>
                <a:gd name="csY2" fmla="*/ 829875 h 829875"/>
                <a:gd name="csX3" fmla="*/ 0 w 6900512"/>
                <a:gd name="csY3" fmla="*/ 829875 h 829875"/>
                <a:gd name="csX4" fmla="*/ 0 w 6900512"/>
                <a:gd name="csY4" fmla="*/ 0 h 829875"/>
              </a:gdLst>
              <a:ahLst/>
              <a:cxnLst>
                <a:cxn ang="0">
                  <a:pos x="csX0" y="csY0"/>
                </a:cxn>
                <a:cxn ang="0">
                  <a:pos x="csX1" y="csY1"/>
                </a:cxn>
                <a:cxn ang="0">
                  <a:pos x="csX2" y="csY2"/>
                </a:cxn>
                <a:cxn ang="0">
                  <a:pos x="csX3" y="csY3"/>
                </a:cxn>
                <a:cxn ang="0">
                  <a:pos x="csX4" y="csY4"/>
                </a:cxn>
              </a:cxnLst>
              <a:rect l="l" t="t" r="r" b="b"/>
              <a:pathLst>
                <a:path w="6900512" h="829875">
                  <a:moveTo>
                    <a:pt x="0" y="0"/>
                  </a:moveTo>
                  <a:lnTo>
                    <a:pt x="6900512" y="0"/>
                  </a:lnTo>
                  <a:lnTo>
                    <a:pt x="6900512" y="829875"/>
                  </a:lnTo>
                  <a:lnTo>
                    <a:pt x="0" y="82987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endParaRPr lang="en-US" sz="2200" kern="1200" dirty="0">
                <a:solidFill>
                  <a:prstClr val="black">
                    <a:hueOff val="0"/>
                    <a:satOff val="0"/>
                    <a:lumOff val="0"/>
                    <a:alphaOff val="0"/>
                  </a:prstClr>
                </a:solidFill>
                <a:latin typeface="Aptos" panose="02110004020202020204"/>
                <a:ea typeface="+mn-ea"/>
                <a:cs typeface="+mn-cs"/>
              </a:endParaRPr>
            </a:p>
          </p:txBody>
        </p:sp>
        <p:sp>
          <p:nvSpPr>
            <p:cNvPr id="18" name="Straight Connector 17">
              <a:extLst>
                <a:ext uri="{FF2B5EF4-FFF2-40B4-BE49-F238E27FC236}">
                  <a16:creationId xmlns:a16="http://schemas.microsoft.com/office/drawing/2014/main" id="{AED63A3B-42D5-B8D9-4943-BFFE9B1089B4}"/>
                </a:ext>
              </a:extLst>
            </p:cNvPr>
            <p:cNvSpPr/>
            <p:nvPr/>
          </p:nvSpPr>
          <p:spPr>
            <a:xfrm>
              <a:off x="4648018" y="3132884"/>
              <a:ext cx="6900512" cy="0"/>
            </a:xfrm>
            <a:prstGeom prst="line">
              <a:avLst/>
            </a:prstGeom>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ID"/>
            </a:p>
          </p:txBody>
        </p:sp>
        <p:sp>
          <p:nvSpPr>
            <p:cNvPr id="19" name="Freeform: Shape 18">
              <a:extLst>
                <a:ext uri="{FF2B5EF4-FFF2-40B4-BE49-F238E27FC236}">
                  <a16:creationId xmlns:a16="http://schemas.microsoft.com/office/drawing/2014/main" id="{5E75EA92-1149-5320-BD7E-F31C1E5AC8A3}"/>
                </a:ext>
              </a:extLst>
            </p:cNvPr>
            <p:cNvSpPr/>
            <p:nvPr/>
          </p:nvSpPr>
          <p:spPr>
            <a:xfrm>
              <a:off x="4648018" y="790194"/>
              <a:ext cx="6900512" cy="829875"/>
            </a:xfrm>
            <a:custGeom>
              <a:avLst/>
              <a:gdLst>
                <a:gd name="csX0" fmla="*/ 0 w 6900512"/>
                <a:gd name="csY0" fmla="*/ 0 h 829875"/>
                <a:gd name="csX1" fmla="*/ 6900512 w 6900512"/>
                <a:gd name="csY1" fmla="*/ 0 h 829875"/>
                <a:gd name="csX2" fmla="*/ 6900512 w 6900512"/>
                <a:gd name="csY2" fmla="*/ 829875 h 829875"/>
                <a:gd name="csX3" fmla="*/ 0 w 6900512"/>
                <a:gd name="csY3" fmla="*/ 829875 h 829875"/>
                <a:gd name="csX4" fmla="*/ 0 w 6900512"/>
                <a:gd name="csY4" fmla="*/ 0 h 829875"/>
              </a:gdLst>
              <a:ahLst/>
              <a:cxnLst>
                <a:cxn ang="0">
                  <a:pos x="csX0" y="csY0"/>
                </a:cxn>
                <a:cxn ang="0">
                  <a:pos x="csX1" y="csY1"/>
                </a:cxn>
                <a:cxn ang="0">
                  <a:pos x="csX2" y="csY2"/>
                </a:cxn>
                <a:cxn ang="0">
                  <a:pos x="csX3" y="csY3"/>
                </a:cxn>
                <a:cxn ang="0">
                  <a:pos x="csX4" y="csY4"/>
                </a:cxn>
              </a:cxnLst>
              <a:rect l="l" t="t" r="r" b="b"/>
              <a:pathLst>
                <a:path w="6900512" h="829875">
                  <a:moveTo>
                    <a:pt x="0" y="0"/>
                  </a:moveTo>
                  <a:lnTo>
                    <a:pt x="6900512" y="0"/>
                  </a:lnTo>
                  <a:lnTo>
                    <a:pt x="6900512" y="829875"/>
                  </a:lnTo>
                  <a:lnTo>
                    <a:pt x="0" y="82987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IN" sz="2200" kern="1200" dirty="0">
                  <a:solidFill>
                    <a:prstClr val="black">
                      <a:hueOff val="0"/>
                      <a:satOff val="0"/>
                      <a:lumOff val="0"/>
                      <a:alphaOff val="0"/>
                    </a:prstClr>
                  </a:solidFill>
                  <a:latin typeface="Aptos" panose="02110004020202020204"/>
                  <a:ea typeface="+mn-ea"/>
                  <a:cs typeface="+mn-cs"/>
                </a:rPr>
                <a:t>1 </a:t>
              </a:r>
              <a:r>
                <a:rPr lang="en-US" sz="2200" kern="1200" dirty="0"/>
                <a:t>Complexity Analysis of Recursive Algorithms using Substitution method</a:t>
              </a:r>
              <a:endParaRPr lang="en-US" sz="2200" kern="1200" dirty="0">
                <a:solidFill>
                  <a:prstClr val="black">
                    <a:hueOff val="0"/>
                    <a:satOff val="0"/>
                    <a:lumOff val="0"/>
                    <a:alphaOff val="0"/>
                  </a:prstClr>
                </a:solidFill>
                <a:latin typeface="Aptos" panose="02110004020202020204"/>
                <a:ea typeface="+mn-ea"/>
                <a:cs typeface="+mn-cs"/>
              </a:endParaRPr>
            </a:p>
          </p:txBody>
        </p:sp>
        <p:sp>
          <p:nvSpPr>
            <p:cNvPr id="20" name="Straight Connector 19">
              <a:extLst>
                <a:ext uri="{FF2B5EF4-FFF2-40B4-BE49-F238E27FC236}">
                  <a16:creationId xmlns:a16="http://schemas.microsoft.com/office/drawing/2014/main" id="{38EAB245-C8CD-560D-FAA2-24AD72CA2F63}"/>
                </a:ext>
              </a:extLst>
            </p:cNvPr>
            <p:cNvSpPr/>
            <p:nvPr/>
          </p:nvSpPr>
          <p:spPr>
            <a:xfrm>
              <a:off x="4648018" y="3962759"/>
              <a:ext cx="6900512" cy="0"/>
            </a:xfrm>
            <a:prstGeom prst="line">
              <a:avLst/>
            </a:prstGeom>
          </p:spPr>
          <p:style>
            <a:lnRef idx="2">
              <a:schemeClr val="accent6">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D"/>
            </a:p>
          </p:txBody>
        </p:sp>
        <p:sp>
          <p:nvSpPr>
            <p:cNvPr id="21" name="Freeform: Shape 20">
              <a:extLst>
                <a:ext uri="{FF2B5EF4-FFF2-40B4-BE49-F238E27FC236}">
                  <a16:creationId xmlns:a16="http://schemas.microsoft.com/office/drawing/2014/main" id="{647449E0-37EF-BF1F-5434-A4E8F9D790D2}"/>
                </a:ext>
              </a:extLst>
            </p:cNvPr>
            <p:cNvSpPr/>
            <p:nvPr/>
          </p:nvSpPr>
          <p:spPr>
            <a:xfrm>
              <a:off x="4648018" y="1585662"/>
              <a:ext cx="6900512" cy="829875"/>
            </a:xfrm>
            <a:custGeom>
              <a:avLst/>
              <a:gdLst>
                <a:gd name="csX0" fmla="*/ 0 w 6900512"/>
                <a:gd name="csY0" fmla="*/ 0 h 829875"/>
                <a:gd name="csX1" fmla="*/ 6900512 w 6900512"/>
                <a:gd name="csY1" fmla="*/ 0 h 829875"/>
                <a:gd name="csX2" fmla="*/ 6900512 w 6900512"/>
                <a:gd name="csY2" fmla="*/ 829875 h 829875"/>
                <a:gd name="csX3" fmla="*/ 0 w 6900512"/>
                <a:gd name="csY3" fmla="*/ 829875 h 829875"/>
                <a:gd name="csX4" fmla="*/ 0 w 6900512"/>
                <a:gd name="csY4" fmla="*/ 0 h 829875"/>
              </a:gdLst>
              <a:ahLst/>
              <a:cxnLst>
                <a:cxn ang="0">
                  <a:pos x="csX0" y="csY0"/>
                </a:cxn>
                <a:cxn ang="0">
                  <a:pos x="csX1" y="csY1"/>
                </a:cxn>
                <a:cxn ang="0">
                  <a:pos x="csX2" y="csY2"/>
                </a:cxn>
                <a:cxn ang="0">
                  <a:pos x="csX3" y="csY3"/>
                </a:cxn>
                <a:cxn ang="0">
                  <a:pos x="csX4" y="csY4"/>
                </a:cxn>
              </a:cxnLst>
              <a:rect l="l" t="t" r="r" b="b"/>
              <a:pathLst>
                <a:path w="6900512" h="829875">
                  <a:moveTo>
                    <a:pt x="0" y="0"/>
                  </a:moveTo>
                  <a:lnTo>
                    <a:pt x="6900512" y="0"/>
                  </a:lnTo>
                  <a:lnTo>
                    <a:pt x="6900512" y="829875"/>
                  </a:lnTo>
                  <a:lnTo>
                    <a:pt x="0" y="82987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IN" sz="2500" kern="1200" dirty="0"/>
                <a:t>2 </a:t>
              </a:r>
              <a:r>
                <a:rPr lang="en-US" sz="2200" kern="1200" dirty="0">
                  <a:solidFill>
                    <a:prstClr val="black">
                      <a:hueOff val="0"/>
                      <a:satOff val="0"/>
                      <a:lumOff val="0"/>
                      <a:alphaOff val="0"/>
                    </a:prstClr>
                  </a:solidFill>
                  <a:latin typeface="Aptos" panose="02110004020202020204"/>
                  <a:ea typeface="+mn-ea"/>
                  <a:cs typeface="+mn-cs"/>
                </a:rPr>
                <a:t>Reflection learning activity </a:t>
              </a:r>
            </a:p>
          </p:txBody>
        </p:sp>
        <p:sp>
          <p:nvSpPr>
            <p:cNvPr id="22" name="Straight Connector 21">
              <a:extLst>
                <a:ext uri="{FF2B5EF4-FFF2-40B4-BE49-F238E27FC236}">
                  <a16:creationId xmlns:a16="http://schemas.microsoft.com/office/drawing/2014/main" id="{34EAE2AF-9EC8-5AE9-5063-D86495944A74}"/>
                </a:ext>
              </a:extLst>
            </p:cNvPr>
            <p:cNvSpPr/>
            <p:nvPr/>
          </p:nvSpPr>
          <p:spPr>
            <a:xfrm>
              <a:off x="4648018" y="4792635"/>
              <a:ext cx="6900512" cy="0"/>
            </a:xfrm>
            <a:prstGeom prst="line">
              <a:avLst/>
            </a:pr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ID"/>
            </a:p>
          </p:txBody>
        </p:sp>
        <p:sp>
          <p:nvSpPr>
            <p:cNvPr id="23" name="Freeform: Shape 22">
              <a:extLst>
                <a:ext uri="{FF2B5EF4-FFF2-40B4-BE49-F238E27FC236}">
                  <a16:creationId xmlns:a16="http://schemas.microsoft.com/office/drawing/2014/main" id="{0DB432E7-C6D2-B539-6A66-15FB63F7F88A}"/>
                </a:ext>
              </a:extLst>
            </p:cNvPr>
            <p:cNvSpPr/>
            <p:nvPr/>
          </p:nvSpPr>
          <p:spPr>
            <a:xfrm>
              <a:off x="4648018" y="2321107"/>
              <a:ext cx="6900512" cy="829875"/>
            </a:xfrm>
            <a:custGeom>
              <a:avLst/>
              <a:gdLst>
                <a:gd name="csX0" fmla="*/ 0 w 6900512"/>
                <a:gd name="csY0" fmla="*/ 0 h 829875"/>
                <a:gd name="csX1" fmla="*/ 6900512 w 6900512"/>
                <a:gd name="csY1" fmla="*/ 0 h 829875"/>
                <a:gd name="csX2" fmla="*/ 6900512 w 6900512"/>
                <a:gd name="csY2" fmla="*/ 829875 h 829875"/>
                <a:gd name="csX3" fmla="*/ 0 w 6900512"/>
                <a:gd name="csY3" fmla="*/ 829875 h 829875"/>
                <a:gd name="csX4" fmla="*/ 0 w 6900512"/>
                <a:gd name="csY4" fmla="*/ 0 h 829875"/>
              </a:gdLst>
              <a:ahLst/>
              <a:cxnLst>
                <a:cxn ang="0">
                  <a:pos x="csX0" y="csY0"/>
                </a:cxn>
                <a:cxn ang="0">
                  <a:pos x="csX1" y="csY1"/>
                </a:cxn>
                <a:cxn ang="0">
                  <a:pos x="csX2" y="csY2"/>
                </a:cxn>
                <a:cxn ang="0">
                  <a:pos x="csX3" y="csY3"/>
                </a:cxn>
                <a:cxn ang="0">
                  <a:pos x="csX4" y="csY4"/>
                </a:cxn>
              </a:cxnLst>
              <a:rect l="l" t="t" r="r" b="b"/>
              <a:pathLst>
                <a:path w="6900512" h="829875">
                  <a:moveTo>
                    <a:pt x="0" y="0"/>
                  </a:moveTo>
                  <a:lnTo>
                    <a:pt x="6900512" y="0"/>
                  </a:lnTo>
                  <a:lnTo>
                    <a:pt x="6900512" y="829875"/>
                  </a:lnTo>
                  <a:lnTo>
                    <a:pt x="0" y="82987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endParaRPr lang="en-US" sz="2200" kern="1200" dirty="0">
                <a:solidFill>
                  <a:prstClr val="black">
                    <a:hueOff val="0"/>
                    <a:satOff val="0"/>
                    <a:lumOff val="0"/>
                    <a:alphaOff val="0"/>
                  </a:prstClr>
                </a:solidFill>
                <a:latin typeface="Aptos" panose="02110004020202020204"/>
                <a:ea typeface="+mn-ea"/>
                <a:cs typeface="+mn-cs"/>
              </a:endParaRPr>
            </a:p>
          </p:txBody>
        </p:sp>
      </p:grpSp>
      <p:sp>
        <p:nvSpPr>
          <p:cNvPr id="4" name="Footer Placeholder 3">
            <a:extLst>
              <a:ext uri="{FF2B5EF4-FFF2-40B4-BE49-F238E27FC236}">
                <a16:creationId xmlns:a16="http://schemas.microsoft.com/office/drawing/2014/main" id="{BC762DD5-123E-828B-BD74-061BEE1CE009}"/>
              </a:ext>
            </a:extLst>
          </p:cNvPr>
          <p:cNvSpPr>
            <a:spLocks noGrp="1"/>
          </p:cNvSpPr>
          <p:nvPr>
            <p:ph type="ftr" sz="quarter" idx="11"/>
          </p:nvPr>
        </p:nvSpPr>
        <p:spPr/>
        <p:txBody>
          <a:bodyPr/>
          <a:lstStyle/>
          <a:p>
            <a:r>
              <a:rPr lang="en-IN" dirty="0"/>
              <a:t>     Galgotias University</a:t>
            </a:r>
          </a:p>
        </p:txBody>
      </p:sp>
      <p:sp>
        <p:nvSpPr>
          <p:cNvPr id="6" name="Slide Number Placeholder 5">
            <a:extLst>
              <a:ext uri="{FF2B5EF4-FFF2-40B4-BE49-F238E27FC236}">
                <a16:creationId xmlns:a16="http://schemas.microsoft.com/office/drawing/2014/main" id="{9924FF57-302B-97C8-BD3F-550746DA6FE1}"/>
              </a:ext>
            </a:extLst>
          </p:cNvPr>
          <p:cNvSpPr>
            <a:spLocks noGrp="1"/>
          </p:cNvSpPr>
          <p:nvPr>
            <p:ph type="sldNum" sz="quarter" idx="12"/>
          </p:nvPr>
        </p:nvSpPr>
        <p:spPr/>
        <p:txBody>
          <a:bodyPr/>
          <a:lstStyle/>
          <a:p>
            <a:fld id="{26510230-8DD5-4BA5-AB2D-CA30FC08F9D7}" type="slidenum">
              <a:rPr lang="en-IN" smtClean="0"/>
              <a:t>3</a:t>
            </a:fld>
            <a:endParaRPr lang="en-IN"/>
          </a:p>
        </p:txBody>
      </p:sp>
      <p:pic>
        <p:nvPicPr>
          <p:cNvPr id="7" name="Picture 6" descr="A blue circle with text and words&#10;&#10;Description automatically generated">
            <a:extLst>
              <a:ext uri="{FF2B5EF4-FFF2-40B4-BE49-F238E27FC236}">
                <a16:creationId xmlns:a16="http://schemas.microsoft.com/office/drawing/2014/main" id="{A4DDE187-E81D-B835-E4CD-A2B8788BFA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3" name="Picture 2">
            <a:extLst>
              <a:ext uri="{FF2B5EF4-FFF2-40B4-BE49-F238E27FC236}">
                <a16:creationId xmlns:a16="http://schemas.microsoft.com/office/drawing/2014/main" id="{953114F5-F06B-4D82-5258-AB40ED145D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
        <p:nvSpPr>
          <p:cNvPr id="8" name="Footer Placeholder 2">
            <a:extLst>
              <a:ext uri="{FF2B5EF4-FFF2-40B4-BE49-F238E27FC236}">
                <a16:creationId xmlns:a16="http://schemas.microsoft.com/office/drawing/2014/main" id="{D00742DA-A15E-370F-4960-FC201051C1AD}"/>
              </a:ext>
            </a:extLst>
          </p:cNvPr>
          <p:cNvSpPr txBox="1">
            <a:spLocks/>
          </p:cNvSpPr>
          <p:nvPr/>
        </p:nvSpPr>
        <p:spPr>
          <a:xfrm>
            <a:off x="4191000" y="65087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Dr. Pooja Singh</a:t>
            </a:r>
          </a:p>
        </p:txBody>
      </p:sp>
      <p:sp>
        <p:nvSpPr>
          <p:cNvPr id="27" name="TextBox 26">
            <a:extLst>
              <a:ext uri="{FF2B5EF4-FFF2-40B4-BE49-F238E27FC236}">
                <a16:creationId xmlns:a16="http://schemas.microsoft.com/office/drawing/2014/main" id="{E7BC06CE-2C46-95D7-DB61-CFA9271BCEB8}"/>
              </a:ext>
            </a:extLst>
          </p:cNvPr>
          <p:cNvSpPr txBox="1"/>
          <p:nvPr/>
        </p:nvSpPr>
        <p:spPr>
          <a:xfrm>
            <a:off x="4453289" y="2598003"/>
            <a:ext cx="6379532" cy="830997"/>
          </a:xfrm>
          <a:prstGeom prst="rect">
            <a:avLst/>
          </a:prstGeom>
          <a:noFill/>
        </p:spPr>
        <p:txBody>
          <a:bodyPr wrap="square">
            <a:spAutoFit/>
          </a:bodyPr>
          <a:lstStyle>
            <a:defPPr>
              <a:defRPr lang="en-US"/>
            </a:defPPr>
          </a:lstStyle>
          <a:p>
            <a:r>
              <a:rPr lang="en-US" sz="2400" dirty="0">
                <a:latin typeface="Aptos" panose="020B0004020202020204" pitchFamily="34" charset="0"/>
                <a:cs typeface="Times New Roman" panose="02020603050405020304" pitchFamily="18" charset="0"/>
              </a:rPr>
              <a:t>3 Complexity Analysis of Recursive Algorithms using Master Theorem</a:t>
            </a:r>
          </a:p>
        </p:txBody>
      </p:sp>
      <p:sp>
        <p:nvSpPr>
          <p:cNvPr id="29" name="TextBox 28">
            <a:extLst>
              <a:ext uri="{FF2B5EF4-FFF2-40B4-BE49-F238E27FC236}">
                <a16:creationId xmlns:a16="http://schemas.microsoft.com/office/drawing/2014/main" id="{34EA8F67-DF36-4809-2DFC-349CEC4335BD}"/>
              </a:ext>
            </a:extLst>
          </p:cNvPr>
          <p:cNvSpPr txBox="1"/>
          <p:nvPr/>
        </p:nvSpPr>
        <p:spPr>
          <a:xfrm>
            <a:off x="4453288" y="4566706"/>
            <a:ext cx="6160291" cy="461665"/>
          </a:xfrm>
          <a:prstGeom prst="rect">
            <a:avLst/>
          </a:prstGeom>
          <a:noFill/>
        </p:spPr>
        <p:txBody>
          <a:bodyPr wrap="square">
            <a:spAutoFit/>
          </a:bodyPr>
          <a:lstStyle/>
          <a:p>
            <a:r>
              <a:rPr lang="en-US" sz="2400" dirty="0"/>
              <a:t>5 </a:t>
            </a:r>
            <a:r>
              <a:rPr lang="en-US" sz="2400" dirty="0">
                <a:latin typeface="Aptos" panose="020B0004020202020204" pitchFamily="34" charset="0"/>
              </a:rPr>
              <a:t>Conclusion</a:t>
            </a:r>
            <a:r>
              <a:rPr lang="en-US" sz="2400" dirty="0"/>
              <a:t> and post-session activity</a:t>
            </a:r>
            <a:endParaRPr lang="en-US" dirty="0"/>
          </a:p>
        </p:txBody>
      </p:sp>
      <p:sp>
        <p:nvSpPr>
          <p:cNvPr id="31" name="TextBox 30">
            <a:extLst>
              <a:ext uri="{FF2B5EF4-FFF2-40B4-BE49-F238E27FC236}">
                <a16:creationId xmlns:a16="http://schemas.microsoft.com/office/drawing/2014/main" id="{895570BB-961F-D8B9-B702-BEA24A807EEC}"/>
              </a:ext>
            </a:extLst>
          </p:cNvPr>
          <p:cNvSpPr txBox="1"/>
          <p:nvPr/>
        </p:nvSpPr>
        <p:spPr>
          <a:xfrm>
            <a:off x="4453288" y="3670285"/>
            <a:ext cx="6367276" cy="461665"/>
          </a:xfrm>
          <a:prstGeom prst="rect">
            <a:avLst/>
          </a:prstGeom>
          <a:noFill/>
        </p:spPr>
        <p:txBody>
          <a:bodyPr wrap="square">
            <a:spAutoFit/>
          </a:bodyPr>
          <a:lstStyle/>
          <a:p>
            <a:r>
              <a:rPr lang="en-ID" sz="2400" dirty="0">
                <a:latin typeface="Aptos" panose="020B0004020202020204" pitchFamily="34" charset="0"/>
              </a:rPr>
              <a:t>4 Reflection learning activity </a:t>
            </a:r>
          </a:p>
        </p:txBody>
      </p:sp>
    </p:spTree>
    <p:extLst>
      <p:ext uri="{BB962C8B-B14F-4D97-AF65-F5344CB8AC3E}">
        <p14:creationId xmlns:p14="http://schemas.microsoft.com/office/powerpoint/2010/main" val="1142559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txBox="1">
            <a:spLocks noGrp="1"/>
          </p:cNvSpPr>
          <p:nvPr>
            <p:ph type="title"/>
          </p:nvPr>
        </p:nvSpPr>
        <p:spPr>
          <a:xfrm>
            <a:off x="1003092" y="1051486"/>
            <a:ext cx="10515600" cy="4052840"/>
          </a:xfrm>
          <a:prstGeom prst="rect">
            <a:avLst/>
          </a:prstGeom>
          <a:noFill/>
          <a:ln>
            <a:noFill/>
          </a:ln>
        </p:spPr>
        <p:txBody>
          <a:bodyPr spcFirstLastPara="1" wrap="square" lIns="91425" tIns="45700" rIns="91425" bIns="45700" anchor="ctr" anchorCtr="0">
            <a:normAutofit fontScale="90000"/>
          </a:bodyPr>
          <a:lstStyle/>
          <a:p>
            <a:pPr lvl="0">
              <a:buSzPct val="100000"/>
            </a:pPr>
            <a:br>
              <a:rPr lang="en-US" dirty="0"/>
            </a:br>
            <a:br>
              <a:rPr lang="en-US" dirty="0"/>
            </a:br>
            <a:br>
              <a:rPr lang="en-US" dirty="0"/>
            </a:br>
            <a:br>
              <a:rPr lang="en-US" dirty="0"/>
            </a:br>
            <a:br>
              <a:rPr lang="en-US" dirty="0"/>
            </a:br>
            <a:br>
              <a:rPr lang="en-US" dirty="0"/>
            </a:br>
            <a:r>
              <a:rPr lang="en-US" dirty="0"/>
              <a:t>Review of the key concepts</a:t>
            </a:r>
            <a:br>
              <a:rPr lang="en-US" dirty="0"/>
            </a:br>
            <a:br>
              <a:rPr lang="en-US" dirty="0"/>
            </a:br>
            <a:r>
              <a:rPr lang="en-US" sz="3600" dirty="0"/>
              <a:t>1. </a:t>
            </a:r>
            <a:r>
              <a:rPr lang="en-US" sz="3600" b="1" dirty="0">
                <a:latin typeface="Georgia"/>
                <a:ea typeface="Georgia"/>
                <a:cs typeface="Georgia"/>
                <a:sym typeface="Georgia"/>
              </a:rPr>
              <a:t>Complexity Analysis of Non-Recursive Algorithms</a:t>
            </a:r>
            <a:br>
              <a:rPr lang="en-US" sz="3600" dirty="0"/>
            </a:br>
            <a:br>
              <a:rPr lang="en-US" sz="3600" dirty="0"/>
            </a:br>
            <a:r>
              <a:rPr lang="en-US" sz="3600" dirty="0"/>
              <a:t>2. Analyzing Non-Recursive Algorithms</a:t>
            </a:r>
            <a:br>
              <a:rPr lang="en-US" sz="3600" dirty="0"/>
            </a:br>
            <a:br>
              <a:rPr lang="en-US" dirty="0"/>
            </a:br>
            <a:br>
              <a:rPr lang="en-US" dirty="0"/>
            </a:br>
            <a:br>
              <a:rPr lang="en-US" dirty="0"/>
            </a:br>
            <a:r>
              <a:rPr lang="en-US" dirty="0"/>
              <a:t> </a:t>
            </a:r>
            <a:br>
              <a:rPr lang="en-US" dirty="0"/>
            </a:br>
            <a:endParaRPr dirty="0"/>
          </a:p>
        </p:txBody>
      </p:sp>
      <p:sp>
        <p:nvSpPr>
          <p:cNvPr id="98" name="Google Shape;9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99" name="Google Shape;9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pic>
        <p:nvPicPr>
          <p:cNvPr id="100" name="Google Shape;100;p2"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101" name="Google Shape;101;p2"/>
          <p:cNvPicPr preferRelativeResize="0"/>
          <p:nvPr/>
        </p:nvPicPr>
        <p:blipFill rotWithShape="1">
          <a:blip r:embed="rId4">
            <a:alphaModFix/>
          </a:blip>
          <a:srcRect/>
          <a:stretch/>
        </p:blipFill>
        <p:spPr>
          <a:xfrm>
            <a:off x="104932" y="114202"/>
            <a:ext cx="3795634" cy="740238"/>
          </a:xfrm>
          <a:prstGeom prst="rect">
            <a:avLst/>
          </a:prstGeom>
          <a:noFill/>
          <a:ln>
            <a:noFill/>
          </a:ln>
        </p:spPr>
      </p:pic>
    </p:spTree>
    <p:extLst>
      <p:ext uri="{BB962C8B-B14F-4D97-AF65-F5344CB8AC3E}">
        <p14:creationId xmlns:p14="http://schemas.microsoft.com/office/powerpoint/2010/main" val="19273997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
          <p:cNvSpPr txBox="1">
            <a:spLocks noGrp="1"/>
          </p:cNvSpPr>
          <p:nvPr>
            <p:ph type="title"/>
          </p:nvPr>
        </p:nvSpPr>
        <p:spPr>
          <a:xfrm>
            <a:off x="406630" y="461549"/>
            <a:ext cx="11378740" cy="6383635"/>
          </a:xfrm>
          <a:prstGeom prst="rect">
            <a:avLst/>
          </a:prstGeom>
          <a:noFill/>
          <a:ln>
            <a:noFill/>
          </a:ln>
        </p:spPr>
        <p:txBody>
          <a:bodyPr spcFirstLastPara="1" wrap="square" lIns="91425" tIns="45700" rIns="91425" bIns="45700" anchor="b" anchorCtr="0">
            <a:normAutofit fontScale="90000"/>
          </a:bodyPr>
          <a:lstStyle/>
          <a:p>
            <a:pPr lvl="0">
              <a:buSzPts val="3600"/>
            </a:pPr>
            <a:br>
              <a:rPr lang="en-US" sz="3600" dirty="0">
                <a:latin typeface="Arial"/>
                <a:ea typeface="Arial"/>
                <a:cs typeface="Arial"/>
                <a:sym typeface="Arial"/>
              </a:rPr>
            </a:br>
            <a:r>
              <a:rPr lang="en-US" sz="2700" dirty="0">
                <a:latin typeface="Arial"/>
                <a:ea typeface="Arial"/>
                <a:cs typeface="Arial"/>
                <a:sym typeface="Arial"/>
              </a:rPr>
              <a:t>🔹</a:t>
            </a:r>
            <a:r>
              <a:rPr lang="en-US" sz="2700" dirty="0">
                <a:solidFill>
                  <a:srgbClr val="FF0000"/>
                </a:solidFill>
                <a:latin typeface="Arial"/>
                <a:ea typeface="Arial"/>
                <a:cs typeface="Arial"/>
                <a:sym typeface="Arial"/>
              </a:rPr>
              <a:t>Conceptual &amp; Engaging </a:t>
            </a:r>
            <a:r>
              <a:rPr lang="en-US" sz="2700" dirty="0">
                <a:latin typeface="Arial"/>
                <a:ea typeface="Arial"/>
                <a:cs typeface="Arial"/>
                <a:sym typeface="Arial"/>
              </a:rPr>
              <a:t>“When we solve a problem by breaking it into smaller subproblems of the same type, how can we mathematically represent the total time it takes?”</a:t>
            </a:r>
            <a:br>
              <a:rPr lang="en-US" sz="2700" dirty="0">
                <a:latin typeface="Arial"/>
                <a:ea typeface="Arial"/>
                <a:cs typeface="Arial"/>
                <a:sym typeface="Arial"/>
              </a:rPr>
            </a:br>
            <a:br>
              <a:rPr lang="en-US" sz="2700" dirty="0">
                <a:latin typeface="Arial"/>
                <a:ea typeface="Arial"/>
                <a:cs typeface="Arial"/>
                <a:sym typeface="Arial"/>
              </a:rPr>
            </a:br>
            <a:r>
              <a:rPr lang="en-US" sz="2700" dirty="0">
                <a:latin typeface="Arial"/>
                <a:ea typeface="Arial"/>
                <a:cs typeface="Arial"/>
                <a:sym typeface="Arial"/>
              </a:rPr>
              <a:t>🔹 </a:t>
            </a:r>
            <a:r>
              <a:rPr lang="en-US" sz="2700" dirty="0">
                <a:solidFill>
                  <a:srgbClr val="FF0000"/>
                </a:solidFill>
                <a:latin typeface="Arial"/>
                <a:ea typeface="Arial"/>
                <a:cs typeface="Arial"/>
                <a:sym typeface="Arial"/>
              </a:rPr>
              <a:t>Real-Life Trigger Question </a:t>
            </a:r>
            <a:r>
              <a:rPr lang="en-US" sz="2700" dirty="0">
                <a:latin typeface="Arial"/>
                <a:ea typeface="Arial"/>
                <a:cs typeface="Arial"/>
                <a:sym typeface="Arial"/>
              </a:rPr>
              <a:t>"If a function calls itself multiple times, how do we predict whether it will finish quickly or take exponential time?”</a:t>
            </a:r>
            <a:br>
              <a:rPr lang="en-US" sz="2700" dirty="0">
                <a:latin typeface="Arial"/>
                <a:ea typeface="Arial"/>
                <a:cs typeface="Arial"/>
                <a:sym typeface="Arial"/>
              </a:rPr>
            </a:br>
            <a:br>
              <a:rPr lang="en-US" sz="2700" dirty="0">
                <a:latin typeface="Arial"/>
                <a:ea typeface="Arial"/>
                <a:cs typeface="Arial"/>
                <a:sym typeface="Arial"/>
              </a:rPr>
            </a:br>
            <a:r>
              <a:rPr lang="en-US" sz="2700" dirty="0">
                <a:latin typeface="Arial"/>
                <a:ea typeface="Arial"/>
                <a:cs typeface="Arial"/>
                <a:sym typeface="Arial"/>
              </a:rPr>
              <a:t>🔹 </a:t>
            </a:r>
            <a:r>
              <a:rPr lang="en-US" sz="2700" dirty="0">
                <a:solidFill>
                  <a:srgbClr val="FF0000"/>
                </a:solidFill>
                <a:latin typeface="Arial"/>
                <a:ea typeface="Arial"/>
                <a:cs typeface="Arial"/>
                <a:sym typeface="Arial"/>
              </a:rPr>
              <a:t>Analytical Thinking Question </a:t>
            </a:r>
            <a:r>
              <a:rPr lang="en-US" sz="2700" dirty="0">
                <a:latin typeface="Arial"/>
                <a:ea typeface="Arial"/>
                <a:cs typeface="Arial"/>
                <a:sym typeface="Arial"/>
              </a:rPr>
              <a:t>"Suppose an algorithm divides a problem into two smaller problems of half the size each time. How would you express its running time using a mathematical relation?”</a:t>
            </a:r>
            <a:br>
              <a:rPr lang="en-US" sz="2700" dirty="0">
                <a:latin typeface="Arial"/>
                <a:ea typeface="Arial"/>
                <a:cs typeface="Arial"/>
                <a:sym typeface="Arial"/>
              </a:rPr>
            </a:br>
            <a:br>
              <a:rPr lang="en-US" sz="2700" dirty="0">
                <a:latin typeface="Arial"/>
                <a:ea typeface="Arial"/>
                <a:cs typeface="Arial"/>
                <a:sym typeface="Arial"/>
              </a:rPr>
            </a:br>
            <a:r>
              <a:rPr lang="en-US" sz="2700" dirty="0">
                <a:latin typeface="Arial"/>
                <a:ea typeface="Arial"/>
                <a:cs typeface="Arial"/>
                <a:sym typeface="Arial"/>
              </a:rPr>
              <a:t>🔹 </a:t>
            </a:r>
            <a:r>
              <a:rPr lang="en-US" sz="2700" dirty="0">
                <a:solidFill>
                  <a:srgbClr val="FF0000"/>
                </a:solidFill>
                <a:latin typeface="Arial"/>
                <a:ea typeface="Arial"/>
                <a:cs typeface="Arial"/>
                <a:sym typeface="Arial"/>
              </a:rPr>
              <a:t>Simple Warm-Up Version </a:t>
            </a:r>
            <a:r>
              <a:rPr lang="en-US" sz="2700" dirty="0">
                <a:latin typeface="Arial"/>
                <a:ea typeface="Arial"/>
                <a:cs typeface="Arial"/>
                <a:sym typeface="Arial"/>
              </a:rPr>
              <a:t>"What happens to time complexity when a function calls itself again and again?”</a:t>
            </a:r>
            <a:br>
              <a:rPr lang="en-US" sz="2700" dirty="0"/>
            </a:br>
            <a:br>
              <a:rPr lang="en-US" dirty="0"/>
            </a:br>
            <a:endParaRPr dirty="0">
              <a:latin typeface="Cambria"/>
              <a:ea typeface="Cambria"/>
              <a:cs typeface="Cambria"/>
              <a:sym typeface="Cambria"/>
            </a:endParaRPr>
          </a:p>
        </p:txBody>
      </p:sp>
      <p:sp>
        <p:nvSpPr>
          <p:cNvPr id="107" name="Google Shape;107;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108" name="Google Shape;108;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pic>
        <p:nvPicPr>
          <p:cNvPr id="109" name="Google Shape;109;p3"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110" name="Google Shape;110;p3"/>
          <p:cNvPicPr preferRelativeResize="0"/>
          <p:nvPr/>
        </p:nvPicPr>
        <p:blipFill rotWithShape="1">
          <a:blip r:embed="rId4">
            <a:alphaModFix/>
          </a:blip>
          <a:srcRect/>
          <a:stretch/>
        </p:blipFill>
        <p:spPr>
          <a:xfrm>
            <a:off x="104932" y="114202"/>
            <a:ext cx="3795634" cy="740238"/>
          </a:xfrm>
          <a:prstGeom prst="rect">
            <a:avLst/>
          </a:prstGeom>
          <a:noFill/>
          <a:ln>
            <a:noFill/>
          </a:ln>
        </p:spPr>
      </p:pic>
      <p:pic>
        <p:nvPicPr>
          <p:cNvPr id="3" name="Picture 2">
            <a:extLst>
              <a:ext uri="{FF2B5EF4-FFF2-40B4-BE49-F238E27FC236}">
                <a16:creationId xmlns:a16="http://schemas.microsoft.com/office/drawing/2014/main" id="{C18503CB-113F-DEAA-3BAA-74BB2AFF3D01}"/>
              </a:ext>
            </a:extLst>
          </p:cNvPr>
          <p:cNvPicPr>
            <a:picLocks noChangeAspect="1"/>
          </p:cNvPicPr>
          <p:nvPr/>
        </p:nvPicPr>
        <p:blipFill>
          <a:blip r:embed="rId5"/>
          <a:stretch>
            <a:fillRect/>
          </a:stretch>
        </p:blipFill>
        <p:spPr>
          <a:xfrm>
            <a:off x="4557269" y="176754"/>
            <a:ext cx="4114800" cy="1121162"/>
          </a:xfrm>
          <a:prstGeom prst="rect">
            <a:avLst/>
          </a:prstGeom>
        </p:spPr>
      </p:pic>
    </p:spTree>
    <p:extLst>
      <p:ext uri="{BB962C8B-B14F-4D97-AF65-F5344CB8AC3E}">
        <p14:creationId xmlns:p14="http://schemas.microsoft.com/office/powerpoint/2010/main" val="2648809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106"/>
                                        </p:tgtEl>
                                        <p:attrNameLst>
                                          <p:attrName>style.visibility</p:attrName>
                                        </p:attrNameLst>
                                      </p:cBhvr>
                                      <p:to>
                                        <p:strVal val="visible"/>
                                      </p:to>
                                    </p:set>
                                    <p:animEffect transition="in" filter="fade">
                                      <p:cBhvr>
                                        <p:cTn id="7" dur="4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4">
            <a:extLst>
              <a:ext uri="{FF2B5EF4-FFF2-40B4-BE49-F238E27FC236}">
                <a16:creationId xmlns:a16="http://schemas.microsoft.com/office/drawing/2014/main" id="{05F9555E-F72F-4954-AC76-5860AAD84F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9459" y="1374267"/>
            <a:ext cx="6019800" cy="181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8" name="Slide Number Placeholder 3">
            <a:extLst>
              <a:ext uri="{FF2B5EF4-FFF2-40B4-BE49-F238E27FC236}">
                <a16:creationId xmlns:a16="http://schemas.microsoft.com/office/drawing/2014/main" id="{DCD34FD4-D026-4F34-AFA6-276F2666628D}"/>
              </a:ext>
            </a:extLst>
          </p:cNvPr>
          <p:cNvSpPr>
            <a:spLocks noGrp="1"/>
          </p:cNvSpPr>
          <p:nvPr>
            <p:ph type="sldNum" idx="12"/>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06C37FA-95AD-478C-A28F-9C51765F0307}" type="slidenum">
              <a:rPr lang="en-US" altLang="en-US" smtClean="0"/>
              <a:pPr/>
              <a:t>6</a:t>
            </a:fld>
            <a:endParaRPr lang="en-US" altLang="en-US"/>
          </a:p>
        </p:txBody>
      </p:sp>
      <p:pic>
        <p:nvPicPr>
          <p:cNvPr id="41989" name="Picture 2" descr="Recursion | UMW CPSC 220">
            <a:extLst>
              <a:ext uri="{FF2B5EF4-FFF2-40B4-BE49-F238E27FC236}">
                <a16:creationId xmlns:a16="http://schemas.microsoft.com/office/drawing/2014/main" id="{B952F3AC-C747-4436-8237-1EC56405CE47}"/>
              </a:ext>
            </a:extLst>
          </p:cNvPr>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bwMode="auto">
          <a:xfrm>
            <a:off x="2438400" y="3843728"/>
            <a:ext cx="7315200" cy="2362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09AAD129-1B1E-D6EE-1AF3-976C933BBC17}"/>
              </a:ext>
            </a:extLst>
          </p:cNvPr>
          <p:cNvPicPr>
            <a:picLocks noChangeAspect="1"/>
          </p:cNvPicPr>
          <p:nvPr/>
        </p:nvPicPr>
        <p:blipFill>
          <a:blip r:embed="rId4"/>
          <a:stretch>
            <a:fillRect/>
          </a:stretch>
        </p:blipFill>
        <p:spPr>
          <a:xfrm>
            <a:off x="240463" y="136525"/>
            <a:ext cx="3798137" cy="737680"/>
          </a:xfrm>
          <a:prstGeom prst="rect">
            <a:avLst/>
          </a:prstGeom>
        </p:spPr>
      </p:pic>
      <p:pic>
        <p:nvPicPr>
          <p:cNvPr id="3" name="Picture 2">
            <a:extLst>
              <a:ext uri="{FF2B5EF4-FFF2-40B4-BE49-F238E27FC236}">
                <a16:creationId xmlns:a16="http://schemas.microsoft.com/office/drawing/2014/main" id="{6B9C2C89-61C9-59FE-7FFB-60A2DFC58B75}"/>
              </a:ext>
            </a:extLst>
          </p:cNvPr>
          <p:cNvPicPr>
            <a:picLocks noChangeAspect="1"/>
          </p:cNvPicPr>
          <p:nvPr/>
        </p:nvPicPr>
        <p:blipFill>
          <a:blip r:embed="rId5"/>
          <a:stretch>
            <a:fillRect/>
          </a:stretch>
        </p:blipFill>
        <p:spPr>
          <a:xfrm>
            <a:off x="10640417" y="136525"/>
            <a:ext cx="1164437" cy="1005927"/>
          </a:xfrm>
          <a:prstGeom prst="rect">
            <a:avLst/>
          </a:prstGeom>
        </p:spPr>
      </p:pic>
    </p:spTree>
    <p:extLst>
      <p:ext uri="{BB962C8B-B14F-4D97-AF65-F5344CB8AC3E}">
        <p14:creationId xmlns:p14="http://schemas.microsoft.com/office/powerpoint/2010/main" val="1485058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7"/>
          <p:cNvSpPr txBox="1">
            <a:spLocks noGrp="1"/>
          </p:cNvSpPr>
          <p:nvPr>
            <p:ph type="title"/>
          </p:nvPr>
        </p:nvSpPr>
        <p:spPr>
          <a:xfrm>
            <a:off x="4420849"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dirty="0"/>
              <a:t>Definition</a:t>
            </a:r>
            <a:endParaRPr dirty="0"/>
          </a:p>
        </p:txBody>
      </p:sp>
      <mc:AlternateContent xmlns:mc="http://schemas.openxmlformats.org/markup-compatibility/2006" xmlns:a14="http://schemas.microsoft.com/office/drawing/2010/main">
        <mc:Choice Requires="a14">
          <p:sp>
            <p:nvSpPr>
              <p:cNvPr id="169" name="Google Shape;169;p7"/>
              <p:cNvSpPr txBox="1">
                <a:spLocks noGrp="1"/>
              </p:cNvSpPr>
              <p:nvPr>
                <p:ph type="body" idx="1"/>
              </p:nvPr>
            </p:nvSpPr>
            <p:spPr>
              <a:xfrm>
                <a:off x="838200" y="1257520"/>
                <a:ext cx="10515600" cy="5012532"/>
              </a:xfrm>
              <a:prstGeom prst="rect">
                <a:avLst/>
              </a:prstGeom>
              <a:noFill/>
              <a:ln>
                <a:noFill/>
              </a:ln>
            </p:spPr>
            <p:txBody>
              <a:bodyPr spcFirstLastPara="1" wrap="square" lIns="91425" tIns="45700" rIns="91425" bIns="45700" anchor="t" anchorCtr="0">
                <a:normAutofit fontScale="77500" lnSpcReduction="20000"/>
              </a:bodyPr>
              <a:lstStyle/>
              <a:p>
                <a:pPr>
                  <a:buNone/>
                </a:pPr>
                <a:r>
                  <a:rPr lang="en-ID" b="1" dirty="0"/>
                  <a:t>🔹 Analysis of Recursive Algorithms</a:t>
                </a:r>
              </a:p>
              <a:p>
                <a:pPr>
                  <a:buNone/>
                </a:pPr>
                <a:r>
                  <a:rPr lang="en-ID" dirty="0"/>
                  <a:t>The </a:t>
                </a:r>
                <a:r>
                  <a:rPr lang="en-ID" b="1" dirty="0"/>
                  <a:t>analysis of recursive algorithms</a:t>
                </a:r>
                <a:r>
                  <a:rPr lang="en-ID" dirty="0"/>
                  <a:t> is the process of determining the time and space complexity of an algorithm that solves a problem by calling itself on smaller subproblems. It involves expressing the running time in the form of a recurrence relation and solving it to determine its growth rate (Big-O complexity).</a:t>
                </a:r>
              </a:p>
              <a:p>
                <a:pPr>
                  <a:buNone/>
                </a:pPr>
                <a:endParaRPr lang="en-ID" dirty="0"/>
              </a:p>
              <a:p>
                <a:pPr>
                  <a:buNone/>
                </a:pPr>
                <a:r>
                  <a:rPr lang="en-ID" b="1" dirty="0"/>
                  <a:t>🔹 Recurrence Relation</a:t>
                </a:r>
              </a:p>
              <a:p>
                <a:pPr>
                  <a:buNone/>
                </a:pPr>
                <a:r>
                  <a:rPr lang="en-ID" dirty="0"/>
                  <a:t>A </a:t>
                </a:r>
                <a:r>
                  <a:rPr lang="en-ID" b="1" dirty="0"/>
                  <a:t>recurrence relation</a:t>
                </a:r>
                <a:r>
                  <a:rPr lang="en-ID" dirty="0"/>
                  <a:t> is a mathematical equation that defines the running time of a recursive algorithm in terms of its running time on smaller inputs. It expresses how the total work depends on the size of the subproblems and the work done outside the recursive calls.</a:t>
                </a:r>
              </a:p>
              <a:p>
                <a:pPr>
                  <a:buNone/>
                </a:pPr>
                <a:endParaRPr lang="en-ID" dirty="0"/>
              </a:p>
              <a:p>
                <a:pPr>
                  <a:buNone/>
                </a:pPr>
                <a:r>
                  <a:rPr lang="en-ID" dirty="0"/>
                  <a:t>Example:</a:t>
                </a:r>
              </a:p>
              <a:p>
                <a:pPr>
                  <a:buNone/>
                </a:pPr>
                <a14:m>
                  <m:oMathPara xmlns:m="http://schemas.openxmlformats.org/officeDocument/2006/math">
                    <m:oMathParaPr>
                      <m:jc m:val="centerGroup"/>
                    </m:oMathParaPr>
                    <m:oMath xmlns:m="http://schemas.openxmlformats.org/officeDocument/2006/math">
                      <m:r>
                        <a:rPr lang="en-ID" i="1">
                          <a:latin typeface="Cambria Math" panose="02040503050406030204" pitchFamily="18" charset="0"/>
                        </a:rPr>
                        <m:t>𝑇</m:t>
                      </m:r>
                      <m:d>
                        <m:dPr>
                          <m:ctrlPr>
                            <a:rPr lang="ar-AE" i="1">
                              <a:latin typeface="Cambria Math" panose="02040503050406030204" pitchFamily="18" charset="0"/>
                            </a:rPr>
                          </m:ctrlPr>
                        </m:dPr>
                        <m:e>
                          <m:r>
                            <a:rPr lang="ar-AE" i="1">
                              <a:latin typeface="Cambria Math" panose="02040503050406030204" pitchFamily="18" charset="0"/>
                            </a:rPr>
                            <m:t>𝑛</m:t>
                          </m:r>
                        </m:e>
                      </m:d>
                      <m:r>
                        <a:rPr lang="ar-AE" i="0">
                          <a:latin typeface="Cambria Math" panose="02040503050406030204" pitchFamily="18" charset="0"/>
                        </a:rPr>
                        <m:t>=</m:t>
                      </m:r>
                      <m:r>
                        <a:rPr lang="ar-AE" i="0">
                          <a:latin typeface="Cambria Math" panose="02040503050406030204" pitchFamily="18" charset="0"/>
                        </a:rPr>
                        <m:t>2</m:t>
                      </m:r>
                      <m:r>
                        <a:rPr lang="ar-AE" i="1">
                          <a:latin typeface="Cambria Math" panose="02040503050406030204" pitchFamily="18" charset="0"/>
                        </a:rPr>
                        <m:t>𝑇</m:t>
                      </m:r>
                      <m:d>
                        <m:dPr>
                          <m:ctrlPr>
                            <a:rPr lang="ar-AE" i="1">
                              <a:latin typeface="Cambria Math" panose="02040503050406030204" pitchFamily="18" charset="0"/>
                            </a:rPr>
                          </m:ctrlPr>
                        </m:dPr>
                        <m:e>
                          <m:r>
                            <a:rPr lang="ar-AE" i="1">
                              <a:latin typeface="Cambria Math" panose="02040503050406030204" pitchFamily="18" charset="0"/>
                            </a:rPr>
                            <m:t>𝑛</m:t>
                          </m:r>
                          <m:r>
                            <a:rPr lang="ar-AE" i="0">
                              <a:latin typeface="Cambria Math" panose="02040503050406030204" pitchFamily="18" charset="0"/>
                            </a:rPr>
                            <m:t>/</m:t>
                          </m:r>
                          <m:r>
                            <a:rPr lang="ar-AE" i="0">
                              <a:latin typeface="Cambria Math" panose="02040503050406030204" pitchFamily="18" charset="0"/>
                            </a:rPr>
                            <m:t>2</m:t>
                          </m:r>
                        </m:e>
                      </m:d>
                      <m:r>
                        <a:rPr lang="ar-AE" i="0">
                          <a:latin typeface="Cambria Math" panose="02040503050406030204" pitchFamily="18" charset="0"/>
                        </a:rPr>
                        <m:t>+</m:t>
                      </m:r>
                      <m:r>
                        <a:rPr lang="ar-AE" i="1">
                          <a:latin typeface="Cambria Math" panose="02040503050406030204" pitchFamily="18" charset="0"/>
                        </a:rPr>
                        <m:t>𝑛</m:t>
                      </m:r>
                    </m:oMath>
                  </m:oMathPara>
                </a14:m>
                <a:endParaRPr lang="ar-AE" dirty="0"/>
              </a:p>
              <a:p>
                <a:pPr>
                  <a:buNone/>
                </a:pPr>
                <a:r>
                  <a:rPr lang="en-ID" dirty="0"/>
                  <a:t>This represents an algorithm that divides a problem into two subproblems of size n</a:t>
                </a:r>
              </a:p>
              <a:p>
                <a:pPr marL="228600" lvl="0" indent="-50800" algn="just" rtl="0">
                  <a:lnSpc>
                    <a:spcPct val="90000"/>
                  </a:lnSpc>
                  <a:spcBef>
                    <a:spcPts val="1000"/>
                  </a:spcBef>
                  <a:spcAft>
                    <a:spcPts val="0"/>
                  </a:spcAft>
                  <a:buClr>
                    <a:schemeClr val="dk1"/>
                  </a:buClr>
                  <a:buSzPts val="2800"/>
                  <a:buNone/>
                </a:pPr>
                <a:endParaRPr dirty="0"/>
              </a:p>
              <a:p>
                <a:pPr marL="0" lvl="0" indent="0" algn="l" rtl="0">
                  <a:lnSpc>
                    <a:spcPct val="90000"/>
                  </a:lnSpc>
                  <a:spcBef>
                    <a:spcPts val="1000"/>
                  </a:spcBef>
                  <a:spcAft>
                    <a:spcPts val="0"/>
                  </a:spcAft>
                  <a:buClr>
                    <a:schemeClr val="dk1"/>
                  </a:buClr>
                  <a:buSzPts val="2800"/>
                  <a:buNone/>
                </a:pPr>
                <a:endParaRPr dirty="0"/>
              </a:p>
            </p:txBody>
          </p:sp>
        </mc:Choice>
        <mc:Fallback xmlns="">
          <p:sp>
            <p:nvSpPr>
              <p:cNvPr id="169" name="Google Shape;169;p7"/>
              <p:cNvSpPr txBox="1">
                <a:spLocks noGrp="1" noRot="1" noChangeAspect="1" noMove="1" noResize="1" noEditPoints="1" noAdjustHandles="1" noChangeArrowheads="1" noChangeShapeType="1" noTextEdit="1"/>
              </p:cNvSpPr>
              <p:nvPr>
                <p:ph type="body" idx="1"/>
              </p:nvPr>
            </p:nvSpPr>
            <p:spPr>
              <a:xfrm>
                <a:off x="838200" y="1257520"/>
                <a:ext cx="10515600" cy="5012532"/>
              </a:xfrm>
              <a:prstGeom prst="rect">
                <a:avLst/>
              </a:prstGeom>
              <a:blipFill>
                <a:blip r:embed="rId3"/>
                <a:stretch>
                  <a:fillRect r="-812" b="-972"/>
                </a:stretch>
              </a:blipFill>
              <a:ln>
                <a:noFill/>
              </a:ln>
            </p:spPr>
            <p:txBody>
              <a:bodyPr/>
              <a:lstStyle/>
              <a:p>
                <a:r>
                  <a:rPr lang="en-ID">
                    <a:noFill/>
                  </a:rPr>
                  <a:t> </a:t>
                </a:r>
              </a:p>
            </p:txBody>
          </p:sp>
        </mc:Fallback>
      </mc:AlternateContent>
      <p:sp>
        <p:nvSpPr>
          <p:cNvPr id="170" name="Google Shape;170;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171" name="Google Shape;171;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pic>
        <p:nvPicPr>
          <p:cNvPr id="2" name="Picture 1">
            <a:extLst>
              <a:ext uri="{FF2B5EF4-FFF2-40B4-BE49-F238E27FC236}">
                <a16:creationId xmlns:a16="http://schemas.microsoft.com/office/drawing/2014/main" id="{DD971DE6-CF5F-0242-5FAF-952C7D35AA9A}"/>
              </a:ext>
            </a:extLst>
          </p:cNvPr>
          <p:cNvPicPr>
            <a:picLocks noChangeAspect="1"/>
          </p:cNvPicPr>
          <p:nvPr/>
        </p:nvPicPr>
        <p:blipFill>
          <a:blip r:embed="rId4"/>
          <a:stretch>
            <a:fillRect/>
          </a:stretch>
        </p:blipFill>
        <p:spPr>
          <a:xfrm>
            <a:off x="240463" y="136525"/>
            <a:ext cx="3798137" cy="737680"/>
          </a:xfrm>
          <a:prstGeom prst="rect">
            <a:avLst/>
          </a:prstGeom>
        </p:spPr>
      </p:pic>
      <p:pic>
        <p:nvPicPr>
          <p:cNvPr id="3" name="Picture 2">
            <a:extLst>
              <a:ext uri="{FF2B5EF4-FFF2-40B4-BE49-F238E27FC236}">
                <a16:creationId xmlns:a16="http://schemas.microsoft.com/office/drawing/2014/main" id="{CFC89C07-ACEF-3DF0-DB88-21B6E012CD85}"/>
              </a:ext>
            </a:extLst>
          </p:cNvPr>
          <p:cNvPicPr>
            <a:picLocks noChangeAspect="1"/>
          </p:cNvPicPr>
          <p:nvPr/>
        </p:nvPicPr>
        <p:blipFill>
          <a:blip r:embed="rId5"/>
          <a:stretch>
            <a:fillRect/>
          </a:stretch>
        </p:blipFill>
        <p:spPr>
          <a:xfrm>
            <a:off x="10328223" y="136524"/>
            <a:ext cx="1165423" cy="1002727"/>
          </a:xfrm>
          <a:prstGeom prst="rect">
            <a:avLst/>
          </a:prstGeom>
        </p:spPr>
      </p:pic>
    </p:spTree>
    <p:extLst>
      <p:ext uri="{BB962C8B-B14F-4D97-AF65-F5344CB8AC3E}">
        <p14:creationId xmlns:p14="http://schemas.microsoft.com/office/powerpoint/2010/main" val="40423552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A8C55-729D-4C9F-BFE1-307A0FB9EFFB}"/>
              </a:ext>
            </a:extLst>
          </p:cNvPr>
          <p:cNvSpPr>
            <a:spLocks noGrp="1"/>
          </p:cNvSpPr>
          <p:nvPr>
            <p:ph type="title"/>
          </p:nvPr>
        </p:nvSpPr>
        <p:spPr>
          <a:xfrm>
            <a:off x="3371850" y="711119"/>
            <a:ext cx="7886700" cy="1325563"/>
          </a:xfrm>
        </p:spPr>
        <p:txBody>
          <a:bodyPr>
            <a:normAutofit fontScale="90000"/>
          </a:bodyPr>
          <a:lstStyle/>
          <a:p>
            <a:pPr algn="l"/>
            <a:br>
              <a:rPr lang="en-IN" sz="3200" b="1" dirty="0">
                <a:solidFill>
                  <a:srgbClr val="990000"/>
                </a:solidFill>
              </a:rPr>
            </a:br>
            <a:br>
              <a:rPr lang="en-IN" sz="3200" b="1" dirty="0">
                <a:solidFill>
                  <a:srgbClr val="990000"/>
                </a:solidFill>
              </a:rPr>
            </a:br>
            <a:r>
              <a:rPr lang="en-IN" sz="3200" b="1" dirty="0">
                <a:solidFill>
                  <a:srgbClr val="990000"/>
                </a:solidFill>
              </a:rPr>
              <a:t>Analyse Recursive algorithm</a:t>
            </a:r>
          </a:p>
        </p:txBody>
      </p:sp>
      <p:sp>
        <p:nvSpPr>
          <p:cNvPr id="3" name="Content Placeholder 2">
            <a:extLst>
              <a:ext uri="{FF2B5EF4-FFF2-40B4-BE49-F238E27FC236}">
                <a16:creationId xmlns:a16="http://schemas.microsoft.com/office/drawing/2014/main" id="{F5E6DA38-C160-4546-8091-CB3BDADCB02D}"/>
              </a:ext>
            </a:extLst>
          </p:cNvPr>
          <p:cNvSpPr>
            <a:spLocks noGrp="1"/>
          </p:cNvSpPr>
          <p:nvPr>
            <p:ph type="body" idx="1"/>
          </p:nvPr>
        </p:nvSpPr>
        <p:spPr>
          <a:xfrm>
            <a:off x="1892509" y="1797052"/>
            <a:ext cx="7886700" cy="4238624"/>
          </a:xfrm>
        </p:spPr>
        <p:txBody>
          <a:bodyPr/>
          <a:lstStyle/>
          <a:p>
            <a:pPr marL="114300" indent="0">
              <a:buNone/>
            </a:pPr>
            <a:endParaRPr lang="en-IN" dirty="0"/>
          </a:p>
          <a:p>
            <a:pPr marL="0" indent="0">
              <a:buNone/>
            </a:pPr>
            <a:r>
              <a:rPr lang="en-IN" dirty="0"/>
              <a:t> </a:t>
            </a:r>
          </a:p>
        </p:txBody>
      </p:sp>
      <p:sp>
        <p:nvSpPr>
          <p:cNvPr id="4" name="Slide Number Placeholder 3">
            <a:extLst>
              <a:ext uri="{FF2B5EF4-FFF2-40B4-BE49-F238E27FC236}">
                <a16:creationId xmlns:a16="http://schemas.microsoft.com/office/drawing/2014/main" id="{CB7EA55C-38B5-4494-B3AF-3DEFABB59EED}"/>
              </a:ext>
            </a:extLst>
          </p:cNvPr>
          <p:cNvSpPr>
            <a:spLocks noGrp="1"/>
          </p:cNvSpPr>
          <p:nvPr>
            <p:ph type="sldNum" idx="12"/>
          </p:nvPr>
        </p:nvSpPr>
        <p:spPr/>
        <p:txBody>
          <a:bodyPr/>
          <a:lstStyle/>
          <a:p>
            <a:pPr>
              <a:defRPr/>
            </a:pPr>
            <a:fld id="{0314B9FC-F7FA-4A5F-A68B-9084E75933A3}" type="slidenum">
              <a:rPr lang="en-US" altLang="en-US" smtClean="0"/>
              <a:pPr>
                <a:defRPr/>
              </a:pPr>
              <a:t>8</a:t>
            </a:fld>
            <a:endParaRPr lang="en-US" altLang="en-US" dirty="0"/>
          </a:p>
        </p:txBody>
      </p:sp>
      <p:sp>
        <p:nvSpPr>
          <p:cNvPr id="5" name="Rectangle: Rounded Corners 4">
            <a:extLst>
              <a:ext uri="{FF2B5EF4-FFF2-40B4-BE49-F238E27FC236}">
                <a16:creationId xmlns:a16="http://schemas.microsoft.com/office/drawing/2014/main" id="{6A06E0B1-E4F6-4E07-AFB8-A600FF30A521}"/>
              </a:ext>
            </a:extLst>
          </p:cNvPr>
          <p:cNvSpPr/>
          <p:nvPr/>
        </p:nvSpPr>
        <p:spPr>
          <a:xfrm>
            <a:off x="2247900" y="3048001"/>
            <a:ext cx="1638300" cy="1066799"/>
          </a:xfrm>
          <a:prstGeom prst="roundRect">
            <a:avLst/>
          </a:prstGeom>
          <a:solidFill>
            <a:srgbClr val="FFC000"/>
          </a:solidFill>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rtlCol="0" anchor="ctr"/>
          <a:lstStyle/>
          <a:p>
            <a:pPr algn="ctr"/>
            <a:r>
              <a:rPr lang="en-IN" dirty="0"/>
              <a:t>Recursive Program</a:t>
            </a:r>
          </a:p>
        </p:txBody>
      </p:sp>
      <p:sp>
        <p:nvSpPr>
          <p:cNvPr id="6" name="Arrow: Right 5">
            <a:extLst>
              <a:ext uri="{FF2B5EF4-FFF2-40B4-BE49-F238E27FC236}">
                <a16:creationId xmlns:a16="http://schemas.microsoft.com/office/drawing/2014/main" id="{96008E89-61AD-481D-B1B4-E15E1EB45D59}"/>
              </a:ext>
            </a:extLst>
          </p:cNvPr>
          <p:cNvSpPr/>
          <p:nvPr/>
        </p:nvSpPr>
        <p:spPr>
          <a:xfrm>
            <a:off x="3962400" y="3352800"/>
            <a:ext cx="609600" cy="457200"/>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dirty="0"/>
          </a:p>
        </p:txBody>
      </p:sp>
      <p:sp>
        <p:nvSpPr>
          <p:cNvPr id="7" name="Rectangle: Rounded Corners 6">
            <a:extLst>
              <a:ext uri="{FF2B5EF4-FFF2-40B4-BE49-F238E27FC236}">
                <a16:creationId xmlns:a16="http://schemas.microsoft.com/office/drawing/2014/main" id="{1F1F493B-2233-48E8-8BF3-F52280BCD943}"/>
              </a:ext>
            </a:extLst>
          </p:cNvPr>
          <p:cNvSpPr/>
          <p:nvPr/>
        </p:nvSpPr>
        <p:spPr>
          <a:xfrm>
            <a:off x="4648200" y="3124200"/>
            <a:ext cx="1638300" cy="990600"/>
          </a:xfrm>
          <a:prstGeom prst="roundRect">
            <a:avLst/>
          </a:prstGeom>
          <a:solidFill>
            <a:srgbClr val="FFC000"/>
          </a:solidFill>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rtlCol="0" anchor="ctr"/>
          <a:lstStyle/>
          <a:p>
            <a:pPr algn="ctr"/>
            <a:r>
              <a:rPr lang="en-IN" dirty="0"/>
              <a:t>Recurrence Relation</a:t>
            </a:r>
          </a:p>
        </p:txBody>
      </p:sp>
      <p:sp>
        <p:nvSpPr>
          <p:cNvPr id="8" name="Arrow: Right 7">
            <a:extLst>
              <a:ext uri="{FF2B5EF4-FFF2-40B4-BE49-F238E27FC236}">
                <a16:creationId xmlns:a16="http://schemas.microsoft.com/office/drawing/2014/main" id="{17517750-B9C4-4167-99DF-C9A8B906C3A4}"/>
              </a:ext>
            </a:extLst>
          </p:cNvPr>
          <p:cNvSpPr/>
          <p:nvPr/>
        </p:nvSpPr>
        <p:spPr>
          <a:xfrm>
            <a:off x="6400800" y="3352800"/>
            <a:ext cx="609600" cy="457200"/>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FF35C95C-B593-41B3-A93E-13A421D88295}"/>
              </a:ext>
            </a:extLst>
          </p:cNvPr>
          <p:cNvSpPr/>
          <p:nvPr/>
        </p:nvSpPr>
        <p:spPr>
          <a:xfrm>
            <a:off x="7315200" y="4953001"/>
            <a:ext cx="1981200" cy="762000"/>
          </a:xfrm>
          <a:prstGeom prst="roundRect">
            <a:avLst/>
          </a:prstGeom>
          <a:solidFill>
            <a:srgbClr val="92D050"/>
          </a:solidFill>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rtlCol="0" anchor="ctr"/>
          <a:lstStyle/>
          <a:p>
            <a:pPr algn="ctr"/>
            <a:r>
              <a:rPr lang="en-IN" dirty="0"/>
              <a:t>Time complexity </a:t>
            </a:r>
          </a:p>
        </p:txBody>
      </p:sp>
      <p:sp>
        <p:nvSpPr>
          <p:cNvPr id="10" name="Rectangle: Rounded Corners 9">
            <a:extLst>
              <a:ext uri="{FF2B5EF4-FFF2-40B4-BE49-F238E27FC236}">
                <a16:creationId xmlns:a16="http://schemas.microsoft.com/office/drawing/2014/main" id="{3A14C143-F643-4DAB-87DF-ACF4B7DCBE9B}"/>
              </a:ext>
            </a:extLst>
          </p:cNvPr>
          <p:cNvSpPr/>
          <p:nvPr/>
        </p:nvSpPr>
        <p:spPr>
          <a:xfrm>
            <a:off x="7086600" y="2866008"/>
            <a:ext cx="2438400" cy="1401192"/>
          </a:xfrm>
          <a:prstGeom prst="roundRect">
            <a:avLst/>
          </a:prstGeom>
          <a:solidFill>
            <a:srgbClr val="FFFF00"/>
          </a:solidFill>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rtlCol="0" anchor="ctr"/>
          <a:lstStyle/>
          <a:p>
            <a:r>
              <a:rPr lang="en-IN" sz="1400" dirty="0"/>
              <a:t>Solving Recurrences using</a:t>
            </a:r>
          </a:p>
          <a:p>
            <a:pPr marL="285750" indent="-285750">
              <a:buFont typeface="Wingdings" panose="05000000000000000000" pitchFamily="2" charset="2"/>
              <a:buChar char="§"/>
            </a:pPr>
            <a:r>
              <a:rPr lang="en-IN" sz="1400" dirty="0"/>
              <a:t>Substitution Method</a:t>
            </a:r>
          </a:p>
          <a:p>
            <a:pPr marL="285750" indent="-285750">
              <a:buFont typeface="Wingdings" panose="05000000000000000000" pitchFamily="2" charset="2"/>
              <a:buChar char="§"/>
            </a:pPr>
            <a:r>
              <a:rPr lang="en-IN" sz="1400" dirty="0"/>
              <a:t>Recursion tree method</a:t>
            </a:r>
          </a:p>
          <a:p>
            <a:pPr marL="285750" indent="-285750">
              <a:buFont typeface="Wingdings" panose="05000000000000000000" pitchFamily="2" charset="2"/>
              <a:buChar char="§"/>
            </a:pPr>
            <a:r>
              <a:rPr lang="en-IN" sz="1400" dirty="0"/>
              <a:t>Master Method etc.</a:t>
            </a:r>
          </a:p>
        </p:txBody>
      </p:sp>
      <p:sp>
        <p:nvSpPr>
          <p:cNvPr id="11" name="Arrow: Down 10">
            <a:extLst>
              <a:ext uri="{FF2B5EF4-FFF2-40B4-BE49-F238E27FC236}">
                <a16:creationId xmlns:a16="http://schemas.microsoft.com/office/drawing/2014/main" id="{6E11C1C8-F8F3-4B9F-9A4E-3F1DBC34E997}"/>
              </a:ext>
            </a:extLst>
          </p:cNvPr>
          <p:cNvSpPr/>
          <p:nvPr/>
        </p:nvSpPr>
        <p:spPr>
          <a:xfrm>
            <a:off x="8077200" y="4343401"/>
            <a:ext cx="381000" cy="533401"/>
          </a:xfrm>
          <a:prstGeom prst="down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pic>
        <p:nvPicPr>
          <p:cNvPr id="12" name="Picture 11">
            <a:extLst>
              <a:ext uri="{FF2B5EF4-FFF2-40B4-BE49-F238E27FC236}">
                <a16:creationId xmlns:a16="http://schemas.microsoft.com/office/drawing/2014/main" id="{E7EACD10-900E-5638-DB7F-A807FC2B5DB8}"/>
              </a:ext>
            </a:extLst>
          </p:cNvPr>
          <p:cNvPicPr>
            <a:picLocks noChangeAspect="1"/>
          </p:cNvPicPr>
          <p:nvPr/>
        </p:nvPicPr>
        <p:blipFill>
          <a:blip r:embed="rId2"/>
          <a:stretch>
            <a:fillRect/>
          </a:stretch>
        </p:blipFill>
        <p:spPr>
          <a:xfrm>
            <a:off x="10771581" y="146518"/>
            <a:ext cx="1164437" cy="1005927"/>
          </a:xfrm>
          <a:prstGeom prst="rect">
            <a:avLst/>
          </a:prstGeom>
        </p:spPr>
      </p:pic>
      <p:pic>
        <p:nvPicPr>
          <p:cNvPr id="13" name="Picture 12">
            <a:extLst>
              <a:ext uri="{FF2B5EF4-FFF2-40B4-BE49-F238E27FC236}">
                <a16:creationId xmlns:a16="http://schemas.microsoft.com/office/drawing/2014/main" id="{AB86A273-C2A2-3642-63C9-8696D0EE82EF}"/>
              </a:ext>
            </a:extLst>
          </p:cNvPr>
          <p:cNvPicPr>
            <a:picLocks noChangeAspect="1"/>
          </p:cNvPicPr>
          <p:nvPr/>
        </p:nvPicPr>
        <p:blipFill>
          <a:blip r:embed="rId3"/>
          <a:stretch>
            <a:fillRect/>
          </a:stretch>
        </p:blipFill>
        <p:spPr>
          <a:xfrm>
            <a:off x="345783" y="146518"/>
            <a:ext cx="3804234" cy="737680"/>
          </a:xfrm>
          <a:prstGeom prst="rect">
            <a:avLst/>
          </a:prstGeom>
        </p:spPr>
      </p:pic>
    </p:spTree>
    <p:extLst>
      <p:ext uri="{BB962C8B-B14F-4D97-AF65-F5344CB8AC3E}">
        <p14:creationId xmlns:p14="http://schemas.microsoft.com/office/powerpoint/2010/main" val="1119519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F90F60-86ED-48BF-BD8A-B6B000BE0062}"/>
                  </a:ext>
                </a:extLst>
              </p:cNvPr>
              <p:cNvSpPr>
                <a:spLocks noGrp="1"/>
              </p:cNvSpPr>
              <p:nvPr>
                <p:ph type="body" idx="1"/>
              </p:nvPr>
            </p:nvSpPr>
            <p:spPr>
              <a:xfrm>
                <a:off x="2057400" y="1524000"/>
                <a:ext cx="8229600" cy="5105400"/>
              </a:xfrm>
            </p:spPr>
            <p:txBody>
              <a:bodyPr/>
              <a:lstStyle/>
              <a:p>
                <a:pPr marL="0" indent="0">
                  <a:buNone/>
                </a:pPr>
                <a:r>
                  <a:rPr lang="en-IN" dirty="0"/>
                  <a:t>Example1:</a:t>
                </a:r>
              </a:p>
              <a:p>
                <a:pPr marL="0" indent="0">
                  <a:spcBef>
                    <a:spcPts val="0"/>
                  </a:spcBef>
                  <a:buNone/>
                </a:pPr>
                <a:endParaRPr lang="en-IN" sz="2000" dirty="0"/>
              </a:p>
              <a:p>
                <a:pPr marL="0" indent="0">
                  <a:spcBef>
                    <a:spcPts val="0"/>
                  </a:spcBef>
                  <a:buNone/>
                </a:pPr>
                <a14:m>
                  <m:oMath xmlns:m="http://schemas.openxmlformats.org/officeDocument/2006/math">
                    <m:r>
                      <a:rPr lang="en-IN" sz="2000" i="1">
                        <a:solidFill>
                          <a:srgbClr val="CC0000"/>
                        </a:solidFill>
                        <a:latin typeface="Cambria Math" panose="02040503050406030204" pitchFamily="18" charset="0"/>
                      </a:rPr>
                      <m:t>𝑣𝑜𝑖𝑑</m:t>
                    </m:r>
                    <m:r>
                      <a:rPr lang="en-IN" sz="2000" i="1">
                        <a:solidFill>
                          <a:srgbClr val="CC0000"/>
                        </a:solidFill>
                        <a:latin typeface="Cambria Math" panose="02040503050406030204" pitchFamily="18" charset="0"/>
                      </a:rPr>
                      <m:t> </m:t>
                    </m:r>
                    <m:r>
                      <a:rPr lang="en-IN" sz="2000" i="1">
                        <a:solidFill>
                          <a:srgbClr val="CC0000"/>
                        </a:solidFill>
                        <a:latin typeface="Cambria Math" panose="02040503050406030204" pitchFamily="18" charset="0"/>
                      </a:rPr>
                      <m:t>𝑓𝑢𝑛</m:t>
                    </m:r>
                    <m:d>
                      <m:dPr>
                        <m:ctrlPr>
                          <a:rPr lang="en-IN" sz="2000" i="1">
                            <a:solidFill>
                              <a:srgbClr val="CC0000"/>
                            </a:solidFill>
                            <a:latin typeface="Cambria Math" panose="02040503050406030204" pitchFamily="18" charset="0"/>
                          </a:rPr>
                        </m:ctrlPr>
                      </m:dPr>
                      <m:e>
                        <m:r>
                          <a:rPr lang="en-IN" sz="2000" i="1">
                            <a:solidFill>
                              <a:srgbClr val="CC0000"/>
                            </a:solidFill>
                            <a:latin typeface="Cambria Math" panose="02040503050406030204" pitchFamily="18" charset="0"/>
                          </a:rPr>
                          <m:t>𝑖𝑛𝑡</m:t>
                        </m:r>
                        <m:r>
                          <a:rPr lang="en-IN" sz="2000" i="1">
                            <a:solidFill>
                              <a:srgbClr val="CC0000"/>
                            </a:solidFill>
                            <a:latin typeface="Cambria Math" panose="02040503050406030204" pitchFamily="18" charset="0"/>
                          </a:rPr>
                          <m:t> </m:t>
                        </m:r>
                        <m:r>
                          <a:rPr lang="en-IN" sz="2000" i="1">
                            <a:solidFill>
                              <a:srgbClr val="CC0000"/>
                            </a:solidFill>
                            <a:latin typeface="Cambria Math" panose="02040503050406030204" pitchFamily="18" charset="0"/>
                          </a:rPr>
                          <m:t>𝑛</m:t>
                        </m:r>
                      </m:e>
                    </m:d>
                  </m:oMath>
                </a14:m>
                <a:r>
                  <a:rPr lang="en-IN" sz="2000" i="1" dirty="0">
                    <a:solidFill>
                      <a:srgbClr val="CC0000"/>
                    </a:solidFill>
                    <a:latin typeface="Cambria Math" panose="02040503050406030204" pitchFamily="18" charset="0"/>
                  </a:rPr>
                  <a:t>             </a:t>
                </a:r>
                <a:r>
                  <a:rPr lang="en-IN" sz="2000" dirty="0">
                    <a:latin typeface="Cambria Math" panose="02040503050406030204" pitchFamily="18" charset="0"/>
                  </a:rPr>
                  <a:t>------</a:t>
                </a:r>
                <a:r>
                  <a:rPr lang="en-IN" sz="2000" dirty="0">
                    <a:latin typeface="Cambria Math" panose="02040503050406030204" pitchFamily="18" charset="0"/>
                    <a:sym typeface="Wingdings" panose="05000000000000000000" pitchFamily="2" charset="2"/>
                  </a:rPr>
                  <a:t> T(n)</a:t>
                </a:r>
                <a:endParaRPr lang="en-IN" sz="2000" dirty="0">
                  <a:latin typeface="Cambria Math" panose="02040503050406030204" pitchFamily="18" charset="0"/>
                </a:endParaRPr>
              </a:p>
              <a:p>
                <a:pPr marL="0" indent="0">
                  <a:spcBef>
                    <a:spcPts val="0"/>
                  </a:spcBef>
                  <a:buNone/>
                </a:pPr>
                <a14:m>
                  <m:oMathPara xmlns:m="http://schemas.openxmlformats.org/officeDocument/2006/math">
                    <m:oMathParaPr>
                      <m:jc m:val="left"/>
                    </m:oMathParaPr>
                    <m:oMath xmlns:m="http://schemas.openxmlformats.org/officeDocument/2006/math">
                      <m:r>
                        <a:rPr lang="en-IN" sz="2000" i="1">
                          <a:solidFill>
                            <a:srgbClr val="CC0000"/>
                          </a:solidFill>
                          <a:latin typeface="Cambria Math" panose="02040503050406030204" pitchFamily="18" charset="0"/>
                        </a:rPr>
                        <m:t>{ </m:t>
                      </m:r>
                    </m:oMath>
                  </m:oMathPara>
                </a14:m>
                <a:endParaRPr lang="en-IN" sz="2000" i="1" dirty="0">
                  <a:solidFill>
                    <a:srgbClr val="CC0000"/>
                  </a:solidFill>
                  <a:latin typeface="Cambria Math" panose="02040503050406030204" pitchFamily="18" charset="0"/>
                </a:endParaRPr>
              </a:p>
              <a:p>
                <a:pPr marL="0" indent="0">
                  <a:spcBef>
                    <a:spcPts val="0"/>
                  </a:spcBef>
                  <a:buNone/>
                </a:pPr>
                <a:r>
                  <a:rPr lang="en-IN" sz="2000" dirty="0">
                    <a:solidFill>
                      <a:srgbClr val="CC0000"/>
                    </a:solidFill>
                  </a:rPr>
                  <a:t>  </a:t>
                </a:r>
                <a14:m>
                  <m:oMath xmlns:m="http://schemas.openxmlformats.org/officeDocument/2006/math">
                    <m:r>
                      <a:rPr lang="en-IN" sz="2000" i="1">
                        <a:solidFill>
                          <a:srgbClr val="CC0000"/>
                        </a:solidFill>
                        <a:latin typeface="Cambria Math" panose="02040503050406030204" pitchFamily="18" charset="0"/>
                      </a:rPr>
                      <m:t>𝑖𝑓</m:t>
                    </m:r>
                    <m:d>
                      <m:dPr>
                        <m:ctrlPr>
                          <a:rPr lang="en-IN" sz="2000" i="1">
                            <a:solidFill>
                              <a:srgbClr val="CC0000"/>
                            </a:solidFill>
                            <a:latin typeface="Cambria Math" panose="02040503050406030204" pitchFamily="18" charset="0"/>
                          </a:rPr>
                        </m:ctrlPr>
                      </m:dPr>
                      <m:e>
                        <m:r>
                          <a:rPr lang="en-IN" sz="2000" i="1">
                            <a:solidFill>
                              <a:srgbClr val="CC0000"/>
                            </a:solidFill>
                            <a:latin typeface="Cambria Math" panose="02040503050406030204" pitchFamily="18" charset="0"/>
                          </a:rPr>
                          <m:t>𝑛</m:t>
                        </m:r>
                        <m:r>
                          <a:rPr lang="en-IN" sz="2000" i="1">
                            <a:solidFill>
                              <a:srgbClr val="CC0000"/>
                            </a:solidFill>
                            <a:latin typeface="Cambria Math" panose="02040503050406030204" pitchFamily="18" charset="0"/>
                          </a:rPr>
                          <m:t>&gt;0</m:t>
                        </m:r>
                      </m:e>
                    </m:d>
                  </m:oMath>
                </a14:m>
                <a:endParaRPr lang="en-IN" sz="2000" i="1" dirty="0">
                  <a:solidFill>
                    <a:srgbClr val="CC0000"/>
                  </a:solidFill>
                  <a:latin typeface="Cambria Math" panose="02040503050406030204" pitchFamily="18" charset="0"/>
                </a:endParaRPr>
              </a:p>
              <a:p>
                <a:pPr marL="0" indent="0">
                  <a:spcBef>
                    <a:spcPts val="0"/>
                  </a:spcBef>
                  <a:buNone/>
                </a:pPr>
                <a:r>
                  <a:rPr lang="en-IN" sz="2000" dirty="0">
                    <a:solidFill>
                      <a:srgbClr val="CC0000"/>
                    </a:solidFill>
                  </a:rPr>
                  <a:t>   </a:t>
                </a:r>
                <a14:m>
                  <m:oMath xmlns:m="http://schemas.openxmlformats.org/officeDocument/2006/math">
                    <m:r>
                      <a:rPr lang="en-IN" sz="2000" i="1">
                        <a:solidFill>
                          <a:srgbClr val="CC0000"/>
                        </a:solidFill>
                        <a:latin typeface="Cambria Math" panose="02040503050406030204" pitchFamily="18" charset="0"/>
                      </a:rPr>
                      <m:t>{ </m:t>
                    </m:r>
                  </m:oMath>
                </a14:m>
                <a:endParaRPr lang="en-IN" sz="2000" i="1" dirty="0">
                  <a:solidFill>
                    <a:srgbClr val="CC0000"/>
                  </a:solidFill>
                  <a:latin typeface="Cambria Math" panose="02040503050406030204" pitchFamily="18" charset="0"/>
                </a:endParaRPr>
              </a:p>
              <a:p>
                <a:pPr marL="0" indent="0">
                  <a:spcBef>
                    <a:spcPts val="0"/>
                  </a:spcBef>
                  <a:buNone/>
                </a:pPr>
                <a:r>
                  <a:rPr lang="en-IN" sz="2000" dirty="0">
                    <a:solidFill>
                      <a:srgbClr val="CC0000"/>
                    </a:solidFill>
                  </a:rPr>
                  <a:t>      </a:t>
                </a:r>
                <a14:m>
                  <m:oMath xmlns:m="http://schemas.openxmlformats.org/officeDocument/2006/math">
                    <m:r>
                      <a:rPr lang="en-IN" sz="2000" i="1">
                        <a:solidFill>
                          <a:srgbClr val="CC0000"/>
                        </a:solidFill>
                        <a:latin typeface="Cambria Math" panose="02040503050406030204" pitchFamily="18" charset="0"/>
                      </a:rPr>
                      <m:t>𝑝𝑟𝑖𝑛𝑡𝑓</m:t>
                    </m:r>
                    <m:r>
                      <a:rPr lang="en-IN" sz="2000" i="1">
                        <a:solidFill>
                          <a:srgbClr val="CC0000"/>
                        </a:solidFill>
                        <a:latin typeface="Cambria Math" panose="02040503050406030204" pitchFamily="18" charset="0"/>
                      </a:rPr>
                      <m:t>(</m:t>
                    </m:r>
                    <m:r>
                      <m:rPr>
                        <m:nor/>
                      </m:rPr>
                      <a:rPr lang="en-IN" sz="2000">
                        <a:solidFill>
                          <a:srgbClr val="CC0000"/>
                        </a:solidFill>
                        <a:latin typeface="Cambria Math" panose="02040503050406030204" pitchFamily="18" charset="0"/>
                      </a:rPr>
                      <m:t>"</m:t>
                    </m:r>
                    <m:r>
                      <m:rPr>
                        <m:nor/>
                      </m:rPr>
                      <a:rPr lang="en-IN" sz="2000">
                        <a:solidFill>
                          <a:srgbClr val="CC0000"/>
                        </a:solidFill>
                        <a:latin typeface="Cambria Math" panose="02040503050406030204" pitchFamily="18" charset="0"/>
                      </a:rPr>
                      <m:t>Amity</m:t>
                    </m:r>
                    <m:r>
                      <a:rPr lang="en-IN" sz="2000" i="1">
                        <a:solidFill>
                          <a:srgbClr val="CC0000"/>
                        </a:solidFill>
                        <a:latin typeface="Cambria Math" panose="02040503050406030204" pitchFamily="18" charset="0"/>
                      </a:rPr>
                      <m:t>"); </m:t>
                    </m:r>
                  </m:oMath>
                </a14:m>
                <a:r>
                  <a:rPr lang="en-IN" sz="2000" i="1" dirty="0">
                    <a:solidFill>
                      <a:srgbClr val="CC0000"/>
                    </a:solidFill>
                    <a:latin typeface="Cambria Math" panose="02040503050406030204" pitchFamily="18" charset="0"/>
                  </a:rPr>
                  <a:t>   </a:t>
                </a:r>
                <a:r>
                  <a:rPr lang="en-IN" sz="2000" dirty="0">
                    <a:latin typeface="Cambria Math" panose="02040503050406030204" pitchFamily="18" charset="0"/>
                  </a:rPr>
                  <a:t>-----</a:t>
                </a:r>
                <a:r>
                  <a:rPr lang="en-IN" sz="2000" dirty="0">
                    <a:latin typeface="Cambria Math" panose="02040503050406030204" pitchFamily="18" charset="0"/>
                    <a:sym typeface="Wingdings" panose="05000000000000000000" pitchFamily="2" charset="2"/>
                  </a:rPr>
                  <a:t> 1 unit</a:t>
                </a:r>
                <a:endParaRPr lang="en-IN" sz="2000" dirty="0">
                  <a:latin typeface="Cambria Math" panose="02040503050406030204" pitchFamily="18" charset="0"/>
                </a:endParaRPr>
              </a:p>
              <a:p>
                <a:pPr marL="0" indent="0">
                  <a:spcBef>
                    <a:spcPts val="0"/>
                  </a:spcBef>
                  <a:buNone/>
                </a:pPr>
                <a:r>
                  <a:rPr lang="en-IN" sz="2000" dirty="0">
                    <a:solidFill>
                      <a:srgbClr val="CC0000"/>
                    </a:solidFill>
                  </a:rPr>
                  <a:t>      </a:t>
                </a:r>
                <a14:m>
                  <m:oMath xmlns:m="http://schemas.openxmlformats.org/officeDocument/2006/math">
                    <m:r>
                      <a:rPr lang="en-IN" sz="2000" i="1">
                        <a:solidFill>
                          <a:srgbClr val="CC0000"/>
                        </a:solidFill>
                        <a:latin typeface="Cambria Math" panose="02040503050406030204" pitchFamily="18" charset="0"/>
                      </a:rPr>
                      <m:t>𝑓𝑢𝑛</m:t>
                    </m:r>
                    <m:d>
                      <m:dPr>
                        <m:ctrlPr>
                          <a:rPr lang="en-IN" sz="2000" i="1">
                            <a:solidFill>
                              <a:srgbClr val="CC0000"/>
                            </a:solidFill>
                            <a:latin typeface="Cambria Math" panose="02040503050406030204" pitchFamily="18" charset="0"/>
                          </a:rPr>
                        </m:ctrlPr>
                      </m:dPr>
                      <m:e>
                        <m:r>
                          <a:rPr lang="en-IN" sz="2000" i="1">
                            <a:solidFill>
                              <a:srgbClr val="CC0000"/>
                            </a:solidFill>
                            <a:latin typeface="Cambria Math" panose="02040503050406030204" pitchFamily="18" charset="0"/>
                          </a:rPr>
                          <m:t>𝑛</m:t>
                        </m:r>
                        <m:r>
                          <a:rPr lang="en-IN" sz="2000" i="1">
                            <a:solidFill>
                              <a:srgbClr val="CC0000"/>
                            </a:solidFill>
                            <a:latin typeface="Cambria Math" panose="02040503050406030204" pitchFamily="18" charset="0"/>
                          </a:rPr>
                          <m:t>−1</m:t>
                        </m:r>
                      </m:e>
                    </m:d>
                    <m:r>
                      <a:rPr lang="en-IN" sz="2000" i="1">
                        <a:solidFill>
                          <a:srgbClr val="CC0000"/>
                        </a:solidFill>
                        <a:latin typeface="Cambria Math" panose="02040503050406030204" pitchFamily="18" charset="0"/>
                      </a:rPr>
                      <m:t>;</m:t>
                    </m:r>
                  </m:oMath>
                </a14:m>
                <a:r>
                  <a:rPr lang="en-IN" sz="2000" i="1" dirty="0">
                    <a:solidFill>
                      <a:srgbClr val="CC0000"/>
                    </a:solidFill>
                    <a:latin typeface="Cambria Math" panose="02040503050406030204" pitchFamily="18" charset="0"/>
                  </a:rPr>
                  <a:t>               </a:t>
                </a:r>
                <a:r>
                  <a:rPr lang="en-IN" sz="2000" dirty="0">
                    <a:latin typeface="Cambria Math" panose="02040503050406030204" pitchFamily="18" charset="0"/>
                  </a:rPr>
                  <a:t>-----</a:t>
                </a:r>
                <a:r>
                  <a:rPr lang="en-IN" sz="2000" dirty="0">
                    <a:latin typeface="Cambria Math" panose="02040503050406030204" pitchFamily="18" charset="0"/>
                    <a:sym typeface="Wingdings" panose="05000000000000000000" pitchFamily="2" charset="2"/>
                  </a:rPr>
                  <a:t> T(n-1)</a:t>
                </a:r>
                <a:endParaRPr lang="en-IN" sz="2000" dirty="0">
                  <a:latin typeface="Cambria Math" panose="02040503050406030204" pitchFamily="18" charset="0"/>
                </a:endParaRPr>
              </a:p>
              <a:p>
                <a:pPr marL="0" indent="0">
                  <a:spcBef>
                    <a:spcPts val="0"/>
                  </a:spcBef>
                  <a:buNone/>
                </a:pPr>
                <a:r>
                  <a:rPr lang="en-IN" sz="2000" dirty="0">
                    <a:solidFill>
                      <a:srgbClr val="CC0000"/>
                    </a:solidFill>
                  </a:rPr>
                  <a:t>   </a:t>
                </a:r>
                <a14:m>
                  <m:oMath xmlns:m="http://schemas.openxmlformats.org/officeDocument/2006/math">
                    <m:r>
                      <a:rPr lang="en-IN" sz="2000">
                        <a:solidFill>
                          <a:srgbClr val="CC0000"/>
                        </a:solidFill>
                        <a:latin typeface="Cambria Math" panose="02040503050406030204" pitchFamily="18" charset="0"/>
                      </a:rPr>
                      <m:t> }</m:t>
                    </m:r>
                  </m:oMath>
                </a14:m>
                <a:endParaRPr lang="en-IN" sz="2000" dirty="0">
                  <a:solidFill>
                    <a:srgbClr val="CC0000"/>
                  </a:solidFill>
                  <a:latin typeface="Cambria Math" panose="02040503050406030204" pitchFamily="18" charset="0"/>
                </a:endParaRPr>
              </a:p>
              <a:p>
                <a:pPr marL="0" indent="0">
                  <a:spcBef>
                    <a:spcPts val="0"/>
                  </a:spcBef>
                  <a:buNone/>
                </a:pPr>
                <a14:m>
                  <m:oMath xmlns:m="http://schemas.openxmlformats.org/officeDocument/2006/math">
                    <m:r>
                      <a:rPr lang="en-IN" sz="2000">
                        <a:solidFill>
                          <a:srgbClr val="CC0000"/>
                        </a:solidFill>
                        <a:latin typeface="Cambria Math" panose="02040503050406030204" pitchFamily="18" charset="0"/>
                      </a:rPr>
                      <m:t> }</m:t>
                    </m:r>
                  </m:oMath>
                </a14:m>
                <a:r>
                  <a:rPr lang="en-IN" sz="2000" dirty="0">
                    <a:solidFill>
                      <a:srgbClr val="CC0000"/>
                    </a:solidFill>
                  </a:rPr>
                  <a:t>                            </a:t>
                </a:r>
                <a:r>
                  <a:rPr lang="en-IN" sz="2000" dirty="0"/>
                  <a:t>----------------------------</a:t>
                </a:r>
              </a:p>
              <a:p>
                <a:pPr marL="0" indent="0">
                  <a:buNone/>
                </a:pPr>
                <a:r>
                  <a:rPr lang="en-IN" sz="2000" dirty="0"/>
                  <a:t>                                      T(n)=T(n-1)+1</a:t>
                </a:r>
              </a:p>
              <a:p>
                <a:pPr marL="0" indent="0">
                  <a:buNone/>
                </a:pPr>
                <a:r>
                  <a:rPr lang="en-IN" sz="2000" dirty="0"/>
                  <a:t>Recurrence relation:</a:t>
                </a:r>
              </a:p>
            </p:txBody>
          </p:sp>
        </mc:Choice>
        <mc:Fallback xmlns="">
          <p:sp>
            <p:nvSpPr>
              <p:cNvPr id="3" name="Content Placeholder 2">
                <a:extLst>
                  <a:ext uri="{FF2B5EF4-FFF2-40B4-BE49-F238E27FC236}">
                    <a16:creationId xmlns:a16="http://schemas.microsoft.com/office/drawing/2014/main" id="{6CF90F60-86ED-48BF-BD8A-B6B000BE0062}"/>
                  </a:ext>
                </a:extLst>
              </p:cNvPr>
              <p:cNvSpPr>
                <a:spLocks noGrp="1" noRot="1" noChangeAspect="1" noMove="1" noResize="1" noEditPoints="1" noAdjustHandles="1" noChangeArrowheads="1" noChangeShapeType="1" noTextEdit="1"/>
              </p:cNvSpPr>
              <p:nvPr>
                <p:ph idx="1"/>
              </p:nvPr>
            </p:nvSpPr>
            <p:spPr>
              <a:xfrm>
                <a:off x="2057400" y="1524000"/>
                <a:ext cx="8229600" cy="5105400"/>
              </a:xfrm>
              <a:blipFill>
                <a:blip r:embed="rId2"/>
                <a:stretch>
                  <a:fillRect l="-1556" t="-1909"/>
                </a:stretch>
              </a:blipFill>
            </p:spPr>
            <p:txBody>
              <a:bodyPr/>
              <a:lstStyle/>
              <a:p>
                <a:r>
                  <a:rPr lang="en-ID">
                    <a:noFill/>
                  </a:rPr>
                  <a:t> </a:t>
                </a:r>
              </a:p>
            </p:txBody>
          </p:sp>
        </mc:Fallback>
      </mc:AlternateContent>
      <p:sp>
        <p:nvSpPr>
          <p:cNvPr id="4" name="Slide Number Placeholder 3">
            <a:extLst>
              <a:ext uri="{FF2B5EF4-FFF2-40B4-BE49-F238E27FC236}">
                <a16:creationId xmlns:a16="http://schemas.microsoft.com/office/drawing/2014/main" id="{4F0F405B-1F48-4C4A-96FC-F2A898F2A9F6}"/>
              </a:ext>
            </a:extLst>
          </p:cNvPr>
          <p:cNvSpPr>
            <a:spLocks noGrp="1"/>
          </p:cNvSpPr>
          <p:nvPr>
            <p:ph type="sldNum" idx="12"/>
          </p:nvPr>
        </p:nvSpPr>
        <p:spPr/>
        <p:txBody>
          <a:bodyPr/>
          <a:lstStyle/>
          <a:p>
            <a:pPr>
              <a:defRPr/>
            </a:pPr>
            <a:fld id="{0314B9FC-F7FA-4A5F-A68B-9084E75933A3}" type="slidenum">
              <a:rPr lang="en-US" altLang="en-US" smtClean="0"/>
              <a:pPr>
                <a:defRPr/>
              </a:pPr>
              <a:t>9</a:t>
            </a:fld>
            <a:endParaRPr lang="en-US" alt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FFF53F7-0FEB-490A-A39B-95FDE6BF604C}"/>
                  </a:ext>
                </a:extLst>
              </p:cNvPr>
              <p:cNvSpPr txBox="1"/>
              <p:nvPr/>
            </p:nvSpPr>
            <p:spPr>
              <a:xfrm>
                <a:off x="2743200" y="5806017"/>
                <a:ext cx="3810000" cy="71019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𝑇</m:t>
                      </m:r>
                      <m:d>
                        <m:dPr>
                          <m:ctrlPr>
                            <a:rPr lang="en-IN" i="1">
                              <a:latin typeface="Cambria Math" panose="02040503050406030204" pitchFamily="18" charset="0"/>
                            </a:rPr>
                          </m:ctrlPr>
                        </m:dPr>
                        <m:e>
                          <m:r>
                            <a:rPr lang="en-IN" i="1">
                              <a:latin typeface="Cambria Math" panose="02040503050406030204" pitchFamily="18" charset="0"/>
                            </a:rPr>
                            <m:t>𝑛</m:t>
                          </m:r>
                        </m:e>
                      </m:d>
                      <m:r>
                        <a:rPr lang="en-IN" i="1">
                          <a:latin typeface="Cambria Math" panose="02040503050406030204" pitchFamily="18" charset="0"/>
                        </a:rPr>
                        <m:t>=</m:t>
                      </m:r>
                      <m:d>
                        <m:dPr>
                          <m:begChr m:val="{"/>
                          <m:endChr m:val=""/>
                          <m:ctrlPr>
                            <a:rPr lang="en-IN" i="1">
                              <a:latin typeface="Cambria Math" panose="02040503050406030204" pitchFamily="18" charset="0"/>
                            </a:rPr>
                          </m:ctrlPr>
                        </m:dPr>
                        <m:e>
                          <m:eqArr>
                            <m:eqArrPr>
                              <m:ctrlPr>
                                <a:rPr lang="en-IN" i="1">
                                  <a:latin typeface="Cambria Math" panose="02040503050406030204" pitchFamily="18" charset="0"/>
                                </a:rPr>
                              </m:ctrlPr>
                            </m:eqArrPr>
                            <m:e>
                              <m:r>
                                <a:rPr lang="en-IN" i="1">
                                  <a:latin typeface="Cambria Math" panose="02040503050406030204" pitchFamily="18" charset="0"/>
                                </a:rPr>
                                <m:t>1                       </m:t>
                              </m:r>
                              <m:r>
                                <a:rPr lang="en-IN" i="1">
                                  <a:latin typeface="Cambria Math" panose="02040503050406030204" pitchFamily="18" charset="0"/>
                                </a:rPr>
                                <m:t>𝑛</m:t>
                              </m:r>
                              <m:r>
                                <a:rPr lang="en-IN" i="1">
                                  <a:latin typeface="Cambria Math" panose="02040503050406030204" pitchFamily="18" charset="0"/>
                                </a:rPr>
                                <m:t>=0             </m:t>
                              </m:r>
                            </m:e>
                            <m:e>
                              <m:r>
                                <a:rPr lang="en-IN" i="1">
                                  <a:latin typeface="Cambria Math" panose="02040503050406030204" pitchFamily="18" charset="0"/>
                                </a:rPr>
                                <m:t>𝑇</m:t>
                              </m:r>
                              <m:d>
                                <m:dPr>
                                  <m:ctrlPr>
                                    <a:rPr lang="en-IN" i="1">
                                      <a:latin typeface="Cambria Math" panose="02040503050406030204" pitchFamily="18" charset="0"/>
                                    </a:rPr>
                                  </m:ctrlPr>
                                </m:dPr>
                                <m:e>
                                  <m:r>
                                    <a:rPr lang="en-IN" i="1">
                                      <a:latin typeface="Cambria Math" panose="02040503050406030204" pitchFamily="18" charset="0"/>
                                    </a:rPr>
                                    <m:t>𝑛</m:t>
                                  </m:r>
                                  <m:r>
                                    <a:rPr lang="en-IN" i="1">
                                      <a:latin typeface="Cambria Math" panose="02040503050406030204" pitchFamily="18" charset="0"/>
                                    </a:rPr>
                                    <m:t>−1</m:t>
                                  </m:r>
                                </m:e>
                              </m:d>
                              <m:r>
                                <a:rPr lang="en-IN" i="1">
                                  <a:latin typeface="Cambria Math" panose="02040503050406030204" pitchFamily="18" charset="0"/>
                                </a:rPr>
                                <m:t>+1             </m:t>
                              </m:r>
                              <m:r>
                                <a:rPr lang="en-IN" i="1">
                                  <a:latin typeface="Cambria Math" panose="02040503050406030204" pitchFamily="18" charset="0"/>
                                </a:rPr>
                                <m:t>𝑛</m:t>
                              </m:r>
                              <m:r>
                                <a:rPr lang="en-IN" i="1">
                                  <a:latin typeface="Cambria Math" panose="02040503050406030204" pitchFamily="18" charset="0"/>
                                </a:rPr>
                                <m:t>&gt;0</m:t>
                              </m:r>
                            </m:e>
                          </m:eqArr>
                        </m:e>
                      </m:d>
                    </m:oMath>
                  </m:oMathPara>
                </a14:m>
                <a:endParaRPr lang="en-IN" dirty="0"/>
              </a:p>
            </p:txBody>
          </p:sp>
        </mc:Choice>
        <mc:Fallback xmlns="">
          <p:sp>
            <p:nvSpPr>
              <p:cNvPr id="7" name="TextBox 6">
                <a:extLst>
                  <a:ext uri="{FF2B5EF4-FFF2-40B4-BE49-F238E27FC236}">
                    <a16:creationId xmlns:a16="http://schemas.microsoft.com/office/drawing/2014/main" id="{AFFF53F7-0FEB-490A-A39B-95FDE6BF604C}"/>
                  </a:ext>
                </a:extLst>
              </p:cNvPr>
              <p:cNvSpPr txBox="1">
                <a:spLocks noRot="1" noChangeAspect="1" noMove="1" noResize="1" noEditPoints="1" noAdjustHandles="1" noChangeArrowheads="1" noChangeShapeType="1" noTextEdit="1"/>
              </p:cNvSpPr>
              <p:nvPr/>
            </p:nvSpPr>
            <p:spPr>
              <a:xfrm>
                <a:off x="2743200" y="5806017"/>
                <a:ext cx="3810000" cy="710194"/>
              </a:xfrm>
              <a:prstGeom prst="rect">
                <a:avLst/>
              </a:prstGeom>
              <a:blipFill>
                <a:blip r:embed="rId3"/>
                <a:stretch>
                  <a:fillRect/>
                </a:stretch>
              </a:blipFill>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8" name="Rectangle: Rounded Corners 7">
                <a:extLst>
                  <a:ext uri="{FF2B5EF4-FFF2-40B4-BE49-F238E27FC236}">
                    <a16:creationId xmlns:a16="http://schemas.microsoft.com/office/drawing/2014/main" id="{BBEB13B8-945E-4F9B-A181-202E2744BCC4}"/>
                  </a:ext>
                </a:extLst>
              </p:cNvPr>
              <p:cNvSpPr/>
              <p:nvPr/>
            </p:nvSpPr>
            <p:spPr>
              <a:xfrm>
                <a:off x="6781800" y="2057400"/>
                <a:ext cx="3352800" cy="2590800"/>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14:m>
                  <m:oMath xmlns:m="http://schemas.openxmlformats.org/officeDocument/2006/math">
                    <a:fld id="{825F15A7-03F4-43D7-82C5-3E23DA2F108C}" type="mathplaceholder">
                      <a:rPr lang="en-IN" i="1">
                        <a:latin typeface="Cambria Math" panose="02040503050406030204" pitchFamily="18" charset="0"/>
                      </a:rPr>
                      <a:t>Type equation here.</a:t>
                    </a:fld>
                  </m:oMath>
                </a14:m>
                <a:r>
                  <a:rPr lang="en-IN" dirty="0"/>
                  <a:t>Amount of work done is nothing but number of function calls. </a:t>
                </a:r>
              </a:p>
              <a:p>
                <a:r>
                  <a:rPr lang="en-IN" dirty="0"/>
                  <a:t>For ‘n’ it makes (n+1) calls and print ‘n’ times. </a:t>
                </a:r>
              </a:p>
              <a:p>
                <a:r>
                  <a:rPr lang="en-IN" dirty="0"/>
                  <a:t>For Example: n=3, we have fun(3), fun(2), fun(1) and fun(0) calls=&gt; n+1calls=O(n)</a:t>
                </a:r>
              </a:p>
            </p:txBody>
          </p:sp>
        </mc:Choice>
        <mc:Fallback xmlns="">
          <p:sp>
            <p:nvSpPr>
              <p:cNvPr id="8" name="Rectangle: Rounded Corners 7">
                <a:extLst>
                  <a:ext uri="{FF2B5EF4-FFF2-40B4-BE49-F238E27FC236}">
                    <a16:creationId xmlns:a16="http://schemas.microsoft.com/office/drawing/2014/main" id="{BBEB13B8-945E-4F9B-A181-202E2744BCC4}"/>
                  </a:ext>
                </a:extLst>
              </p:cNvPr>
              <p:cNvSpPr>
                <a:spLocks noRot="1" noChangeAspect="1" noMove="1" noResize="1" noEditPoints="1" noAdjustHandles="1" noChangeArrowheads="1" noChangeShapeType="1" noTextEdit="1"/>
              </p:cNvSpPr>
              <p:nvPr/>
            </p:nvSpPr>
            <p:spPr>
              <a:xfrm>
                <a:off x="6781800" y="2057400"/>
                <a:ext cx="3352800" cy="2590800"/>
              </a:xfrm>
              <a:prstGeom prst="roundRect">
                <a:avLst/>
              </a:prstGeom>
              <a:blipFill>
                <a:blip r:embed="rId4"/>
                <a:stretch>
                  <a:fillRect/>
                </a:stretch>
              </a:blipFill>
            </p:spPr>
            <p:txBody>
              <a:bodyPr/>
              <a:lstStyle/>
              <a:p>
                <a:r>
                  <a:rPr lang="en-ID">
                    <a:noFill/>
                  </a:rPr>
                  <a:t> </a:t>
                </a:r>
              </a:p>
            </p:txBody>
          </p:sp>
        </mc:Fallback>
      </mc:AlternateContent>
      <p:pic>
        <p:nvPicPr>
          <p:cNvPr id="2" name="Picture 1">
            <a:extLst>
              <a:ext uri="{FF2B5EF4-FFF2-40B4-BE49-F238E27FC236}">
                <a16:creationId xmlns:a16="http://schemas.microsoft.com/office/drawing/2014/main" id="{3AFCEDD8-13E5-5940-5526-7D67A507E079}"/>
              </a:ext>
            </a:extLst>
          </p:cNvPr>
          <p:cNvPicPr>
            <a:picLocks noChangeAspect="1"/>
          </p:cNvPicPr>
          <p:nvPr/>
        </p:nvPicPr>
        <p:blipFill>
          <a:blip r:embed="rId5"/>
          <a:stretch>
            <a:fillRect/>
          </a:stretch>
        </p:blipFill>
        <p:spPr>
          <a:xfrm>
            <a:off x="386381" y="228600"/>
            <a:ext cx="3804234" cy="737680"/>
          </a:xfrm>
          <a:prstGeom prst="rect">
            <a:avLst/>
          </a:prstGeom>
        </p:spPr>
      </p:pic>
      <p:pic>
        <p:nvPicPr>
          <p:cNvPr id="5" name="Picture 4">
            <a:extLst>
              <a:ext uri="{FF2B5EF4-FFF2-40B4-BE49-F238E27FC236}">
                <a16:creationId xmlns:a16="http://schemas.microsoft.com/office/drawing/2014/main" id="{95058881-7055-CF3C-EC14-F0D57B911BCF}"/>
              </a:ext>
            </a:extLst>
          </p:cNvPr>
          <p:cNvPicPr>
            <a:picLocks noChangeAspect="1"/>
          </p:cNvPicPr>
          <p:nvPr/>
        </p:nvPicPr>
        <p:blipFill>
          <a:blip r:embed="rId6"/>
          <a:stretch>
            <a:fillRect/>
          </a:stretch>
        </p:blipFill>
        <p:spPr>
          <a:xfrm>
            <a:off x="10621195" y="136525"/>
            <a:ext cx="1164437" cy="1005927"/>
          </a:xfrm>
          <a:prstGeom prst="rect">
            <a:avLst/>
          </a:prstGeom>
        </p:spPr>
      </p:pic>
    </p:spTree>
    <p:extLst>
      <p:ext uri="{BB962C8B-B14F-4D97-AF65-F5344CB8AC3E}">
        <p14:creationId xmlns:p14="http://schemas.microsoft.com/office/powerpoint/2010/main" val="1031009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A673C5-7935-4B30-8AAE-F3A6A532610D}"/>
                  </a:ext>
                </a:extLst>
              </p:cNvPr>
              <p:cNvSpPr txBox="1">
                <a:spLocks noGrp="1"/>
              </p:cNvSpPr>
              <p:nvPr>
                <p:ph type="body" idx="1"/>
              </p:nvPr>
            </p:nvSpPr>
            <p:spPr>
              <a:xfrm>
                <a:off x="2152650" y="1316765"/>
                <a:ext cx="7448550" cy="5039585"/>
              </a:xfrm>
              <a:prstGeom prst="rect">
                <a:avLst/>
              </a:prstGeom>
              <a:noFill/>
            </p:spPr>
            <p:txBody>
              <a:bodyPr wrap="square" rtlCol="0">
                <a:spAutoFit/>
              </a:bodyPr>
              <a:lstStyle/>
              <a:p>
                <a14:m>
                  <m:oMath xmlns:m="http://schemas.openxmlformats.org/officeDocument/2006/math">
                    <m:r>
                      <a:rPr lang="en-IN" sz="2000" i="1">
                        <a:latin typeface="Cambria Math" panose="02040503050406030204" pitchFamily="18" charset="0"/>
                      </a:rPr>
                      <m:t>𝑇</m:t>
                    </m:r>
                    <m:d>
                      <m:dPr>
                        <m:ctrlPr>
                          <a:rPr lang="en-IN" sz="2000" i="1">
                            <a:latin typeface="Cambria Math" panose="02040503050406030204" pitchFamily="18" charset="0"/>
                          </a:rPr>
                        </m:ctrlPr>
                      </m:dPr>
                      <m:e>
                        <m:r>
                          <a:rPr lang="en-IN" sz="2000" i="1">
                            <a:latin typeface="Cambria Math" panose="02040503050406030204" pitchFamily="18" charset="0"/>
                          </a:rPr>
                          <m:t>𝑛</m:t>
                        </m:r>
                      </m:e>
                    </m:d>
                    <m:r>
                      <a:rPr lang="en-IN" sz="2000" i="1">
                        <a:latin typeface="Cambria Math" panose="02040503050406030204" pitchFamily="18" charset="0"/>
                      </a:rPr>
                      <m:t>=</m:t>
                    </m:r>
                    <m:d>
                      <m:dPr>
                        <m:begChr m:val="{"/>
                        <m:endChr m:val=""/>
                        <m:ctrlPr>
                          <a:rPr lang="en-IN" sz="2000" i="1">
                            <a:latin typeface="Cambria Math" panose="02040503050406030204" pitchFamily="18" charset="0"/>
                          </a:rPr>
                        </m:ctrlPr>
                      </m:dPr>
                      <m:e>
                        <m:eqArr>
                          <m:eqArrPr>
                            <m:ctrlPr>
                              <a:rPr lang="en-IN" sz="2000" i="1">
                                <a:latin typeface="Cambria Math" panose="02040503050406030204" pitchFamily="18" charset="0"/>
                              </a:rPr>
                            </m:ctrlPr>
                          </m:eqArrPr>
                          <m:e>
                            <m:r>
                              <a:rPr lang="en-IN" sz="2000" i="1">
                                <a:latin typeface="Cambria Math" panose="02040503050406030204" pitchFamily="18" charset="0"/>
                              </a:rPr>
                              <m:t>1                       </m:t>
                            </m:r>
                            <m:r>
                              <a:rPr lang="en-IN" sz="2000" i="1">
                                <a:latin typeface="Cambria Math" panose="02040503050406030204" pitchFamily="18" charset="0"/>
                              </a:rPr>
                              <m:t>𝑛</m:t>
                            </m:r>
                            <m:r>
                              <a:rPr lang="en-IN" sz="2000" i="1">
                                <a:latin typeface="Cambria Math" panose="02040503050406030204" pitchFamily="18" charset="0"/>
                              </a:rPr>
                              <m:t>=0             </m:t>
                            </m:r>
                          </m:e>
                          <m:e>
                            <m:r>
                              <a:rPr lang="en-IN" sz="2000" i="1">
                                <a:latin typeface="Cambria Math" panose="02040503050406030204" pitchFamily="18" charset="0"/>
                              </a:rPr>
                              <m:t>𝑇</m:t>
                            </m:r>
                            <m:d>
                              <m:dPr>
                                <m:ctrlPr>
                                  <a:rPr lang="en-IN" sz="2000" i="1">
                                    <a:latin typeface="Cambria Math" panose="02040503050406030204" pitchFamily="18" charset="0"/>
                                  </a:rPr>
                                </m:ctrlPr>
                              </m:dPr>
                              <m:e>
                                <m:r>
                                  <a:rPr lang="en-IN" sz="2000" i="1">
                                    <a:latin typeface="Cambria Math" panose="02040503050406030204" pitchFamily="18" charset="0"/>
                                  </a:rPr>
                                  <m:t>𝑛</m:t>
                                </m:r>
                                <m:r>
                                  <a:rPr lang="en-IN" sz="2000" i="1">
                                    <a:latin typeface="Cambria Math" panose="02040503050406030204" pitchFamily="18" charset="0"/>
                                  </a:rPr>
                                  <m:t>−1</m:t>
                                </m:r>
                              </m:e>
                            </m:d>
                            <m:r>
                              <a:rPr lang="en-IN" sz="2000" i="1">
                                <a:latin typeface="Cambria Math" panose="02040503050406030204" pitchFamily="18" charset="0"/>
                              </a:rPr>
                              <m:t>+1             </m:t>
                            </m:r>
                            <m:r>
                              <a:rPr lang="en-IN" sz="2000" i="1">
                                <a:latin typeface="Cambria Math" panose="02040503050406030204" pitchFamily="18" charset="0"/>
                              </a:rPr>
                              <m:t>𝑛</m:t>
                            </m:r>
                            <m:r>
                              <a:rPr lang="en-IN" sz="2000" i="1">
                                <a:latin typeface="Cambria Math" panose="02040503050406030204" pitchFamily="18" charset="0"/>
                              </a:rPr>
                              <m:t>&gt;0</m:t>
                            </m:r>
                          </m:e>
                        </m:eqArr>
                      </m:e>
                    </m:d>
                  </m:oMath>
                </a14:m>
                <a:endParaRPr lang="en-IN" sz="2000" dirty="0"/>
              </a:p>
              <a:p>
                <a:pPr marL="0" indent="0">
                  <a:buNone/>
                </a:pPr>
                <a:r>
                  <a:rPr lang="en-IN" sz="2000" dirty="0"/>
                  <a:t>Using Back substitution: </a:t>
                </a:r>
                <a:endParaRPr lang="en-IN" sz="2000" i="1" dirty="0">
                  <a:latin typeface="Cambria Math" panose="02040503050406030204" pitchFamily="18" charset="0"/>
                </a:endParaRPr>
              </a:p>
              <a:p>
                <a:pPr marL="0" indent="0">
                  <a:buNone/>
                </a:pPr>
                <a:endParaRPr lang="en-IN" sz="20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IN" sz="2000" i="1">
                          <a:latin typeface="Cambria Math" panose="02040503050406030204" pitchFamily="18" charset="0"/>
                        </a:rPr>
                        <m:t>𝑇</m:t>
                      </m:r>
                      <m:d>
                        <m:dPr>
                          <m:ctrlPr>
                            <a:rPr lang="en-IN" sz="2000" i="1">
                              <a:latin typeface="Cambria Math" panose="02040503050406030204" pitchFamily="18" charset="0"/>
                            </a:rPr>
                          </m:ctrlPr>
                        </m:dPr>
                        <m:e>
                          <m:r>
                            <a:rPr lang="en-IN" sz="2000" i="1">
                              <a:latin typeface="Cambria Math" panose="02040503050406030204" pitchFamily="18" charset="0"/>
                            </a:rPr>
                            <m:t>𝑛</m:t>
                          </m:r>
                        </m:e>
                      </m:d>
                      <m:r>
                        <a:rPr lang="en-IN" sz="2000" i="1">
                          <a:latin typeface="Cambria Math" panose="02040503050406030204" pitchFamily="18" charset="0"/>
                        </a:rPr>
                        <m:t>=1+</m:t>
                      </m:r>
                      <m:r>
                        <a:rPr lang="en-IN" sz="2000" i="1">
                          <a:latin typeface="Cambria Math" panose="02040503050406030204" pitchFamily="18" charset="0"/>
                        </a:rPr>
                        <m:t>𝑇</m:t>
                      </m:r>
                      <m:d>
                        <m:dPr>
                          <m:ctrlPr>
                            <a:rPr lang="en-IN" sz="2000" i="1">
                              <a:latin typeface="Cambria Math" panose="02040503050406030204" pitchFamily="18" charset="0"/>
                            </a:rPr>
                          </m:ctrlPr>
                        </m:dPr>
                        <m:e>
                          <m:r>
                            <a:rPr lang="en-IN" sz="2000" i="1">
                              <a:latin typeface="Cambria Math" panose="02040503050406030204" pitchFamily="18" charset="0"/>
                            </a:rPr>
                            <m:t>𝑛</m:t>
                          </m:r>
                          <m:r>
                            <a:rPr lang="en-IN" sz="2000" i="1">
                              <a:latin typeface="Cambria Math" panose="02040503050406030204" pitchFamily="18" charset="0"/>
                            </a:rPr>
                            <m:t>−1</m:t>
                          </m:r>
                        </m:e>
                      </m:d>
                    </m:oMath>
                  </m:oMathPara>
                </a14:m>
                <a:endParaRPr lang="en-IN" sz="2000" i="1" dirty="0">
                  <a:latin typeface="Cambria Math" panose="02040503050406030204" pitchFamily="18" charset="0"/>
                </a:endParaRPr>
              </a:p>
              <a:p>
                <a:pPr marL="0" indent="0">
                  <a:buNone/>
                </a:pPr>
                <a:r>
                  <a:rPr lang="en-IN" sz="2000" dirty="0"/>
                  <a:t>        </a:t>
                </a:r>
                <a14:m>
                  <m:oMath xmlns:m="http://schemas.openxmlformats.org/officeDocument/2006/math">
                    <m:r>
                      <a:rPr lang="en-IN" sz="2000" i="1">
                        <a:latin typeface="Cambria Math" panose="02040503050406030204" pitchFamily="18" charset="0"/>
                      </a:rPr>
                      <m:t>=1+</m:t>
                    </m:r>
                    <m:d>
                      <m:dPr>
                        <m:begChr m:val="{"/>
                        <m:endChr m:val="}"/>
                        <m:ctrlPr>
                          <a:rPr lang="en-IN" sz="2000" i="1">
                            <a:latin typeface="Cambria Math" panose="02040503050406030204" pitchFamily="18" charset="0"/>
                          </a:rPr>
                        </m:ctrlPr>
                      </m:dPr>
                      <m:e>
                        <m:r>
                          <a:rPr lang="en-IN" sz="2000" i="1">
                            <a:latin typeface="Cambria Math" panose="02040503050406030204" pitchFamily="18" charset="0"/>
                          </a:rPr>
                          <m:t>1+</m:t>
                        </m:r>
                        <m:r>
                          <a:rPr lang="en-IN" sz="2000" i="1">
                            <a:latin typeface="Cambria Math" panose="02040503050406030204" pitchFamily="18" charset="0"/>
                          </a:rPr>
                          <m:t>𝑇</m:t>
                        </m:r>
                        <m:d>
                          <m:dPr>
                            <m:ctrlPr>
                              <a:rPr lang="en-IN" sz="2000" i="1">
                                <a:latin typeface="Cambria Math" panose="02040503050406030204" pitchFamily="18" charset="0"/>
                              </a:rPr>
                            </m:ctrlPr>
                          </m:dPr>
                          <m:e>
                            <m:r>
                              <a:rPr lang="en-IN" sz="2000" i="1">
                                <a:latin typeface="Cambria Math" panose="02040503050406030204" pitchFamily="18" charset="0"/>
                              </a:rPr>
                              <m:t>𝑛</m:t>
                            </m:r>
                            <m:r>
                              <a:rPr lang="en-IN" sz="2000" i="1">
                                <a:latin typeface="Cambria Math" panose="02040503050406030204" pitchFamily="18" charset="0"/>
                              </a:rPr>
                              <m:t>−2</m:t>
                            </m:r>
                          </m:e>
                        </m:d>
                      </m:e>
                    </m:d>
                  </m:oMath>
                </a14:m>
                <a:endParaRPr lang="en-IN" sz="2000" i="1" dirty="0">
                  <a:latin typeface="Cambria Math" panose="02040503050406030204" pitchFamily="18" charset="0"/>
                </a:endParaRPr>
              </a:p>
              <a:p>
                <a:pPr marL="0" indent="0">
                  <a:buNone/>
                </a:pPr>
                <a:r>
                  <a:rPr lang="en-IN" sz="2000" dirty="0"/>
                  <a:t>        </a:t>
                </a:r>
                <a14:m>
                  <m:oMath xmlns:m="http://schemas.openxmlformats.org/officeDocument/2006/math">
                    <m:r>
                      <a:rPr lang="en-IN" sz="2000" i="1">
                        <a:latin typeface="Cambria Math" panose="02040503050406030204" pitchFamily="18" charset="0"/>
                      </a:rPr>
                      <m:t>=1+1+</m:t>
                    </m:r>
                    <m:r>
                      <a:rPr lang="en-IN" sz="2000" i="1">
                        <a:latin typeface="Cambria Math" panose="02040503050406030204" pitchFamily="18" charset="0"/>
                      </a:rPr>
                      <m:t>𝑇</m:t>
                    </m:r>
                    <m:d>
                      <m:dPr>
                        <m:ctrlPr>
                          <a:rPr lang="en-IN" sz="2000" i="1">
                            <a:latin typeface="Cambria Math" panose="02040503050406030204" pitchFamily="18" charset="0"/>
                          </a:rPr>
                        </m:ctrlPr>
                      </m:dPr>
                      <m:e>
                        <m:r>
                          <a:rPr lang="en-IN" sz="2000" i="1">
                            <a:latin typeface="Cambria Math" panose="02040503050406030204" pitchFamily="18" charset="0"/>
                          </a:rPr>
                          <m:t>𝑛</m:t>
                        </m:r>
                        <m:r>
                          <a:rPr lang="en-IN" sz="2000" i="1">
                            <a:latin typeface="Cambria Math" panose="02040503050406030204" pitchFamily="18" charset="0"/>
                          </a:rPr>
                          <m:t>−2</m:t>
                        </m:r>
                      </m:e>
                    </m:d>
                  </m:oMath>
                </a14:m>
                <a:endParaRPr lang="en-IN" sz="2000" i="1" dirty="0">
                  <a:latin typeface="Cambria Math" panose="02040503050406030204" pitchFamily="18" charset="0"/>
                </a:endParaRPr>
              </a:p>
              <a:p>
                <a:pPr marL="0" indent="0">
                  <a:buNone/>
                </a:pPr>
                <a:r>
                  <a:rPr lang="en-IN" sz="2000" dirty="0"/>
                  <a:t>     </a:t>
                </a:r>
                <a14:m>
                  <m:oMath xmlns:m="http://schemas.openxmlformats.org/officeDocument/2006/math">
                    <m:r>
                      <a:rPr lang="en-IN" sz="2000" i="1">
                        <a:latin typeface="Cambria Math" panose="02040503050406030204" pitchFamily="18" charset="0"/>
                      </a:rPr>
                      <m:t>   =1+1+</m:t>
                    </m:r>
                    <m:d>
                      <m:dPr>
                        <m:begChr m:val="{"/>
                        <m:endChr m:val="}"/>
                        <m:ctrlPr>
                          <a:rPr lang="en-IN" sz="2000" i="1">
                            <a:latin typeface="Cambria Math" panose="02040503050406030204" pitchFamily="18" charset="0"/>
                          </a:rPr>
                        </m:ctrlPr>
                      </m:dPr>
                      <m:e>
                        <m:r>
                          <a:rPr lang="en-IN" sz="2000" i="1">
                            <a:latin typeface="Cambria Math" panose="02040503050406030204" pitchFamily="18" charset="0"/>
                          </a:rPr>
                          <m:t>1+</m:t>
                        </m:r>
                        <m:r>
                          <a:rPr lang="en-IN" sz="2000" i="1">
                            <a:latin typeface="Cambria Math" panose="02040503050406030204" pitchFamily="18" charset="0"/>
                          </a:rPr>
                          <m:t>𝑇</m:t>
                        </m:r>
                        <m:d>
                          <m:dPr>
                            <m:ctrlPr>
                              <a:rPr lang="en-IN" sz="2000" i="1">
                                <a:latin typeface="Cambria Math" panose="02040503050406030204" pitchFamily="18" charset="0"/>
                              </a:rPr>
                            </m:ctrlPr>
                          </m:dPr>
                          <m:e>
                            <m:r>
                              <a:rPr lang="en-IN" sz="2000" i="1">
                                <a:latin typeface="Cambria Math" panose="02040503050406030204" pitchFamily="18" charset="0"/>
                              </a:rPr>
                              <m:t>𝑛</m:t>
                            </m:r>
                            <m:r>
                              <a:rPr lang="en-IN" sz="2000" i="1">
                                <a:latin typeface="Cambria Math" panose="02040503050406030204" pitchFamily="18" charset="0"/>
                              </a:rPr>
                              <m:t>−3</m:t>
                            </m:r>
                          </m:e>
                        </m:d>
                      </m:e>
                    </m:d>
                  </m:oMath>
                </a14:m>
                <a:endParaRPr lang="en-IN" sz="2000" i="1" dirty="0">
                  <a:latin typeface="Cambria Math" panose="02040503050406030204" pitchFamily="18" charset="0"/>
                </a:endParaRPr>
              </a:p>
              <a:p>
                <a:pPr marL="0" indent="0">
                  <a:buNone/>
                </a:pPr>
                <a:r>
                  <a:rPr lang="en-IN" sz="2000" dirty="0"/>
                  <a:t>        </a:t>
                </a:r>
                <a14:m>
                  <m:oMath xmlns:m="http://schemas.openxmlformats.org/officeDocument/2006/math">
                    <m:r>
                      <a:rPr lang="en-IN" sz="2000" i="1">
                        <a:latin typeface="Cambria Math" panose="02040503050406030204" pitchFamily="18" charset="0"/>
                      </a:rPr>
                      <m:t>=1+1+1+</m:t>
                    </m:r>
                    <m:r>
                      <a:rPr lang="en-IN" sz="2000" i="1">
                        <a:latin typeface="Cambria Math" panose="02040503050406030204" pitchFamily="18" charset="0"/>
                      </a:rPr>
                      <m:t>𝑇</m:t>
                    </m:r>
                    <m:r>
                      <a:rPr lang="en-IN" sz="2000" i="1">
                        <a:latin typeface="Cambria Math" panose="02040503050406030204" pitchFamily="18" charset="0"/>
                      </a:rPr>
                      <m:t>(</m:t>
                    </m:r>
                    <m:r>
                      <a:rPr lang="en-IN" sz="2000" i="1">
                        <a:latin typeface="Cambria Math" panose="02040503050406030204" pitchFamily="18" charset="0"/>
                      </a:rPr>
                      <m:t>𝑛</m:t>
                    </m:r>
                    <m:r>
                      <a:rPr lang="en-IN" sz="2000" i="1">
                        <a:latin typeface="Cambria Math" panose="02040503050406030204" pitchFamily="18" charset="0"/>
                      </a:rPr>
                      <m:t>−3)</m:t>
                    </m:r>
                  </m:oMath>
                </a14:m>
                <a:endParaRPr lang="en-IN" sz="2000" dirty="0"/>
              </a:p>
              <a:p>
                <a:pPr marL="0" indent="0">
                  <a:buNone/>
                </a:pPr>
                <a:r>
                  <a:rPr lang="en-IN" sz="2000" dirty="0"/>
                  <a:t>             ……..</a:t>
                </a:r>
              </a:p>
              <a:p>
                <a:pPr marL="0" indent="0">
                  <a:buNone/>
                </a:pPr>
                <a:r>
                  <a:rPr lang="en-IN" sz="2000" dirty="0"/>
                  <a:t>         </a:t>
                </a:r>
                <a14:m>
                  <m:oMath xmlns:m="http://schemas.openxmlformats.org/officeDocument/2006/math">
                    <m:r>
                      <a:rPr lang="en-IN" sz="2000" i="1">
                        <a:latin typeface="Cambria Math" panose="02040503050406030204" pitchFamily="18" charset="0"/>
                      </a:rPr>
                      <m:t>=1+1+1+…+1+</m:t>
                    </m:r>
                    <m:r>
                      <a:rPr lang="en-IN" sz="2000" i="1">
                        <a:latin typeface="Cambria Math" panose="02040503050406030204" pitchFamily="18" charset="0"/>
                      </a:rPr>
                      <m:t>𝑇</m:t>
                    </m:r>
                    <m:d>
                      <m:dPr>
                        <m:ctrlPr>
                          <a:rPr lang="en-IN" sz="2000" i="1">
                            <a:latin typeface="Cambria Math" panose="02040503050406030204" pitchFamily="18" charset="0"/>
                          </a:rPr>
                        </m:ctrlPr>
                      </m:dPr>
                      <m:e>
                        <m:r>
                          <a:rPr lang="en-IN" sz="2000" i="1">
                            <a:latin typeface="Cambria Math" panose="02040503050406030204" pitchFamily="18" charset="0"/>
                          </a:rPr>
                          <m:t>𝑛</m:t>
                        </m:r>
                        <m:r>
                          <a:rPr lang="en-IN" sz="2000" i="1">
                            <a:latin typeface="Cambria Math" panose="02040503050406030204" pitchFamily="18" charset="0"/>
                          </a:rPr>
                          <m:t>−</m:t>
                        </m:r>
                        <m:r>
                          <a:rPr lang="en-IN" sz="2000" i="1">
                            <a:latin typeface="Cambria Math" panose="02040503050406030204" pitchFamily="18" charset="0"/>
                          </a:rPr>
                          <m:t>𝑛</m:t>
                        </m:r>
                      </m:e>
                    </m:d>
                  </m:oMath>
                </a14:m>
                <a:endParaRPr lang="en-IN" sz="2000" i="1" dirty="0">
                  <a:latin typeface="Cambria Math" panose="02040503050406030204" pitchFamily="18" charset="0"/>
                </a:endParaRPr>
              </a:p>
              <a:p>
                <a:pPr marL="0" indent="0">
                  <a:buNone/>
                </a:pPr>
                <a:r>
                  <a:rPr lang="en-IN" sz="2000" dirty="0"/>
                  <a:t>         </a:t>
                </a:r>
                <a14:m>
                  <m:oMath xmlns:m="http://schemas.openxmlformats.org/officeDocument/2006/math">
                    <m:r>
                      <a:rPr lang="en-IN" sz="2000" i="1">
                        <a:latin typeface="Cambria Math" panose="02040503050406030204" pitchFamily="18" charset="0"/>
                      </a:rPr>
                      <m:t>=</m:t>
                    </m:r>
                    <m:r>
                      <a:rPr lang="en-IN" sz="2000" i="1">
                        <a:latin typeface="Cambria Math" panose="02040503050406030204" pitchFamily="18" charset="0"/>
                      </a:rPr>
                      <m:t>𝑛</m:t>
                    </m:r>
                    <m:r>
                      <a:rPr lang="en-IN" sz="2000" i="1">
                        <a:latin typeface="Cambria Math" panose="02040503050406030204" pitchFamily="18" charset="0"/>
                      </a:rPr>
                      <m:t>+</m:t>
                    </m:r>
                    <m:r>
                      <a:rPr lang="en-IN" sz="2000" i="1">
                        <a:latin typeface="Cambria Math" panose="02040503050406030204" pitchFamily="18" charset="0"/>
                      </a:rPr>
                      <m:t>𝑇</m:t>
                    </m:r>
                    <m:d>
                      <m:dPr>
                        <m:ctrlPr>
                          <a:rPr lang="en-IN" sz="2000" i="1">
                            <a:latin typeface="Cambria Math" panose="02040503050406030204" pitchFamily="18" charset="0"/>
                          </a:rPr>
                        </m:ctrlPr>
                      </m:dPr>
                      <m:e>
                        <m:r>
                          <a:rPr lang="en-IN" sz="2000" i="1">
                            <a:latin typeface="Cambria Math" panose="02040503050406030204" pitchFamily="18" charset="0"/>
                          </a:rPr>
                          <m:t>0</m:t>
                        </m:r>
                      </m:e>
                    </m:d>
                  </m:oMath>
                </a14:m>
                <a:endParaRPr lang="en-IN" sz="2000" i="1" dirty="0">
                  <a:latin typeface="Cambria Math" panose="02040503050406030204" pitchFamily="18" charset="0"/>
                </a:endParaRPr>
              </a:p>
              <a:p>
                <a:pPr marL="0" indent="0">
                  <a:buNone/>
                </a:pPr>
                <a:r>
                  <a:rPr lang="en-IN" sz="2000" dirty="0"/>
                  <a:t>         </a:t>
                </a:r>
                <a14:m>
                  <m:oMath xmlns:m="http://schemas.openxmlformats.org/officeDocument/2006/math">
                    <m:r>
                      <a:rPr lang="en-IN" sz="2000" i="1">
                        <a:latin typeface="Cambria Math" panose="02040503050406030204" pitchFamily="18" charset="0"/>
                      </a:rPr>
                      <m:t>=</m:t>
                    </m:r>
                    <m:r>
                      <a:rPr lang="en-IN" sz="2000" i="1">
                        <a:latin typeface="Cambria Math" panose="02040503050406030204" pitchFamily="18" charset="0"/>
                      </a:rPr>
                      <m:t>𝑛</m:t>
                    </m:r>
                    <m:r>
                      <a:rPr lang="en-IN" sz="2000" i="1">
                        <a:latin typeface="Cambria Math" panose="02040503050406030204" pitchFamily="18" charset="0"/>
                      </a:rPr>
                      <m:t>+1=</m:t>
                    </m:r>
                    <m:r>
                      <a:rPr lang="en-IN" sz="2000" i="1">
                        <a:latin typeface="Cambria Math" panose="02040503050406030204" pitchFamily="18" charset="0"/>
                      </a:rPr>
                      <m:t>𝑂</m:t>
                    </m:r>
                    <m:r>
                      <a:rPr lang="en-IN" sz="2000" i="1">
                        <a:latin typeface="Cambria Math" panose="02040503050406030204" pitchFamily="18" charset="0"/>
                      </a:rPr>
                      <m:t>(</m:t>
                    </m:r>
                    <m:r>
                      <a:rPr lang="en-IN" sz="2000" i="1">
                        <a:latin typeface="Cambria Math" panose="02040503050406030204" pitchFamily="18" charset="0"/>
                      </a:rPr>
                      <m:t>𝑛</m:t>
                    </m:r>
                    <m:r>
                      <a:rPr lang="en-IN" sz="2000" i="1">
                        <a:latin typeface="Cambria Math" panose="02040503050406030204" pitchFamily="18" charset="0"/>
                      </a:rPr>
                      <m:t>)</m:t>
                    </m:r>
                  </m:oMath>
                </a14:m>
                <a:endParaRPr lang="en-IN" sz="2000" dirty="0"/>
              </a:p>
            </p:txBody>
          </p:sp>
        </mc:Choice>
        <mc:Fallback xmlns="">
          <p:sp>
            <p:nvSpPr>
              <p:cNvPr id="5" name="Content Placeholder 4">
                <a:extLst>
                  <a:ext uri="{FF2B5EF4-FFF2-40B4-BE49-F238E27FC236}">
                    <a16:creationId xmlns:a16="http://schemas.microsoft.com/office/drawing/2014/main" id="{03A673C5-7935-4B30-8AAE-F3A6A532610D}"/>
                  </a:ext>
                </a:extLst>
              </p:cNvPr>
              <p:cNvSpPr txBox="1">
                <a:spLocks noGrp="1" noRot="1" noChangeAspect="1" noMove="1" noResize="1" noEditPoints="1" noAdjustHandles="1" noChangeArrowheads="1" noChangeShapeType="1" noTextEdit="1"/>
              </p:cNvSpPr>
              <p:nvPr>
                <p:ph type="body" idx="1"/>
              </p:nvPr>
            </p:nvSpPr>
            <p:spPr>
              <a:xfrm>
                <a:off x="2152650" y="1316765"/>
                <a:ext cx="7448550" cy="5039585"/>
              </a:xfrm>
              <a:prstGeom prst="rect">
                <a:avLst/>
              </a:prstGeom>
              <a:blipFill>
                <a:blip r:embed="rId2"/>
                <a:stretch>
                  <a:fillRect l="-818" b="-3023"/>
                </a:stretch>
              </a:blipFill>
            </p:spPr>
            <p:txBody>
              <a:bodyPr/>
              <a:lstStyle/>
              <a:p>
                <a:r>
                  <a:rPr lang="en-ID">
                    <a:noFill/>
                  </a:rPr>
                  <a:t> </a:t>
                </a:r>
              </a:p>
            </p:txBody>
          </p:sp>
        </mc:Fallback>
      </mc:AlternateContent>
      <p:sp>
        <p:nvSpPr>
          <p:cNvPr id="4" name="Slide Number Placeholder 3">
            <a:extLst>
              <a:ext uri="{FF2B5EF4-FFF2-40B4-BE49-F238E27FC236}">
                <a16:creationId xmlns:a16="http://schemas.microsoft.com/office/drawing/2014/main" id="{E928FCC3-7338-4F8B-BD95-DF33EF077148}"/>
              </a:ext>
            </a:extLst>
          </p:cNvPr>
          <p:cNvSpPr>
            <a:spLocks noGrp="1"/>
          </p:cNvSpPr>
          <p:nvPr>
            <p:ph type="sldNum" idx="12"/>
          </p:nvPr>
        </p:nvSpPr>
        <p:spPr/>
        <p:txBody>
          <a:bodyPr/>
          <a:lstStyle/>
          <a:p>
            <a:pPr>
              <a:defRPr/>
            </a:pPr>
            <a:fld id="{0314B9FC-F7FA-4A5F-A68B-9084E75933A3}" type="slidenum">
              <a:rPr lang="en-US" altLang="en-US" smtClean="0"/>
              <a:pPr>
                <a:defRPr/>
              </a:pPr>
              <a:t>10</a:t>
            </a:fld>
            <a:endParaRPr lang="en-US" altLang="en-US" dirty="0"/>
          </a:p>
        </p:txBody>
      </p:sp>
      <p:pic>
        <p:nvPicPr>
          <p:cNvPr id="2" name="Picture 1">
            <a:extLst>
              <a:ext uri="{FF2B5EF4-FFF2-40B4-BE49-F238E27FC236}">
                <a16:creationId xmlns:a16="http://schemas.microsoft.com/office/drawing/2014/main" id="{5E195650-9185-B882-E7A9-A9C7913099D6}"/>
              </a:ext>
            </a:extLst>
          </p:cNvPr>
          <p:cNvPicPr>
            <a:picLocks noChangeAspect="1"/>
          </p:cNvPicPr>
          <p:nvPr/>
        </p:nvPicPr>
        <p:blipFill>
          <a:blip r:embed="rId3"/>
          <a:stretch>
            <a:fillRect/>
          </a:stretch>
        </p:blipFill>
        <p:spPr>
          <a:xfrm>
            <a:off x="10550476" y="242796"/>
            <a:ext cx="1164437" cy="1005927"/>
          </a:xfrm>
          <a:prstGeom prst="rect">
            <a:avLst/>
          </a:prstGeom>
        </p:spPr>
      </p:pic>
      <p:pic>
        <p:nvPicPr>
          <p:cNvPr id="3" name="Picture 2">
            <a:extLst>
              <a:ext uri="{FF2B5EF4-FFF2-40B4-BE49-F238E27FC236}">
                <a16:creationId xmlns:a16="http://schemas.microsoft.com/office/drawing/2014/main" id="{4C2CE7F7-B693-6490-4490-A7751D27EFE5}"/>
              </a:ext>
            </a:extLst>
          </p:cNvPr>
          <p:cNvPicPr>
            <a:picLocks noChangeAspect="1"/>
          </p:cNvPicPr>
          <p:nvPr/>
        </p:nvPicPr>
        <p:blipFill>
          <a:blip r:embed="rId4"/>
          <a:stretch>
            <a:fillRect/>
          </a:stretch>
        </p:blipFill>
        <p:spPr>
          <a:xfrm>
            <a:off x="477087" y="284019"/>
            <a:ext cx="3804234" cy="737680"/>
          </a:xfrm>
          <a:prstGeom prst="rect">
            <a:avLst/>
          </a:prstGeom>
        </p:spPr>
      </p:pic>
    </p:spTree>
    <p:extLst>
      <p:ext uri="{BB962C8B-B14F-4D97-AF65-F5344CB8AC3E}">
        <p14:creationId xmlns:p14="http://schemas.microsoft.com/office/powerpoint/2010/main" val="2988425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8F4CEE0F-28B5-40DD-93A2-636273C6C62C}"/>
                  </a:ext>
                </a:extLst>
              </p:cNvPr>
              <p:cNvSpPr>
                <a:spLocks noGrp="1"/>
              </p:cNvSpPr>
              <p:nvPr>
                <p:ph type="body" idx="1"/>
              </p:nvPr>
            </p:nvSpPr>
            <p:spPr>
              <a:xfrm>
                <a:off x="2152650" y="1285265"/>
                <a:ext cx="7886700" cy="5540184"/>
              </a:xfrm>
            </p:spPr>
            <p:txBody>
              <a:bodyPr/>
              <a:lstStyle/>
              <a:p>
                <a:pPr marL="0" indent="0">
                  <a:buNone/>
                </a:pPr>
                <a:r>
                  <a:rPr lang="en-IN" dirty="0"/>
                  <a:t>Example2:</a:t>
                </a:r>
              </a:p>
              <a:p>
                <a:pPr marL="0" indent="0">
                  <a:spcBef>
                    <a:spcPts val="0"/>
                  </a:spcBef>
                  <a:buNone/>
                </a:pPr>
                <a:endParaRPr lang="en-IN" sz="2000" dirty="0"/>
              </a:p>
              <a:p>
                <a:pPr marL="0" indent="0">
                  <a:spcBef>
                    <a:spcPts val="0"/>
                  </a:spcBef>
                  <a:buNone/>
                </a:pPr>
                <a14:m>
                  <m:oMath xmlns:m="http://schemas.openxmlformats.org/officeDocument/2006/math">
                    <m:r>
                      <a:rPr lang="en-IN" sz="2000" i="1">
                        <a:solidFill>
                          <a:srgbClr val="CC0000"/>
                        </a:solidFill>
                        <a:latin typeface="Cambria Math" panose="02040503050406030204" pitchFamily="18" charset="0"/>
                      </a:rPr>
                      <m:t>𝑣𝑜𝑖𝑑</m:t>
                    </m:r>
                    <m:r>
                      <a:rPr lang="en-IN" sz="2000" i="1">
                        <a:solidFill>
                          <a:srgbClr val="CC0000"/>
                        </a:solidFill>
                        <a:latin typeface="Cambria Math" panose="02040503050406030204" pitchFamily="18" charset="0"/>
                      </a:rPr>
                      <m:t> </m:t>
                    </m:r>
                    <m:r>
                      <a:rPr lang="en-IN" sz="2000" i="1">
                        <a:solidFill>
                          <a:srgbClr val="CC0000"/>
                        </a:solidFill>
                        <a:latin typeface="Cambria Math" panose="02040503050406030204" pitchFamily="18" charset="0"/>
                      </a:rPr>
                      <m:t>𝑓𝑢𝑛</m:t>
                    </m:r>
                    <m:d>
                      <m:dPr>
                        <m:ctrlPr>
                          <a:rPr lang="en-IN" sz="2000" i="1">
                            <a:solidFill>
                              <a:srgbClr val="CC0000"/>
                            </a:solidFill>
                            <a:latin typeface="Cambria Math" panose="02040503050406030204" pitchFamily="18" charset="0"/>
                          </a:rPr>
                        </m:ctrlPr>
                      </m:dPr>
                      <m:e>
                        <m:r>
                          <a:rPr lang="en-IN" sz="2000" i="1">
                            <a:solidFill>
                              <a:srgbClr val="CC0000"/>
                            </a:solidFill>
                            <a:latin typeface="Cambria Math" panose="02040503050406030204" pitchFamily="18" charset="0"/>
                          </a:rPr>
                          <m:t>𝑖𝑛𝑡</m:t>
                        </m:r>
                        <m:r>
                          <a:rPr lang="en-IN" sz="2000" i="1">
                            <a:solidFill>
                              <a:srgbClr val="CC0000"/>
                            </a:solidFill>
                            <a:latin typeface="Cambria Math" panose="02040503050406030204" pitchFamily="18" charset="0"/>
                          </a:rPr>
                          <m:t> </m:t>
                        </m:r>
                        <m:r>
                          <a:rPr lang="en-IN" sz="2000" i="1">
                            <a:solidFill>
                              <a:srgbClr val="CC0000"/>
                            </a:solidFill>
                            <a:latin typeface="Cambria Math" panose="02040503050406030204" pitchFamily="18" charset="0"/>
                          </a:rPr>
                          <m:t>𝑛</m:t>
                        </m:r>
                      </m:e>
                    </m:d>
                  </m:oMath>
                </a14:m>
                <a:r>
                  <a:rPr lang="en-IN" sz="2000" i="1" dirty="0">
                    <a:solidFill>
                      <a:srgbClr val="CC0000"/>
                    </a:solidFill>
                    <a:latin typeface="Cambria Math" panose="02040503050406030204" pitchFamily="18" charset="0"/>
                  </a:rPr>
                  <a:t>                        </a:t>
                </a:r>
                <a:r>
                  <a:rPr lang="en-IN" sz="2000" dirty="0">
                    <a:latin typeface="Cambria Math" panose="02040503050406030204" pitchFamily="18" charset="0"/>
                  </a:rPr>
                  <a:t>------</a:t>
                </a:r>
                <a:r>
                  <a:rPr lang="en-IN" sz="2000" dirty="0">
                    <a:latin typeface="Cambria Math" panose="02040503050406030204" pitchFamily="18" charset="0"/>
                    <a:sym typeface="Wingdings" panose="05000000000000000000" pitchFamily="2" charset="2"/>
                  </a:rPr>
                  <a:t> T(n)</a:t>
                </a:r>
                <a:endParaRPr lang="en-IN" sz="2000" dirty="0">
                  <a:latin typeface="Cambria Math" panose="02040503050406030204" pitchFamily="18" charset="0"/>
                </a:endParaRPr>
              </a:p>
              <a:p>
                <a:pPr marL="0" indent="0">
                  <a:spcBef>
                    <a:spcPts val="0"/>
                  </a:spcBef>
                  <a:buNone/>
                </a:pPr>
                <a14:m>
                  <m:oMathPara xmlns:m="http://schemas.openxmlformats.org/officeDocument/2006/math">
                    <m:oMathParaPr>
                      <m:jc m:val="left"/>
                    </m:oMathParaPr>
                    <m:oMath xmlns:m="http://schemas.openxmlformats.org/officeDocument/2006/math">
                      <m:r>
                        <a:rPr lang="en-IN" sz="2000" i="1">
                          <a:solidFill>
                            <a:srgbClr val="CC0000"/>
                          </a:solidFill>
                          <a:latin typeface="Cambria Math" panose="02040503050406030204" pitchFamily="18" charset="0"/>
                        </a:rPr>
                        <m:t>{ </m:t>
                      </m:r>
                    </m:oMath>
                  </m:oMathPara>
                </a14:m>
                <a:endParaRPr lang="en-IN" sz="2000" i="1" dirty="0">
                  <a:solidFill>
                    <a:srgbClr val="CC0000"/>
                  </a:solidFill>
                  <a:latin typeface="Cambria Math" panose="02040503050406030204" pitchFamily="18" charset="0"/>
                </a:endParaRPr>
              </a:p>
              <a:p>
                <a:pPr marL="0" indent="0">
                  <a:spcBef>
                    <a:spcPts val="0"/>
                  </a:spcBef>
                  <a:buNone/>
                </a:pPr>
                <a:r>
                  <a:rPr lang="en-IN" sz="2000" dirty="0">
                    <a:solidFill>
                      <a:srgbClr val="CC0000"/>
                    </a:solidFill>
                  </a:rPr>
                  <a:t>  </a:t>
                </a:r>
                <a14:m>
                  <m:oMath xmlns:m="http://schemas.openxmlformats.org/officeDocument/2006/math">
                    <m:r>
                      <a:rPr lang="en-IN" sz="2000" i="1">
                        <a:solidFill>
                          <a:srgbClr val="CC0000"/>
                        </a:solidFill>
                        <a:latin typeface="Cambria Math" panose="02040503050406030204" pitchFamily="18" charset="0"/>
                      </a:rPr>
                      <m:t>𝑖𝑓</m:t>
                    </m:r>
                    <m:d>
                      <m:dPr>
                        <m:ctrlPr>
                          <a:rPr lang="en-IN" sz="2000" i="1">
                            <a:solidFill>
                              <a:srgbClr val="CC0000"/>
                            </a:solidFill>
                            <a:latin typeface="Cambria Math" panose="02040503050406030204" pitchFamily="18" charset="0"/>
                          </a:rPr>
                        </m:ctrlPr>
                      </m:dPr>
                      <m:e>
                        <m:r>
                          <a:rPr lang="en-IN" sz="2000" i="1">
                            <a:solidFill>
                              <a:srgbClr val="CC0000"/>
                            </a:solidFill>
                            <a:latin typeface="Cambria Math" panose="02040503050406030204" pitchFamily="18" charset="0"/>
                          </a:rPr>
                          <m:t>𝑛</m:t>
                        </m:r>
                        <m:r>
                          <a:rPr lang="en-IN" sz="2000" i="1">
                            <a:solidFill>
                              <a:srgbClr val="CC0000"/>
                            </a:solidFill>
                            <a:latin typeface="Cambria Math" panose="02040503050406030204" pitchFamily="18" charset="0"/>
                          </a:rPr>
                          <m:t>&gt;</m:t>
                        </m:r>
                        <m:r>
                          <a:rPr lang="en-IN" sz="2000" i="1">
                            <a:solidFill>
                              <a:srgbClr val="CC0000"/>
                            </a:solidFill>
                            <a:latin typeface="Cambria Math" panose="02040503050406030204" pitchFamily="18" charset="0"/>
                          </a:rPr>
                          <m:t>0</m:t>
                        </m:r>
                      </m:e>
                    </m:d>
                  </m:oMath>
                </a14:m>
                <a:r>
                  <a:rPr lang="en-IN" sz="2000" i="1" dirty="0">
                    <a:solidFill>
                      <a:srgbClr val="CC0000"/>
                    </a:solidFill>
                    <a:latin typeface="Cambria Math" panose="02040503050406030204" pitchFamily="18" charset="0"/>
                  </a:rPr>
                  <a:t>                                   </a:t>
                </a:r>
                <a:r>
                  <a:rPr lang="en-IN" sz="2000" i="1" dirty="0">
                    <a:latin typeface="Cambria Math" panose="02040503050406030204" pitchFamily="18" charset="0"/>
                  </a:rPr>
                  <a:t>---</a:t>
                </a:r>
                <a:r>
                  <a:rPr lang="en-IN" sz="2000" i="1" dirty="0">
                    <a:latin typeface="Cambria Math" panose="02040503050406030204" pitchFamily="18" charset="0"/>
                    <a:sym typeface="Wingdings" panose="05000000000000000000" pitchFamily="2" charset="2"/>
                  </a:rPr>
                  <a:t> 1 </a:t>
                </a:r>
                <a:endParaRPr lang="en-IN" sz="2000" i="1" dirty="0">
                  <a:latin typeface="Cambria Math" panose="02040503050406030204" pitchFamily="18" charset="0"/>
                </a:endParaRPr>
              </a:p>
              <a:p>
                <a:pPr marL="0" indent="0">
                  <a:spcBef>
                    <a:spcPts val="0"/>
                  </a:spcBef>
                  <a:buNone/>
                </a:pPr>
                <a:r>
                  <a:rPr lang="en-IN" sz="2000" dirty="0">
                    <a:solidFill>
                      <a:srgbClr val="CC0000"/>
                    </a:solidFill>
                  </a:rPr>
                  <a:t>   </a:t>
                </a:r>
                <a14:m>
                  <m:oMath xmlns:m="http://schemas.openxmlformats.org/officeDocument/2006/math">
                    <m:r>
                      <a:rPr lang="en-IN" sz="2000" i="1">
                        <a:solidFill>
                          <a:srgbClr val="CC0000"/>
                        </a:solidFill>
                        <a:latin typeface="Cambria Math" panose="02040503050406030204" pitchFamily="18" charset="0"/>
                      </a:rPr>
                      <m:t>{ </m:t>
                    </m:r>
                  </m:oMath>
                </a14:m>
                <a:endParaRPr lang="en-IN" sz="2000" i="1" dirty="0">
                  <a:solidFill>
                    <a:srgbClr val="CC0000"/>
                  </a:solidFill>
                  <a:latin typeface="Cambria Math" panose="02040503050406030204" pitchFamily="18" charset="0"/>
                </a:endParaRPr>
              </a:p>
              <a:p>
                <a:pPr marL="0" indent="0">
                  <a:spcBef>
                    <a:spcPts val="0"/>
                  </a:spcBef>
                  <a:buNone/>
                </a:pPr>
                <a:r>
                  <a:rPr lang="en-IN" sz="2000" i="1" dirty="0">
                    <a:solidFill>
                      <a:srgbClr val="CC0000"/>
                    </a:solidFill>
                    <a:latin typeface="Cambria Math" panose="02040503050406030204" pitchFamily="18" charset="0"/>
                  </a:rPr>
                  <a:t>        </a:t>
                </a:r>
                <a14:m>
                  <m:oMath xmlns:m="http://schemas.openxmlformats.org/officeDocument/2006/math">
                    <m:r>
                      <a:rPr lang="en-IN" sz="2000" i="1">
                        <a:solidFill>
                          <a:srgbClr val="CC0000"/>
                        </a:solidFill>
                        <a:latin typeface="Cambria Math" panose="02040503050406030204" pitchFamily="18" charset="0"/>
                      </a:rPr>
                      <m:t>𝑓𝑜𝑟</m:t>
                    </m:r>
                    <m:d>
                      <m:dPr>
                        <m:ctrlPr>
                          <a:rPr lang="en-IN" sz="2000" i="1">
                            <a:solidFill>
                              <a:srgbClr val="CC0000"/>
                            </a:solidFill>
                            <a:latin typeface="Cambria Math" panose="02040503050406030204" pitchFamily="18" charset="0"/>
                          </a:rPr>
                        </m:ctrlPr>
                      </m:dPr>
                      <m:e>
                        <m:r>
                          <a:rPr lang="en-IN" sz="2000" i="1">
                            <a:solidFill>
                              <a:srgbClr val="CC0000"/>
                            </a:solidFill>
                            <a:latin typeface="Cambria Math" panose="02040503050406030204" pitchFamily="18" charset="0"/>
                          </a:rPr>
                          <m:t>𝑖</m:t>
                        </m:r>
                        <m:r>
                          <a:rPr lang="en-IN" sz="2000" i="1">
                            <a:solidFill>
                              <a:srgbClr val="CC0000"/>
                            </a:solidFill>
                            <a:latin typeface="Cambria Math" panose="02040503050406030204" pitchFamily="18" charset="0"/>
                          </a:rPr>
                          <m:t>=</m:t>
                        </m:r>
                        <m:r>
                          <a:rPr lang="en-IN" sz="2000" i="1">
                            <a:solidFill>
                              <a:srgbClr val="CC0000"/>
                            </a:solidFill>
                            <a:latin typeface="Cambria Math" panose="02040503050406030204" pitchFamily="18" charset="0"/>
                          </a:rPr>
                          <m:t>0</m:t>
                        </m:r>
                        <m:r>
                          <a:rPr lang="en-IN" sz="2000" i="1">
                            <a:solidFill>
                              <a:srgbClr val="CC0000"/>
                            </a:solidFill>
                            <a:latin typeface="Cambria Math" panose="02040503050406030204" pitchFamily="18" charset="0"/>
                          </a:rPr>
                          <m:t>;</m:t>
                        </m:r>
                        <m:r>
                          <a:rPr lang="en-IN" sz="2000" i="1">
                            <a:solidFill>
                              <a:srgbClr val="CC0000"/>
                            </a:solidFill>
                            <a:latin typeface="Cambria Math" panose="02040503050406030204" pitchFamily="18" charset="0"/>
                          </a:rPr>
                          <m:t>𝑖</m:t>
                        </m:r>
                        <m:r>
                          <a:rPr lang="en-IN" sz="2000" i="1">
                            <a:solidFill>
                              <a:srgbClr val="CC0000"/>
                            </a:solidFill>
                            <a:latin typeface="Cambria Math" panose="02040503050406030204" pitchFamily="18" charset="0"/>
                          </a:rPr>
                          <m:t>&lt;</m:t>
                        </m:r>
                        <m:r>
                          <a:rPr lang="en-IN" sz="2000" i="1">
                            <a:solidFill>
                              <a:srgbClr val="CC0000"/>
                            </a:solidFill>
                            <a:latin typeface="Cambria Math" panose="02040503050406030204" pitchFamily="18" charset="0"/>
                          </a:rPr>
                          <m:t>𝑛</m:t>
                        </m:r>
                        <m:r>
                          <a:rPr lang="en-IN" sz="2000" i="1">
                            <a:solidFill>
                              <a:srgbClr val="CC0000"/>
                            </a:solidFill>
                            <a:latin typeface="Cambria Math" panose="02040503050406030204" pitchFamily="18" charset="0"/>
                          </a:rPr>
                          <m:t>;</m:t>
                        </m:r>
                        <m:r>
                          <a:rPr lang="en-IN" sz="2000" i="1">
                            <a:solidFill>
                              <a:srgbClr val="CC0000"/>
                            </a:solidFill>
                            <a:latin typeface="Cambria Math" panose="02040503050406030204" pitchFamily="18" charset="0"/>
                          </a:rPr>
                          <m:t>𝑖</m:t>
                        </m:r>
                        <m:r>
                          <a:rPr lang="en-IN" sz="2000" i="1">
                            <a:solidFill>
                              <a:srgbClr val="CC0000"/>
                            </a:solidFill>
                            <a:latin typeface="Cambria Math" panose="02040503050406030204" pitchFamily="18" charset="0"/>
                          </a:rPr>
                          <m:t>++</m:t>
                        </m:r>
                      </m:e>
                    </m:d>
                  </m:oMath>
                </a14:m>
                <a:r>
                  <a:rPr lang="en-IN" sz="2000" i="1" dirty="0">
                    <a:solidFill>
                      <a:srgbClr val="CC0000"/>
                    </a:solidFill>
                    <a:latin typeface="Cambria Math" panose="02040503050406030204" pitchFamily="18" charset="0"/>
                  </a:rPr>
                  <a:t>   </a:t>
                </a:r>
                <a:r>
                  <a:rPr lang="en-IN" sz="2000" i="1" dirty="0">
                    <a:latin typeface="Cambria Math" panose="02040503050406030204" pitchFamily="18" charset="0"/>
                  </a:rPr>
                  <a:t>---</a:t>
                </a:r>
                <a:r>
                  <a:rPr lang="en-IN" sz="2000" i="1" dirty="0">
                    <a:latin typeface="Cambria Math" panose="02040503050406030204" pitchFamily="18" charset="0"/>
                    <a:sym typeface="Wingdings" panose="05000000000000000000" pitchFamily="2" charset="2"/>
                  </a:rPr>
                  <a:t> n+1</a:t>
                </a:r>
                <a:endParaRPr lang="en-IN" sz="2000" i="1" dirty="0">
                  <a:solidFill>
                    <a:srgbClr val="CC0000"/>
                  </a:solidFill>
                  <a:latin typeface="Cambria Math" panose="02040503050406030204" pitchFamily="18" charset="0"/>
                </a:endParaRPr>
              </a:p>
              <a:p>
                <a:pPr marL="0" indent="0">
                  <a:spcBef>
                    <a:spcPts val="0"/>
                  </a:spcBef>
                  <a:buNone/>
                </a:pPr>
                <a:r>
                  <a:rPr lang="en-IN" sz="2000" dirty="0">
                    <a:solidFill>
                      <a:srgbClr val="CC0000"/>
                    </a:solidFill>
                  </a:rPr>
                  <a:t>       </a:t>
                </a:r>
                <a14:m>
                  <m:oMath xmlns:m="http://schemas.openxmlformats.org/officeDocument/2006/math">
                    <m:r>
                      <a:rPr lang="en-IN" sz="2000" i="1">
                        <a:solidFill>
                          <a:srgbClr val="CC0000"/>
                        </a:solidFill>
                        <a:latin typeface="Cambria Math" panose="02040503050406030204" pitchFamily="18" charset="0"/>
                      </a:rPr>
                      <m:t>{</m:t>
                    </m:r>
                  </m:oMath>
                </a14:m>
                <a:endParaRPr lang="en-IN" sz="2000" i="1" dirty="0">
                  <a:solidFill>
                    <a:srgbClr val="CC0000"/>
                  </a:solidFill>
                  <a:latin typeface="Cambria Math" panose="02040503050406030204" pitchFamily="18" charset="0"/>
                </a:endParaRPr>
              </a:p>
              <a:p>
                <a:pPr marL="0" indent="0">
                  <a:spcBef>
                    <a:spcPts val="0"/>
                  </a:spcBef>
                  <a:buNone/>
                </a:pPr>
                <a:r>
                  <a:rPr lang="en-IN" sz="2000" dirty="0">
                    <a:solidFill>
                      <a:srgbClr val="CC0000"/>
                    </a:solidFill>
                  </a:rPr>
                  <a:t>      </a:t>
                </a:r>
                <a14:m>
                  <m:oMath xmlns:m="http://schemas.openxmlformats.org/officeDocument/2006/math">
                    <m:r>
                      <a:rPr lang="en-IN" sz="2000">
                        <a:solidFill>
                          <a:srgbClr val="CC0000"/>
                        </a:solidFill>
                        <a:latin typeface="Cambria Math" panose="02040503050406030204" pitchFamily="18" charset="0"/>
                      </a:rPr>
                      <m:t>     </m:t>
                    </m:r>
                    <m:r>
                      <a:rPr lang="en-IN" sz="2000" i="1">
                        <a:solidFill>
                          <a:srgbClr val="CC0000"/>
                        </a:solidFill>
                        <a:latin typeface="Cambria Math" panose="02040503050406030204" pitchFamily="18" charset="0"/>
                      </a:rPr>
                      <m:t>𝑝𝑟𝑖𝑛𝑡𝑓</m:t>
                    </m:r>
                    <m:r>
                      <a:rPr lang="en-IN" sz="2000" i="1">
                        <a:solidFill>
                          <a:srgbClr val="CC0000"/>
                        </a:solidFill>
                        <a:latin typeface="Cambria Math" panose="02040503050406030204" pitchFamily="18" charset="0"/>
                      </a:rPr>
                      <m:t>(</m:t>
                    </m:r>
                    <m:r>
                      <m:rPr>
                        <m:nor/>
                      </m:rPr>
                      <a:rPr lang="en-IN" sz="2000">
                        <a:solidFill>
                          <a:srgbClr val="CC0000"/>
                        </a:solidFill>
                        <a:latin typeface="Cambria Math" panose="02040503050406030204" pitchFamily="18" charset="0"/>
                      </a:rPr>
                      <m:t>"</m:t>
                    </m:r>
                    <m:r>
                      <m:rPr>
                        <m:nor/>
                      </m:rPr>
                      <a:rPr lang="en-IN" sz="2000">
                        <a:solidFill>
                          <a:srgbClr val="CC0000"/>
                        </a:solidFill>
                        <a:latin typeface="Cambria Math" panose="02040503050406030204" pitchFamily="18" charset="0"/>
                      </a:rPr>
                      <m:t>Amity</m:t>
                    </m:r>
                    <m:r>
                      <a:rPr lang="en-IN" sz="2000" i="1">
                        <a:solidFill>
                          <a:srgbClr val="CC0000"/>
                        </a:solidFill>
                        <a:latin typeface="Cambria Math" panose="02040503050406030204" pitchFamily="18" charset="0"/>
                      </a:rPr>
                      <m:t>");</m:t>
                    </m:r>
                  </m:oMath>
                </a14:m>
                <a:r>
                  <a:rPr lang="en-IN" sz="2000" i="1" dirty="0">
                    <a:solidFill>
                      <a:srgbClr val="CC0000"/>
                    </a:solidFill>
                    <a:latin typeface="Cambria Math" panose="02040503050406030204" pitchFamily="18" charset="0"/>
                  </a:rPr>
                  <a:t>          </a:t>
                </a:r>
                <a:r>
                  <a:rPr lang="en-IN" sz="2000" i="1" dirty="0">
                    <a:latin typeface="Cambria Math" panose="02040503050406030204" pitchFamily="18" charset="0"/>
                  </a:rPr>
                  <a:t>---</a:t>
                </a:r>
                <a:r>
                  <a:rPr lang="en-IN" sz="2000" i="1" dirty="0">
                    <a:latin typeface="Cambria Math" panose="02040503050406030204" pitchFamily="18" charset="0"/>
                    <a:sym typeface="Wingdings" panose="05000000000000000000" pitchFamily="2" charset="2"/>
                  </a:rPr>
                  <a:t> n</a:t>
                </a:r>
                <a:endParaRPr lang="en-IN" sz="2000" i="1" dirty="0">
                  <a:solidFill>
                    <a:srgbClr val="CC0000"/>
                  </a:solidFill>
                  <a:latin typeface="Cambria Math" panose="02040503050406030204" pitchFamily="18" charset="0"/>
                </a:endParaRPr>
              </a:p>
              <a:p>
                <a:pPr marL="0" indent="0">
                  <a:spcBef>
                    <a:spcPts val="0"/>
                  </a:spcBef>
                  <a:buNone/>
                </a:pPr>
                <a:r>
                  <a:rPr lang="en-IN" sz="2000" dirty="0">
                    <a:solidFill>
                      <a:srgbClr val="CC0000"/>
                    </a:solidFill>
                  </a:rPr>
                  <a:t>        </a:t>
                </a:r>
                <a14:m>
                  <m:oMath xmlns:m="http://schemas.openxmlformats.org/officeDocument/2006/math">
                    <m:r>
                      <a:rPr lang="en-IN" sz="2000" i="1">
                        <a:solidFill>
                          <a:srgbClr val="CC0000"/>
                        </a:solidFill>
                        <a:latin typeface="Cambria Math" panose="02040503050406030204" pitchFamily="18" charset="0"/>
                      </a:rPr>
                      <m:t>} </m:t>
                    </m:r>
                  </m:oMath>
                </a14:m>
                <a:r>
                  <a:rPr lang="en-IN" sz="2000" i="1" dirty="0">
                    <a:solidFill>
                      <a:srgbClr val="CC0000"/>
                    </a:solidFill>
                    <a:latin typeface="Cambria Math" panose="02040503050406030204" pitchFamily="18" charset="0"/>
                  </a:rPr>
                  <a:t>   </a:t>
                </a:r>
                <a:endParaRPr lang="en-IN" sz="2000" dirty="0">
                  <a:latin typeface="Cambria Math" panose="02040503050406030204" pitchFamily="18" charset="0"/>
                </a:endParaRPr>
              </a:p>
              <a:p>
                <a:pPr marL="0" indent="0">
                  <a:spcBef>
                    <a:spcPts val="0"/>
                  </a:spcBef>
                  <a:buNone/>
                </a:pPr>
                <a:r>
                  <a:rPr lang="en-IN" sz="2000" dirty="0">
                    <a:solidFill>
                      <a:srgbClr val="CC0000"/>
                    </a:solidFill>
                  </a:rPr>
                  <a:t>      </a:t>
                </a:r>
                <a14:m>
                  <m:oMath xmlns:m="http://schemas.openxmlformats.org/officeDocument/2006/math">
                    <m:r>
                      <a:rPr lang="en-IN" sz="2000" i="1">
                        <a:solidFill>
                          <a:srgbClr val="CC0000"/>
                        </a:solidFill>
                        <a:latin typeface="Cambria Math" panose="02040503050406030204" pitchFamily="18" charset="0"/>
                      </a:rPr>
                      <m:t>𝑓𝑢𝑛</m:t>
                    </m:r>
                    <m:d>
                      <m:dPr>
                        <m:ctrlPr>
                          <a:rPr lang="en-IN" sz="2000" i="1">
                            <a:solidFill>
                              <a:srgbClr val="CC0000"/>
                            </a:solidFill>
                            <a:latin typeface="Cambria Math" panose="02040503050406030204" pitchFamily="18" charset="0"/>
                          </a:rPr>
                        </m:ctrlPr>
                      </m:dPr>
                      <m:e>
                        <m:r>
                          <a:rPr lang="en-IN" sz="2000" i="1">
                            <a:solidFill>
                              <a:srgbClr val="CC0000"/>
                            </a:solidFill>
                            <a:latin typeface="Cambria Math" panose="02040503050406030204" pitchFamily="18" charset="0"/>
                          </a:rPr>
                          <m:t>𝑛</m:t>
                        </m:r>
                        <m:r>
                          <a:rPr lang="en-IN" sz="2000" i="1">
                            <a:solidFill>
                              <a:srgbClr val="CC0000"/>
                            </a:solidFill>
                            <a:latin typeface="Cambria Math" panose="02040503050406030204" pitchFamily="18" charset="0"/>
                          </a:rPr>
                          <m:t>−</m:t>
                        </m:r>
                        <m:r>
                          <a:rPr lang="en-IN" sz="2000" i="1">
                            <a:solidFill>
                              <a:srgbClr val="CC0000"/>
                            </a:solidFill>
                            <a:latin typeface="Cambria Math" panose="02040503050406030204" pitchFamily="18" charset="0"/>
                          </a:rPr>
                          <m:t>1</m:t>
                        </m:r>
                      </m:e>
                    </m:d>
                    <m:r>
                      <a:rPr lang="en-IN" sz="2000" i="1">
                        <a:solidFill>
                          <a:srgbClr val="CC0000"/>
                        </a:solidFill>
                        <a:latin typeface="Cambria Math" panose="02040503050406030204" pitchFamily="18" charset="0"/>
                      </a:rPr>
                      <m:t>;</m:t>
                    </m:r>
                  </m:oMath>
                </a14:m>
                <a:r>
                  <a:rPr lang="en-IN" sz="2000" i="1" dirty="0">
                    <a:solidFill>
                      <a:srgbClr val="CC0000"/>
                    </a:solidFill>
                    <a:latin typeface="Cambria Math" panose="02040503050406030204" pitchFamily="18" charset="0"/>
                  </a:rPr>
                  <a:t>               </a:t>
                </a:r>
                <a:r>
                  <a:rPr lang="en-IN" sz="2000" dirty="0">
                    <a:latin typeface="Cambria Math" panose="02040503050406030204" pitchFamily="18" charset="0"/>
                  </a:rPr>
                  <a:t>-----</a:t>
                </a:r>
                <a:r>
                  <a:rPr lang="en-IN" sz="2000" dirty="0">
                    <a:latin typeface="Cambria Math" panose="02040503050406030204" pitchFamily="18" charset="0"/>
                    <a:sym typeface="Wingdings" panose="05000000000000000000" pitchFamily="2" charset="2"/>
                  </a:rPr>
                  <a:t> T(n-1)</a:t>
                </a:r>
                <a:endParaRPr lang="en-IN" sz="2000" dirty="0">
                  <a:latin typeface="Cambria Math" panose="02040503050406030204" pitchFamily="18" charset="0"/>
                </a:endParaRPr>
              </a:p>
              <a:p>
                <a:pPr marL="0" indent="0">
                  <a:spcBef>
                    <a:spcPts val="0"/>
                  </a:spcBef>
                  <a:buNone/>
                </a:pPr>
                <a:r>
                  <a:rPr lang="en-IN" sz="2000" dirty="0">
                    <a:solidFill>
                      <a:srgbClr val="CC0000"/>
                    </a:solidFill>
                  </a:rPr>
                  <a:t>   </a:t>
                </a:r>
                <a14:m>
                  <m:oMath xmlns:m="http://schemas.openxmlformats.org/officeDocument/2006/math">
                    <m:r>
                      <a:rPr lang="en-IN" sz="2000">
                        <a:solidFill>
                          <a:srgbClr val="CC0000"/>
                        </a:solidFill>
                        <a:latin typeface="Cambria Math" panose="02040503050406030204" pitchFamily="18" charset="0"/>
                      </a:rPr>
                      <m:t> }</m:t>
                    </m:r>
                  </m:oMath>
                </a14:m>
                <a:endParaRPr lang="en-IN" sz="2000" dirty="0">
                  <a:solidFill>
                    <a:srgbClr val="CC0000"/>
                  </a:solidFill>
                  <a:latin typeface="Cambria Math" panose="02040503050406030204" pitchFamily="18" charset="0"/>
                </a:endParaRPr>
              </a:p>
              <a:p>
                <a:pPr marL="0" indent="0">
                  <a:spcBef>
                    <a:spcPts val="0"/>
                  </a:spcBef>
                  <a:buNone/>
                </a:pPr>
                <a14:m>
                  <m:oMath xmlns:m="http://schemas.openxmlformats.org/officeDocument/2006/math">
                    <m:r>
                      <a:rPr lang="en-IN" sz="2000">
                        <a:solidFill>
                          <a:srgbClr val="CC0000"/>
                        </a:solidFill>
                        <a:latin typeface="Cambria Math" panose="02040503050406030204" pitchFamily="18" charset="0"/>
                      </a:rPr>
                      <m:t> }</m:t>
                    </m:r>
                  </m:oMath>
                </a14:m>
                <a:r>
                  <a:rPr lang="en-IN" sz="2000" dirty="0">
                    <a:solidFill>
                      <a:srgbClr val="CC0000"/>
                    </a:solidFill>
                  </a:rPr>
                  <a:t>                            </a:t>
                </a:r>
                <a:r>
                  <a:rPr lang="en-IN" sz="2000" dirty="0"/>
                  <a:t>----------------------------</a:t>
                </a:r>
              </a:p>
              <a:p>
                <a:pPr marL="0" indent="0">
                  <a:buNone/>
                </a:pPr>
                <a:r>
                  <a:rPr lang="en-IN" sz="1800" dirty="0"/>
                  <a:t>                                      T(n)=T(n-1)+2n+2=T(n-1)+O(n)</a:t>
                </a:r>
              </a:p>
              <a:p>
                <a:pPr marL="0" indent="0">
                  <a:buNone/>
                </a:pPr>
                <a:r>
                  <a:rPr lang="en-IN" sz="1800" dirty="0"/>
                  <a:t>Recurrence relation:</a:t>
                </a:r>
              </a:p>
              <a:p>
                <a:pPr marL="0" indent="0">
                  <a:buNone/>
                </a:pPr>
                <a:endParaRPr lang="en-IN" sz="2000" dirty="0"/>
              </a:p>
            </p:txBody>
          </p:sp>
        </mc:Choice>
        <mc:Fallback xmlns="">
          <p:sp>
            <p:nvSpPr>
              <p:cNvPr id="5" name="Content Placeholder 2">
                <a:extLst>
                  <a:ext uri="{FF2B5EF4-FFF2-40B4-BE49-F238E27FC236}">
                    <a16:creationId xmlns:a16="http://schemas.microsoft.com/office/drawing/2014/main" id="{8F4CEE0F-28B5-40DD-93A2-636273C6C62C}"/>
                  </a:ext>
                </a:extLst>
              </p:cNvPr>
              <p:cNvSpPr>
                <a:spLocks noGrp="1" noRot="1" noChangeAspect="1" noMove="1" noResize="1" noEditPoints="1" noAdjustHandles="1" noChangeArrowheads="1" noChangeShapeType="1" noTextEdit="1"/>
              </p:cNvSpPr>
              <p:nvPr>
                <p:ph idx="1"/>
              </p:nvPr>
            </p:nvSpPr>
            <p:spPr>
              <a:xfrm>
                <a:off x="2152650" y="1285265"/>
                <a:ext cx="7886700" cy="5540184"/>
              </a:xfrm>
              <a:blipFill>
                <a:blip r:embed="rId2"/>
                <a:stretch>
                  <a:fillRect l="-1546" t="-1870"/>
                </a:stretch>
              </a:blipFill>
            </p:spPr>
            <p:txBody>
              <a:bodyPr/>
              <a:lstStyle/>
              <a:p>
                <a:r>
                  <a:rPr lang="en-ID">
                    <a:noFill/>
                  </a:rPr>
                  <a:t> </a:t>
                </a:r>
              </a:p>
            </p:txBody>
          </p:sp>
        </mc:Fallback>
      </mc:AlternateContent>
      <p:sp>
        <p:nvSpPr>
          <p:cNvPr id="4" name="Slide Number Placeholder 3">
            <a:extLst>
              <a:ext uri="{FF2B5EF4-FFF2-40B4-BE49-F238E27FC236}">
                <a16:creationId xmlns:a16="http://schemas.microsoft.com/office/drawing/2014/main" id="{0AA99B7B-C018-40F2-AE92-716176DA8F75}"/>
              </a:ext>
            </a:extLst>
          </p:cNvPr>
          <p:cNvSpPr>
            <a:spLocks noGrp="1"/>
          </p:cNvSpPr>
          <p:nvPr>
            <p:ph type="sldNum" idx="12"/>
          </p:nvPr>
        </p:nvSpPr>
        <p:spPr/>
        <p:txBody>
          <a:bodyPr/>
          <a:lstStyle/>
          <a:p>
            <a:pPr>
              <a:defRPr/>
            </a:pPr>
            <a:fld id="{0314B9FC-F7FA-4A5F-A68B-9084E75933A3}" type="slidenum">
              <a:rPr lang="en-US" altLang="en-US" smtClean="0"/>
              <a:pPr>
                <a:defRPr/>
              </a:pPr>
              <a:t>11</a:t>
            </a:fld>
            <a:endParaRPr lang="en-US" alt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4A653EB-232A-4E7F-86EB-12DC9C7D0E1A}"/>
                  </a:ext>
                </a:extLst>
              </p:cNvPr>
              <p:cNvSpPr txBox="1"/>
              <p:nvPr/>
            </p:nvSpPr>
            <p:spPr>
              <a:xfrm>
                <a:off x="3810000" y="5892481"/>
                <a:ext cx="3810000" cy="71019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𝑇</m:t>
                      </m:r>
                      <m:d>
                        <m:dPr>
                          <m:ctrlPr>
                            <a:rPr lang="en-IN" i="1">
                              <a:latin typeface="Cambria Math" panose="02040503050406030204" pitchFamily="18" charset="0"/>
                            </a:rPr>
                          </m:ctrlPr>
                        </m:dPr>
                        <m:e>
                          <m:r>
                            <a:rPr lang="en-IN" i="1">
                              <a:latin typeface="Cambria Math" panose="02040503050406030204" pitchFamily="18" charset="0"/>
                            </a:rPr>
                            <m:t>𝑛</m:t>
                          </m:r>
                        </m:e>
                      </m:d>
                      <m:r>
                        <a:rPr lang="en-IN" i="1">
                          <a:latin typeface="Cambria Math" panose="02040503050406030204" pitchFamily="18" charset="0"/>
                        </a:rPr>
                        <m:t>=</m:t>
                      </m:r>
                      <m:d>
                        <m:dPr>
                          <m:begChr m:val="{"/>
                          <m:endChr m:val=""/>
                          <m:ctrlPr>
                            <a:rPr lang="en-IN" i="1">
                              <a:latin typeface="Cambria Math" panose="02040503050406030204" pitchFamily="18" charset="0"/>
                            </a:rPr>
                          </m:ctrlPr>
                        </m:dPr>
                        <m:e>
                          <m:eqArr>
                            <m:eqArrPr>
                              <m:ctrlPr>
                                <a:rPr lang="en-IN" i="1">
                                  <a:latin typeface="Cambria Math" panose="02040503050406030204" pitchFamily="18" charset="0"/>
                                </a:rPr>
                              </m:ctrlPr>
                            </m:eqArrPr>
                            <m:e>
                              <m:r>
                                <a:rPr lang="en-IN" i="1">
                                  <a:latin typeface="Cambria Math" panose="02040503050406030204" pitchFamily="18" charset="0"/>
                                </a:rPr>
                                <m:t>1</m:t>
                              </m:r>
                              <m:r>
                                <a:rPr lang="en-IN" i="1">
                                  <a:latin typeface="Cambria Math" panose="02040503050406030204" pitchFamily="18" charset="0"/>
                                </a:rPr>
                                <m:t>                       </m:t>
                              </m:r>
                              <m:r>
                                <a:rPr lang="en-IN" i="1">
                                  <a:latin typeface="Cambria Math" panose="02040503050406030204" pitchFamily="18" charset="0"/>
                                </a:rPr>
                                <m:t>𝑛</m:t>
                              </m:r>
                              <m:r>
                                <a:rPr lang="en-IN" i="1">
                                  <a:latin typeface="Cambria Math" panose="02040503050406030204" pitchFamily="18" charset="0"/>
                                </a:rPr>
                                <m:t>=</m:t>
                              </m:r>
                              <m:r>
                                <a:rPr lang="en-IN" i="1">
                                  <a:latin typeface="Cambria Math" panose="02040503050406030204" pitchFamily="18" charset="0"/>
                                </a:rPr>
                                <m:t>0</m:t>
                              </m:r>
                              <m:r>
                                <a:rPr lang="en-IN" i="1">
                                  <a:latin typeface="Cambria Math" panose="02040503050406030204" pitchFamily="18" charset="0"/>
                                </a:rPr>
                                <m:t>             </m:t>
                              </m:r>
                            </m:e>
                            <m:e>
                              <m:r>
                                <a:rPr lang="en-IN" i="1">
                                  <a:latin typeface="Cambria Math" panose="02040503050406030204" pitchFamily="18" charset="0"/>
                                </a:rPr>
                                <m:t>𝑇</m:t>
                              </m:r>
                              <m:d>
                                <m:dPr>
                                  <m:ctrlPr>
                                    <a:rPr lang="en-IN" i="1">
                                      <a:latin typeface="Cambria Math" panose="02040503050406030204" pitchFamily="18" charset="0"/>
                                    </a:rPr>
                                  </m:ctrlPr>
                                </m:dPr>
                                <m:e>
                                  <m:r>
                                    <a:rPr lang="en-IN" i="1">
                                      <a:latin typeface="Cambria Math" panose="02040503050406030204" pitchFamily="18" charset="0"/>
                                    </a:rPr>
                                    <m:t>𝑛</m:t>
                                  </m:r>
                                  <m:r>
                                    <a:rPr lang="en-IN" i="1">
                                      <a:latin typeface="Cambria Math" panose="02040503050406030204" pitchFamily="18" charset="0"/>
                                    </a:rPr>
                                    <m:t>−</m:t>
                                  </m:r>
                                  <m:r>
                                    <a:rPr lang="en-IN" i="1">
                                      <a:latin typeface="Cambria Math" panose="02040503050406030204" pitchFamily="18" charset="0"/>
                                    </a:rPr>
                                    <m:t>1</m:t>
                                  </m:r>
                                </m:e>
                              </m:d>
                              <m:r>
                                <a:rPr lang="en-IN" i="1">
                                  <a:latin typeface="Cambria Math" panose="02040503050406030204" pitchFamily="18" charset="0"/>
                                </a:rPr>
                                <m:t>+</m:t>
                              </m:r>
                              <m:r>
                                <a:rPr lang="en-IN" i="1">
                                  <a:latin typeface="Cambria Math" panose="02040503050406030204" pitchFamily="18" charset="0"/>
                                </a:rPr>
                                <m:t>𝑛</m:t>
                              </m:r>
                              <m:r>
                                <a:rPr lang="en-IN" i="1">
                                  <a:latin typeface="Cambria Math" panose="02040503050406030204" pitchFamily="18" charset="0"/>
                                </a:rPr>
                                <m:t>             </m:t>
                              </m:r>
                              <m:r>
                                <a:rPr lang="en-IN" i="1">
                                  <a:latin typeface="Cambria Math" panose="02040503050406030204" pitchFamily="18" charset="0"/>
                                </a:rPr>
                                <m:t>𝑛</m:t>
                              </m:r>
                              <m:r>
                                <a:rPr lang="en-IN" i="1">
                                  <a:latin typeface="Cambria Math" panose="02040503050406030204" pitchFamily="18" charset="0"/>
                                </a:rPr>
                                <m:t>&gt;</m:t>
                              </m:r>
                              <m:r>
                                <a:rPr lang="en-IN" i="1">
                                  <a:latin typeface="Cambria Math" panose="02040503050406030204" pitchFamily="18" charset="0"/>
                                </a:rPr>
                                <m:t>0</m:t>
                              </m:r>
                            </m:e>
                          </m:eqArr>
                        </m:e>
                      </m:d>
                    </m:oMath>
                  </m:oMathPara>
                </a14:m>
                <a:endParaRPr lang="en-IN" dirty="0"/>
              </a:p>
            </p:txBody>
          </p:sp>
        </mc:Choice>
        <mc:Fallback xmlns="">
          <p:sp>
            <p:nvSpPr>
              <p:cNvPr id="6" name="TextBox 5">
                <a:extLst>
                  <a:ext uri="{FF2B5EF4-FFF2-40B4-BE49-F238E27FC236}">
                    <a16:creationId xmlns:a16="http://schemas.microsoft.com/office/drawing/2014/main" id="{94A653EB-232A-4E7F-86EB-12DC9C7D0E1A}"/>
                  </a:ext>
                </a:extLst>
              </p:cNvPr>
              <p:cNvSpPr txBox="1">
                <a:spLocks noRot="1" noChangeAspect="1" noMove="1" noResize="1" noEditPoints="1" noAdjustHandles="1" noChangeArrowheads="1" noChangeShapeType="1" noTextEdit="1"/>
              </p:cNvSpPr>
              <p:nvPr/>
            </p:nvSpPr>
            <p:spPr>
              <a:xfrm>
                <a:off x="3810000" y="5892481"/>
                <a:ext cx="3810000" cy="710194"/>
              </a:xfrm>
              <a:prstGeom prst="rect">
                <a:avLst/>
              </a:prstGeom>
              <a:blipFill>
                <a:blip r:embed="rId3"/>
                <a:stretch>
                  <a:fillRect/>
                </a:stretch>
              </a:blipFill>
            </p:spPr>
            <p:txBody>
              <a:bodyPr/>
              <a:lstStyle/>
              <a:p>
                <a:r>
                  <a:rPr lang="en-ID">
                    <a:noFill/>
                  </a:rPr>
                  <a:t> </a:t>
                </a:r>
              </a:p>
            </p:txBody>
          </p:sp>
        </mc:Fallback>
      </mc:AlternateContent>
      <p:pic>
        <p:nvPicPr>
          <p:cNvPr id="3" name="Picture 2">
            <a:extLst>
              <a:ext uri="{FF2B5EF4-FFF2-40B4-BE49-F238E27FC236}">
                <a16:creationId xmlns:a16="http://schemas.microsoft.com/office/drawing/2014/main" id="{6D4E066F-DBCF-D93D-BF5D-78C2CB792450}"/>
              </a:ext>
            </a:extLst>
          </p:cNvPr>
          <p:cNvPicPr>
            <a:picLocks noChangeAspect="1"/>
          </p:cNvPicPr>
          <p:nvPr/>
        </p:nvPicPr>
        <p:blipFill>
          <a:blip r:embed="rId4"/>
          <a:stretch>
            <a:fillRect/>
          </a:stretch>
        </p:blipFill>
        <p:spPr>
          <a:xfrm>
            <a:off x="10565466" y="251099"/>
            <a:ext cx="1164437" cy="1005927"/>
          </a:xfrm>
          <a:prstGeom prst="rect">
            <a:avLst/>
          </a:prstGeom>
        </p:spPr>
      </p:pic>
      <p:pic>
        <p:nvPicPr>
          <p:cNvPr id="7" name="Picture 6">
            <a:extLst>
              <a:ext uri="{FF2B5EF4-FFF2-40B4-BE49-F238E27FC236}">
                <a16:creationId xmlns:a16="http://schemas.microsoft.com/office/drawing/2014/main" id="{EED78340-923B-CEB8-0FCF-6DE8715A2591}"/>
              </a:ext>
            </a:extLst>
          </p:cNvPr>
          <p:cNvPicPr>
            <a:picLocks noChangeAspect="1"/>
          </p:cNvPicPr>
          <p:nvPr/>
        </p:nvPicPr>
        <p:blipFill>
          <a:blip r:embed="rId5"/>
          <a:stretch>
            <a:fillRect/>
          </a:stretch>
        </p:blipFill>
        <p:spPr>
          <a:xfrm>
            <a:off x="250533" y="251099"/>
            <a:ext cx="3804234" cy="737680"/>
          </a:xfrm>
          <a:prstGeom prst="rect">
            <a:avLst/>
          </a:prstGeom>
        </p:spPr>
      </p:pic>
    </p:spTree>
    <p:extLst>
      <p:ext uri="{BB962C8B-B14F-4D97-AF65-F5344CB8AC3E}">
        <p14:creationId xmlns:p14="http://schemas.microsoft.com/office/powerpoint/2010/main" val="5113989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5B3E51-ACFA-48B5-AE31-314273E33B7D}"/>
                  </a:ext>
                </a:extLst>
              </p:cNvPr>
              <p:cNvSpPr>
                <a:spLocks noGrp="1"/>
              </p:cNvSpPr>
              <p:nvPr>
                <p:ph type="body" idx="1"/>
              </p:nvPr>
            </p:nvSpPr>
            <p:spPr>
              <a:xfrm>
                <a:off x="2209800" y="1447801"/>
                <a:ext cx="8058150" cy="4759325"/>
              </a:xfrm>
            </p:spPr>
            <p:txBody>
              <a:bodyPr>
                <a:normAutofit lnSpcReduction="10000"/>
              </a:bodyPr>
              <a:lstStyle/>
              <a:p>
                <a14:m>
                  <m:oMath xmlns:m="http://schemas.openxmlformats.org/officeDocument/2006/math">
                    <m:r>
                      <a:rPr lang="en-IN" sz="2000" i="1">
                        <a:latin typeface="Cambria Math" panose="02040503050406030204" pitchFamily="18" charset="0"/>
                      </a:rPr>
                      <m:t>𝑇</m:t>
                    </m:r>
                    <m:d>
                      <m:dPr>
                        <m:ctrlPr>
                          <a:rPr lang="en-IN" sz="2000" i="1">
                            <a:latin typeface="Cambria Math" panose="02040503050406030204" pitchFamily="18" charset="0"/>
                          </a:rPr>
                        </m:ctrlPr>
                      </m:dPr>
                      <m:e>
                        <m:r>
                          <a:rPr lang="en-IN" sz="2000" i="1">
                            <a:latin typeface="Cambria Math" panose="02040503050406030204" pitchFamily="18" charset="0"/>
                          </a:rPr>
                          <m:t>𝑛</m:t>
                        </m:r>
                      </m:e>
                    </m:d>
                    <m:r>
                      <a:rPr lang="en-IN" sz="2000" i="1">
                        <a:latin typeface="Cambria Math" panose="02040503050406030204" pitchFamily="18" charset="0"/>
                      </a:rPr>
                      <m:t>=</m:t>
                    </m:r>
                    <m:d>
                      <m:dPr>
                        <m:begChr m:val="{"/>
                        <m:endChr m:val=""/>
                        <m:ctrlPr>
                          <a:rPr lang="en-IN" sz="2000" i="1">
                            <a:latin typeface="Cambria Math" panose="02040503050406030204" pitchFamily="18" charset="0"/>
                          </a:rPr>
                        </m:ctrlPr>
                      </m:dPr>
                      <m:e>
                        <m:eqArr>
                          <m:eqArrPr>
                            <m:ctrlPr>
                              <a:rPr lang="en-IN" sz="2000" i="1">
                                <a:latin typeface="Cambria Math" panose="02040503050406030204" pitchFamily="18" charset="0"/>
                              </a:rPr>
                            </m:ctrlPr>
                          </m:eqArrPr>
                          <m:e>
                            <m:r>
                              <a:rPr lang="en-IN" sz="2000" i="1">
                                <a:latin typeface="Cambria Math" panose="02040503050406030204" pitchFamily="18" charset="0"/>
                              </a:rPr>
                              <m:t>1</m:t>
                            </m:r>
                            <m:r>
                              <a:rPr lang="en-IN" sz="2000" i="1">
                                <a:latin typeface="Cambria Math" panose="02040503050406030204" pitchFamily="18" charset="0"/>
                              </a:rPr>
                              <m:t>                       </m:t>
                            </m:r>
                            <m:r>
                              <a:rPr lang="en-IN" sz="2000" i="1">
                                <a:latin typeface="Cambria Math" panose="02040503050406030204" pitchFamily="18" charset="0"/>
                              </a:rPr>
                              <m:t>𝑛</m:t>
                            </m:r>
                            <m:r>
                              <a:rPr lang="en-IN" sz="2000" i="1">
                                <a:latin typeface="Cambria Math" panose="02040503050406030204" pitchFamily="18" charset="0"/>
                              </a:rPr>
                              <m:t>=</m:t>
                            </m:r>
                            <m:r>
                              <a:rPr lang="en-IN" sz="2000" i="1">
                                <a:latin typeface="Cambria Math" panose="02040503050406030204" pitchFamily="18" charset="0"/>
                              </a:rPr>
                              <m:t>0</m:t>
                            </m:r>
                            <m:r>
                              <a:rPr lang="en-IN" sz="2000" i="1">
                                <a:latin typeface="Cambria Math" panose="02040503050406030204" pitchFamily="18" charset="0"/>
                              </a:rPr>
                              <m:t>             </m:t>
                            </m:r>
                          </m:e>
                          <m:e>
                            <m:r>
                              <a:rPr lang="en-IN" sz="2000" i="1">
                                <a:latin typeface="Cambria Math" panose="02040503050406030204" pitchFamily="18" charset="0"/>
                              </a:rPr>
                              <m:t>𝑇</m:t>
                            </m:r>
                            <m:d>
                              <m:dPr>
                                <m:ctrlPr>
                                  <a:rPr lang="en-IN" sz="2000" i="1">
                                    <a:latin typeface="Cambria Math" panose="02040503050406030204" pitchFamily="18" charset="0"/>
                                  </a:rPr>
                                </m:ctrlPr>
                              </m:dPr>
                              <m:e>
                                <m:r>
                                  <a:rPr lang="en-IN" sz="2000" i="1">
                                    <a:latin typeface="Cambria Math" panose="02040503050406030204" pitchFamily="18" charset="0"/>
                                  </a:rPr>
                                  <m:t>𝑛</m:t>
                                </m:r>
                                <m:r>
                                  <a:rPr lang="en-IN" sz="2000" i="1">
                                    <a:latin typeface="Cambria Math" panose="02040503050406030204" pitchFamily="18" charset="0"/>
                                  </a:rPr>
                                  <m:t>−</m:t>
                                </m:r>
                                <m:r>
                                  <a:rPr lang="en-IN" sz="2000" i="1">
                                    <a:latin typeface="Cambria Math" panose="02040503050406030204" pitchFamily="18" charset="0"/>
                                  </a:rPr>
                                  <m:t>1</m:t>
                                </m:r>
                              </m:e>
                            </m:d>
                            <m:r>
                              <a:rPr lang="en-IN" sz="2000" i="1">
                                <a:latin typeface="Cambria Math" panose="02040503050406030204" pitchFamily="18" charset="0"/>
                              </a:rPr>
                              <m:t>+</m:t>
                            </m:r>
                            <m:r>
                              <a:rPr lang="en-IN" sz="2000" i="1">
                                <a:latin typeface="Cambria Math" panose="02040503050406030204" pitchFamily="18" charset="0"/>
                              </a:rPr>
                              <m:t>𝑛</m:t>
                            </m:r>
                            <m:r>
                              <a:rPr lang="en-IN" sz="2000" i="1">
                                <a:latin typeface="Cambria Math" panose="02040503050406030204" pitchFamily="18" charset="0"/>
                              </a:rPr>
                              <m:t>             </m:t>
                            </m:r>
                            <m:r>
                              <a:rPr lang="en-IN" sz="2000" i="1">
                                <a:latin typeface="Cambria Math" panose="02040503050406030204" pitchFamily="18" charset="0"/>
                              </a:rPr>
                              <m:t>𝑛</m:t>
                            </m:r>
                            <m:r>
                              <a:rPr lang="en-IN" sz="2000" i="1">
                                <a:latin typeface="Cambria Math" panose="02040503050406030204" pitchFamily="18" charset="0"/>
                              </a:rPr>
                              <m:t>&gt;</m:t>
                            </m:r>
                            <m:r>
                              <a:rPr lang="en-IN" sz="2000" i="1">
                                <a:latin typeface="Cambria Math" panose="02040503050406030204" pitchFamily="18" charset="0"/>
                              </a:rPr>
                              <m:t>0</m:t>
                            </m:r>
                          </m:e>
                        </m:eqArr>
                      </m:e>
                    </m:d>
                  </m:oMath>
                </a14:m>
                <a:endParaRPr lang="en-IN" sz="2000" dirty="0"/>
              </a:p>
              <a:p>
                <a:pPr marL="0" indent="0">
                  <a:buNone/>
                </a:pPr>
                <a:r>
                  <a:rPr lang="en-IN" sz="2000" dirty="0"/>
                  <a:t>Using Back substitution: </a:t>
                </a:r>
                <a:endParaRPr lang="en-IN" sz="200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IN" sz="2000" i="1">
                          <a:latin typeface="Cambria Math" panose="02040503050406030204" pitchFamily="18" charset="0"/>
                        </a:rPr>
                        <m:t>𝑇</m:t>
                      </m:r>
                      <m:d>
                        <m:dPr>
                          <m:ctrlPr>
                            <a:rPr lang="en-IN" sz="2000" i="1">
                              <a:latin typeface="Cambria Math" panose="02040503050406030204" pitchFamily="18" charset="0"/>
                            </a:rPr>
                          </m:ctrlPr>
                        </m:dPr>
                        <m:e>
                          <m:r>
                            <a:rPr lang="en-IN" sz="2000" i="1">
                              <a:latin typeface="Cambria Math" panose="02040503050406030204" pitchFamily="18" charset="0"/>
                            </a:rPr>
                            <m:t>𝑛</m:t>
                          </m:r>
                        </m:e>
                      </m:d>
                      <m:r>
                        <a:rPr lang="en-IN" sz="2000" i="1">
                          <a:latin typeface="Cambria Math" panose="02040503050406030204" pitchFamily="18" charset="0"/>
                        </a:rPr>
                        <m:t>=</m:t>
                      </m:r>
                      <m:r>
                        <a:rPr lang="en-IN" sz="2000" i="1">
                          <a:latin typeface="Cambria Math" panose="02040503050406030204" pitchFamily="18" charset="0"/>
                        </a:rPr>
                        <m:t>𝑛</m:t>
                      </m:r>
                      <m:r>
                        <a:rPr lang="en-IN" sz="2000" i="1">
                          <a:latin typeface="Cambria Math" panose="02040503050406030204" pitchFamily="18" charset="0"/>
                        </a:rPr>
                        <m:t>+</m:t>
                      </m:r>
                      <m:r>
                        <a:rPr lang="en-IN" sz="2000" i="1">
                          <a:latin typeface="Cambria Math" panose="02040503050406030204" pitchFamily="18" charset="0"/>
                        </a:rPr>
                        <m:t>𝑇</m:t>
                      </m:r>
                      <m:d>
                        <m:dPr>
                          <m:ctrlPr>
                            <a:rPr lang="en-IN" sz="2000" i="1">
                              <a:latin typeface="Cambria Math" panose="02040503050406030204" pitchFamily="18" charset="0"/>
                            </a:rPr>
                          </m:ctrlPr>
                        </m:dPr>
                        <m:e>
                          <m:r>
                            <a:rPr lang="en-IN" sz="2000" i="1">
                              <a:latin typeface="Cambria Math" panose="02040503050406030204" pitchFamily="18" charset="0"/>
                            </a:rPr>
                            <m:t>𝑛</m:t>
                          </m:r>
                          <m:r>
                            <a:rPr lang="en-IN" sz="2000" i="1">
                              <a:latin typeface="Cambria Math" panose="02040503050406030204" pitchFamily="18" charset="0"/>
                            </a:rPr>
                            <m:t>−</m:t>
                          </m:r>
                          <m:r>
                            <a:rPr lang="en-IN" sz="2000" i="1">
                              <a:latin typeface="Cambria Math" panose="02040503050406030204" pitchFamily="18" charset="0"/>
                            </a:rPr>
                            <m:t>1</m:t>
                          </m:r>
                        </m:e>
                      </m:d>
                    </m:oMath>
                  </m:oMathPara>
                </a14:m>
                <a:endParaRPr lang="en-IN" sz="2000" i="1" dirty="0">
                  <a:latin typeface="Cambria Math" panose="02040503050406030204" pitchFamily="18" charset="0"/>
                </a:endParaRPr>
              </a:p>
              <a:p>
                <a:pPr marL="0" indent="0">
                  <a:buNone/>
                </a:pPr>
                <a:r>
                  <a:rPr lang="en-IN" sz="2000" dirty="0"/>
                  <a:t>        </a:t>
                </a:r>
                <a14:m>
                  <m:oMath xmlns:m="http://schemas.openxmlformats.org/officeDocument/2006/math">
                    <m:r>
                      <a:rPr lang="en-IN" sz="2000" i="1">
                        <a:latin typeface="Cambria Math" panose="02040503050406030204" pitchFamily="18" charset="0"/>
                      </a:rPr>
                      <m:t>=</m:t>
                    </m:r>
                    <m:r>
                      <a:rPr lang="en-IN" sz="2000" i="1">
                        <a:latin typeface="Cambria Math" panose="02040503050406030204" pitchFamily="18" charset="0"/>
                      </a:rPr>
                      <m:t>𝑛</m:t>
                    </m:r>
                    <m:r>
                      <a:rPr lang="en-IN" sz="2000" i="1">
                        <a:latin typeface="Cambria Math" panose="02040503050406030204" pitchFamily="18" charset="0"/>
                      </a:rPr>
                      <m:t>+</m:t>
                    </m:r>
                    <m:d>
                      <m:dPr>
                        <m:begChr m:val="{"/>
                        <m:endChr m:val="}"/>
                        <m:ctrlPr>
                          <a:rPr lang="en-IN" sz="2000" i="1">
                            <a:latin typeface="Cambria Math" panose="02040503050406030204" pitchFamily="18" charset="0"/>
                          </a:rPr>
                        </m:ctrlPr>
                      </m:dPr>
                      <m:e>
                        <m:r>
                          <a:rPr lang="en-IN" sz="2000" i="1">
                            <a:latin typeface="Cambria Math" panose="02040503050406030204" pitchFamily="18" charset="0"/>
                          </a:rPr>
                          <m:t>(</m:t>
                        </m:r>
                        <m:r>
                          <a:rPr lang="en-IN" sz="2000" i="1">
                            <a:latin typeface="Cambria Math" panose="02040503050406030204" pitchFamily="18" charset="0"/>
                          </a:rPr>
                          <m:t>𝑛</m:t>
                        </m:r>
                        <m:r>
                          <a:rPr lang="en-IN" sz="2000" i="1">
                            <a:latin typeface="Cambria Math" panose="02040503050406030204" pitchFamily="18" charset="0"/>
                          </a:rPr>
                          <m:t>−</m:t>
                        </m:r>
                        <m:r>
                          <a:rPr lang="en-IN" sz="2000" i="1">
                            <a:latin typeface="Cambria Math" panose="02040503050406030204" pitchFamily="18" charset="0"/>
                          </a:rPr>
                          <m:t>1</m:t>
                        </m:r>
                        <m:r>
                          <a:rPr lang="en-IN" sz="2000" i="1">
                            <a:latin typeface="Cambria Math" panose="02040503050406030204" pitchFamily="18" charset="0"/>
                          </a:rPr>
                          <m:t>)+</m:t>
                        </m:r>
                        <m:r>
                          <a:rPr lang="en-IN" sz="2000" i="1">
                            <a:latin typeface="Cambria Math" panose="02040503050406030204" pitchFamily="18" charset="0"/>
                          </a:rPr>
                          <m:t>𝑇</m:t>
                        </m:r>
                        <m:d>
                          <m:dPr>
                            <m:ctrlPr>
                              <a:rPr lang="en-IN" sz="2000" i="1">
                                <a:latin typeface="Cambria Math" panose="02040503050406030204" pitchFamily="18" charset="0"/>
                              </a:rPr>
                            </m:ctrlPr>
                          </m:dPr>
                          <m:e>
                            <m:r>
                              <a:rPr lang="en-IN" sz="2000" i="1">
                                <a:latin typeface="Cambria Math" panose="02040503050406030204" pitchFamily="18" charset="0"/>
                              </a:rPr>
                              <m:t>𝑛</m:t>
                            </m:r>
                            <m:r>
                              <a:rPr lang="en-IN" sz="2000" i="1">
                                <a:latin typeface="Cambria Math" panose="02040503050406030204" pitchFamily="18" charset="0"/>
                              </a:rPr>
                              <m:t>−</m:t>
                            </m:r>
                            <m:r>
                              <a:rPr lang="en-IN" sz="2000" i="1">
                                <a:latin typeface="Cambria Math" panose="02040503050406030204" pitchFamily="18" charset="0"/>
                              </a:rPr>
                              <m:t>2</m:t>
                            </m:r>
                          </m:e>
                        </m:d>
                      </m:e>
                    </m:d>
                  </m:oMath>
                </a14:m>
                <a:endParaRPr lang="en-IN" sz="2000" i="1" dirty="0">
                  <a:latin typeface="Cambria Math" panose="02040503050406030204" pitchFamily="18" charset="0"/>
                </a:endParaRPr>
              </a:p>
              <a:p>
                <a:pPr marL="0" indent="0">
                  <a:buNone/>
                </a:pPr>
                <a:r>
                  <a:rPr lang="en-IN" sz="2000" dirty="0"/>
                  <a:t>        </a:t>
                </a:r>
                <a14:m>
                  <m:oMath xmlns:m="http://schemas.openxmlformats.org/officeDocument/2006/math">
                    <m:r>
                      <a:rPr lang="en-IN" sz="2000" i="1">
                        <a:latin typeface="Cambria Math" panose="02040503050406030204" pitchFamily="18" charset="0"/>
                      </a:rPr>
                      <m:t>=</m:t>
                    </m:r>
                    <m:r>
                      <a:rPr lang="en-IN" sz="2000" i="1">
                        <a:latin typeface="Cambria Math" panose="02040503050406030204" pitchFamily="18" charset="0"/>
                      </a:rPr>
                      <m:t>𝑛</m:t>
                    </m:r>
                    <m:r>
                      <a:rPr lang="en-IN" sz="2000" i="1">
                        <a:latin typeface="Cambria Math" panose="02040503050406030204" pitchFamily="18" charset="0"/>
                      </a:rPr>
                      <m:t>+(</m:t>
                    </m:r>
                    <m:r>
                      <a:rPr lang="en-IN" sz="2000" i="1">
                        <a:latin typeface="Cambria Math" panose="02040503050406030204" pitchFamily="18" charset="0"/>
                      </a:rPr>
                      <m:t>𝑛</m:t>
                    </m:r>
                    <m:r>
                      <a:rPr lang="en-IN" sz="2000" i="1">
                        <a:latin typeface="Cambria Math" panose="02040503050406030204" pitchFamily="18" charset="0"/>
                      </a:rPr>
                      <m:t>−</m:t>
                    </m:r>
                    <m:r>
                      <a:rPr lang="en-IN" sz="2000" i="1">
                        <a:latin typeface="Cambria Math" panose="02040503050406030204" pitchFamily="18" charset="0"/>
                      </a:rPr>
                      <m:t>1</m:t>
                    </m:r>
                    <m:r>
                      <a:rPr lang="en-IN" sz="2000" i="1">
                        <a:latin typeface="Cambria Math" panose="02040503050406030204" pitchFamily="18" charset="0"/>
                      </a:rPr>
                      <m:t>)+</m:t>
                    </m:r>
                    <m:r>
                      <a:rPr lang="en-IN" sz="2000" i="1">
                        <a:latin typeface="Cambria Math" panose="02040503050406030204" pitchFamily="18" charset="0"/>
                      </a:rPr>
                      <m:t>𝑇</m:t>
                    </m:r>
                    <m:d>
                      <m:dPr>
                        <m:ctrlPr>
                          <a:rPr lang="en-IN" sz="2000" i="1">
                            <a:latin typeface="Cambria Math" panose="02040503050406030204" pitchFamily="18" charset="0"/>
                          </a:rPr>
                        </m:ctrlPr>
                      </m:dPr>
                      <m:e>
                        <m:r>
                          <a:rPr lang="en-IN" sz="2000" i="1">
                            <a:latin typeface="Cambria Math" panose="02040503050406030204" pitchFamily="18" charset="0"/>
                          </a:rPr>
                          <m:t>𝑛</m:t>
                        </m:r>
                        <m:r>
                          <a:rPr lang="en-IN" sz="2000" i="1">
                            <a:latin typeface="Cambria Math" panose="02040503050406030204" pitchFamily="18" charset="0"/>
                          </a:rPr>
                          <m:t>−</m:t>
                        </m:r>
                        <m:r>
                          <a:rPr lang="en-IN" sz="2000" i="1">
                            <a:latin typeface="Cambria Math" panose="02040503050406030204" pitchFamily="18" charset="0"/>
                          </a:rPr>
                          <m:t>2</m:t>
                        </m:r>
                      </m:e>
                    </m:d>
                  </m:oMath>
                </a14:m>
                <a:endParaRPr lang="en-IN" sz="2000" i="1" dirty="0">
                  <a:latin typeface="Cambria Math" panose="02040503050406030204" pitchFamily="18" charset="0"/>
                </a:endParaRPr>
              </a:p>
              <a:p>
                <a:pPr marL="0" indent="0">
                  <a:buNone/>
                </a:pPr>
                <a:r>
                  <a:rPr lang="en-IN" sz="2000" dirty="0"/>
                  <a:t>     </a:t>
                </a:r>
                <a14:m>
                  <m:oMath xmlns:m="http://schemas.openxmlformats.org/officeDocument/2006/math">
                    <m:r>
                      <a:rPr lang="en-IN" sz="2000" i="1">
                        <a:latin typeface="Cambria Math" panose="02040503050406030204" pitchFamily="18" charset="0"/>
                      </a:rPr>
                      <m:t>   =</m:t>
                    </m:r>
                    <m:r>
                      <a:rPr lang="en-IN" sz="2000" i="1">
                        <a:latin typeface="Cambria Math" panose="02040503050406030204" pitchFamily="18" charset="0"/>
                      </a:rPr>
                      <m:t>𝑛</m:t>
                    </m:r>
                    <m:r>
                      <a:rPr lang="en-IN" sz="2000" i="1">
                        <a:latin typeface="Cambria Math" panose="02040503050406030204" pitchFamily="18" charset="0"/>
                      </a:rPr>
                      <m:t>+(</m:t>
                    </m:r>
                    <m:r>
                      <a:rPr lang="en-IN" sz="2000" i="1">
                        <a:latin typeface="Cambria Math" panose="02040503050406030204" pitchFamily="18" charset="0"/>
                      </a:rPr>
                      <m:t>𝑛</m:t>
                    </m:r>
                    <m:r>
                      <a:rPr lang="en-IN" sz="2000" i="1">
                        <a:latin typeface="Cambria Math" panose="02040503050406030204" pitchFamily="18" charset="0"/>
                      </a:rPr>
                      <m:t>−</m:t>
                    </m:r>
                    <m:r>
                      <a:rPr lang="en-IN" sz="2000" i="1">
                        <a:latin typeface="Cambria Math" panose="02040503050406030204" pitchFamily="18" charset="0"/>
                      </a:rPr>
                      <m:t>1</m:t>
                    </m:r>
                    <m:r>
                      <a:rPr lang="en-IN" sz="2000" i="1">
                        <a:latin typeface="Cambria Math" panose="02040503050406030204" pitchFamily="18" charset="0"/>
                      </a:rPr>
                      <m:t>)+</m:t>
                    </m:r>
                    <m:d>
                      <m:dPr>
                        <m:begChr m:val="{"/>
                        <m:endChr m:val="}"/>
                        <m:ctrlPr>
                          <a:rPr lang="en-IN" sz="2000" i="1">
                            <a:latin typeface="Cambria Math" panose="02040503050406030204" pitchFamily="18" charset="0"/>
                          </a:rPr>
                        </m:ctrlPr>
                      </m:dPr>
                      <m:e>
                        <m:r>
                          <a:rPr lang="en-IN" sz="2000" i="1">
                            <a:latin typeface="Cambria Math" panose="02040503050406030204" pitchFamily="18" charset="0"/>
                          </a:rPr>
                          <m:t>(</m:t>
                        </m:r>
                        <m:r>
                          <a:rPr lang="en-IN" sz="2000" i="1">
                            <a:latin typeface="Cambria Math" panose="02040503050406030204" pitchFamily="18" charset="0"/>
                          </a:rPr>
                          <m:t>𝑛</m:t>
                        </m:r>
                        <m:r>
                          <a:rPr lang="en-IN" sz="2000" i="1">
                            <a:latin typeface="Cambria Math" panose="02040503050406030204" pitchFamily="18" charset="0"/>
                          </a:rPr>
                          <m:t>−</m:t>
                        </m:r>
                        <m:r>
                          <a:rPr lang="en-IN" sz="2000" i="1">
                            <a:latin typeface="Cambria Math" panose="02040503050406030204" pitchFamily="18" charset="0"/>
                          </a:rPr>
                          <m:t>2</m:t>
                        </m:r>
                        <m:r>
                          <a:rPr lang="en-IN" sz="2000" i="1">
                            <a:latin typeface="Cambria Math" panose="02040503050406030204" pitchFamily="18" charset="0"/>
                          </a:rPr>
                          <m:t>)+</m:t>
                        </m:r>
                        <m:r>
                          <a:rPr lang="en-IN" sz="2000" i="1">
                            <a:latin typeface="Cambria Math" panose="02040503050406030204" pitchFamily="18" charset="0"/>
                          </a:rPr>
                          <m:t>𝑇</m:t>
                        </m:r>
                        <m:d>
                          <m:dPr>
                            <m:ctrlPr>
                              <a:rPr lang="en-IN" sz="2000" i="1">
                                <a:latin typeface="Cambria Math" panose="02040503050406030204" pitchFamily="18" charset="0"/>
                              </a:rPr>
                            </m:ctrlPr>
                          </m:dPr>
                          <m:e>
                            <m:r>
                              <a:rPr lang="en-IN" sz="2000" i="1">
                                <a:latin typeface="Cambria Math" panose="02040503050406030204" pitchFamily="18" charset="0"/>
                              </a:rPr>
                              <m:t>𝑛</m:t>
                            </m:r>
                            <m:r>
                              <a:rPr lang="en-IN" sz="2000" i="1">
                                <a:latin typeface="Cambria Math" panose="02040503050406030204" pitchFamily="18" charset="0"/>
                              </a:rPr>
                              <m:t>−</m:t>
                            </m:r>
                            <m:r>
                              <a:rPr lang="en-IN" sz="2000" i="1">
                                <a:latin typeface="Cambria Math" panose="02040503050406030204" pitchFamily="18" charset="0"/>
                              </a:rPr>
                              <m:t>3</m:t>
                            </m:r>
                          </m:e>
                        </m:d>
                      </m:e>
                    </m:d>
                  </m:oMath>
                </a14:m>
                <a:endParaRPr lang="en-IN" sz="2000" i="1" dirty="0">
                  <a:latin typeface="Cambria Math" panose="02040503050406030204" pitchFamily="18" charset="0"/>
                </a:endParaRPr>
              </a:p>
              <a:p>
                <a:pPr marL="0" indent="0">
                  <a:buNone/>
                </a:pPr>
                <a:r>
                  <a:rPr lang="en-IN" sz="2000" dirty="0"/>
                  <a:t>        </a:t>
                </a:r>
                <a14:m>
                  <m:oMath xmlns:m="http://schemas.openxmlformats.org/officeDocument/2006/math">
                    <m:r>
                      <a:rPr lang="en-IN" sz="2000" i="1">
                        <a:latin typeface="Cambria Math" panose="02040503050406030204" pitchFamily="18" charset="0"/>
                      </a:rPr>
                      <m:t>=</m:t>
                    </m:r>
                    <m:r>
                      <a:rPr lang="en-IN" sz="2000" i="1">
                        <a:latin typeface="Cambria Math" panose="02040503050406030204" pitchFamily="18" charset="0"/>
                      </a:rPr>
                      <m:t>𝑛</m:t>
                    </m:r>
                    <m:r>
                      <a:rPr lang="en-IN" sz="2000" i="1">
                        <a:latin typeface="Cambria Math" panose="02040503050406030204" pitchFamily="18" charset="0"/>
                      </a:rPr>
                      <m:t>+(</m:t>
                    </m:r>
                    <m:r>
                      <a:rPr lang="en-IN" sz="2000" i="1">
                        <a:latin typeface="Cambria Math" panose="02040503050406030204" pitchFamily="18" charset="0"/>
                      </a:rPr>
                      <m:t>𝑛</m:t>
                    </m:r>
                    <m:r>
                      <a:rPr lang="en-IN" sz="2000" i="1">
                        <a:latin typeface="Cambria Math" panose="02040503050406030204" pitchFamily="18" charset="0"/>
                      </a:rPr>
                      <m:t>−</m:t>
                    </m:r>
                    <m:r>
                      <a:rPr lang="en-IN" sz="2000" i="1">
                        <a:latin typeface="Cambria Math" panose="02040503050406030204" pitchFamily="18" charset="0"/>
                      </a:rPr>
                      <m:t>1</m:t>
                    </m:r>
                    <m:r>
                      <a:rPr lang="en-IN" sz="2000" i="1">
                        <a:latin typeface="Cambria Math" panose="02040503050406030204" pitchFamily="18" charset="0"/>
                      </a:rPr>
                      <m:t>)+(</m:t>
                    </m:r>
                    <m:r>
                      <a:rPr lang="en-IN" sz="2000" i="1">
                        <a:latin typeface="Cambria Math" panose="02040503050406030204" pitchFamily="18" charset="0"/>
                      </a:rPr>
                      <m:t>𝑛</m:t>
                    </m:r>
                    <m:r>
                      <a:rPr lang="en-IN" sz="2000" i="1">
                        <a:latin typeface="Cambria Math" panose="02040503050406030204" pitchFamily="18" charset="0"/>
                      </a:rPr>
                      <m:t>−</m:t>
                    </m:r>
                    <m:r>
                      <a:rPr lang="en-IN" sz="2000" i="1">
                        <a:latin typeface="Cambria Math" panose="02040503050406030204" pitchFamily="18" charset="0"/>
                      </a:rPr>
                      <m:t>2</m:t>
                    </m:r>
                    <m:r>
                      <a:rPr lang="en-IN" sz="2000" i="1">
                        <a:latin typeface="Cambria Math" panose="02040503050406030204" pitchFamily="18" charset="0"/>
                      </a:rPr>
                      <m:t>)+</m:t>
                    </m:r>
                    <m:r>
                      <a:rPr lang="en-IN" sz="2000" i="1">
                        <a:latin typeface="Cambria Math" panose="02040503050406030204" pitchFamily="18" charset="0"/>
                      </a:rPr>
                      <m:t>𝑇</m:t>
                    </m:r>
                    <m:r>
                      <a:rPr lang="en-IN" sz="2000" i="1">
                        <a:latin typeface="Cambria Math" panose="02040503050406030204" pitchFamily="18" charset="0"/>
                      </a:rPr>
                      <m:t>(</m:t>
                    </m:r>
                    <m:r>
                      <a:rPr lang="en-IN" sz="2000" i="1">
                        <a:latin typeface="Cambria Math" panose="02040503050406030204" pitchFamily="18" charset="0"/>
                      </a:rPr>
                      <m:t>𝑛</m:t>
                    </m:r>
                    <m:r>
                      <a:rPr lang="en-IN" sz="2000" i="1">
                        <a:latin typeface="Cambria Math" panose="02040503050406030204" pitchFamily="18" charset="0"/>
                      </a:rPr>
                      <m:t>−</m:t>
                    </m:r>
                    <m:r>
                      <a:rPr lang="en-IN" sz="2000" i="1">
                        <a:latin typeface="Cambria Math" panose="02040503050406030204" pitchFamily="18" charset="0"/>
                      </a:rPr>
                      <m:t>3</m:t>
                    </m:r>
                    <m:r>
                      <a:rPr lang="en-IN" sz="2000" i="1">
                        <a:latin typeface="Cambria Math" panose="02040503050406030204" pitchFamily="18" charset="0"/>
                      </a:rPr>
                      <m:t>)</m:t>
                    </m:r>
                  </m:oMath>
                </a14:m>
                <a:endParaRPr lang="en-IN" sz="2000" dirty="0"/>
              </a:p>
              <a:p>
                <a:pPr marL="0" indent="0">
                  <a:buNone/>
                </a:pPr>
                <a:r>
                  <a:rPr lang="en-IN" sz="2000" dirty="0"/>
                  <a:t>             ……..</a:t>
                </a:r>
              </a:p>
              <a:p>
                <a:pPr marL="0" indent="0">
                  <a:buNone/>
                </a:pPr>
                <a:r>
                  <a:rPr lang="en-IN" sz="2000" dirty="0"/>
                  <a:t>         </a:t>
                </a:r>
                <a14:m>
                  <m:oMath xmlns:m="http://schemas.openxmlformats.org/officeDocument/2006/math">
                    <m:r>
                      <a:rPr lang="en-IN" sz="2000" i="1">
                        <a:latin typeface="Cambria Math" panose="02040503050406030204" pitchFamily="18" charset="0"/>
                      </a:rPr>
                      <m:t>=</m:t>
                    </m:r>
                    <m:r>
                      <a:rPr lang="en-IN" sz="2000" i="1">
                        <a:latin typeface="Cambria Math" panose="02040503050406030204" pitchFamily="18" charset="0"/>
                      </a:rPr>
                      <m:t>𝑛</m:t>
                    </m:r>
                    <m:r>
                      <a:rPr lang="en-IN" sz="2000" i="1">
                        <a:latin typeface="Cambria Math" panose="02040503050406030204" pitchFamily="18" charset="0"/>
                      </a:rPr>
                      <m:t>+</m:t>
                    </m:r>
                    <m:d>
                      <m:dPr>
                        <m:ctrlPr>
                          <a:rPr lang="en-IN" sz="2000" i="1">
                            <a:latin typeface="Cambria Math" panose="02040503050406030204" pitchFamily="18" charset="0"/>
                          </a:rPr>
                        </m:ctrlPr>
                      </m:dPr>
                      <m:e>
                        <m:r>
                          <a:rPr lang="en-IN" sz="2000" i="1">
                            <a:latin typeface="Cambria Math" panose="02040503050406030204" pitchFamily="18" charset="0"/>
                          </a:rPr>
                          <m:t>𝑛</m:t>
                        </m:r>
                        <m:r>
                          <a:rPr lang="en-IN" sz="2000" i="1">
                            <a:latin typeface="Cambria Math" panose="02040503050406030204" pitchFamily="18" charset="0"/>
                          </a:rPr>
                          <m:t>−</m:t>
                        </m:r>
                        <m:r>
                          <a:rPr lang="en-IN" sz="2000" i="1">
                            <a:latin typeface="Cambria Math" panose="02040503050406030204" pitchFamily="18" charset="0"/>
                          </a:rPr>
                          <m:t>1</m:t>
                        </m:r>
                      </m:e>
                    </m:d>
                    <m:r>
                      <a:rPr lang="en-IN" sz="2000" i="1">
                        <a:latin typeface="Cambria Math" panose="02040503050406030204" pitchFamily="18" charset="0"/>
                      </a:rPr>
                      <m:t>+</m:t>
                    </m:r>
                    <m:d>
                      <m:dPr>
                        <m:ctrlPr>
                          <a:rPr lang="en-IN" sz="2000" i="1">
                            <a:latin typeface="Cambria Math" panose="02040503050406030204" pitchFamily="18" charset="0"/>
                          </a:rPr>
                        </m:ctrlPr>
                      </m:dPr>
                      <m:e>
                        <m:r>
                          <a:rPr lang="en-IN" sz="2000" i="1">
                            <a:latin typeface="Cambria Math" panose="02040503050406030204" pitchFamily="18" charset="0"/>
                          </a:rPr>
                          <m:t>𝑛</m:t>
                        </m:r>
                        <m:r>
                          <a:rPr lang="en-IN" sz="2000" i="1">
                            <a:latin typeface="Cambria Math" panose="02040503050406030204" pitchFamily="18" charset="0"/>
                          </a:rPr>
                          <m:t>−</m:t>
                        </m:r>
                        <m:r>
                          <a:rPr lang="en-IN" sz="2000" i="1">
                            <a:latin typeface="Cambria Math" panose="02040503050406030204" pitchFamily="18" charset="0"/>
                          </a:rPr>
                          <m:t>2</m:t>
                        </m:r>
                      </m:e>
                    </m:d>
                    <m:r>
                      <a:rPr lang="en-IN" sz="2000" i="1">
                        <a:latin typeface="Cambria Math" panose="02040503050406030204" pitchFamily="18" charset="0"/>
                      </a:rPr>
                      <m:t>+…+</m:t>
                    </m:r>
                    <m:r>
                      <a:rPr lang="en-IN" sz="2000" i="1">
                        <a:latin typeface="Cambria Math" panose="02040503050406030204" pitchFamily="18" charset="0"/>
                      </a:rPr>
                      <m:t>2</m:t>
                    </m:r>
                    <m:r>
                      <a:rPr lang="en-IN" sz="2000" i="1">
                        <a:latin typeface="Cambria Math" panose="02040503050406030204" pitchFamily="18" charset="0"/>
                      </a:rPr>
                      <m:t>+</m:t>
                    </m:r>
                    <m:r>
                      <a:rPr lang="en-IN" sz="2000" i="1">
                        <a:latin typeface="Cambria Math" panose="02040503050406030204" pitchFamily="18" charset="0"/>
                      </a:rPr>
                      <m:t>1</m:t>
                    </m:r>
                    <m:r>
                      <a:rPr lang="en-IN" sz="2000" i="1">
                        <a:latin typeface="Cambria Math" panose="02040503050406030204" pitchFamily="18" charset="0"/>
                      </a:rPr>
                      <m:t>+</m:t>
                    </m:r>
                    <m:r>
                      <a:rPr lang="en-IN" sz="2000" i="1">
                        <a:latin typeface="Cambria Math" panose="02040503050406030204" pitchFamily="18" charset="0"/>
                      </a:rPr>
                      <m:t>𝑇</m:t>
                    </m:r>
                    <m:d>
                      <m:dPr>
                        <m:ctrlPr>
                          <a:rPr lang="en-IN" sz="2000" i="1">
                            <a:latin typeface="Cambria Math" panose="02040503050406030204" pitchFamily="18" charset="0"/>
                          </a:rPr>
                        </m:ctrlPr>
                      </m:dPr>
                      <m:e>
                        <m:r>
                          <a:rPr lang="en-IN" sz="2000" i="1">
                            <a:latin typeface="Cambria Math" panose="02040503050406030204" pitchFamily="18" charset="0"/>
                          </a:rPr>
                          <m:t>𝑛</m:t>
                        </m:r>
                        <m:r>
                          <a:rPr lang="en-IN" sz="2000" i="1">
                            <a:latin typeface="Cambria Math" panose="02040503050406030204" pitchFamily="18" charset="0"/>
                          </a:rPr>
                          <m:t>−</m:t>
                        </m:r>
                        <m:r>
                          <a:rPr lang="en-IN" sz="2000" i="1">
                            <a:latin typeface="Cambria Math" panose="02040503050406030204" pitchFamily="18" charset="0"/>
                          </a:rPr>
                          <m:t>𝑛</m:t>
                        </m:r>
                      </m:e>
                    </m:d>
                  </m:oMath>
                </a14:m>
                <a:endParaRPr lang="en-IN" sz="2000" i="1" dirty="0">
                  <a:latin typeface="Cambria Math" panose="02040503050406030204" pitchFamily="18" charset="0"/>
                </a:endParaRPr>
              </a:p>
              <a:p>
                <a:pPr marL="0" indent="0">
                  <a:buNone/>
                </a:pPr>
                <a:r>
                  <a:rPr lang="en-IN" sz="2000" dirty="0"/>
                  <a:t>         </a:t>
                </a:r>
                <a14:m>
                  <m:oMath xmlns:m="http://schemas.openxmlformats.org/officeDocument/2006/math">
                    <m:r>
                      <a:rPr lang="en-IN" sz="2000" i="1">
                        <a:latin typeface="Cambria Math" panose="02040503050406030204" pitchFamily="18" charset="0"/>
                      </a:rPr>
                      <m:t>=</m:t>
                    </m:r>
                    <m:f>
                      <m:fPr>
                        <m:ctrlPr>
                          <a:rPr lang="en-IN" sz="2000" i="1">
                            <a:latin typeface="Cambria Math" panose="02040503050406030204" pitchFamily="18" charset="0"/>
                          </a:rPr>
                        </m:ctrlPr>
                      </m:fPr>
                      <m:num>
                        <m:r>
                          <a:rPr lang="en-US" sz="2000" i="1">
                            <a:latin typeface="Cambria Math" panose="02040503050406030204" pitchFamily="18" charset="0"/>
                          </a:rPr>
                          <m:t>𝑛</m:t>
                        </m:r>
                        <m:d>
                          <m:dPr>
                            <m:ctrlPr>
                              <a:rPr lang="en-US" sz="2000" i="1">
                                <a:latin typeface="Cambria Math" panose="02040503050406030204" pitchFamily="18" charset="0"/>
                              </a:rPr>
                            </m:ctrlPr>
                          </m:dPr>
                          <m:e>
                            <m:r>
                              <a:rPr lang="en-US" sz="2000" i="1">
                                <a:latin typeface="Cambria Math" panose="02040503050406030204" pitchFamily="18" charset="0"/>
                              </a:rPr>
                              <m:t>𝑛</m:t>
                            </m:r>
                            <m:r>
                              <a:rPr lang="en-US" sz="2000" i="1">
                                <a:latin typeface="Cambria Math" panose="02040503050406030204" pitchFamily="18" charset="0"/>
                              </a:rPr>
                              <m:t>+</m:t>
                            </m:r>
                            <m:r>
                              <a:rPr lang="en-US" sz="2000" i="1">
                                <a:latin typeface="Cambria Math" panose="02040503050406030204" pitchFamily="18" charset="0"/>
                              </a:rPr>
                              <m:t>1</m:t>
                            </m:r>
                          </m:e>
                        </m:d>
                      </m:num>
                      <m:den>
                        <m:r>
                          <a:rPr lang="en-US" sz="2000" i="1">
                            <a:latin typeface="Cambria Math" panose="02040503050406030204" pitchFamily="18" charset="0"/>
                          </a:rPr>
                          <m:t>2</m:t>
                        </m:r>
                      </m:den>
                    </m:f>
                    <m:r>
                      <a:rPr lang="en-US" sz="2000" i="1">
                        <a:latin typeface="Cambria Math" panose="02040503050406030204" pitchFamily="18" charset="0"/>
                      </a:rPr>
                      <m:t>+</m:t>
                    </m:r>
                    <m:r>
                      <a:rPr lang="en-US" sz="2000" i="1">
                        <a:latin typeface="Cambria Math" panose="02040503050406030204" pitchFamily="18" charset="0"/>
                      </a:rPr>
                      <m:t>𝑇</m:t>
                    </m:r>
                    <m:r>
                      <a:rPr lang="en-US" sz="2000" i="1">
                        <a:latin typeface="Cambria Math" panose="02040503050406030204" pitchFamily="18" charset="0"/>
                      </a:rPr>
                      <m:t>(</m:t>
                    </m:r>
                    <m:r>
                      <a:rPr lang="en-US" sz="2000" i="1">
                        <a:latin typeface="Cambria Math" panose="02040503050406030204" pitchFamily="18" charset="0"/>
                      </a:rPr>
                      <m:t>0</m:t>
                    </m:r>
                    <m:r>
                      <a:rPr lang="en-US" sz="2000" i="1">
                        <a:latin typeface="Cambria Math" panose="02040503050406030204" pitchFamily="18" charset="0"/>
                      </a:rPr>
                      <m:t>)</m:t>
                    </m:r>
                  </m:oMath>
                </a14:m>
                <a:endParaRPr lang="en-IN" sz="2000" i="1" dirty="0">
                  <a:latin typeface="Cambria Math" panose="02040503050406030204" pitchFamily="18" charset="0"/>
                </a:endParaRPr>
              </a:p>
              <a:p>
                <a:pPr marL="0" indent="0">
                  <a:buNone/>
                </a:pPr>
                <a:r>
                  <a:rPr lang="en-IN" sz="2000" dirty="0"/>
                  <a:t>         </a:t>
                </a:r>
                <a14:m>
                  <m:oMath xmlns:m="http://schemas.openxmlformats.org/officeDocument/2006/math">
                    <m:r>
                      <a:rPr lang="en-IN" sz="2000" i="1">
                        <a:latin typeface="Cambria Math" panose="02040503050406030204" pitchFamily="18" charset="0"/>
                      </a:rPr>
                      <m:t>=</m:t>
                    </m:r>
                    <m:f>
                      <m:fPr>
                        <m:ctrlPr>
                          <a:rPr lang="en-IN" sz="2000" i="1">
                            <a:latin typeface="Cambria Math" panose="02040503050406030204" pitchFamily="18" charset="0"/>
                          </a:rPr>
                        </m:ctrlPr>
                      </m:fPr>
                      <m:num>
                        <m:sSup>
                          <m:sSupPr>
                            <m:ctrlPr>
                              <a:rPr lang="en-IN" sz="2000" i="1">
                                <a:latin typeface="Cambria Math" panose="02040503050406030204" pitchFamily="18" charset="0"/>
                              </a:rPr>
                            </m:ctrlPr>
                          </m:sSupPr>
                          <m:e>
                            <m:r>
                              <a:rPr lang="en-US" sz="2000" i="1">
                                <a:latin typeface="Cambria Math" panose="02040503050406030204" pitchFamily="18" charset="0"/>
                              </a:rPr>
                              <m:t>𝑛</m:t>
                            </m:r>
                          </m:e>
                          <m:sup>
                            <m:r>
                              <a:rPr lang="en-US" sz="2000" i="1">
                                <a:latin typeface="Cambria Math" panose="02040503050406030204" pitchFamily="18" charset="0"/>
                              </a:rPr>
                              <m:t>2</m:t>
                            </m:r>
                          </m:sup>
                        </m:sSup>
                        <m:r>
                          <a:rPr lang="en-US" sz="2000" i="1">
                            <a:latin typeface="Cambria Math" panose="02040503050406030204" pitchFamily="18" charset="0"/>
                          </a:rPr>
                          <m:t>+</m:t>
                        </m:r>
                        <m:r>
                          <a:rPr lang="en-US" sz="2000" i="1">
                            <a:latin typeface="Cambria Math" panose="02040503050406030204" pitchFamily="18" charset="0"/>
                          </a:rPr>
                          <m:t>𝑛</m:t>
                        </m:r>
                      </m:num>
                      <m:den>
                        <m:r>
                          <a:rPr lang="en-US" sz="2000" i="1">
                            <a:latin typeface="Cambria Math" panose="02040503050406030204" pitchFamily="18" charset="0"/>
                          </a:rPr>
                          <m:t>2</m:t>
                        </m:r>
                      </m:den>
                    </m:f>
                    <m:r>
                      <a:rPr lang="en-IN" sz="2000" i="1">
                        <a:latin typeface="Cambria Math" panose="02040503050406030204" pitchFamily="18" charset="0"/>
                      </a:rPr>
                      <m:t>+</m:t>
                    </m:r>
                    <m:r>
                      <a:rPr lang="en-IN" sz="2000" i="1">
                        <a:latin typeface="Cambria Math" panose="02040503050406030204" pitchFamily="18" charset="0"/>
                      </a:rPr>
                      <m:t>1</m:t>
                    </m:r>
                    <m:r>
                      <a:rPr lang="en-IN" sz="2000" i="1">
                        <a:latin typeface="Cambria Math" panose="02040503050406030204" pitchFamily="18" charset="0"/>
                      </a:rPr>
                      <m:t>=</m:t>
                    </m:r>
                    <m:r>
                      <a:rPr lang="en-IN" sz="2000" i="1">
                        <a:latin typeface="Cambria Math" panose="02040503050406030204" pitchFamily="18" charset="0"/>
                      </a:rPr>
                      <m:t>𝑂</m:t>
                    </m:r>
                    <m:r>
                      <a:rPr lang="en-IN" sz="2000" i="1">
                        <a:latin typeface="Cambria Math" panose="02040503050406030204" pitchFamily="18" charset="0"/>
                      </a:rPr>
                      <m:t>(</m:t>
                    </m:r>
                    <m:r>
                      <a:rPr lang="en-IN" sz="2000" i="1">
                        <a:latin typeface="Cambria Math" panose="02040503050406030204" pitchFamily="18" charset="0"/>
                      </a:rPr>
                      <m:t>𝑛</m:t>
                    </m:r>
                    <m:r>
                      <a:rPr lang="en-IN" sz="2000" i="1" baseline="30000">
                        <a:latin typeface="Cambria Math" panose="02040503050406030204" pitchFamily="18" charset="0"/>
                      </a:rPr>
                      <m:t>2</m:t>
                    </m:r>
                    <m:r>
                      <a:rPr lang="en-IN" sz="2000" i="1">
                        <a:latin typeface="Cambria Math" panose="02040503050406030204" pitchFamily="18" charset="0"/>
                      </a:rPr>
                      <m:t>)</m:t>
                    </m:r>
                  </m:oMath>
                </a14:m>
                <a:endParaRPr lang="en-IN" sz="2000" dirty="0"/>
              </a:p>
            </p:txBody>
          </p:sp>
        </mc:Choice>
        <mc:Fallback xmlns="">
          <p:sp>
            <p:nvSpPr>
              <p:cNvPr id="3" name="Content Placeholder 2">
                <a:extLst>
                  <a:ext uri="{FF2B5EF4-FFF2-40B4-BE49-F238E27FC236}">
                    <a16:creationId xmlns:a16="http://schemas.microsoft.com/office/drawing/2014/main" id="{E85B3E51-ACFA-48B5-AE31-314273E33B7D}"/>
                  </a:ext>
                </a:extLst>
              </p:cNvPr>
              <p:cNvSpPr>
                <a:spLocks noGrp="1" noRot="1" noChangeAspect="1" noMove="1" noResize="1" noEditPoints="1" noAdjustHandles="1" noChangeArrowheads="1" noChangeShapeType="1" noTextEdit="1"/>
              </p:cNvSpPr>
              <p:nvPr>
                <p:ph idx="1"/>
              </p:nvPr>
            </p:nvSpPr>
            <p:spPr>
              <a:xfrm>
                <a:off x="2209800" y="1447801"/>
                <a:ext cx="8058150" cy="4759325"/>
              </a:xfrm>
              <a:blipFill>
                <a:blip r:embed="rId2"/>
                <a:stretch>
                  <a:fillRect l="-833"/>
                </a:stretch>
              </a:blipFill>
            </p:spPr>
            <p:txBody>
              <a:bodyPr/>
              <a:lstStyle/>
              <a:p>
                <a:r>
                  <a:rPr lang="en-ID">
                    <a:noFill/>
                  </a:rPr>
                  <a:t> </a:t>
                </a:r>
              </a:p>
            </p:txBody>
          </p:sp>
        </mc:Fallback>
      </mc:AlternateContent>
      <p:sp>
        <p:nvSpPr>
          <p:cNvPr id="4" name="Slide Number Placeholder 3">
            <a:extLst>
              <a:ext uri="{FF2B5EF4-FFF2-40B4-BE49-F238E27FC236}">
                <a16:creationId xmlns:a16="http://schemas.microsoft.com/office/drawing/2014/main" id="{1A611755-D3B6-4A24-ACD0-048DA405C2E3}"/>
              </a:ext>
            </a:extLst>
          </p:cNvPr>
          <p:cNvSpPr>
            <a:spLocks noGrp="1"/>
          </p:cNvSpPr>
          <p:nvPr>
            <p:ph type="sldNum" idx="12"/>
          </p:nvPr>
        </p:nvSpPr>
        <p:spPr/>
        <p:txBody>
          <a:bodyPr/>
          <a:lstStyle/>
          <a:p>
            <a:pPr>
              <a:defRPr/>
            </a:pPr>
            <a:fld id="{0314B9FC-F7FA-4A5F-A68B-9084E75933A3}" type="slidenum">
              <a:rPr lang="en-US" altLang="en-US" smtClean="0"/>
              <a:pPr>
                <a:defRPr/>
              </a:pPr>
              <a:t>12</a:t>
            </a:fld>
            <a:endParaRPr lang="en-US" altLang="en-US" dirty="0"/>
          </a:p>
        </p:txBody>
      </p:sp>
      <p:pic>
        <p:nvPicPr>
          <p:cNvPr id="2" name="Picture 1">
            <a:extLst>
              <a:ext uri="{FF2B5EF4-FFF2-40B4-BE49-F238E27FC236}">
                <a16:creationId xmlns:a16="http://schemas.microsoft.com/office/drawing/2014/main" id="{72DE6FB0-6729-7360-DB5E-D71EB52920ED}"/>
              </a:ext>
            </a:extLst>
          </p:cNvPr>
          <p:cNvPicPr>
            <a:picLocks noChangeAspect="1"/>
          </p:cNvPicPr>
          <p:nvPr/>
        </p:nvPicPr>
        <p:blipFill>
          <a:blip r:embed="rId3"/>
          <a:stretch>
            <a:fillRect/>
          </a:stretch>
        </p:blipFill>
        <p:spPr>
          <a:xfrm>
            <a:off x="431352" y="406901"/>
            <a:ext cx="3804234" cy="737680"/>
          </a:xfrm>
          <a:prstGeom prst="rect">
            <a:avLst/>
          </a:prstGeom>
        </p:spPr>
      </p:pic>
      <p:pic>
        <p:nvPicPr>
          <p:cNvPr id="5" name="Picture 4">
            <a:extLst>
              <a:ext uri="{FF2B5EF4-FFF2-40B4-BE49-F238E27FC236}">
                <a16:creationId xmlns:a16="http://schemas.microsoft.com/office/drawing/2014/main" id="{8085D66A-CAB8-431A-27A0-B9BD59E82BDA}"/>
              </a:ext>
            </a:extLst>
          </p:cNvPr>
          <p:cNvPicPr>
            <a:picLocks noChangeAspect="1"/>
          </p:cNvPicPr>
          <p:nvPr/>
        </p:nvPicPr>
        <p:blipFill>
          <a:blip r:embed="rId4"/>
          <a:stretch>
            <a:fillRect/>
          </a:stretch>
        </p:blipFill>
        <p:spPr>
          <a:xfrm>
            <a:off x="10596211" y="272777"/>
            <a:ext cx="1164437" cy="1005927"/>
          </a:xfrm>
          <a:prstGeom prst="rect">
            <a:avLst/>
          </a:prstGeom>
        </p:spPr>
      </p:pic>
    </p:spTree>
    <p:extLst>
      <p:ext uri="{BB962C8B-B14F-4D97-AF65-F5344CB8AC3E}">
        <p14:creationId xmlns:p14="http://schemas.microsoft.com/office/powerpoint/2010/main" val="30381044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943E1-6717-40EE-BAAA-F4E75F7951EA}"/>
              </a:ext>
            </a:extLst>
          </p:cNvPr>
          <p:cNvSpPr>
            <a:spLocks noGrp="1"/>
          </p:cNvSpPr>
          <p:nvPr>
            <p:ph type="title"/>
          </p:nvPr>
        </p:nvSpPr>
        <p:spPr>
          <a:xfrm>
            <a:off x="3200400" y="479670"/>
            <a:ext cx="6781800" cy="1325563"/>
          </a:xfrm>
        </p:spPr>
        <p:txBody>
          <a:bodyPr/>
          <a:lstStyle/>
          <a:p>
            <a:pPr algn="l"/>
            <a:br>
              <a:rPr lang="en-IN" sz="2400" b="1" dirty="0">
                <a:solidFill>
                  <a:srgbClr val="990000"/>
                </a:solidFill>
              </a:rPr>
            </a:br>
            <a:br>
              <a:rPr lang="en-IN" sz="2400" b="1" dirty="0">
                <a:solidFill>
                  <a:srgbClr val="990000"/>
                </a:solidFill>
              </a:rPr>
            </a:br>
            <a:r>
              <a:rPr lang="en-IN" sz="3200" b="1" dirty="0">
                <a:solidFill>
                  <a:schemeClr val="bg2">
                    <a:lumMod val="50000"/>
                    <a:lumOff val="50000"/>
                  </a:schemeClr>
                </a:solidFill>
              </a:rPr>
              <a:t>Learning Activity: Pen Paper Activity</a:t>
            </a:r>
            <a:endParaRPr lang="en-IN" sz="2400" b="1" dirty="0">
              <a:solidFill>
                <a:schemeClr val="bg2">
                  <a:lumMod val="50000"/>
                  <a:lumOff val="50000"/>
                </a:schemeClr>
              </a:solidFill>
            </a:endParaRPr>
          </a:p>
        </p:txBody>
      </p:sp>
      <p:sp>
        <p:nvSpPr>
          <p:cNvPr id="4" name="Slide Number Placeholder 3">
            <a:extLst>
              <a:ext uri="{FF2B5EF4-FFF2-40B4-BE49-F238E27FC236}">
                <a16:creationId xmlns:a16="http://schemas.microsoft.com/office/drawing/2014/main" id="{E919FAB7-C9DC-4D1E-8C1F-4377509A8C65}"/>
              </a:ext>
            </a:extLst>
          </p:cNvPr>
          <p:cNvSpPr>
            <a:spLocks noGrp="1"/>
          </p:cNvSpPr>
          <p:nvPr>
            <p:ph type="sldNum" idx="12"/>
          </p:nvPr>
        </p:nvSpPr>
        <p:spPr/>
        <p:txBody>
          <a:bodyPr/>
          <a:lstStyle/>
          <a:p>
            <a:pPr>
              <a:defRPr/>
            </a:pPr>
            <a:fld id="{0314B9FC-F7FA-4A5F-A68B-9084E75933A3}" type="slidenum">
              <a:rPr lang="en-US" altLang="en-US" smtClean="0"/>
              <a:pPr>
                <a:defRPr/>
              </a:pPr>
              <a:t>13</a:t>
            </a:fld>
            <a:endParaRPr lang="en-US" altLang="en-US" dirty="0"/>
          </a:p>
        </p:txBody>
      </p:sp>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81FFFC83-149F-41C1-A57C-A42094843606}"/>
                  </a:ext>
                </a:extLst>
              </p:cNvPr>
              <p:cNvGraphicFramePr>
                <a:graphicFrameLocks noGrp="1"/>
              </p:cNvGraphicFramePr>
              <p:nvPr>
                <p:ph idx="4294967295"/>
                <p:extLst>
                  <p:ext uri="{D42A27DB-BD31-4B8C-83A1-F6EECF244321}">
                    <p14:modId xmlns:p14="http://schemas.microsoft.com/office/powerpoint/2010/main" val="2898368774"/>
                  </p:ext>
                </p:extLst>
              </p:nvPr>
            </p:nvGraphicFramePr>
            <p:xfrm>
              <a:off x="2398426" y="2032756"/>
              <a:ext cx="7886700" cy="3383280"/>
            </p:xfrm>
            <a:graphic>
              <a:graphicData uri="http://schemas.openxmlformats.org/drawingml/2006/table">
                <a:tbl>
                  <a:tblPr firstRow="1" bandRow="1">
                    <a:tableStyleId>{5C22544A-7EE6-4342-B048-85BDC9FD1C3A}</a:tableStyleId>
                  </a:tblPr>
                  <a:tblGrid>
                    <a:gridCol w="3943350">
                      <a:extLst>
                        <a:ext uri="{9D8B030D-6E8A-4147-A177-3AD203B41FA5}">
                          <a16:colId xmlns:a16="http://schemas.microsoft.com/office/drawing/2014/main" val="4152487374"/>
                        </a:ext>
                      </a:extLst>
                    </a:gridCol>
                    <a:gridCol w="3943350">
                      <a:extLst>
                        <a:ext uri="{9D8B030D-6E8A-4147-A177-3AD203B41FA5}">
                          <a16:colId xmlns:a16="http://schemas.microsoft.com/office/drawing/2014/main" val="2662182985"/>
                        </a:ext>
                      </a:extLst>
                    </a:gridCol>
                  </a:tblGrid>
                  <a:tr h="370840">
                    <a:tc>
                      <a:txBody>
                        <a:bodyPr/>
                        <a:lstStyle/>
                        <a:p>
                          <a:pPr marL="0" indent="0">
                            <a:spcBef>
                              <a:spcPts val="0"/>
                            </a:spcBef>
                            <a:buNone/>
                          </a:pPr>
                          <a:r>
                            <a:rPr lang="en-IN" sz="1800" b="1" i="0" dirty="0">
                              <a:solidFill>
                                <a:schemeClr val="accent6">
                                  <a:lumMod val="40000"/>
                                  <a:lumOff val="60000"/>
                                </a:schemeClr>
                              </a:solidFill>
                              <a:latin typeface="Cambria Math" panose="02040503050406030204" pitchFamily="18" charset="0"/>
                            </a:rPr>
                            <a:t>Ex.1:</a:t>
                          </a:r>
                        </a:p>
                        <a:p>
                          <a:pPr marL="0" indent="0">
                            <a:spcBef>
                              <a:spcPts val="0"/>
                            </a:spcBef>
                            <a:buNone/>
                          </a:pPr>
                          <a14:m>
                            <m:oMath xmlns:m="http://schemas.openxmlformats.org/officeDocument/2006/math">
                              <m:r>
                                <a:rPr lang="en-IN" sz="1800" i="1" smtClean="0">
                                  <a:solidFill>
                                    <a:schemeClr val="accent6">
                                      <a:lumMod val="40000"/>
                                      <a:lumOff val="60000"/>
                                    </a:schemeClr>
                                  </a:solidFill>
                                  <a:latin typeface="Cambria Math" panose="02040503050406030204" pitchFamily="18" charset="0"/>
                                </a:rPr>
                                <m:t>𝑣𝑜𝑖𝑑</m:t>
                              </m:r>
                              <m:r>
                                <a:rPr lang="en-IN" sz="1800" i="1" smtClean="0">
                                  <a:solidFill>
                                    <a:schemeClr val="accent6">
                                      <a:lumMod val="40000"/>
                                      <a:lumOff val="60000"/>
                                    </a:schemeClr>
                                  </a:solidFill>
                                  <a:latin typeface="Cambria Math" panose="02040503050406030204" pitchFamily="18" charset="0"/>
                                </a:rPr>
                                <m:t> </m:t>
                              </m:r>
                              <m:r>
                                <a:rPr lang="en-IN" sz="1800" i="1" smtClean="0">
                                  <a:solidFill>
                                    <a:schemeClr val="accent6">
                                      <a:lumMod val="40000"/>
                                      <a:lumOff val="60000"/>
                                    </a:schemeClr>
                                  </a:solidFill>
                                  <a:latin typeface="Cambria Math" panose="02040503050406030204" pitchFamily="18" charset="0"/>
                                </a:rPr>
                                <m:t>𝑓𝑢𝑛</m:t>
                              </m:r>
                              <m:d>
                                <m:dPr>
                                  <m:ctrlPr>
                                    <a:rPr lang="en-IN" sz="1800" i="1">
                                      <a:solidFill>
                                        <a:schemeClr val="accent6">
                                          <a:lumMod val="40000"/>
                                          <a:lumOff val="60000"/>
                                        </a:schemeClr>
                                      </a:solidFill>
                                      <a:latin typeface="Cambria Math" panose="02040503050406030204" pitchFamily="18" charset="0"/>
                                    </a:rPr>
                                  </m:ctrlPr>
                                </m:dPr>
                                <m:e>
                                  <m:r>
                                    <a:rPr lang="en-IN" sz="1800" i="1">
                                      <a:solidFill>
                                        <a:schemeClr val="accent6">
                                          <a:lumMod val="40000"/>
                                          <a:lumOff val="60000"/>
                                        </a:schemeClr>
                                      </a:solidFill>
                                      <a:latin typeface="Cambria Math" panose="02040503050406030204" pitchFamily="18" charset="0"/>
                                    </a:rPr>
                                    <m:t>𝑖𝑛𝑡</m:t>
                                  </m:r>
                                  <m:r>
                                    <a:rPr lang="en-IN" sz="1800" i="1">
                                      <a:solidFill>
                                        <a:schemeClr val="accent6">
                                          <a:lumMod val="40000"/>
                                          <a:lumOff val="60000"/>
                                        </a:schemeClr>
                                      </a:solidFill>
                                      <a:latin typeface="Cambria Math" panose="02040503050406030204" pitchFamily="18" charset="0"/>
                                    </a:rPr>
                                    <m:t> </m:t>
                                  </m:r>
                                  <m:r>
                                    <a:rPr lang="en-IN" sz="1800" i="1">
                                      <a:solidFill>
                                        <a:schemeClr val="accent6">
                                          <a:lumMod val="40000"/>
                                          <a:lumOff val="60000"/>
                                        </a:schemeClr>
                                      </a:solidFill>
                                      <a:latin typeface="Cambria Math" panose="02040503050406030204" pitchFamily="18" charset="0"/>
                                    </a:rPr>
                                    <m:t>𝑛</m:t>
                                  </m:r>
                                </m:e>
                              </m:d>
                            </m:oMath>
                          </a14:m>
                          <a:r>
                            <a:rPr lang="en-IN" sz="1800" i="1" dirty="0">
                              <a:solidFill>
                                <a:schemeClr val="accent6">
                                  <a:lumMod val="40000"/>
                                  <a:lumOff val="60000"/>
                                </a:schemeClr>
                              </a:solidFill>
                              <a:latin typeface="Cambria Math" panose="02040503050406030204" pitchFamily="18" charset="0"/>
                            </a:rPr>
                            <a:t>                  </a:t>
                          </a:r>
                          <a:endParaRPr lang="en-IN" sz="1800" dirty="0">
                            <a:solidFill>
                              <a:schemeClr val="accent6">
                                <a:lumMod val="40000"/>
                                <a:lumOff val="60000"/>
                              </a:schemeClr>
                            </a:solidFill>
                            <a:latin typeface="Cambria Math" panose="02040503050406030204" pitchFamily="18" charset="0"/>
                          </a:endParaRPr>
                        </a:p>
                        <a:p>
                          <a:pPr marL="0" indent="0">
                            <a:spcBef>
                              <a:spcPts val="0"/>
                            </a:spcBef>
                            <a:buNone/>
                          </a:pPr>
                          <a14:m>
                            <m:oMathPara xmlns:m="http://schemas.openxmlformats.org/officeDocument/2006/math">
                              <m:oMathParaPr>
                                <m:jc m:val="left"/>
                              </m:oMathParaPr>
                              <m:oMath xmlns:m="http://schemas.openxmlformats.org/officeDocument/2006/math">
                                <m:r>
                                  <a:rPr lang="en-IN" sz="1800" i="1">
                                    <a:solidFill>
                                      <a:schemeClr val="accent6">
                                        <a:lumMod val="40000"/>
                                        <a:lumOff val="60000"/>
                                      </a:schemeClr>
                                    </a:solidFill>
                                    <a:latin typeface="Cambria Math" panose="02040503050406030204" pitchFamily="18" charset="0"/>
                                  </a:rPr>
                                  <m:t>{ </m:t>
                                </m:r>
                              </m:oMath>
                            </m:oMathPara>
                          </a14:m>
                          <a:endParaRPr lang="en-IN" sz="1800" i="1" dirty="0">
                            <a:solidFill>
                              <a:schemeClr val="accent6">
                                <a:lumMod val="40000"/>
                                <a:lumOff val="60000"/>
                              </a:schemeClr>
                            </a:solidFill>
                            <a:latin typeface="Cambria Math" panose="02040503050406030204" pitchFamily="18" charset="0"/>
                          </a:endParaRPr>
                        </a:p>
                        <a:p>
                          <a:pPr marL="0" indent="0">
                            <a:spcBef>
                              <a:spcPts val="0"/>
                            </a:spcBef>
                            <a:buNone/>
                          </a:pPr>
                          <a:r>
                            <a:rPr lang="en-IN" sz="1800" dirty="0">
                              <a:solidFill>
                                <a:schemeClr val="accent6">
                                  <a:lumMod val="40000"/>
                                  <a:lumOff val="60000"/>
                                </a:schemeClr>
                              </a:solidFill>
                            </a:rPr>
                            <a:t>  </a:t>
                          </a:r>
                          <a14:m>
                            <m:oMath xmlns:m="http://schemas.openxmlformats.org/officeDocument/2006/math">
                              <m:r>
                                <a:rPr lang="en-IN" sz="1800" i="1">
                                  <a:solidFill>
                                    <a:schemeClr val="accent6">
                                      <a:lumMod val="40000"/>
                                      <a:lumOff val="60000"/>
                                    </a:schemeClr>
                                  </a:solidFill>
                                  <a:latin typeface="Cambria Math" panose="02040503050406030204" pitchFamily="18" charset="0"/>
                                </a:rPr>
                                <m:t>𝑖𝑓</m:t>
                              </m:r>
                              <m:d>
                                <m:dPr>
                                  <m:ctrlPr>
                                    <a:rPr lang="en-IN" sz="1800" i="1">
                                      <a:solidFill>
                                        <a:schemeClr val="accent6">
                                          <a:lumMod val="40000"/>
                                          <a:lumOff val="60000"/>
                                        </a:schemeClr>
                                      </a:solidFill>
                                      <a:latin typeface="Cambria Math" panose="02040503050406030204" pitchFamily="18" charset="0"/>
                                    </a:rPr>
                                  </m:ctrlPr>
                                </m:dPr>
                                <m:e>
                                  <m:r>
                                    <a:rPr lang="en-IN" sz="1800" i="1">
                                      <a:solidFill>
                                        <a:schemeClr val="accent6">
                                          <a:lumMod val="40000"/>
                                          <a:lumOff val="60000"/>
                                        </a:schemeClr>
                                      </a:solidFill>
                                      <a:latin typeface="Cambria Math" panose="02040503050406030204" pitchFamily="18" charset="0"/>
                                    </a:rPr>
                                    <m:t>𝑛</m:t>
                                  </m:r>
                                  <m:r>
                                    <a:rPr lang="en-IN" sz="1800" i="1">
                                      <a:solidFill>
                                        <a:schemeClr val="accent6">
                                          <a:lumMod val="40000"/>
                                          <a:lumOff val="60000"/>
                                        </a:schemeClr>
                                      </a:solidFill>
                                      <a:latin typeface="Cambria Math" panose="02040503050406030204" pitchFamily="18" charset="0"/>
                                    </a:rPr>
                                    <m:t>&gt;0</m:t>
                                  </m:r>
                                </m:e>
                              </m:d>
                            </m:oMath>
                          </a14:m>
                          <a:r>
                            <a:rPr lang="en-IN" sz="1800" i="1" dirty="0">
                              <a:solidFill>
                                <a:schemeClr val="accent6">
                                  <a:lumMod val="40000"/>
                                  <a:lumOff val="60000"/>
                                </a:schemeClr>
                              </a:solidFill>
                              <a:latin typeface="Cambria Math" panose="02040503050406030204" pitchFamily="18" charset="0"/>
                            </a:rPr>
                            <a:t>                                  </a:t>
                          </a:r>
                        </a:p>
                        <a:p>
                          <a:pPr marL="0" indent="0">
                            <a:spcBef>
                              <a:spcPts val="0"/>
                            </a:spcBef>
                            <a:buNone/>
                          </a:pPr>
                          <a:r>
                            <a:rPr lang="en-IN" sz="1800" dirty="0">
                              <a:solidFill>
                                <a:schemeClr val="accent6">
                                  <a:lumMod val="40000"/>
                                  <a:lumOff val="60000"/>
                                </a:schemeClr>
                              </a:solidFill>
                            </a:rPr>
                            <a:t>   </a:t>
                          </a:r>
                          <a14:m>
                            <m:oMath xmlns:m="http://schemas.openxmlformats.org/officeDocument/2006/math">
                              <m:r>
                                <a:rPr lang="en-IN" sz="1800" i="1">
                                  <a:solidFill>
                                    <a:schemeClr val="accent6">
                                      <a:lumMod val="40000"/>
                                      <a:lumOff val="60000"/>
                                    </a:schemeClr>
                                  </a:solidFill>
                                  <a:latin typeface="Cambria Math" panose="02040503050406030204" pitchFamily="18" charset="0"/>
                                </a:rPr>
                                <m:t>{ </m:t>
                              </m:r>
                            </m:oMath>
                          </a14:m>
                          <a:endParaRPr lang="en-IN" sz="1800" i="1" dirty="0">
                            <a:solidFill>
                              <a:schemeClr val="accent6">
                                <a:lumMod val="40000"/>
                                <a:lumOff val="60000"/>
                              </a:schemeClr>
                            </a:solidFill>
                            <a:latin typeface="Cambria Math" panose="02040503050406030204" pitchFamily="18" charset="0"/>
                          </a:endParaRPr>
                        </a:p>
                        <a:p>
                          <a:pPr marL="0" indent="0">
                            <a:spcBef>
                              <a:spcPts val="0"/>
                            </a:spcBef>
                            <a:buNone/>
                          </a:pPr>
                          <a:r>
                            <a:rPr lang="en-IN" sz="1800" i="1" dirty="0">
                              <a:solidFill>
                                <a:schemeClr val="accent6">
                                  <a:lumMod val="40000"/>
                                  <a:lumOff val="60000"/>
                                </a:schemeClr>
                              </a:solidFill>
                              <a:latin typeface="Cambria Math" panose="02040503050406030204" pitchFamily="18" charset="0"/>
                            </a:rPr>
                            <a:t>        </a:t>
                          </a:r>
                          <a14:m>
                            <m:oMath xmlns:m="http://schemas.openxmlformats.org/officeDocument/2006/math">
                              <m:r>
                                <a:rPr lang="en-IN" sz="1800" i="1">
                                  <a:solidFill>
                                    <a:schemeClr val="accent6">
                                      <a:lumMod val="40000"/>
                                      <a:lumOff val="60000"/>
                                    </a:schemeClr>
                                  </a:solidFill>
                                  <a:latin typeface="Cambria Math" panose="02040503050406030204" pitchFamily="18" charset="0"/>
                                </a:rPr>
                                <m:t>𝑓𝑜𝑟</m:t>
                              </m:r>
                              <m:d>
                                <m:dPr>
                                  <m:ctrlPr>
                                    <a:rPr lang="en-IN" sz="1800" i="1">
                                      <a:solidFill>
                                        <a:schemeClr val="accent6">
                                          <a:lumMod val="40000"/>
                                          <a:lumOff val="60000"/>
                                        </a:schemeClr>
                                      </a:solidFill>
                                      <a:latin typeface="Cambria Math" panose="02040503050406030204" pitchFamily="18" charset="0"/>
                                    </a:rPr>
                                  </m:ctrlPr>
                                </m:dPr>
                                <m:e>
                                  <m:r>
                                    <a:rPr lang="en-IN" sz="1800" i="1">
                                      <a:solidFill>
                                        <a:schemeClr val="accent6">
                                          <a:lumMod val="40000"/>
                                          <a:lumOff val="60000"/>
                                        </a:schemeClr>
                                      </a:solidFill>
                                      <a:latin typeface="Cambria Math" panose="02040503050406030204" pitchFamily="18" charset="0"/>
                                    </a:rPr>
                                    <m:t>𝑖</m:t>
                                  </m:r>
                                  <m:r>
                                    <a:rPr lang="en-IN" sz="1800" i="1">
                                      <a:solidFill>
                                        <a:schemeClr val="accent6">
                                          <a:lumMod val="40000"/>
                                          <a:lumOff val="60000"/>
                                        </a:schemeClr>
                                      </a:solidFill>
                                      <a:latin typeface="Cambria Math" panose="02040503050406030204" pitchFamily="18" charset="0"/>
                                    </a:rPr>
                                    <m:t>=0;</m:t>
                                  </m:r>
                                  <m:r>
                                    <a:rPr lang="en-IN" sz="1800" i="1">
                                      <a:solidFill>
                                        <a:schemeClr val="accent6">
                                          <a:lumMod val="40000"/>
                                          <a:lumOff val="60000"/>
                                        </a:schemeClr>
                                      </a:solidFill>
                                      <a:latin typeface="Cambria Math" panose="02040503050406030204" pitchFamily="18" charset="0"/>
                                    </a:rPr>
                                    <m:t>𝑖</m:t>
                                  </m:r>
                                  <m:r>
                                    <a:rPr lang="en-IN" sz="1800" i="1">
                                      <a:solidFill>
                                        <a:schemeClr val="accent6">
                                          <a:lumMod val="40000"/>
                                          <a:lumOff val="60000"/>
                                        </a:schemeClr>
                                      </a:solidFill>
                                      <a:latin typeface="Cambria Math" panose="02040503050406030204" pitchFamily="18" charset="0"/>
                                    </a:rPr>
                                    <m:t>&lt;</m:t>
                                  </m:r>
                                  <m:r>
                                    <a:rPr lang="en-IN" sz="1800" i="1">
                                      <a:solidFill>
                                        <a:schemeClr val="accent6">
                                          <a:lumMod val="40000"/>
                                          <a:lumOff val="60000"/>
                                        </a:schemeClr>
                                      </a:solidFill>
                                      <a:latin typeface="Cambria Math" panose="02040503050406030204" pitchFamily="18" charset="0"/>
                                    </a:rPr>
                                    <m:t>𝑛</m:t>
                                  </m:r>
                                  <m:r>
                                    <a:rPr lang="en-IN" sz="1800" i="1">
                                      <a:solidFill>
                                        <a:schemeClr val="accent6">
                                          <a:lumMod val="40000"/>
                                          <a:lumOff val="60000"/>
                                        </a:schemeClr>
                                      </a:solidFill>
                                      <a:latin typeface="Cambria Math" panose="02040503050406030204" pitchFamily="18" charset="0"/>
                                    </a:rPr>
                                    <m:t>;</m:t>
                                  </m:r>
                                  <m:r>
                                    <a:rPr lang="en-IN" sz="1800" b="0" i="1" smtClean="0">
                                      <a:solidFill>
                                        <a:schemeClr val="accent6">
                                          <a:lumMod val="40000"/>
                                          <a:lumOff val="60000"/>
                                        </a:schemeClr>
                                      </a:solidFill>
                                      <a:latin typeface="Cambria Math" panose="02040503050406030204" pitchFamily="18" charset="0"/>
                                    </a:rPr>
                                    <m:t>𝑖</m:t>
                                  </m:r>
                                  <m:r>
                                    <a:rPr lang="en-IN" sz="1800" b="0" i="1" smtClean="0">
                                      <a:solidFill>
                                        <a:schemeClr val="accent6">
                                          <a:lumMod val="40000"/>
                                          <a:lumOff val="60000"/>
                                        </a:schemeClr>
                                      </a:solidFill>
                                      <a:latin typeface="Cambria Math" panose="02040503050406030204" pitchFamily="18" charset="0"/>
                                    </a:rPr>
                                    <m:t>=</m:t>
                                  </m:r>
                                  <m:r>
                                    <a:rPr lang="en-IN" sz="1800" b="0" i="1" smtClean="0">
                                      <a:solidFill>
                                        <a:schemeClr val="accent6">
                                          <a:lumMod val="40000"/>
                                          <a:lumOff val="60000"/>
                                        </a:schemeClr>
                                      </a:solidFill>
                                      <a:latin typeface="Cambria Math" panose="02040503050406030204" pitchFamily="18" charset="0"/>
                                    </a:rPr>
                                    <m:t>𝑖</m:t>
                                  </m:r>
                                  <m:r>
                                    <a:rPr lang="en-IN" sz="1800" b="0" i="1" smtClean="0">
                                      <a:solidFill>
                                        <a:schemeClr val="accent6">
                                          <a:lumMod val="40000"/>
                                          <a:lumOff val="60000"/>
                                        </a:schemeClr>
                                      </a:solidFill>
                                      <a:latin typeface="Cambria Math" panose="02040503050406030204" pitchFamily="18" charset="0"/>
                                    </a:rPr>
                                    <m:t>∗2</m:t>
                                  </m:r>
                                </m:e>
                              </m:d>
                            </m:oMath>
                          </a14:m>
                          <a:r>
                            <a:rPr lang="en-IN" sz="1800" i="1" dirty="0">
                              <a:solidFill>
                                <a:schemeClr val="accent6">
                                  <a:lumMod val="40000"/>
                                  <a:lumOff val="60000"/>
                                </a:schemeClr>
                              </a:solidFill>
                              <a:latin typeface="Cambria Math" panose="02040503050406030204" pitchFamily="18" charset="0"/>
                            </a:rPr>
                            <a:t>   </a:t>
                          </a:r>
                        </a:p>
                        <a:p>
                          <a:pPr marL="0" indent="0">
                            <a:spcBef>
                              <a:spcPts val="0"/>
                            </a:spcBef>
                            <a:buNone/>
                          </a:pPr>
                          <a:r>
                            <a:rPr lang="en-IN" sz="1800" dirty="0">
                              <a:solidFill>
                                <a:schemeClr val="accent6">
                                  <a:lumMod val="40000"/>
                                  <a:lumOff val="60000"/>
                                </a:schemeClr>
                              </a:solidFill>
                            </a:rPr>
                            <a:t>       </a:t>
                          </a:r>
                          <a14:m>
                            <m:oMath xmlns:m="http://schemas.openxmlformats.org/officeDocument/2006/math">
                              <m:r>
                                <a:rPr lang="en-IN" sz="1800" i="1">
                                  <a:solidFill>
                                    <a:schemeClr val="accent6">
                                      <a:lumMod val="40000"/>
                                      <a:lumOff val="60000"/>
                                    </a:schemeClr>
                                  </a:solidFill>
                                  <a:latin typeface="Cambria Math" panose="02040503050406030204" pitchFamily="18" charset="0"/>
                                </a:rPr>
                                <m:t>{</m:t>
                              </m:r>
                            </m:oMath>
                          </a14:m>
                          <a:endParaRPr lang="en-IN" sz="1800" i="1" dirty="0">
                            <a:solidFill>
                              <a:schemeClr val="accent6">
                                <a:lumMod val="40000"/>
                                <a:lumOff val="60000"/>
                              </a:schemeClr>
                            </a:solidFill>
                            <a:latin typeface="Cambria Math" panose="02040503050406030204" pitchFamily="18" charset="0"/>
                          </a:endParaRPr>
                        </a:p>
                        <a:p>
                          <a:pPr marL="0" indent="0">
                            <a:spcBef>
                              <a:spcPts val="0"/>
                            </a:spcBef>
                            <a:buNone/>
                          </a:pPr>
                          <a:r>
                            <a:rPr lang="en-IN" sz="1800" dirty="0">
                              <a:solidFill>
                                <a:schemeClr val="accent6">
                                  <a:lumMod val="40000"/>
                                  <a:lumOff val="60000"/>
                                </a:schemeClr>
                              </a:solidFill>
                            </a:rPr>
                            <a:t>      </a:t>
                          </a:r>
                          <a14:m>
                            <m:oMath xmlns:m="http://schemas.openxmlformats.org/officeDocument/2006/math">
                              <m:r>
                                <a:rPr lang="en-IN" sz="1800">
                                  <a:solidFill>
                                    <a:schemeClr val="accent6">
                                      <a:lumMod val="40000"/>
                                      <a:lumOff val="60000"/>
                                    </a:schemeClr>
                                  </a:solidFill>
                                  <a:latin typeface="Cambria Math" panose="02040503050406030204" pitchFamily="18" charset="0"/>
                                </a:rPr>
                                <m:t>     </m:t>
                              </m:r>
                              <m:r>
                                <a:rPr lang="en-IN" sz="1800" i="1">
                                  <a:solidFill>
                                    <a:schemeClr val="accent6">
                                      <a:lumMod val="40000"/>
                                      <a:lumOff val="60000"/>
                                    </a:schemeClr>
                                  </a:solidFill>
                                  <a:latin typeface="Cambria Math" panose="02040503050406030204" pitchFamily="18" charset="0"/>
                                </a:rPr>
                                <m:t>𝑝𝑟𝑖𝑛𝑡𝑓</m:t>
                              </m:r>
                              <m:r>
                                <a:rPr lang="en-IN" sz="1800" i="1">
                                  <a:solidFill>
                                    <a:schemeClr val="accent6">
                                      <a:lumMod val="40000"/>
                                      <a:lumOff val="60000"/>
                                    </a:schemeClr>
                                  </a:solidFill>
                                  <a:latin typeface="Cambria Math" panose="02040503050406030204" pitchFamily="18" charset="0"/>
                                </a:rPr>
                                <m:t>(</m:t>
                              </m:r>
                              <m:r>
                                <m:rPr>
                                  <m:nor/>
                                </m:rPr>
                                <a:rPr lang="en-IN" sz="1800">
                                  <a:solidFill>
                                    <a:schemeClr val="accent6">
                                      <a:lumMod val="40000"/>
                                      <a:lumOff val="60000"/>
                                    </a:schemeClr>
                                  </a:solidFill>
                                  <a:latin typeface="Cambria Math" panose="02040503050406030204" pitchFamily="18" charset="0"/>
                                </a:rPr>
                                <m:t>"</m:t>
                              </m:r>
                              <m:r>
                                <a:rPr lang="en-US" sz="1800" b="1" i="1" smtClean="0">
                                  <a:solidFill>
                                    <a:schemeClr val="accent6">
                                      <a:lumMod val="40000"/>
                                      <a:lumOff val="60000"/>
                                    </a:schemeClr>
                                  </a:solidFill>
                                  <a:latin typeface="Cambria Math" panose="02040503050406030204" pitchFamily="18" charset="0"/>
                                </a:rPr>
                                <m:t>𝑮𝒂𝒍𝒈𝒐𝒕𝒊𝒂𝒔</m:t>
                              </m:r>
                              <m:r>
                                <a:rPr lang="en-IN" sz="1800" i="1">
                                  <a:solidFill>
                                    <a:schemeClr val="accent6">
                                      <a:lumMod val="40000"/>
                                      <a:lumOff val="60000"/>
                                    </a:schemeClr>
                                  </a:solidFill>
                                  <a:latin typeface="Cambria Math" panose="02040503050406030204" pitchFamily="18" charset="0"/>
                                </a:rPr>
                                <m:t>");</m:t>
                              </m:r>
                            </m:oMath>
                          </a14:m>
                          <a:r>
                            <a:rPr lang="en-IN" sz="1800" i="1" dirty="0">
                              <a:solidFill>
                                <a:schemeClr val="accent6">
                                  <a:lumMod val="40000"/>
                                  <a:lumOff val="60000"/>
                                </a:schemeClr>
                              </a:solidFill>
                              <a:latin typeface="Cambria Math" panose="02040503050406030204" pitchFamily="18" charset="0"/>
                            </a:rPr>
                            <a:t>          </a:t>
                          </a:r>
                        </a:p>
                        <a:p>
                          <a:pPr marL="0" indent="0">
                            <a:spcBef>
                              <a:spcPts val="0"/>
                            </a:spcBef>
                            <a:buNone/>
                          </a:pPr>
                          <a:r>
                            <a:rPr lang="en-IN" sz="1800" dirty="0">
                              <a:solidFill>
                                <a:schemeClr val="accent6">
                                  <a:lumMod val="40000"/>
                                  <a:lumOff val="60000"/>
                                </a:schemeClr>
                              </a:solidFill>
                            </a:rPr>
                            <a:t>        </a:t>
                          </a:r>
                          <a14:m>
                            <m:oMath xmlns:m="http://schemas.openxmlformats.org/officeDocument/2006/math">
                              <m:r>
                                <a:rPr lang="en-IN" sz="1800" i="1">
                                  <a:solidFill>
                                    <a:schemeClr val="accent6">
                                      <a:lumMod val="40000"/>
                                      <a:lumOff val="60000"/>
                                    </a:schemeClr>
                                  </a:solidFill>
                                  <a:latin typeface="Cambria Math" panose="02040503050406030204" pitchFamily="18" charset="0"/>
                                </a:rPr>
                                <m:t>} </m:t>
                              </m:r>
                            </m:oMath>
                          </a14:m>
                          <a:r>
                            <a:rPr lang="en-IN" sz="1800" i="1" dirty="0">
                              <a:solidFill>
                                <a:schemeClr val="accent6">
                                  <a:lumMod val="40000"/>
                                  <a:lumOff val="60000"/>
                                </a:schemeClr>
                              </a:solidFill>
                              <a:latin typeface="Cambria Math" panose="02040503050406030204" pitchFamily="18" charset="0"/>
                            </a:rPr>
                            <a:t>   </a:t>
                          </a:r>
                          <a:endParaRPr lang="en-IN" sz="1800" dirty="0">
                            <a:solidFill>
                              <a:schemeClr val="accent6">
                                <a:lumMod val="40000"/>
                                <a:lumOff val="60000"/>
                              </a:schemeClr>
                            </a:solidFill>
                            <a:latin typeface="Cambria Math" panose="02040503050406030204" pitchFamily="18" charset="0"/>
                          </a:endParaRPr>
                        </a:p>
                        <a:p>
                          <a:pPr marL="0" indent="0">
                            <a:spcBef>
                              <a:spcPts val="0"/>
                            </a:spcBef>
                            <a:buNone/>
                          </a:pPr>
                          <a:r>
                            <a:rPr lang="en-IN" sz="1800" dirty="0">
                              <a:solidFill>
                                <a:schemeClr val="accent6">
                                  <a:lumMod val="40000"/>
                                  <a:lumOff val="60000"/>
                                </a:schemeClr>
                              </a:solidFill>
                            </a:rPr>
                            <a:t>        </a:t>
                          </a:r>
                          <a14:m>
                            <m:oMath xmlns:m="http://schemas.openxmlformats.org/officeDocument/2006/math">
                              <m:r>
                                <a:rPr lang="en-IN" sz="1800" i="1">
                                  <a:solidFill>
                                    <a:schemeClr val="accent6">
                                      <a:lumMod val="40000"/>
                                      <a:lumOff val="60000"/>
                                    </a:schemeClr>
                                  </a:solidFill>
                                  <a:latin typeface="Cambria Math" panose="02040503050406030204" pitchFamily="18" charset="0"/>
                                </a:rPr>
                                <m:t>𝑓𝑢𝑛</m:t>
                              </m:r>
                              <m:d>
                                <m:dPr>
                                  <m:ctrlPr>
                                    <a:rPr lang="en-IN" sz="1800" i="1">
                                      <a:solidFill>
                                        <a:schemeClr val="accent6">
                                          <a:lumMod val="40000"/>
                                          <a:lumOff val="60000"/>
                                        </a:schemeClr>
                                      </a:solidFill>
                                      <a:latin typeface="Cambria Math" panose="02040503050406030204" pitchFamily="18" charset="0"/>
                                    </a:rPr>
                                  </m:ctrlPr>
                                </m:dPr>
                                <m:e>
                                  <m:r>
                                    <a:rPr lang="en-IN" sz="1800" i="1">
                                      <a:solidFill>
                                        <a:schemeClr val="accent6">
                                          <a:lumMod val="40000"/>
                                          <a:lumOff val="60000"/>
                                        </a:schemeClr>
                                      </a:solidFill>
                                      <a:latin typeface="Cambria Math" panose="02040503050406030204" pitchFamily="18" charset="0"/>
                                    </a:rPr>
                                    <m:t>𝑛</m:t>
                                  </m:r>
                                  <m:r>
                                    <a:rPr lang="en-IN" sz="1800" i="1">
                                      <a:solidFill>
                                        <a:schemeClr val="accent6">
                                          <a:lumMod val="40000"/>
                                          <a:lumOff val="60000"/>
                                        </a:schemeClr>
                                      </a:solidFill>
                                      <a:latin typeface="Cambria Math" panose="02040503050406030204" pitchFamily="18" charset="0"/>
                                    </a:rPr>
                                    <m:t>−1</m:t>
                                  </m:r>
                                </m:e>
                              </m:d>
                              <m:r>
                                <a:rPr lang="en-IN" sz="1800" i="1">
                                  <a:solidFill>
                                    <a:schemeClr val="accent6">
                                      <a:lumMod val="40000"/>
                                      <a:lumOff val="60000"/>
                                    </a:schemeClr>
                                  </a:solidFill>
                                  <a:latin typeface="Cambria Math" panose="02040503050406030204" pitchFamily="18" charset="0"/>
                                </a:rPr>
                                <m:t>;</m:t>
                              </m:r>
                            </m:oMath>
                          </a14:m>
                          <a:r>
                            <a:rPr lang="en-IN" sz="1800" i="1" dirty="0">
                              <a:solidFill>
                                <a:schemeClr val="accent6">
                                  <a:lumMod val="40000"/>
                                  <a:lumOff val="60000"/>
                                </a:schemeClr>
                              </a:solidFill>
                              <a:latin typeface="Cambria Math" panose="02040503050406030204" pitchFamily="18" charset="0"/>
                            </a:rPr>
                            <a:t>             </a:t>
                          </a:r>
                          <a:endParaRPr lang="en-IN" sz="1800" dirty="0">
                            <a:solidFill>
                              <a:schemeClr val="accent6">
                                <a:lumMod val="40000"/>
                                <a:lumOff val="60000"/>
                              </a:schemeClr>
                            </a:solidFill>
                            <a:latin typeface="Cambria Math" panose="02040503050406030204" pitchFamily="18" charset="0"/>
                          </a:endParaRPr>
                        </a:p>
                        <a:p>
                          <a:pPr marL="0" indent="0">
                            <a:spcBef>
                              <a:spcPts val="0"/>
                            </a:spcBef>
                            <a:buNone/>
                          </a:pPr>
                          <a:r>
                            <a:rPr lang="en-IN" sz="1800" dirty="0">
                              <a:solidFill>
                                <a:schemeClr val="accent6">
                                  <a:lumMod val="40000"/>
                                  <a:lumOff val="60000"/>
                                </a:schemeClr>
                              </a:solidFill>
                            </a:rPr>
                            <a:t>   </a:t>
                          </a:r>
                          <a14:m>
                            <m:oMath xmlns:m="http://schemas.openxmlformats.org/officeDocument/2006/math">
                              <m:r>
                                <a:rPr lang="en-IN" sz="1800">
                                  <a:solidFill>
                                    <a:schemeClr val="accent6">
                                      <a:lumMod val="40000"/>
                                      <a:lumOff val="60000"/>
                                    </a:schemeClr>
                                  </a:solidFill>
                                  <a:latin typeface="Cambria Math" panose="02040503050406030204" pitchFamily="18" charset="0"/>
                                </a:rPr>
                                <m:t> </m:t>
                              </m:r>
                              <m:r>
                                <a:rPr lang="en-IN" sz="1800" b="0" i="0" smtClean="0">
                                  <a:solidFill>
                                    <a:schemeClr val="accent6">
                                      <a:lumMod val="40000"/>
                                      <a:lumOff val="60000"/>
                                    </a:schemeClr>
                                  </a:solidFill>
                                  <a:latin typeface="Cambria Math" panose="02040503050406030204" pitchFamily="18" charset="0"/>
                                </a:rPr>
                                <m:t> </m:t>
                              </m:r>
                              <m:r>
                                <a:rPr lang="en-IN" sz="1800">
                                  <a:solidFill>
                                    <a:schemeClr val="accent6">
                                      <a:lumMod val="40000"/>
                                      <a:lumOff val="60000"/>
                                    </a:schemeClr>
                                  </a:solidFill>
                                  <a:latin typeface="Cambria Math" panose="02040503050406030204" pitchFamily="18" charset="0"/>
                                </a:rPr>
                                <m:t>}</m:t>
                              </m:r>
                            </m:oMath>
                          </a14:m>
                          <a:endParaRPr lang="en-IN" sz="1800" dirty="0">
                            <a:solidFill>
                              <a:schemeClr val="accent6">
                                <a:lumMod val="40000"/>
                                <a:lumOff val="60000"/>
                              </a:schemeClr>
                            </a:solidFill>
                            <a:latin typeface="Cambria Math" panose="02040503050406030204" pitchFamily="18" charset="0"/>
                          </a:endParaRPr>
                        </a:p>
                        <a:p>
                          <a:pPr marL="0" indent="0">
                            <a:spcBef>
                              <a:spcPts val="0"/>
                            </a:spcBef>
                            <a:buNone/>
                          </a:pPr>
                          <a14:m>
                            <m:oMath xmlns:m="http://schemas.openxmlformats.org/officeDocument/2006/math">
                              <m:r>
                                <a:rPr lang="en-IN" sz="1800">
                                  <a:solidFill>
                                    <a:schemeClr val="accent6">
                                      <a:lumMod val="40000"/>
                                      <a:lumOff val="60000"/>
                                    </a:schemeClr>
                                  </a:solidFill>
                                  <a:latin typeface="Cambria Math" panose="02040503050406030204" pitchFamily="18" charset="0"/>
                                </a:rPr>
                                <m:t> </m:t>
                              </m:r>
                              <m:r>
                                <a:rPr lang="en-IN" sz="1800" b="0" i="0" smtClean="0">
                                  <a:solidFill>
                                    <a:schemeClr val="accent6">
                                      <a:lumMod val="40000"/>
                                      <a:lumOff val="60000"/>
                                    </a:schemeClr>
                                  </a:solidFill>
                                  <a:latin typeface="Cambria Math" panose="02040503050406030204" pitchFamily="18" charset="0"/>
                                </a:rPr>
                                <m:t> </m:t>
                              </m:r>
                              <m:r>
                                <a:rPr lang="en-IN" sz="1800">
                                  <a:solidFill>
                                    <a:schemeClr val="accent6">
                                      <a:lumMod val="40000"/>
                                      <a:lumOff val="60000"/>
                                    </a:schemeClr>
                                  </a:solidFill>
                                  <a:latin typeface="Cambria Math" panose="02040503050406030204" pitchFamily="18" charset="0"/>
                                </a:rPr>
                                <m:t>}</m:t>
                              </m:r>
                            </m:oMath>
                          </a14:m>
                          <a:r>
                            <a:rPr lang="en-IN" sz="1800" dirty="0">
                              <a:solidFill>
                                <a:schemeClr val="accent6">
                                  <a:lumMod val="40000"/>
                                  <a:lumOff val="60000"/>
                                </a:schemeClr>
                              </a:solidFill>
                            </a:rPr>
                            <a:t> </a:t>
                          </a:r>
                          <a:endParaRPr lang="en-IN" dirty="0">
                            <a:solidFill>
                              <a:schemeClr val="accent6">
                                <a:lumMod val="40000"/>
                                <a:lumOff val="60000"/>
                              </a:schemeClr>
                            </a:solidFill>
                          </a:endParaRPr>
                        </a:p>
                      </a:txBody>
                      <a:tcPr/>
                    </a:tc>
                    <a:tc>
                      <a:txBody>
                        <a:bodyPr/>
                        <a:lstStyle/>
                        <a:p>
                          <a:pPr marL="0" indent="0">
                            <a:buNone/>
                          </a:pPr>
                          <a:r>
                            <a:rPr lang="en-IN" b="0" dirty="0">
                              <a:solidFill>
                                <a:schemeClr val="accent6">
                                  <a:lumMod val="40000"/>
                                  <a:lumOff val="60000"/>
                                </a:schemeClr>
                              </a:solidFill>
                            </a:rPr>
                            <a:t>Ex.2:</a:t>
                          </a:r>
                        </a:p>
                        <a:p>
                          <a:pPr marL="0" indent="0">
                            <a:spcBef>
                              <a:spcPts val="0"/>
                            </a:spcBef>
                            <a:buNone/>
                          </a:pPr>
                          <a14:m>
                            <m:oMath xmlns:m="http://schemas.openxmlformats.org/officeDocument/2006/math">
                              <m:r>
                                <a:rPr lang="en-IN" sz="1800" b="0" i="1" smtClean="0">
                                  <a:solidFill>
                                    <a:schemeClr val="accent6">
                                      <a:lumMod val="40000"/>
                                      <a:lumOff val="60000"/>
                                    </a:schemeClr>
                                  </a:solidFill>
                                  <a:latin typeface="Cambria Math" panose="02040503050406030204" pitchFamily="18" charset="0"/>
                                </a:rPr>
                                <m:t>𝑖𝑛𝑡</m:t>
                              </m:r>
                              <m:r>
                                <a:rPr lang="en-IN" sz="1800" i="1">
                                  <a:solidFill>
                                    <a:schemeClr val="accent6">
                                      <a:lumMod val="40000"/>
                                      <a:lumOff val="60000"/>
                                    </a:schemeClr>
                                  </a:solidFill>
                                  <a:latin typeface="Cambria Math" panose="02040503050406030204" pitchFamily="18" charset="0"/>
                                </a:rPr>
                                <m:t> </m:t>
                              </m:r>
                              <m:r>
                                <a:rPr lang="en-IN" sz="1800" i="1">
                                  <a:solidFill>
                                    <a:schemeClr val="accent6">
                                      <a:lumMod val="40000"/>
                                      <a:lumOff val="60000"/>
                                    </a:schemeClr>
                                  </a:solidFill>
                                  <a:latin typeface="Cambria Math" panose="02040503050406030204" pitchFamily="18" charset="0"/>
                                </a:rPr>
                                <m:t>𝑓𝑎𝑐𝑡</m:t>
                              </m:r>
                              <m:d>
                                <m:dPr>
                                  <m:ctrlPr>
                                    <a:rPr lang="en-IN" sz="1800" i="1">
                                      <a:solidFill>
                                        <a:schemeClr val="accent6">
                                          <a:lumMod val="40000"/>
                                          <a:lumOff val="60000"/>
                                        </a:schemeClr>
                                      </a:solidFill>
                                      <a:latin typeface="Cambria Math" panose="02040503050406030204" pitchFamily="18" charset="0"/>
                                    </a:rPr>
                                  </m:ctrlPr>
                                </m:dPr>
                                <m:e>
                                  <m:r>
                                    <a:rPr lang="en-IN" sz="1800" i="1">
                                      <a:solidFill>
                                        <a:schemeClr val="accent6">
                                          <a:lumMod val="40000"/>
                                          <a:lumOff val="60000"/>
                                        </a:schemeClr>
                                      </a:solidFill>
                                      <a:latin typeface="Cambria Math" panose="02040503050406030204" pitchFamily="18" charset="0"/>
                                    </a:rPr>
                                    <m:t>𝑖𝑛𝑡</m:t>
                                  </m:r>
                                  <m:r>
                                    <a:rPr lang="en-IN" sz="1800" i="1">
                                      <a:solidFill>
                                        <a:schemeClr val="accent6">
                                          <a:lumMod val="40000"/>
                                          <a:lumOff val="60000"/>
                                        </a:schemeClr>
                                      </a:solidFill>
                                      <a:latin typeface="Cambria Math" panose="02040503050406030204" pitchFamily="18" charset="0"/>
                                    </a:rPr>
                                    <m:t> </m:t>
                                  </m:r>
                                  <m:r>
                                    <a:rPr lang="en-IN" sz="1800" i="1">
                                      <a:solidFill>
                                        <a:schemeClr val="accent6">
                                          <a:lumMod val="40000"/>
                                          <a:lumOff val="60000"/>
                                        </a:schemeClr>
                                      </a:solidFill>
                                      <a:latin typeface="Cambria Math" panose="02040503050406030204" pitchFamily="18" charset="0"/>
                                    </a:rPr>
                                    <m:t>𝑛</m:t>
                                  </m:r>
                                </m:e>
                              </m:d>
                            </m:oMath>
                          </a14:m>
                          <a:r>
                            <a:rPr lang="en-IN" sz="1800" i="1" dirty="0">
                              <a:solidFill>
                                <a:schemeClr val="accent6">
                                  <a:lumMod val="40000"/>
                                  <a:lumOff val="60000"/>
                                </a:schemeClr>
                              </a:solidFill>
                              <a:latin typeface="Cambria Math" panose="02040503050406030204" pitchFamily="18" charset="0"/>
                            </a:rPr>
                            <a:t>                        </a:t>
                          </a:r>
                          <a:endParaRPr lang="en-IN" sz="1800" dirty="0">
                            <a:solidFill>
                              <a:schemeClr val="accent6">
                                <a:lumMod val="40000"/>
                                <a:lumOff val="60000"/>
                              </a:schemeClr>
                            </a:solidFill>
                            <a:latin typeface="Cambria Math" panose="02040503050406030204" pitchFamily="18" charset="0"/>
                          </a:endParaRPr>
                        </a:p>
                        <a:p>
                          <a:pPr marL="0" indent="0">
                            <a:spcBef>
                              <a:spcPts val="0"/>
                            </a:spcBef>
                            <a:buNone/>
                          </a:pPr>
                          <a14:m>
                            <m:oMathPara xmlns:m="http://schemas.openxmlformats.org/officeDocument/2006/math">
                              <m:oMathParaPr>
                                <m:jc m:val="left"/>
                              </m:oMathParaPr>
                              <m:oMath xmlns:m="http://schemas.openxmlformats.org/officeDocument/2006/math">
                                <m:r>
                                  <a:rPr lang="en-IN" sz="1800" i="1">
                                    <a:solidFill>
                                      <a:schemeClr val="accent6">
                                        <a:lumMod val="40000"/>
                                        <a:lumOff val="60000"/>
                                      </a:schemeClr>
                                    </a:solidFill>
                                    <a:latin typeface="Cambria Math" panose="02040503050406030204" pitchFamily="18" charset="0"/>
                                  </a:rPr>
                                  <m:t>{ </m:t>
                                </m:r>
                              </m:oMath>
                            </m:oMathPara>
                          </a14:m>
                          <a:endParaRPr lang="en-IN" sz="1800" i="1" dirty="0">
                            <a:solidFill>
                              <a:schemeClr val="accent6">
                                <a:lumMod val="40000"/>
                                <a:lumOff val="60000"/>
                              </a:schemeClr>
                            </a:solidFill>
                            <a:latin typeface="Cambria Math" panose="02040503050406030204" pitchFamily="18" charset="0"/>
                          </a:endParaRPr>
                        </a:p>
                        <a:p>
                          <a:pPr marL="0" indent="0">
                            <a:spcBef>
                              <a:spcPts val="0"/>
                            </a:spcBef>
                            <a:buNone/>
                          </a:pPr>
                          <a:r>
                            <a:rPr lang="en-IN" sz="1800" dirty="0">
                              <a:solidFill>
                                <a:schemeClr val="accent6">
                                  <a:lumMod val="40000"/>
                                  <a:lumOff val="60000"/>
                                </a:schemeClr>
                              </a:solidFill>
                            </a:rPr>
                            <a:t>  </a:t>
                          </a:r>
                          <a14:m>
                            <m:oMath xmlns:m="http://schemas.openxmlformats.org/officeDocument/2006/math">
                              <m:r>
                                <a:rPr lang="en-IN" sz="1800" i="1">
                                  <a:solidFill>
                                    <a:schemeClr val="accent6">
                                      <a:lumMod val="40000"/>
                                      <a:lumOff val="60000"/>
                                    </a:schemeClr>
                                  </a:solidFill>
                                  <a:latin typeface="Cambria Math" panose="02040503050406030204" pitchFamily="18" charset="0"/>
                                </a:rPr>
                                <m:t>𝑖𝑓</m:t>
                              </m:r>
                              <m:d>
                                <m:dPr>
                                  <m:ctrlPr>
                                    <a:rPr lang="en-IN" sz="1800" i="1">
                                      <a:solidFill>
                                        <a:schemeClr val="accent6">
                                          <a:lumMod val="40000"/>
                                          <a:lumOff val="60000"/>
                                        </a:schemeClr>
                                      </a:solidFill>
                                      <a:latin typeface="Cambria Math" panose="02040503050406030204" pitchFamily="18" charset="0"/>
                                    </a:rPr>
                                  </m:ctrlPr>
                                </m:dPr>
                                <m:e>
                                  <m:r>
                                    <a:rPr lang="en-IN" sz="1800" i="1">
                                      <a:solidFill>
                                        <a:schemeClr val="accent6">
                                          <a:lumMod val="40000"/>
                                          <a:lumOff val="60000"/>
                                        </a:schemeClr>
                                      </a:solidFill>
                                      <a:latin typeface="Cambria Math" panose="02040503050406030204" pitchFamily="18" charset="0"/>
                                    </a:rPr>
                                    <m:t>𝑛</m:t>
                                  </m:r>
                                  <m:r>
                                    <a:rPr lang="en-IN" sz="1800" b="0" i="1" smtClean="0">
                                      <a:solidFill>
                                        <a:schemeClr val="accent6">
                                          <a:lumMod val="40000"/>
                                          <a:lumOff val="60000"/>
                                        </a:schemeClr>
                                      </a:solidFill>
                                      <a:latin typeface="Cambria Math" panose="02040503050406030204" pitchFamily="18" charset="0"/>
                                    </a:rPr>
                                    <m:t>==0</m:t>
                                  </m:r>
                                </m:e>
                              </m:d>
                            </m:oMath>
                          </a14:m>
                          <a:r>
                            <a:rPr lang="en-IN" sz="1800" i="1" dirty="0">
                              <a:solidFill>
                                <a:schemeClr val="accent6">
                                  <a:lumMod val="40000"/>
                                  <a:lumOff val="60000"/>
                                </a:schemeClr>
                              </a:solidFill>
                              <a:latin typeface="Cambria Math" panose="02040503050406030204" pitchFamily="18" charset="0"/>
                            </a:rPr>
                            <a:t>                                 </a:t>
                          </a:r>
                        </a:p>
                        <a:p>
                          <a:pPr marL="0" indent="0">
                            <a:spcBef>
                              <a:spcPts val="0"/>
                            </a:spcBef>
                            <a:buNone/>
                          </a:pPr>
                          <a:r>
                            <a:rPr lang="en-IN" sz="1800" dirty="0">
                              <a:solidFill>
                                <a:schemeClr val="accent6">
                                  <a:lumMod val="40000"/>
                                  <a:lumOff val="60000"/>
                                </a:schemeClr>
                              </a:solidFill>
                            </a:rPr>
                            <a:t>     </a:t>
                          </a:r>
                          <a14:m>
                            <m:oMath xmlns:m="http://schemas.openxmlformats.org/officeDocument/2006/math">
                              <m:r>
                                <a:rPr lang="en-IN" sz="1800" i="1" dirty="0" smtClean="0">
                                  <a:solidFill>
                                    <a:schemeClr val="accent6">
                                      <a:lumMod val="40000"/>
                                      <a:lumOff val="60000"/>
                                    </a:schemeClr>
                                  </a:solidFill>
                                  <a:latin typeface="Cambria Math" panose="02040503050406030204" pitchFamily="18" charset="0"/>
                                </a:rPr>
                                <m:t>𝑟𝑒𝑡𝑢𝑟𝑛</m:t>
                              </m:r>
                              <m:r>
                                <a:rPr lang="en-IN" sz="1800" i="1" dirty="0" smtClean="0">
                                  <a:solidFill>
                                    <a:schemeClr val="accent6">
                                      <a:lumMod val="40000"/>
                                      <a:lumOff val="60000"/>
                                    </a:schemeClr>
                                  </a:solidFill>
                                  <a:latin typeface="Cambria Math" panose="02040503050406030204" pitchFamily="18" charset="0"/>
                                </a:rPr>
                                <m:t> 1;</m:t>
                              </m:r>
                            </m:oMath>
                          </a14:m>
                          <a:endParaRPr lang="en-IN" sz="1800" dirty="0">
                            <a:solidFill>
                              <a:schemeClr val="accent6">
                                <a:lumMod val="40000"/>
                                <a:lumOff val="60000"/>
                              </a:schemeClr>
                            </a:solidFill>
                          </a:endParaRPr>
                        </a:p>
                        <a:p>
                          <a:pPr marL="0" indent="0">
                            <a:spcBef>
                              <a:spcPts val="0"/>
                            </a:spcBef>
                            <a:buNone/>
                          </a:pPr>
                          <a14:m>
                            <m:oMathPara xmlns:m="http://schemas.openxmlformats.org/officeDocument/2006/math">
                              <m:oMathParaPr>
                                <m:jc m:val="left"/>
                              </m:oMathParaPr>
                              <m:oMath xmlns:m="http://schemas.openxmlformats.org/officeDocument/2006/math">
                                <m:r>
                                  <a:rPr lang="en-IN" sz="1800" i="1" dirty="0" smtClean="0">
                                    <a:solidFill>
                                      <a:schemeClr val="accent6">
                                        <a:lumMod val="40000"/>
                                        <a:lumOff val="60000"/>
                                      </a:schemeClr>
                                    </a:solidFill>
                                    <a:latin typeface="Cambria Math" panose="02040503050406030204" pitchFamily="18" charset="0"/>
                                  </a:rPr>
                                  <m:t>  </m:t>
                                </m:r>
                                <m:r>
                                  <a:rPr lang="en-IN" sz="1800" i="1" dirty="0" smtClean="0">
                                    <a:solidFill>
                                      <a:schemeClr val="accent6">
                                        <a:lumMod val="40000"/>
                                        <a:lumOff val="60000"/>
                                      </a:schemeClr>
                                    </a:solidFill>
                                    <a:latin typeface="Cambria Math" panose="02040503050406030204" pitchFamily="18" charset="0"/>
                                  </a:rPr>
                                  <m:t>𝑒𝑙𝑠𝑒</m:t>
                                </m:r>
                              </m:oMath>
                            </m:oMathPara>
                          </a14:m>
                          <a:endParaRPr lang="en-IN" sz="1800" dirty="0">
                            <a:solidFill>
                              <a:schemeClr val="accent6">
                                <a:lumMod val="40000"/>
                                <a:lumOff val="60000"/>
                              </a:schemeClr>
                            </a:solidFill>
                          </a:endParaRPr>
                        </a:p>
                        <a:p>
                          <a:pPr marL="0" indent="0">
                            <a:spcBef>
                              <a:spcPts val="0"/>
                            </a:spcBef>
                            <a:buNone/>
                          </a:pPr>
                          <a:r>
                            <a:rPr lang="en-IN" sz="1800" dirty="0">
                              <a:solidFill>
                                <a:schemeClr val="accent6">
                                  <a:lumMod val="40000"/>
                                  <a:lumOff val="60000"/>
                                </a:schemeClr>
                              </a:solidFill>
                            </a:rPr>
                            <a:t>     </a:t>
                          </a:r>
                          <a14:m>
                            <m:oMath xmlns:m="http://schemas.openxmlformats.org/officeDocument/2006/math">
                              <m:r>
                                <a:rPr lang="en-IN" sz="1800" i="1" dirty="0" smtClean="0">
                                  <a:solidFill>
                                    <a:schemeClr val="accent6">
                                      <a:lumMod val="40000"/>
                                      <a:lumOff val="60000"/>
                                    </a:schemeClr>
                                  </a:solidFill>
                                  <a:latin typeface="Cambria Math" panose="02040503050406030204" pitchFamily="18" charset="0"/>
                                </a:rPr>
                                <m:t>𝑟𝑒𝑡𝑢𝑟𝑛</m:t>
                              </m:r>
                              <m:r>
                                <a:rPr lang="en-IN" sz="1800" i="1" dirty="0">
                                  <a:solidFill>
                                    <a:schemeClr val="accent6">
                                      <a:lumMod val="40000"/>
                                      <a:lumOff val="60000"/>
                                    </a:schemeClr>
                                  </a:solidFill>
                                  <a:latin typeface="Cambria Math" panose="02040503050406030204" pitchFamily="18" charset="0"/>
                                </a:rPr>
                                <m:t> </m:t>
                              </m:r>
                              <m:r>
                                <a:rPr lang="en-IN" sz="1800" i="1" dirty="0" smtClean="0">
                                  <a:solidFill>
                                    <a:schemeClr val="accent6">
                                      <a:lumMod val="40000"/>
                                      <a:lumOff val="60000"/>
                                    </a:schemeClr>
                                  </a:solidFill>
                                  <a:latin typeface="Cambria Math" panose="02040503050406030204" pitchFamily="18" charset="0"/>
                                </a:rPr>
                                <m:t>𝑛</m:t>
                              </m:r>
                              <m:r>
                                <a:rPr lang="en-IN" sz="1800" i="1" dirty="0" smtClean="0">
                                  <a:solidFill>
                                    <a:schemeClr val="accent6">
                                      <a:lumMod val="40000"/>
                                      <a:lumOff val="60000"/>
                                    </a:schemeClr>
                                  </a:solidFill>
                                  <a:latin typeface="Cambria Math" panose="02040503050406030204" pitchFamily="18" charset="0"/>
                                </a:rPr>
                                <m:t>∗</m:t>
                              </m:r>
                              <m:r>
                                <a:rPr lang="en-IN" sz="1800" i="1" dirty="0" smtClean="0">
                                  <a:solidFill>
                                    <a:schemeClr val="accent6">
                                      <a:lumMod val="40000"/>
                                      <a:lumOff val="60000"/>
                                    </a:schemeClr>
                                  </a:solidFill>
                                  <a:latin typeface="Cambria Math" panose="02040503050406030204" pitchFamily="18" charset="0"/>
                                </a:rPr>
                                <m:t>𝑓𝑎𝑐𝑡</m:t>
                              </m:r>
                              <m:r>
                                <a:rPr lang="en-IN" sz="1800" i="1" dirty="0" smtClean="0">
                                  <a:solidFill>
                                    <a:schemeClr val="accent6">
                                      <a:lumMod val="40000"/>
                                      <a:lumOff val="60000"/>
                                    </a:schemeClr>
                                  </a:solidFill>
                                  <a:latin typeface="Cambria Math" panose="02040503050406030204" pitchFamily="18" charset="0"/>
                                </a:rPr>
                                <m:t>(</m:t>
                              </m:r>
                              <m:r>
                                <a:rPr lang="en-IN" sz="1800" i="1" dirty="0" smtClean="0">
                                  <a:solidFill>
                                    <a:schemeClr val="accent6">
                                      <a:lumMod val="40000"/>
                                      <a:lumOff val="60000"/>
                                    </a:schemeClr>
                                  </a:solidFill>
                                  <a:latin typeface="Cambria Math" panose="02040503050406030204" pitchFamily="18" charset="0"/>
                                </a:rPr>
                                <m:t>𝑛</m:t>
                              </m:r>
                              <m:r>
                                <a:rPr lang="en-IN" sz="1800" i="1" dirty="0" smtClean="0">
                                  <a:solidFill>
                                    <a:schemeClr val="accent6">
                                      <a:lumMod val="40000"/>
                                      <a:lumOff val="60000"/>
                                    </a:schemeClr>
                                  </a:solidFill>
                                  <a:latin typeface="Cambria Math" panose="02040503050406030204" pitchFamily="18" charset="0"/>
                                </a:rPr>
                                <m:t>−1);</m:t>
                              </m:r>
                            </m:oMath>
                          </a14:m>
                          <a:r>
                            <a:rPr lang="en-IN" sz="1800" dirty="0">
                              <a:solidFill>
                                <a:schemeClr val="accent6">
                                  <a:lumMod val="40000"/>
                                  <a:lumOff val="60000"/>
                                </a:schemeClr>
                              </a:solidFill>
                            </a:rPr>
                            <a:t>  </a:t>
                          </a:r>
                        </a:p>
                        <a:p>
                          <a:pPr marL="0" indent="0">
                            <a:spcBef>
                              <a:spcPts val="0"/>
                            </a:spcBef>
                            <a:buNone/>
                          </a:pPr>
                          <a14:m>
                            <m:oMath xmlns:m="http://schemas.openxmlformats.org/officeDocument/2006/math">
                              <m:r>
                                <a:rPr lang="en-IN" sz="1800" i="1">
                                  <a:solidFill>
                                    <a:schemeClr val="accent6">
                                      <a:lumMod val="40000"/>
                                      <a:lumOff val="60000"/>
                                    </a:schemeClr>
                                  </a:solidFill>
                                  <a:latin typeface="Cambria Math" panose="02040503050406030204" pitchFamily="18" charset="0"/>
                                </a:rPr>
                                <m:t>} </m:t>
                              </m:r>
                            </m:oMath>
                          </a14:m>
                          <a:r>
                            <a:rPr lang="en-IN" sz="1800" i="1" dirty="0">
                              <a:solidFill>
                                <a:schemeClr val="accent6">
                                  <a:lumMod val="40000"/>
                                  <a:lumOff val="60000"/>
                                </a:schemeClr>
                              </a:solidFill>
                              <a:latin typeface="Cambria Math" panose="02040503050406030204" pitchFamily="18" charset="0"/>
                            </a:rPr>
                            <a:t>   </a:t>
                          </a:r>
                          <a:endParaRPr lang="en-IN" sz="1800" dirty="0">
                            <a:solidFill>
                              <a:schemeClr val="accent6">
                                <a:lumMod val="40000"/>
                                <a:lumOff val="60000"/>
                              </a:schemeClr>
                            </a:solidFill>
                            <a:latin typeface="Cambria Math" panose="02040503050406030204" pitchFamily="18" charset="0"/>
                          </a:endParaRPr>
                        </a:p>
                        <a:p>
                          <a:endParaRPr lang="en-IN" dirty="0">
                            <a:solidFill>
                              <a:schemeClr val="accent6">
                                <a:lumMod val="40000"/>
                                <a:lumOff val="60000"/>
                              </a:schemeClr>
                            </a:solidFill>
                          </a:endParaRPr>
                        </a:p>
                      </a:txBody>
                      <a:tcPr/>
                    </a:tc>
                    <a:extLst>
                      <a:ext uri="{0D108BD9-81ED-4DB2-BD59-A6C34878D82A}">
                        <a16:rowId xmlns:a16="http://schemas.microsoft.com/office/drawing/2014/main" val="3771469527"/>
                      </a:ext>
                    </a:extLst>
                  </a:tr>
                </a:tbl>
              </a:graphicData>
            </a:graphic>
          </p:graphicFrame>
        </mc:Choice>
        <mc:Fallback xmlns="">
          <p:graphicFrame>
            <p:nvGraphicFramePr>
              <p:cNvPr id="5" name="Table 5">
                <a:extLst>
                  <a:ext uri="{FF2B5EF4-FFF2-40B4-BE49-F238E27FC236}">
                    <a16:creationId xmlns:a16="http://schemas.microsoft.com/office/drawing/2014/main" id="{81FFFC83-149F-41C1-A57C-A42094843606}"/>
                  </a:ext>
                </a:extLst>
              </p:cNvPr>
              <p:cNvGraphicFramePr>
                <a:graphicFrameLocks noGrp="1"/>
              </p:cNvGraphicFramePr>
              <p:nvPr>
                <p:ph idx="4294967295"/>
                <p:extLst>
                  <p:ext uri="{D42A27DB-BD31-4B8C-83A1-F6EECF244321}">
                    <p14:modId xmlns:p14="http://schemas.microsoft.com/office/powerpoint/2010/main" val="2898368774"/>
                  </p:ext>
                </p:extLst>
              </p:nvPr>
            </p:nvGraphicFramePr>
            <p:xfrm>
              <a:off x="2398426" y="2032756"/>
              <a:ext cx="7886700" cy="3383280"/>
            </p:xfrm>
            <a:graphic>
              <a:graphicData uri="http://schemas.openxmlformats.org/drawingml/2006/table">
                <a:tbl>
                  <a:tblPr firstRow="1" bandRow="1">
                    <a:tableStyleId>{5C22544A-7EE6-4342-B048-85BDC9FD1C3A}</a:tableStyleId>
                  </a:tblPr>
                  <a:tblGrid>
                    <a:gridCol w="3943350">
                      <a:extLst>
                        <a:ext uri="{9D8B030D-6E8A-4147-A177-3AD203B41FA5}">
                          <a16:colId xmlns:a16="http://schemas.microsoft.com/office/drawing/2014/main" val="4152487374"/>
                        </a:ext>
                      </a:extLst>
                    </a:gridCol>
                    <a:gridCol w="3943350">
                      <a:extLst>
                        <a:ext uri="{9D8B030D-6E8A-4147-A177-3AD203B41FA5}">
                          <a16:colId xmlns:a16="http://schemas.microsoft.com/office/drawing/2014/main" val="2662182985"/>
                        </a:ext>
                      </a:extLst>
                    </a:gridCol>
                  </a:tblGrid>
                  <a:tr h="3383280">
                    <a:tc>
                      <a:txBody>
                        <a:bodyPr/>
                        <a:lstStyle/>
                        <a:p>
                          <a:endParaRPr lang="en-US"/>
                        </a:p>
                      </a:txBody>
                      <a:tcPr>
                        <a:blipFill>
                          <a:blip r:embed="rId2"/>
                          <a:stretch>
                            <a:fillRect l="-154" t="-1079" r="-100463" b="-1799"/>
                          </a:stretch>
                        </a:blipFill>
                      </a:tcPr>
                    </a:tc>
                    <a:tc>
                      <a:txBody>
                        <a:bodyPr/>
                        <a:lstStyle/>
                        <a:p>
                          <a:endParaRPr lang="en-US"/>
                        </a:p>
                      </a:txBody>
                      <a:tcPr>
                        <a:blipFill>
                          <a:blip r:embed="rId2"/>
                          <a:stretch>
                            <a:fillRect l="-100309" t="-1079" r="-618" b="-1799"/>
                          </a:stretch>
                        </a:blipFill>
                      </a:tcPr>
                    </a:tc>
                    <a:extLst>
                      <a:ext uri="{0D108BD9-81ED-4DB2-BD59-A6C34878D82A}">
                        <a16:rowId xmlns:a16="http://schemas.microsoft.com/office/drawing/2014/main" val="3771469527"/>
                      </a:ext>
                    </a:extLst>
                  </a:tr>
                </a:tbl>
              </a:graphicData>
            </a:graphic>
          </p:graphicFrame>
        </mc:Fallback>
      </mc:AlternateContent>
      <p:pic>
        <p:nvPicPr>
          <p:cNvPr id="3" name="Picture 2">
            <a:extLst>
              <a:ext uri="{FF2B5EF4-FFF2-40B4-BE49-F238E27FC236}">
                <a16:creationId xmlns:a16="http://schemas.microsoft.com/office/drawing/2014/main" id="{9685503D-9E9D-321E-75CB-87D0F9A7CB60}"/>
              </a:ext>
            </a:extLst>
          </p:cNvPr>
          <p:cNvPicPr>
            <a:picLocks noChangeAspect="1"/>
          </p:cNvPicPr>
          <p:nvPr/>
        </p:nvPicPr>
        <p:blipFill>
          <a:blip r:embed="rId3"/>
          <a:stretch>
            <a:fillRect/>
          </a:stretch>
        </p:blipFill>
        <p:spPr>
          <a:xfrm>
            <a:off x="236480" y="290226"/>
            <a:ext cx="3804234" cy="737680"/>
          </a:xfrm>
          <a:prstGeom prst="rect">
            <a:avLst/>
          </a:prstGeom>
        </p:spPr>
      </p:pic>
      <p:pic>
        <p:nvPicPr>
          <p:cNvPr id="6" name="Picture 5">
            <a:extLst>
              <a:ext uri="{FF2B5EF4-FFF2-40B4-BE49-F238E27FC236}">
                <a16:creationId xmlns:a16="http://schemas.microsoft.com/office/drawing/2014/main" id="{CAFBE842-DD3F-7C9F-67FD-17C53A319DDE}"/>
              </a:ext>
            </a:extLst>
          </p:cNvPr>
          <p:cNvPicPr>
            <a:picLocks noChangeAspect="1"/>
          </p:cNvPicPr>
          <p:nvPr/>
        </p:nvPicPr>
        <p:blipFill>
          <a:blip r:embed="rId4"/>
          <a:stretch>
            <a:fillRect/>
          </a:stretch>
        </p:blipFill>
        <p:spPr>
          <a:xfrm>
            <a:off x="10445545" y="136525"/>
            <a:ext cx="1164437" cy="1005927"/>
          </a:xfrm>
          <a:prstGeom prst="rect">
            <a:avLst/>
          </a:prstGeom>
        </p:spPr>
      </p:pic>
    </p:spTree>
    <p:extLst>
      <p:ext uri="{BB962C8B-B14F-4D97-AF65-F5344CB8AC3E}">
        <p14:creationId xmlns:p14="http://schemas.microsoft.com/office/powerpoint/2010/main" val="36764601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Box 3"/>
          <p:cNvSpPr txBox="1">
            <a:spLocks noChangeArrowheads="1"/>
          </p:cNvSpPr>
          <p:nvPr/>
        </p:nvSpPr>
        <p:spPr bwMode="auto">
          <a:xfrm>
            <a:off x="571500" y="214313"/>
            <a:ext cx="10763251" cy="646112"/>
          </a:xfrm>
          <a:prstGeom prst="rect">
            <a:avLst/>
          </a:prstGeom>
          <a:noFill/>
          <a:ln w="9525">
            <a:noFill/>
            <a:miter lim="800000"/>
            <a:headEnd/>
            <a:tailEnd/>
          </a:ln>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black"/>
              </a:solidFill>
              <a:effectLst/>
              <a:uLnTx/>
              <a:uFillTx/>
              <a:latin typeface="Calibri"/>
              <a:ea typeface="Arimo" charset="0"/>
              <a:cs typeface="Arimo" charset="0"/>
            </a:endParaRPr>
          </a:p>
        </p:txBody>
      </p:sp>
      <p:sp>
        <p:nvSpPr>
          <p:cNvPr id="9" name="Title 1"/>
          <p:cNvSpPr txBox="1">
            <a:spLocks noChangeArrowheads="1"/>
          </p:cNvSpPr>
          <p:nvPr/>
        </p:nvSpPr>
        <p:spPr>
          <a:xfrm>
            <a:off x="-1" y="6416040"/>
            <a:ext cx="12191997" cy="441960"/>
          </a:xfrm>
          <a:prstGeom prst="rect">
            <a:avLst/>
          </a:prstGeom>
          <a:solidFill>
            <a:srgbClr val="C00000"/>
          </a:solidFill>
        </p:spPr>
        <p:txBody>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altLang="zh-CN" sz="1800" b="1" i="0" u="none" strike="noStrike" kern="1200" cap="none" spc="0" normalizeH="0" baseline="0" noProof="0" dirty="0">
                <a:ln>
                  <a:noFill/>
                </a:ln>
                <a:solidFill>
                  <a:prstClr val="white"/>
                </a:solidFill>
                <a:effectLst/>
                <a:uLnTx/>
                <a:uFillTx/>
                <a:latin typeface="Tinos"/>
                <a:ea typeface="等线 Light" panose="02010600030101010101" pitchFamily="2" charset="-122"/>
                <a:cs typeface="+mn-cs"/>
              </a:rPr>
              <a:t>Name of the Faculty: </a:t>
            </a:r>
            <a:r>
              <a:rPr lang="en-IN" altLang="zh-CN" sz="1800" b="1" kern="1200" dirty="0">
                <a:solidFill>
                  <a:prstClr val="white"/>
                </a:solidFill>
                <a:latin typeface="Tinos"/>
                <a:ea typeface="等线 Light" panose="02010600030101010101" pitchFamily="2" charset="-122"/>
                <a:cs typeface="+mn-cs"/>
              </a:rPr>
              <a:t>Dr Pooja Singh </a:t>
            </a:r>
            <a:r>
              <a:rPr kumimoji="0" lang="en-IN" altLang="zh-CN" sz="1800" b="1" i="0" u="none" strike="noStrike" kern="1200" cap="none" spc="0" normalizeH="0" baseline="0" noProof="0" dirty="0">
                <a:ln>
                  <a:noFill/>
                </a:ln>
                <a:solidFill>
                  <a:prstClr val="white"/>
                </a:solidFill>
                <a:effectLst/>
                <a:uLnTx/>
                <a:uFillTx/>
                <a:latin typeface="Tinos"/>
                <a:ea typeface="等线 Light" panose="02010600030101010101" pitchFamily="2" charset="-122"/>
                <a:cs typeface="+mn-cs"/>
              </a:rPr>
              <a:t>					                 </a:t>
            </a:r>
            <a:r>
              <a:rPr kumimoji="0" lang="en-US" altLang="zh-CN" sz="1800" b="1" i="0" u="none" strike="noStrike" kern="1200" cap="none" spc="0" normalizeH="0" baseline="0" noProof="0" dirty="0">
                <a:ln>
                  <a:noFill/>
                </a:ln>
                <a:solidFill>
                  <a:prstClr val="white"/>
                </a:solidFill>
                <a:effectLst/>
                <a:uLnTx/>
                <a:uFillTx/>
                <a:latin typeface="Tinos"/>
                <a:ea typeface="等线" panose="02010600030101010101" pitchFamily="2" charset="-122"/>
                <a:cs typeface="+mn-cs"/>
              </a:rPr>
              <a:t>Program Name: B.</a:t>
            </a:r>
            <a:r>
              <a:rPr lang="en-US" altLang="zh-CN" b="1" dirty="0">
                <a:solidFill>
                  <a:prstClr val="white"/>
                </a:solidFill>
                <a:latin typeface="Tinos"/>
                <a:ea typeface="等线" panose="02010600030101010101" pitchFamily="2" charset="-122"/>
              </a:rPr>
              <a:t>TECH</a:t>
            </a:r>
            <a:endParaRPr kumimoji="0" lang="en-IN" altLang="zh-CN" sz="1800" b="1" i="0" u="none" strike="noStrike" kern="1200" cap="none" spc="0" normalizeH="0" baseline="0" noProof="0" dirty="0">
              <a:ln>
                <a:noFill/>
              </a:ln>
              <a:solidFill>
                <a:prstClr val="white"/>
              </a:solidFill>
              <a:effectLst/>
              <a:uLnTx/>
              <a:uFillTx/>
              <a:latin typeface="Tinos"/>
              <a:ea typeface="等线 Light" panose="02010600030101010101" pitchFamily="2" charset="-122"/>
              <a:cs typeface="+mn-cs"/>
            </a:endParaRPr>
          </a:p>
        </p:txBody>
      </p:sp>
      <p:sp>
        <p:nvSpPr>
          <p:cNvPr id="6" name="TextBox 5">
            <a:extLst>
              <a:ext uri="{FF2B5EF4-FFF2-40B4-BE49-F238E27FC236}">
                <a16:creationId xmlns:a16="http://schemas.microsoft.com/office/drawing/2014/main" id="{6D3FB716-FD07-4DA5-8090-027161BB235E}"/>
              </a:ext>
            </a:extLst>
          </p:cNvPr>
          <p:cNvSpPr txBox="1"/>
          <p:nvPr/>
        </p:nvSpPr>
        <p:spPr>
          <a:xfrm>
            <a:off x="276447" y="883068"/>
            <a:ext cx="11642651" cy="923330"/>
          </a:xfrm>
          <a:prstGeom prst="rect">
            <a:avLst/>
          </a:prstGeom>
          <a:noFill/>
        </p:spPr>
        <p:txBody>
          <a:bodyPr wrap="square">
            <a:spAutoFit/>
          </a:bodyPr>
          <a:lstStyle/>
          <a:p>
            <a:pPr algn="l" fontAlgn="base"/>
            <a:r>
              <a:rPr lang="en-IN" sz="5400" b="1" i="0" dirty="0">
                <a:solidFill>
                  <a:srgbClr val="273239"/>
                </a:solidFill>
                <a:effectLst/>
                <a:latin typeface="sofia-pro"/>
              </a:rPr>
              <a:t>Recurrence Relation</a:t>
            </a:r>
          </a:p>
        </p:txBody>
      </p:sp>
      <p:sp>
        <p:nvSpPr>
          <p:cNvPr id="2" name="Content Placeholder 2">
            <a:extLst>
              <a:ext uri="{FF2B5EF4-FFF2-40B4-BE49-F238E27FC236}">
                <a16:creationId xmlns:a16="http://schemas.microsoft.com/office/drawing/2014/main" id="{B73D4443-517B-F527-5B78-D38C4B8C4A24}"/>
              </a:ext>
            </a:extLst>
          </p:cNvPr>
          <p:cNvSpPr txBox="1">
            <a:spLocks/>
          </p:cNvSpPr>
          <p:nvPr/>
        </p:nvSpPr>
        <p:spPr>
          <a:xfrm>
            <a:off x="884420" y="2053651"/>
            <a:ext cx="10153493" cy="376354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fontAlgn="base"/>
            <a:r>
              <a:rPr lang="en-US" b="0" i="0" dirty="0">
                <a:solidFill>
                  <a:srgbClr val="161616"/>
                </a:solidFill>
                <a:effectLst/>
                <a:latin typeface="Times New Roman" panose="02020603050405020304" pitchFamily="18" charset="0"/>
                <a:cs typeface="Times New Roman" panose="02020603050405020304" pitchFamily="18" charset="0"/>
              </a:rPr>
              <a:t>A </a:t>
            </a:r>
            <a:r>
              <a:rPr lang="en-US" b="1" i="0" dirty="0">
                <a:solidFill>
                  <a:srgbClr val="161616"/>
                </a:solidFill>
                <a:effectLst/>
                <a:latin typeface="Times New Roman" panose="02020603050405020304" pitchFamily="18" charset="0"/>
                <a:cs typeface="Times New Roman" panose="02020603050405020304" pitchFamily="18" charset="0"/>
              </a:rPr>
              <a:t>recurrence relation</a:t>
            </a:r>
            <a:r>
              <a:rPr lang="en-US" b="0" i="0" dirty="0">
                <a:solidFill>
                  <a:srgbClr val="161616"/>
                </a:solidFill>
                <a:effectLst/>
                <a:latin typeface="Times New Roman" panose="02020603050405020304" pitchFamily="18" charset="0"/>
                <a:cs typeface="Times New Roman" panose="02020603050405020304" pitchFamily="18" charset="0"/>
              </a:rPr>
              <a:t> is an equation that uses </a:t>
            </a:r>
            <a:r>
              <a:rPr lang="en-US" b="0" i="0" u="none" strike="noStrike" dirty="0">
                <a:effectLst/>
                <a:latin typeface="Times New Roman" panose="02020603050405020304" pitchFamily="18" charset="0"/>
                <a:cs typeface="Times New Roman" panose="02020603050405020304" pitchFamily="18" charset="0"/>
              </a:rPr>
              <a:t>recursion</a:t>
            </a:r>
            <a:r>
              <a:rPr lang="en-US" b="0" i="0" dirty="0">
                <a:effectLst/>
                <a:latin typeface="Times New Roman" panose="02020603050405020304" pitchFamily="18" charset="0"/>
                <a:cs typeface="Times New Roman" panose="02020603050405020304" pitchFamily="18" charset="0"/>
              </a:rPr>
              <a:t> </a:t>
            </a:r>
            <a:r>
              <a:rPr lang="en-US" b="0" i="0" dirty="0">
                <a:solidFill>
                  <a:srgbClr val="161616"/>
                </a:solidFill>
                <a:effectLst/>
                <a:latin typeface="Times New Roman" panose="02020603050405020304" pitchFamily="18" charset="0"/>
                <a:cs typeface="Times New Roman" panose="02020603050405020304" pitchFamily="18" charset="0"/>
              </a:rPr>
              <a:t>to related terms in a sequence or elements in an array. It is a way to define a sequence or array in terms of itself. </a:t>
            </a:r>
          </a:p>
          <a:p>
            <a:pPr algn="just" fontAlgn="base"/>
            <a:r>
              <a:rPr lang="en-US" b="0" i="0" dirty="0">
                <a:solidFill>
                  <a:srgbClr val="333333"/>
                </a:solidFill>
                <a:effectLst/>
                <a:latin typeface="Times New Roman" panose="02020603050405020304" pitchFamily="18" charset="0"/>
                <a:cs typeface="Times New Roman" panose="02020603050405020304" pitchFamily="18" charset="0"/>
              </a:rPr>
              <a:t>It helps in finding the subsequent term (next term) dependent upon the preceding term (previous term). If we know the previous term in a given series, then we can easily determine the next term.</a:t>
            </a:r>
            <a:endParaRPr lang="en-US" b="0" i="0" dirty="0">
              <a:solidFill>
                <a:srgbClr val="000000"/>
              </a:solidFill>
              <a:effectLst/>
              <a:latin typeface="Times New Roman" panose="02020603050405020304" pitchFamily="18" charset="0"/>
              <a:cs typeface="Times New Roman" panose="02020603050405020304" pitchFamily="18" charset="0"/>
            </a:endParaRPr>
          </a:p>
        </p:txBody>
      </p:sp>
      <p:pic>
        <p:nvPicPr>
          <p:cNvPr id="3" name="Picture 2" descr="A blue circle with text and words&#10;&#10;Description automatically generated">
            <a:extLst>
              <a:ext uri="{FF2B5EF4-FFF2-40B4-BE49-F238E27FC236}">
                <a16:creationId xmlns:a16="http://schemas.microsoft.com/office/drawing/2014/main" id="{4EB4ADA0-498D-E383-7EBA-D388D12BC4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34751" y="-45085"/>
            <a:ext cx="856528" cy="856528"/>
          </a:xfrm>
          <a:prstGeom prst="rect">
            <a:avLst/>
          </a:prstGeom>
        </p:spPr>
      </p:pic>
      <p:pic>
        <p:nvPicPr>
          <p:cNvPr id="4" name="Picture 3">
            <a:extLst>
              <a:ext uri="{FF2B5EF4-FFF2-40B4-BE49-F238E27FC236}">
                <a16:creationId xmlns:a16="http://schemas.microsoft.com/office/drawing/2014/main" id="{1FFFDAD7-021A-3D98-E89C-5DE45E653C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114202"/>
            <a:ext cx="3207894" cy="625615"/>
          </a:xfrm>
          <a:prstGeom prst="rect">
            <a:avLst/>
          </a:prstGeom>
        </p:spPr>
      </p:pic>
    </p:spTree>
    <p:extLst>
      <p:ext uri="{BB962C8B-B14F-4D97-AF65-F5344CB8AC3E}">
        <p14:creationId xmlns:p14="http://schemas.microsoft.com/office/powerpoint/2010/main" val="2586843563"/>
      </p:ext>
    </p:extLst>
  </p:cSld>
  <p:clrMapOvr>
    <a:masterClrMapping/>
  </p:clrMapOvr>
  <p:transition advTm="2418"/>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Box 3"/>
          <p:cNvSpPr txBox="1">
            <a:spLocks noChangeArrowheads="1"/>
          </p:cNvSpPr>
          <p:nvPr/>
        </p:nvSpPr>
        <p:spPr bwMode="auto">
          <a:xfrm>
            <a:off x="571500" y="214313"/>
            <a:ext cx="10763251" cy="646112"/>
          </a:xfrm>
          <a:prstGeom prst="rect">
            <a:avLst/>
          </a:prstGeom>
          <a:noFill/>
          <a:ln w="9525">
            <a:noFill/>
            <a:miter lim="800000"/>
            <a:headEnd/>
            <a:tailEnd/>
          </a:ln>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black"/>
              </a:solidFill>
              <a:effectLst/>
              <a:uLnTx/>
              <a:uFillTx/>
              <a:latin typeface="Calibri"/>
              <a:ea typeface="Arimo" charset="0"/>
              <a:cs typeface="Arimo" charset="0"/>
            </a:endParaRPr>
          </a:p>
        </p:txBody>
      </p:sp>
      <p:sp>
        <p:nvSpPr>
          <p:cNvPr id="9" name="Title 1"/>
          <p:cNvSpPr txBox="1">
            <a:spLocks noChangeArrowheads="1"/>
          </p:cNvSpPr>
          <p:nvPr/>
        </p:nvSpPr>
        <p:spPr>
          <a:xfrm>
            <a:off x="-1" y="6416040"/>
            <a:ext cx="12191997" cy="441960"/>
          </a:xfrm>
          <a:prstGeom prst="rect">
            <a:avLst/>
          </a:prstGeom>
          <a:solidFill>
            <a:srgbClr val="C00000"/>
          </a:solidFill>
        </p:spPr>
        <p:txBody>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altLang="zh-CN" sz="1800" b="1" i="0" u="none" strike="noStrike" kern="1200" cap="none" spc="0" normalizeH="0" baseline="0" noProof="0" dirty="0">
                <a:ln>
                  <a:noFill/>
                </a:ln>
                <a:solidFill>
                  <a:prstClr val="white"/>
                </a:solidFill>
                <a:effectLst/>
                <a:uLnTx/>
                <a:uFillTx/>
                <a:latin typeface="Tinos"/>
                <a:ea typeface="等线 Light" panose="02010600030101010101" pitchFamily="2" charset="-122"/>
                <a:cs typeface="+mn-cs"/>
              </a:rPr>
              <a:t>Name of the Faculty: </a:t>
            </a:r>
            <a:r>
              <a:rPr lang="en-IN" altLang="zh-CN" sz="1800" b="1" kern="1200" dirty="0">
                <a:solidFill>
                  <a:prstClr val="white"/>
                </a:solidFill>
                <a:latin typeface="Tinos"/>
                <a:ea typeface="等线 Light" panose="02010600030101010101" pitchFamily="2" charset="-122"/>
                <a:cs typeface="+mn-cs"/>
              </a:rPr>
              <a:t>Dr Pooja Singh</a:t>
            </a:r>
            <a:r>
              <a:rPr kumimoji="0" lang="en-IN" altLang="zh-CN" sz="1800" b="1" i="0" u="none" strike="noStrike" kern="1200" cap="none" spc="0" normalizeH="0" baseline="0" noProof="0" dirty="0">
                <a:ln>
                  <a:noFill/>
                </a:ln>
                <a:solidFill>
                  <a:prstClr val="white"/>
                </a:solidFill>
                <a:effectLst/>
                <a:uLnTx/>
                <a:uFillTx/>
                <a:latin typeface="Tinos"/>
                <a:ea typeface="等线 Light" panose="02010600030101010101" pitchFamily="2" charset="-122"/>
                <a:cs typeface="+mn-cs"/>
              </a:rPr>
              <a:t>					        </a:t>
            </a:r>
            <a:r>
              <a:rPr kumimoji="0" lang="en-US" altLang="zh-CN" sz="1800" b="1" i="0" u="none" strike="noStrike" kern="1200" cap="none" spc="0" normalizeH="0" baseline="0" noProof="0" dirty="0">
                <a:ln>
                  <a:noFill/>
                </a:ln>
                <a:solidFill>
                  <a:prstClr val="white"/>
                </a:solidFill>
                <a:effectLst/>
                <a:uLnTx/>
                <a:uFillTx/>
                <a:latin typeface="Tinos"/>
                <a:ea typeface="等线" panose="02010600030101010101" pitchFamily="2" charset="-122"/>
                <a:cs typeface="+mn-cs"/>
              </a:rPr>
              <a:t>Program Name: B.</a:t>
            </a:r>
            <a:r>
              <a:rPr lang="en-US" altLang="zh-CN" b="1" dirty="0">
                <a:solidFill>
                  <a:prstClr val="white"/>
                </a:solidFill>
                <a:latin typeface="Tinos"/>
                <a:ea typeface="等线" panose="02010600030101010101" pitchFamily="2" charset="-122"/>
              </a:rPr>
              <a:t>TECH</a:t>
            </a:r>
            <a:endParaRPr kumimoji="0" lang="en-IN" altLang="zh-CN" sz="1800" b="1" i="0" u="none" strike="noStrike" kern="1200" cap="none" spc="0" normalizeH="0" baseline="0" noProof="0" dirty="0">
              <a:ln>
                <a:noFill/>
              </a:ln>
              <a:solidFill>
                <a:prstClr val="white"/>
              </a:solidFill>
              <a:effectLst/>
              <a:uLnTx/>
              <a:uFillTx/>
              <a:latin typeface="Tinos"/>
              <a:ea typeface="等线 Light" panose="02010600030101010101" pitchFamily="2" charset="-122"/>
              <a:cs typeface="+mn-cs"/>
            </a:endParaRPr>
          </a:p>
        </p:txBody>
      </p:sp>
      <p:sp>
        <p:nvSpPr>
          <p:cNvPr id="6" name="TextBox 5">
            <a:extLst>
              <a:ext uri="{FF2B5EF4-FFF2-40B4-BE49-F238E27FC236}">
                <a16:creationId xmlns:a16="http://schemas.microsoft.com/office/drawing/2014/main" id="{6D3FB716-FD07-4DA5-8090-027161BB235E}"/>
              </a:ext>
            </a:extLst>
          </p:cNvPr>
          <p:cNvSpPr txBox="1"/>
          <p:nvPr/>
        </p:nvSpPr>
        <p:spPr>
          <a:xfrm>
            <a:off x="3779394" y="220295"/>
            <a:ext cx="6180905" cy="1384995"/>
          </a:xfrm>
          <a:prstGeom prst="rect">
            <a:avLst/>
          </a:prstGeom>
          <a:noFill/>
        </p:spPr>
        <p:txBody>
          <a:bodyPr wrap="square">
            <a:spAutoFit/>
          </a:bodyPr>
          <a:lstStyle/>
          <a:p>
            <a:pPr algn="l" fontAlgn="base"/>
            <a:r>
              <a:rPr lang="en-IN" sz="4800" b="1" i="0" dirty="0">
                <a:solidFill>
                  <a:srgbClr val="273239"/>
                </a:solidFill>
                <a:effectLst/>
                <a:latin typeface="sofia-pro"/>
              </a:rPr>
              <a:t>Recurrence Relation: </a:t>
            </a:r>
          </a:p>
          <a:p>
            <a:pPr algn="l" fontAlgn="base"/>
            <a:r>
              <a:rPr lang="en-IN" sz="3600" b="1" i="0" dirty="0">
                <a:solidFill>
                  <a:srgbClr val="273239"/>
                </a:solidFill>
                <a:effectLst/>
                <a:latin typeface="sofia-pro"/>
              </a:rPr>
              <a:t>   Ex: Binary search</a:t>
            </a:r>
            <a:endParaRPr lang="en-IN" sz="4800" b="1" i="0" dirty="0">
              <a:solidFill>
                <a:srgbClr val="273239"/>
              </a:solidFill>
              <a:effectLst/>
              <a:latin typeface="sofia-pro"/>
            </a:endParaRPr>
          </a:p>
        </p:txBody>
      </p:sp>
      <p:sp>
        <p:nvSpPr>
          <p:cNvPr id="2" name="Content Placeholder 2">
            <a:extLst>
              <a:ext uri="{FF2B5EF4-FFF2-40B4-BE49-F238E27FC236}">
                <a16:creationId xmlns:a16="http://schemas.microsoft.com/office/drawing/2014/main" id="{B73D4443-517B-F527-5B78-D38C4B8C4A24}"/>
              </a:ext>
            </a:extLst>
          </p:cNvPr>
          <p:cNvSpPr txBox="1">
            <a:spLocks/>
          </p:cNvSpPr>
          <p:nvPr/>
        </p:nvSpPr>
        <p:spPr>
          <a:xfrm>
            <a:off x="884421" y="2053651"/>
            <a:ext cx="4407108" cy="3763547"/>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fontAlgn="base"/>
            <a:r>
              <a:rPr lang="en-US" b="0" i="0" dirty="0">
                <a:solidFill>
                  <a:srgbClr val="161616"/>
                </a:solidFill>
                <a:effectLst/>
                <a:latin typeface="Soleil"/>
              </a:rPr>
              <a:t>BS (A, l, u, key)</a:t>
            </a:r>
          </a:p>
          <a:p>
            <a:pPr algn="just" fontAlgn="base"/>
            <a:r>
              <a:rPr lang="en-US" dirty="0">
                <a:solidFill>
                  <a:srgbClr val="161616"/>
                </a:solidFill>
                <a:latin typeface="Soleil"/>
                <a:cs typeface="Times New Roman" panose="02020603050405020304" pitchFamily="18" charset="0"/>
              </a:rPr>
              <a:t>{</a:t>
            </a:r>
          </a:p>
          <a:p>
            <a:pPr algn="just" fontAlgn="base"/>
            <a:r>
              <a:rPr lang="en-US" b="0" i="0" dirty="0">
                <a:solidFill>
                  <a:srgbClr val="161616"/>
                </a:solidFill>
                <a:effectLst/>
                <a:latin typeface="Soleil"/>
                <a:cs typeface="Times New Roman" panose="02020603050405020304" pitchFamily="18" charset="0"/>
              </a:rPr>
              <a:t>	mid = (</a:t>
            </a:r>
            <a:r>
              <a:rPr lang="en-US" b="0" i="0" dirty="0" err="1">
                <a:solidFill>
                  <a:srgbClr val="161616"/>
                </a:solidFill>
                <a:effectLst/>
                <a:latin typeface="Soleil"/>
                <a:cs typeface="Times New Roman" panose="02020603050405020304" pitchFamily="18" charset="0"/>
              </a:rPr>
              <a:t>l+u</a:t>
            </a:r>
            <a:r>
              <a:rPr lang="en-US" b="0" i="0" dirty="0">
                <a:solidFill>
                  <a:srgbClr val="161616"/>
                </a:solidFill>
                <a:effectLst/>
                <a:latin typeface="Soleil"/>
                <a:cs typeface="Times New Roman" panose="02020603050405020304" pitchFamily="18" charset="0"/>
              </a:rPr>
              <a:t>)/2;</a:t>
            </a:r>
          </a:p>
          <a:p>
            <a:pPr algn="just" fontAlgn="base"/>
            <a:r>
              <a:rPr lang="en-US" dirty="0">
                <a:solidFill>
                  <a:srgbClr val="161616"/>
                </a:solidFill>
                <a:latin typeface="Soleil"/>
                <a:cs typeface="Times New Roman" panose="02020603050405020304" pitchFamily="18" charset="0"/>
              </a:rPr>
              <a:t>	if (A[mid] == key)</a:t>
            </a:r>
          </a:p>
          <a:p>
            <a:pPr algn="just" fontAlgn="base"/>
            <a:r>
              <a:rPr lang="en-US" b="0" i="0" dirty="0">
                <a:solidFill>
                  <a:srgbClr val="161616"/>
                </a:solidFill>
                <a:effectLst/>
                <a:latin typeface="Soleil"/>
                <a:cs typeface="Times New Roman" panose="02020603050405020304" pitchFamily="18" charset="0"/>
              </a:rPr>
              <a:t>	</a:t>
            </a:r>
            <a:r>
              <a:rPr lang="en-US" dirty="0">
                <a:solidFill>
                  <a:srgbClr val="161616"/>
                </a:solidFill>
                <a:latin typeface="Soleil"/>
                <a:cs typeface="Times New Roman" panose="02020603050405020304" pitchFamily="18" charset="0"/>
              </a:rPr>
              <a:t>	return mid;</a:t>
            </a:r>
          </a:p>
          <a:p>
            <a:pPr algn="just" fontAlgn="base"/>
            <a:r>
              <a:rPr lang="en-US" b="0" i="0" dirty="0">
                <a:solidFill>
                  <a:srgbClr val="161616"/>
                </a:solidFill>
                <a:effectLst/>
                <a:latin typeface="Soleil"/>
                <a:cs typeface="Times New Roman" panose="02020603050405020304" pitchFamily="18" charset="0"/>
              </a:rPr>
              <a:t>	else if (A[mid]&lt;key)</a:t>
            </a:r>
          </a:p>
          <a:p>
            <a:pPr algn="just" fontAlgn="base"/>
            <a:r>
              <a:rPr lang="en-US" dirty="0">
                <a:solidFill>
                  <a:srgbClr val="161616"/>
                </a:solidFill>
                <a:latin typeface="Soleil"/>
                <a:cs typeface="Times New Roman" panose="02020603050405020304" pitchFamily="18" charset="0"/>
              </a:rPr>
              <a:t>		BS (A, mid+1, u, key)</a:t>
            </a:r>
          </a:p>
          <a:p>
            <a:pPr algn="just" fontAlgn="base"/>
            <a:r>
              <a:rPr lang="en-US" b="0" i="0" dirty="0">
                <a:solidFill>
                  <a:srgbClr val="161616"/>
                </a:solidFill>
                <a:effectLst/>
                <a:latin typeface="Soleil"/>
                <a:cs typeface="Times New Roman" panose="02020603050405020304" pitchFamily="18" charset="0"/>
              </a:rPr>
              <a:t>	else</a:t>
            </a:r>
          </a:p>
          <a:p>
            <a:pPr algn="just" fontAlgn="base"/>
            <a:r>
              <a:rPr lang="en-US" dirty="0">
                <a:solidFill>
                  <a:srgbClr val="161616"/>
                </a:solidFill>
                <a:latin typeface="Soleil"/>
                <a:cs typeface="Times New Roman" panose="02020603050405020304" pitchFamily="18" charset="0"/>
              </a:rPr>
              <a:t>		BS (A, l, mid-1, key)</a:t>
            </a:r>
          </a:p>
          <a:p>
            <a:pPr algn="just" fontAlgn="base"/>
            <a:r>
              <a:rPr lang="en-US" b="0" i="0" dirty="0">
                <a:solidFill>
                  <a:srgbClr val="161616"/>
                </a:solidFill>
                <a:effectLst/>
                <a:latin typeface="Soleil"/>
                <a:cs typeface="Times New Roman" panose="02020603050405020304" pitchFamily="18" charset="0"/>
              </a:rPr>
              <a:t>}</a:t>
            </a:r>
          </a:p>
        </p:txBody>
      </p:sp>
      <p:sp>
        <p:nvSpPr>
          <p:cNvPr id="3" name="Content Placeholder 2">
            <a:extLst>
              <a:ext uri="{FF2B5EF4-FFF2-40B4-BE49-F238E27FC236}">
                <a16:creationId xmlns:a16="http://schemas.microsoft.com/office/drawing/2014/main" id="{77542944-C4DD-537B-9961-967396AE80B2}"/>
              </a:ext>
            </a:extLst>
          </p:cNvPr>
          <p:cNvSpPr txBox="1">
            <a:spLocks/>
          </p:cNvSpPr>
          <p:nvPr/>
        </p:nvSpPr>
        <p:spPr>
          <a:xfrm>
            <a:off x="7160978" y="5653598"/>
            <a:ext cx="4264233" cy="703602"/>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fontAlgn="base"/>
            <a:r>
              <a:rPr lang="en-US" sz="2800" b="1" dirty="0">
                <a:solidFill>
                  <a:srgbClr val="161616"/>
                </a:solidFill>
                <a:highlight>
                  <a:srgbClr val="FFFF00"/>
                </a:highlight>
                <a:latin typeface="Times New Roman" panose="02020603050405020304" pitchFamily="18" charset="0"/>
                <a:cs typeface="Times New Roman" panose="02020603050405020304" pitchFamily="18" charset="0"/>
              </a:rPr>
              <a:t>Total Time T(n) = T(n/2) +c</a:t>
            </a:r>
            <a:endParaRPr lang="en-US" sz="2800" b="1" i="0" dirty="0">
              <a:solidFill>
                <a:srgbClr val="161616"/>
              </a:solidFill>
              <a:effectLst/>
              <a:highlight>
                <a:srgbClr val="FFFF00"/>
              </a:highlight>
              <a:latin typeface="Times New Roman" panose="02020603050405020304" pitchFamily="18" charset="0"/>
              <a:cs typeface="Times New Roman" panose="02020603050405020304" pitchFamily="18" charset="0"/>
            </a:endParaRPr>
          </a:p>
        </p:txBody>
      </p:sp>
      <p:grpSp>
        <p:nvGrpSpPr>
          <p:cNvPr id="38" name="Group 37">
            <a:extLst>
              <a:ext uri="{FF2B5EF4-FFF2-40B4-BE49-F238E27FC236}">
                <a16:creationId xmlns:a16="http://schemas.microsoft.com/office/drawing/2014/main" id="{BB97E764-0B69-3D0C-731F-0C75F40514C9}"/>
              </a:ext>
            </a:extLst>
          </p:cNvPr>
          <p:cNvGrpSpPr/>
          <p:nvPr/>
        </p:nvGrpSpPr>
        <p:grpSpPr>
          <a:xfrm>
            <a:off x="5953125" y="1859019"/>
            <a:ext cx="5010770" cy="2461103"/>
            <a:chOff x="5782148" y="2155867"/>
            <a:chExt cx="5220627" cy="3729152"/>
          </a:xfrm>
        </p:grpSpPr>
        <p:sp>
          <p:nvSpPr>
            <p:cNvPr id="5" name="Oval 4">
              <a:extLst>
                <a:ext uri="{FF2B5EF4-FFF2-40B4-BE49-F238E27FC236}">
                  <a16:creationId xmlns:a16="http://schemas.microsoft.com/office/drawing/2014/main" id="{29697352-145B-2C70-EC75-FFA5F32E0D34}"/>
                </a:ext>
              </a:extLst>
            </p:cNvPr>
            <p:cNvSpPr/>
            <p:nvPr/>
          </p:nvSpPr>
          <p:spPr>
            <a:xfrm>
              <a:off x="8574372" y="2155867"/>
              <a:ext cx="914400" cy="9144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a:t>n</a:t>
              </a:r>
              <a:endParaRPr lang="en-IN" sz="3200" dirty="0"/>
            </a:p>
          </p:txBody>
        </p:sp>
        <p:sp>
          <p:nvSpPr>
            <p:cNvPr id="7" name="Oval 6">
              <a:extLst>
                <a:ext uri="{FF2B5EF4-FFF2-40B4-BE49-F238E27FC236}">
                  <a16:creationId xmlns:a16="http://schemas.microsoft.com/office/drawing/2014/main" id="{750CC7EA-E30B-6375-095A-ED30C025C3F2}"/>
                </a:ext>
              </a:extLst>
            </p:cNvPr>
            <p:cNvSpPr/>
            <p:nvPr/>
          </p:nvSpPr>
          <p:spPr>
            <a:xfrm>
              <a:off x="6970426" y="3196819"/>
              <a:ext cx="914400" cy="9144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t>n/2</a:t>
              </a:r>
              <a:endParaRPr lang="en-IN" sz="2400" dirty="0"/>
            </a:p>
          </p:txBody>
        </p:sp>
        <p:sp>
          <p:nvSpPr>
            <p:cNvPr id="10" name="Oval 9">
              <a:extLst>
                <a:ext uri="{FF2B5EF4-FFF2-40B4-BE49-F238E27FC236}">
                  <a16:creationId xmlns:a16="http://schemas.microsoft.com/office/drawing/2014/main" id="{537FC1C7-7F06-A9E1-46B8-E0AD4711ACB0}"/>
                </a:ext>
              </a:extLst>
            </p:cNvPr>
            <p:cNvSpPr/>
            <p:nvPr/>
          </p:nvSpPr>
          <p:spPr>
            <a:xfrm>
              <a:off x="10088375" y="3211909"/>
              <a:ext cx="914400" cy="9144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t>n/2</a:t>
              </a:r>
              <a:endParaRPr lang="en-IN" sz="2400" dirty="0"/>
            </a:p>
          </p:txBody>
        </p:sp>
        <p:sp>
          <p:nvSpPr>
            <p:cNvPr id="13" name="Oval 12">
              <a:extLst>
                <a:ext uri="{FF2B5EF4-FFF2-40B4-BE49-F238E27FC236}">
                  <a16:creationId xmlns:a16="http://schemas.microsoft.com/office/drawing/2014/main" id="{606FC5A2-0D31-348E-1831-899FF4B1CDB7}"/>
                </a:ext>
              </a:extLst>
            </p:cNvPr>
            <p:cNvSpPr/>
            <p:nvPr/>
          </p:nvSpPr>
          <p:spPr>
            <a:xfrm>
              <a:off x="6022607" y="4439599"/>
              <a:ext cx="914400" cy="9144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t>n/4</a:t>
              </a:r>
              <a:endParaRPr lang="en-IN" sz="2400" dirty="0"/>
            </a:p>
          </p:txBody>
        </p:sp>
        <p:sp>
          <p:nvSpPr>
            <p:cNvPr id="14" name="Oval 13">
              <a:extLst>
                <a:ext uri="{FF2B5EF4-FFF2-40B4-BE49-F238E27FC236}">
                  <a16:creationId xmlns:a16="http://schemas.microsoft.com/office/drawing/2014/main" id="{9090070C-C5D8-F7EA-EBDA-01B02FC1A6CB}"/>
                </a:ext>
              </a:extLst>
            </p:cNvPr>
            <p:cNvSpPr/>
            <p:nvPr/>
          </p:nvSpPr>
          <p:spPr>
            <a:xfrm>
              <a:off x="7924324" y="4439599"/>
              <a:ext cx="914400" cy="9144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t>n/4</a:t>
              </a:r>
              <a:endParaRPr lang="en-IN" sz="2400" dirty="0"/>
            </a:p>
          </p:txBody>
        </p:sp>
        <p:cxnSp>
          <p:nvCxnSpPr>
            <p:cNvPr id="16" name="Straight Connector 15">
              <a:extLst>
                <a:ext uri="{FF2B5EF4-FFF2-40B4-BE49-F238E27FC236}">
                  <a16:creationId xmlns:a16="http://schemas.microsoft.com/office/drawing/2014/main" id="{0F1A0710-B233-AC7E-4B33-6EFFCA6D5EEE}"/>
                </a:ext>
              </a:extLst>
            </p:cNvPr>
            <p:cNvCxnSpPr>
              <a:stCxn id="5" idx="3"/>
              <a:endCxn id="7" idx="7"/>
            </p:cNvCxnSpPr>
            <p:nvPr/>
          </p:nvCxnSpPr>
          <p:spPr>
            <a:xfrm flipH="1">
              <a:off x="7750915" y="2936356"/>
              <a:ext cx="957368" cy="394374"/>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26B031FA-A766-807B-00A7-9A0F3682ADC3}"/>
                </a:ext>
              </a:extLst>
            </p:cNvPr>
            <p:cNvCxnSpPr>
              <a:stCxn id="5" idx="5"/>
              <a:endCxn id="10" idx="1"/>
            </p:cNvCxnSpPr>
            <p:nvPr/>
          </p:nvCxnSpPr>
          <p:spPr>
            <a:xfrm>
              <a:off x="9354861" y="2936356"/>
              <a:ext cx="867425" cy="409464"/>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DA621F92-D2C9-A14E-DF41-39308F2C654C}"/>
                </a:ext>
              </a:extLst>
            </p:cNvPr>
            <p:cNvCxnSpPr>
              <a:cxnSpLocks/>
              <a:stCxn id="7" idx="3"/>
              <a:endCxn id="13" idx="0"/>
            </p:cNvCxnSpPr>
            <p:nvPr/>
          </p:nvCxnSpPr>
          <p:spPr>
            <a:xfrm flipH="1">
              <a:off x="6479807" y="3977308"/>
              <a:ext cx="624530" cy="462291"/>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A1D530EE-2A1D-ACDF-BBD3-F19A5F755899}"/>
                </a:ext>
              </a:extLst>
            </p:cNvPr>
            <p:cNvCxnSpPr>
              <a:stCxn id="7" idx="5"/>
              <a:endCxn id="14" idx="0"/>
            </p:cNvCxnSpPr>
            <p:nvPr/>
          </p:nvCxnSpPr>
          <p:spPr>
            <a:xfrm>
              <a:off x="7750915" y="3977308"/>
              <a:ext cx="630609" cy="462291"/>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5EA80C83-A3C4-38DB-AF23-858655E7A4BC}"/>
                </a:ext>
              </a:extLst>
            </p:cNvPr>
            <p:cNvCxnSpPr>
              <a:stCxn id="13" idx="4"/>
            </p:cNvCxnSpPr>
            <p:nvPr/>
          </p:nvCxnSpPr>
          <p:spPr>
            <a:xfrm flipH="1">
              <a:off x="5782148" y="5353999"/>
              <a:ext cx="697659" cy="452885"/>
            </a:xfrm>
            <a:prstGeom prst="line">
              <a:avLst/>
            </a:prstGeom>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1ACA2714-C1FB-2A18-0D21-2879B5F719BA}"/>
                </a:ext>
              </a:extLst>
            </p:cNvPr>
            <p:cNvCxnSpPr>
              <a:stCxn id="13" idx="4"/>
            </p:cNvCxnSpPr>
            <p:nvPr/>
          </p:nvCxnSpPr>
          <p:spPr>
            <a:xfrm>
              <a:off x="6479807" y="5353999"/>
              <a:ext cx="661596" cy="531020"/>
            </a:xfrm>
            <a:prstGeom prst="line">
              <a:avLst/>
            </a:prstGeom>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0C3F2246-C57B-C05A-73F8-0E31BA95B230}"/>
                </a:ext>
              </a:extLst>
            </p:cNvPr>
            <p:cNvCxnSpPr>
              <a:stCxn id="14" idx="4"/>
            </p:cNvCxnSpPr>
            <p:nvPr/>
          </p:nvCxnSpPr>
          <p:spPr>
            <a:xfrm flipH="1">
              <a:off x="7924324" y="5353999"/>
              <a:ext cx="457200" cy="399794"/>
            </a:xfrm>
            <a:prstGeom prst="line">
              <a:avLst/>
            </a:prstGeom>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C891A5C0-ED5A-CB53-FBA8-032D63B7689A}"/>
                </a:ext>
              </a:extLst>
            </p:cNvPr>
            <p:cNvCxnSpPr>
              <a:stCxn id="14" idx="4"/>
            </p:cNvCxnSpPr>
            <p:nvPr/>
          </p:nvCxnSpPr>
          <p:spPr>
            <a:xfrm>
              <a:off x="8381524" y="5353999"/>
              <a:ext cx="326759" cy="391959"/>
            </a:xfrm>
            <a:prstGeom prst="line">
              <a:avLst/>
            </a:prstGeom>
          </p:spPr>
          <p:style>
            <a:lnRef idx="1">
              <a:schemeClr val="dk1"/>
            </a:lnRef>
            <a:fillRef idx="0">
              <a:schemeClr val="dk1"/>
            </a:fillRef>
            <a:effectRef idx="0">
              <a:schemeClr val="dk1"/>
            </a:effectRef>
            <a:fontRef idx="minor">
              <a:schemeClr val="tx1"/>
            </a:fontRef>
          </p:style>
        </p:cxnSp>
      </p:grpSp>
      <p:pic>
        <p:nvPicPr>
          <p:cNvPr id="4" name="Picture 3" descr="A blue circle with text and words&#10;&#10;Description automatically generated">
            <a:extLst>
              <a:ext uri="{FF2B5EF4-FFF2-40B4-BE49-F238E27FC236}">
                <a16:creationId xmlns:a16="http://schemas.microsoft.com/office/drawing/2014/main" id="{A79F53DC-76CD-2306-249E-B04AAA7BE2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34751" y="-45085"/>
            <a:ext cx="856528" cy="856528"/>
          </a:xfrm>
          <a:prstGeom prst="rect">
            <a:avLst/>
          </a:prstGeom>
        </p:spPr>
      </p:pic>
      <p:pic>
        <p:nvPicPr>
          <p:cNvPr id="11" name="Picture 10">
            <a:extLst>
              <a:ext uri="{FF2B5EF4-FFF2-40B4-BE49-F238E27FC236}">
                <a16:creationId xmlns:a16="http://schemas.microsoft.com/office/drawing/2014/main" id="{0789F1FA-C2FF-9CF2-5C74-045C787313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114202"/>
            <a:ext cx="3207894" cy="625615"/>
          </a:xfrm>
          <a:prstGeom prst="rect">
            <a:avLst/>
          </a:prstGeom>
        </p:spPr>
      </p:pic>
    </p:spTree>
    <p:extLst>
      <p:ext uri="{BB962C8B-B14F-4D97-AF65-F5344CB8AC3E}">
        <p14:creationId xmlns:p14="http://schemas.microsoft.com/office/powerpoint/2010/main" val="3021693177"/>
      </p:ext>
    </p:extLst>
  </p:cSld>
  <p:clrMapOvr>
    <a:masterClrMapping/>
  </p:clrMapOvr>
  <p:transition advTm="2418"/>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Box 3"/>
          <p:cNvSpPr txBox="1">
            <a:spLocks noChangeArrowheads="1"/>
          </p:cNvSpPr>
          <p:nvPr/>
        </p:nvSpPr>
        <p:spPr bwMode="auto">
          <a:xfrm>
            <a:off x="571500" y="214313"/>
            <a:ext cx="10763251" cy="646112"/>
          </a:xfrm>
          <a:prstGeom prst="rect">
            <a:avLst/>
          </a:prstGeom>
          <a:noFill/>
          <a:ln w="9525">
            <a:noFill/>
            <a:miter lim="800000"/>
            <a:headEnd/>
            <a:tailEnd/>
          </a:ln>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black"/>
              </a:solidFill>
              <a:effectLst/>
              <a:uLnTx/>
              <a:uFillTx/>
              <a:latin typeface="Calibri"/>
              <a:ea typeface="Arimo" charset="0"/>
              <a:cs typeface="Arimo" charset="0"/>
            </a:endParaRPr>
          </a:p>
        </p:txBody>
      </p:sp>
      <p:sp>
        <p:nvSpPr>
          <p:cNvPr id="9" name="Title 1"/>
          <p:cNvSpPr txBox="1">
            <a:spLocks noChangeArrowheads="1"/>
          </p:cNvSpPr>
          <p:nvPr/>
        </p:nvSpPr>
        <p:spPr>
          <a:xfrm>
            <a:off x="-1" y="6416040"/>
            <a:ext cx="12191997" cy="441960"/>
          </a:xfrm>
          <a:prstGeom prst="rect">
            <a:avLst/>
          </a:prstGeom>
          <a:solidFill>
            <a:srgbClr val="C00000"/>
          </a:solidFill>
        </p:spPr>
        <p:txBody>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altLang="zh-CN" sz="1800" b="1" i="0" u="none" strike="noStrike" kern="1200" cap="none" spc="0" normalizeH="0" baseline="0" noProof="0" dirty="0">
                <a:ln>
                  <a:noFill/>
                </a:ln>
                <a:solidFill>
                  <a:prstClr val="white"/>
                </a:solidFill>
                <a:effectLst/>
                <a:uLnTx/>
                <a:uFillTx/>
                <a:latin typeface="Tinos"/>
                <a:ea typeface="等线 Light" panose="02010600030101010101" pitchFamily="2" charset="-122"/>
                <a:cs typeface="+mn-cs"/>
              </a:rPr>
              <a:t>Name of the Faculty: </a:t>
            </a:r>
            <a:r>
              <a:rPr lang="en-IN" altLang="zh-CN" sz="1800" b="1" kern="1200" dirty="0">
                <a:solidFill>
                  <a:prstClr val="white"/>
                </a:solidFill>
                <a:latin typeface="Tinos"/>
                <a:ea typeface="等线 Light" panose="02010600030101010101" pitchFamily="2" charset="-122"/>
                <a:cs typeface="+mn-cs"/>
              </a:rPr>
              <a:t>Dr Pooja Singh</a:t>
            </a:r>
            <a:r>
              <a:rPr kumimoji="0" lang="en-IN" altLang="zh-CN" sz="1800" b="1" i="0" u="none" strike="noStrike" kern="1200" cap="none" spc="0" normalizeH="0" baseline="0" noProof="0" dirty="0">
                <a:ln>
                  <a:noFill/>
                </a:ln>
                <a:solidFill>
                  <a:prstClr val="white"/>
                </a:solidFill>
                <a:effectLst/>
                <a:uLnTx/>
                <a:uFillTx/>
                <a:latin typeface="Tinos"/>
                <a:ea typeface="等线 Light" panose="02010600030101010101" pitchFamily="2" charset="-122"/>
                <a:cs typeface="+mn-cs"/>
              </a:rPr>
              <a:t>					</a:t>
            </a:r>
            <a:r>
              <a:rPr kumimoji="0" lang="en-US" altLang="zh-CN" sz="1800" b="1" i="0" u="none" strike="noStrike" kern="1200" cap="none" spc="0" normalizeH="0" baseline="0" noProof="0" dirty="0">
                <a:ln>
                  <a:noFill/>
                </a:ln>
                <a:solidFill>
                  <a:prstClr val="white"/>
                </a:solidFill>
                <a:effectLst/>
                <a:uLnTx/>
                <a:uFillTx/>
                <a:latin typeface="Tinos"/>
                <a:ea typeface="等线" panose="02010600030101010101" pitchFamily="2" charset="-122"/>
                <a:cs typeface="+mn-cs"/>
              </a:rPr>
              <a:t>Program Name: B.</a:t>
            </a:r>
            <a:r>
              <a:rPr lang="en-US" altLang="zh-CN" b="1" dirty="0">
                <a:solidFill>
                  <a:prstClr val="white"/>
                </a:solidFill>
                <a:latin typeface="Tinos"/>
                <a:ea typeface="等线" panose="02010600030101010101" pitchFamily="2" charset="-122"/>
              </a:rPr>
              <a:t>TECH</a:t>
            </a:r>
            <a:endParaRPr kumimoji="0" lang="en-IN" altLang="zh-CN" sz="1800" b="1" i="0" u="none" strike="noStrike" kern="1200" cap="none" spc="0" normalizeH="0" baseline="0" noProof="0" dirty="0">
              <a:ln>
                <a:noFill/>
              </a:ln>
              <a:solidFill>
                <a:prstClr val="white"/>
              </a:solidFill>
              <a:effectLst/>
              <a:uLnTx/>
              <a:uFillTx/>
              <a:latin typeface="Tinos"/>
              <a:ea typeface="等线 Light" panose="02010600030101010101" pitchFamily="2" charset="-122"/>
              <a:cs typeface="+mn-cs"/>
            </a:endParaRPr>
          </a:p>
        </p:txBody>
      </p:sp>
      <p:sp>
        <p:nvSpPr>
          <p:cNvPr id="6" name="TextBox 5">
            <a:extLst>
              <a:ext uri="{FF2B5EF4-FFF2-40B4-BE49-F238E27FC236}">
                <a16:creationId xmlns:a16="http://schemas.microsoft.com/office/drawing/2014/main" id="{6D3FB716-FD07-4DA5-8090-027161BB235E}"/>
              </a:ext>
            </a:extLst>
          </p:cNvPr>
          <p:cNvSpPr txBox="1"/>
          <p:nvPr/>
        </p:nvSpPr>
        <p:spPr>
          <a:xfrm>
            <a:off x="276447" y="883068"/>
            <a:ext cx="11642651" cy="830997"/>
          </a:xfrm>
          <a:prstGeom prst="rect">
            <a:avLst/>
          </a:prstGeom>
          <a:noFill/>
        </p:spPr>
        <p:txBody>
          <a:bodyPr wrap="square">
            <a:spAutoFit/>
          </a:bodyPr>
          <a:lstStyle/>
          <a:p>
            <a:pPr algn="l" fontAlgn="base"/>
            <a:r>
              <a:rPr lang="en-IN" sz="4800" b="1" i="0" dirty="0">
                <a:solidFill>
                  <a:srgbClr val="273239"/>
                </a:solidFill>
                <a:effectLst/>
                <a:latin typeface="Times New Roman" panose="02020603050405020304" pitchFamily="18" charset="0"/>
                <a:cs typeface="Times New Roman" panose="02020603050405020304" pitchFamily="18" charset="0"/>
              </a:rPr>
              <a:t>Method to solve the Recurrence Relation</a:t>
            </a:r>
          </a:p>
        </p:txBody>
      </p:sp>
      <p:sp>
        <p:nvSpPr>
          <p:cNvPr id="2" name="Content Placeholder 2">
            <a:extLst>
              <a:ext uri="{FF2B5EF4-FFF2-40B4-BE49-F238E27FC236}">
                <a16:creationId xmlns:a16="http://schemas.microsoft.com/office/drawing/2014/main" id="{B73D4443-517B-F527-5B78-D38C4B8C4A24}"/>
              </a:ext>
            </a:extLst>
          </p:cNvPr>
          <p:cNvSpPr txBox="1">
            <a:spLocks/>
          </p:cNvSpPr>
          <p:nvPr/>
        </p:nvSpPr>
        <p:spPr>
          <a:xfrm>
            <a:off x="884420" y="2053651"/>
            <a:ext cx="10153493" cy="376354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just" fontAlgn="base">
              <a:buFont typeface="+mj-lt"/>
              <a:buAutoNum type="arabicPeriod"/>
            </a:pPr>
            <a:r>
              <a:rPr lang="en-US" b="1" dirty="0">
                <a:solidFill>
                  <a:srgbClr val="161616"/>
                </a:solidFill>
                <a:latin typeface="Times New Roman" panose="02020603050405020304" pitchFamily="18" charset="0"/>
                <a:cs typeface="Times New Roman" panose="02020603050405020304" pitchFamily="18" charset="0"/>
              </a:rPr>
              <a:t>Substitution method</a:t>
            </a:r>
          </a:p>
          <a:p>
            <a:pPr marL="457200" indent="-457200" algn="just" fontAlgn="base">
              <a:buFont typeface="+mj-lt"/>
              <a:buAutoNum type="arabicPeriod"/>
            </a:pPr>
            <a:r>
              <a:rPr lang="en-US" b="0" i="0" dirty="0">
                <a:solidFill>
                  <a:srgbClr val="161616"/>
                </a:solidFill>
                <a:effectLst/>
                <a:latin typeface="Times New Roman" panose="02020603050405020304" pitchFamily="18" charset="0"/>
                <a:cs typeface="Times New Roman" panose="02020603050405020304" pitchFamily="18" charset="0"/>
              </a:rPr>
              <a:t>Recur</a:t>
            </a:r>
            <a:r>
              <a:rPr lang="en-US" dirty="0">
                <a:solidFill>
                  <a:srgbClr val="161616"/>
                </a:solidFill>
                <a:latin typeface="Times New Roman" panose="02020603050405020304" pitchFamily="18" charset="0"/>
                <a:cs typeface="Times New Roman" panose="02020603050405020304" pitchFamily="18" charset="0"/>
              </a:rPr>
              <a:t>sive tree method</a:t>
            </a:r>
          </a:p>
          <a:p>
            <a:pPr marL="457200" indent="-457200" algn="just" fontAlgn="base">
              <a:buFont typeface="+mj-lt"/>
              <a:buAutoNum type="arabicPeriod"/>
            </a:pPr>
            <a:r>
              <a:rPr lang="en-US" b="0" i="0" dirty="0">
                <a:solidFill>
                  <a:srgbClr val="161616"/>
                </a:solidFill>
                <a:effectLst/>
                <a:latin typeface="Times New Roman" panose="02020603050405020304" pitchFamily="18" charset="0"/>
                <a:cs typeface="Times New Roman" panose="02020603050405020304" pitchFamily="18" charset="0"/>
              </a:rPr>
              <a:t>Master Theorem method</a:t>
            </a:r>
            <a:endParaRPr lang="en-US" b="0" i="0" dirty="0">
              <a:solidFill>
                <a:srgbClr val="000000"/>
              </a:solidFill>
              <a:effectLst/>
              <a:latin typeface="Times New Roman" panose="02020603050405020304" pitchFamily="18" charset="0"/>
              <a:cs typeface="Times New Roman" panose="02020603050405020304" pitchFamily="18" charset="0"/>
            </a:endParaRPr>
          </a:p>
        </p:txBody>
      </p:sp>
      <p:pic>
        <p:nvPicPr>
          <p:cNvPr id="3" name="Picture 2" descr="A blue circle with text and words&#10;&#10;Description automatically generated">
            <a:extLst>
              <a:ext uri="{FF2B5EF4-FFF2-40B4-BE49-F238E27FC236}">
                <a16:creationId xmlns:a16="http://schemas.microsoft.com/office/drawing/2014/main" id="{0F686BB1-86FC-A29F-CDBA-4AD7729365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34751" y="-45085"/>
            <a:ext cx="856528" cy="856528"/>
          </a:xfrm>
          <a:prstGeom prst="rect">
            <a:avLst/>
          </a:prstGeom>
        </p:spPr>
      </p:pic>
      <p:pic>
        <p:nvPicPr>
          <p:cNvPr id="4" name="Picture 3">
            <a:extLst>
              <a:ext uri="{FF2B5EF4-FFF2-40B4-BE49-F238E27FC236}">
                <a16:creationId xmlns:a16="http://schemas.microsoft.com/office/drawing/2014/main" id="{7AAE80A4-1151-0EBE-A7D2-9F9A9F1531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114202"/>
            <a:ext cx="3207894" cy="625615"/>
          </a:xfrm>
          <a:prstGeom prst="rect">
            <a:avLst/>
          </a:prstGeom>
        </p:spPr>
      </p:pic>
    </p:spTree>
    <p:extLst>
      <p:ext uri="{BB962C8B-B14F-4D97-AF65-F5344CB8AC3E}">
        <p14:creationId xmlns:p14="http://schemas.microsoft.com/office/powerpoint/2010/main" val="2897218894"/>
      </p:ext>
    </p:extLst>
  </p:cSld>
  <p:clrMapOvr>
    <a:masterClrMapping/>
  </p:clrMapOvr>
  <p:transition advTm="2418"/>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03163-7BCA-0408-134C-F38FFC13D8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74C5FF-3D76-495E-B806-0DC319010E83}"/>
              </a:ext>
            </a:extLst>
          </p:cNvPr>
          <p:cNvSpPr>
            <a:spLocks noGrp="1"/>
          </p:cNvSpPr>
          <p:nvPr>
            <p:ph type="title"/>
          </p:nvPr>
        </p:nvSpPr>
        <p:spPr>
          <a:xfrm>
            <a:off x="4320290" y="632492"/>
            <a:ext cx="9818849" cy="740239"/>
          </a:xfrm>
        </p:spPr>
        <p:txBody>
          <a:bodyPr>
            <a:noAutofit/>
          </a:bodyPr>
          <a:lstStyle/>
          <a:p>
            <a:r>
              <a:rPr lang="en-US" dirty="0">
                <a:latin typeface="Georgia" panose="02040502050405020303" pitchFamily="18" charset="0"/>
              </a:rPr>
              <a:t>Wooclap activities</a:t>
            </a:r>
            <a:endParaRPr lang="en-IN" sz="2800" dirty="0">
              <a:latin typeface="Georgia" panose="02040502050405020303" pitchFamily="18" charset="0"/>
            </a:endParaRPr>
          </a:p>
        </p:txBody>
      </p:sp>
      <p:sp>
        <p:nvSpPr>
          <p:cNvPr id="5" name="Footer Placeholder 4">
            <a:extLst>
              <a:ext uri="{FF2B5EF4-FFF2-40B4-BE49-F238E27FC236}">
                <a16:creationId xmlns:a16="http://schemas.microsoft.com/office/drawing/2014/main" id="{266B295A-BFA6-80F8-94FF-80E61B34DE24}"/>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D5E4F401-55F0-D978-DC80-462BB2A6F36C}"/>
              </a:ext>
            </a:extLst>
          </p:cNvPr>
          <p:cNvSpPr>
            <a:spLocks noGrp="1"/>
          </p:cNvSpPr>
          <p:nvPr>
            <p:ph type="sldNum" sz="quarter" idx="12"/>
          </p:nvPr>
        </p:nvSpPr>
        <p:spPr/>
        <p:txBody>
          <a:bodyPr/>
          <a:lstStyle/>
          <a:p>
            <a:fld id="{26510230-8DD5-4BA5-AB2D-CA30FC08F9D7}" type="slidenum">
              <a:rPr lang="en-IN" smtClean="0"/>
              <a:t>17</a:t>
            </a:fld>
            <a:endParaRPr lang="en-IN"/>
          </a:p>
        </p:txBody>
      </p:sp>
      <p:pic>
        <p:nvPicPr>
          <p:cNvPr id="7" name="Picture 6" descr="A blue circle with text and words&#10;&#10;Description automatically generated">
            <a:extLst>
              <a:ext uri="{FF2B5EF4-FFF2-40B4-BE49-F238E27FC236}">
                <a16:creationId xmlns:a16="http://schemas.microsoft.com/office/drawing/2014/main" id="{EB33E29F-EE92-D6D3-5D61-FDA1296415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3" name="Picture 2">
            <a:extLst>
              <a:ext uri="{FF2B5EF4-FFF2-40B4-BE49-F238E27FC236}">
                <a16:creationId xmlns:a16="http://schemas.microsoft.com/office/drawing/2014/main" id="{DD0C4FD5-166D-8AB2-9AF0-6888C7C4D2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pic>
        <p:nvPicPr>
          <p:cNvPr id="10" name="Picture 9">
            <a:extLst>
              <a:ext uri="{FF2B5EF4-FFF2-40B4-BE49-F238E27FC236}">
                <a16:creationId xmlns:a16="http://schemas.microsoft.com/office/drawing/2014/main" id="{3E365727-A86A-E913-D583-310FCA0FAB38}"/>
              </a:ext>
            </a:extLst>
          </p:cNvPr>
          <p:cNvPicPr>
            <a:picLocks noChangeAspect="1"/>
          </p:cNvPicPr>
          <p:nvPr/>
        </p:nvPicPr>
        <p:blipFill>
          <a:blip r:embed="rId4"/>
          <a:stretch>
            <a:fillRect/>
          </a:stretch>
        </p:blipFill>
        <p:spPr>
          <a:xfrm>
            <a:off x="275412" y="1819050"/>
            <a:ext cx="11641175" cy="3219899"/>
          </a:xfrm>
          <a:prstGeom prst="rect">
            <a:avLst/>
          </a:prstGeom>
        </p:spPr>
      </p:pic>
      <p:sp>
        <p:nvSpPr>
          <p:cNvPr id="4" name="Footer Placeholder 2">
            <a:extLst>
              <a:ext uri="{FF2B5EF4-FFF2-40B4-BE49-F238E27FC236}">
                <a16:creationId xmlns:a16="http://schemas.microsoft.com/office/drawing/2014/main" id="{9F360BF7-E335-93C5-4754-83F582F57B10}"/>
              </a:ext>
            </a:extLst>
          </p:cNvPr>
          <p:cNvSpPr txBox="1">
            <a:spLocks/>
          </p:cNvSpPr>
          <p:nvPr/>
        </p:nvSpPr>
        <p:spPr>
          <a:xfrm>
            <a:off x="4191000" y="65087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Dr. Mili Dhar</a:t>
            </a:r>
            <a:endParaRPr lang="en-IN" dirty="0"/>
          </a:p>
        </p:txBody>
      </p:sp>
    </p:spTree>
    <p:extLst>
      <p:ext uri="{BB962C8B-B14F-4D97-AF65-F5344CB8AC3E}">
        <p14:creationId xmlns:p14="http://schemas.microsoft.com/office/powerpoint/2010/main" val="1695296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8D2F4-FB14-4EF0-BEC6-3BDCEBFA1BF4}"/>
              </a:ext>
            </a:extLst>
          </p:cNvPr>
          <p:cNvSpPr>
            <a:spLocks noGrp="1"/>
          </p:cNvSpPr>
          <p:nvPr>
            <p:ph type="title"/>
          </p:nvPr>
        </p:nvSpPr>
        <p:spPr>
          <a:xfrm>
            <a:off x="3621998" y="731208"/>
            <a:ext cx="5057932" cy="1051635"/>
          </a:xfrm>
        </p:spPr>
        <p:txBody>
          <a:bodyPr>
            <a:normAutofit fontScale="90000"/>
          </a:bodyPr>
          <a:lstStyle/>
          <a:p>
            <a:pPr algn="l"/>
            <a:br>
              <a:rPr lang="en-IN" sz="3200" dirty="0"/>
            </a:br>
            <a:br>
              <a:rPr lang="en-IN" sz="3200" dirty="0"/>
            </a:br>
            <a:r>
              <a:rPr lang="en-IN" sz="2400" b="1" dirty="0"/>
              <a:t>Important results [Decreasing function]:</a:t>
            </a:r>
          </a:p>
        </p:txBody>
      </p:sp>
      <p:sp>
        <p:nvSpPr>
          <p:cNvPr id="4" name="Slide Number Placeholder 3">
            <a:extLst>
              <a:ext uri="{FF2B5EF4-FFF2-40B4-BE49-F238E27FC236}">
                <a16:creationId xmlns:a16="http://schemas.microsoft.com/office/drawing/2014/main" id="{A4BC84D4-072C-458A-ACCC-851D67477776}"/>
              </a:ext>
            </a:extLst>
          </p:cNvPr>
          <p:cNvSpPr>
            <a:spLocks noGrp="1"/>
          </p:cNvSpPr>
          <p:nvPr>
            <p:ph type="sldNum" idx="12"/>
          </p:nvPr>
        </p:nvSpPr>
        <p:spPr/>
        <p:txBody>
          <a:bodyPr/>
          <a:lstStyle/>
          <a:p>
            <a:pPr>
              <a:defRPr/>
            </a:pPr>
            <a:fld id="{0314B9FC-F7FA-4A5F-A68B-9084E75933A3}" type="slidenum">
              <a:rPr lang="en-US" altLang="en-US" smtClean="0"/>
              <a:pPr>
                <a:defRPr/>
              </a:pPr>
              <a:t>18</a:t>
            </a:fld>
            <a:endParaRPr lang="en-US" altLang="en-US" dirty="0"/>
          </a:p>
        </p:txBody>
      </p:sp>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210C90EB-00C8-4779-9B00-CC782DAA15B4}"/>
                  </a:ext>
                </a:extLst>
              </p:cNvPr>
              <p:cNvGraphicFramePr>
                <a:graphicFrameLocks noGrp="1"/>
              </p:cNvGraphicFramePr>
              <p:nvPr>
                <p:ph idx="4294967295"/>
              </p:nvPr>
            </p:nvGraphicFramePr>
            <p:xfrm>
              <a:off x="3552669" y="2058112"/>
              <a:ext cx="5715000" cy="3383127"/>
            </p:xfrm>
            <a:graphic>
              <a:graphicData uri="http://schemas.openxmlformats.org/drawingml/2006/table">
                <a:tbl>
                  <a:tblPr firstRow="1" bandRow="1">
                    <a:tableStyleId>{93296810-A885-4BE3-A3E7-6D5BEEA58F35}</a:tableStyleId>
                  </a:tblPr>
                  <a:tblGrid>
                    <a:gridCol w="963306">
                      <a:extLst>
                        <a:ext uri="{9D8B030D-6E8A-4147-A177-3AD203B41FA5}">
                          <a16:colId xmlns:a16="http://schemas.microsoft.com/office/drawing/2014/main" val="3090783893"/>
                        </a:ext>
                      </a:extLst>
                    </a:gridCol>
                    <a:gridCol w="3177406">
                      <a:extLst>
                        <a:ext uri="{9D8B030D-6E8A-4147-A177-3AD203B41FA5}">
                          <a16:colId xmlns:a16="http://schemas.microsoft.com/office/drawing/2014/main" val="403654874"/>
                        </a:ext>
                      </a:extLst>
                    </a:gridCol>
                    <a:gridCol w="1574288">
                      <a:extLst>
                        <a:ext uri="{9D8B030D-6E8A-4147-A177-3AD203B41FA5}">
                          <a16:colId xmlns:a16="http://schemas.microsoft.com/office/drawing/2014/main" val="2457136414"/>
                        </a:ext>
                      </a:extLst>
                    </a:gridCol>
                  </a:tblGrid>
                  <a:tr h="460623">
                    <a:tc>
                      <a:txBody>
                        <a:bodyPr/>
                        <a:lstStyle/>
                        <a:p>
                          <a:r>
                            <a:rPr lang="en-IN" dirty="0"/>
                            <a:t>Sr No.</a:t>
                          </a:r>
                        </a:p>
                      </a:txBody>
                      <a:tcPr/>
                    </a:tc>
                    <a:tc>
                      <a:txBody>
                        <a:bodyPr/>
                        <a:lstStyle/>
                        <a:p>
                          <a:r>
                            <a:rPr lang="en-IN" dirty="0"/>
                            <a:t>Recurrence</a:t>
                          </a:r>
                        </a:p>
                      </a:txBody>
                      <a:tcPr/>
                    </a:tc>
                    <a:tc>
                      <a:txBody>
                        <a:bodyPr/>
                        <a:lstStyle/>
                        <a:p>
                          <a:r>
                            <a:rPr lang="en-IN" dirty="0"/>
                            <a:t>Solution</a:t>
                          </a:r>
                        </a:p>
                      </a:txBody>
                      <a:tcPr/>
                    </a:tc>
                    <a:extLst>
                      <a:ext uri="{0D108BD9-81ED-4DB2-BD59-A6C34878D82A}">
                        <a16:rowId xmlns:a16="http://schemas.microsoft.com/office/drawing/2014/main" val="4128184925"/>
                      </a:ext>
                    </a:extLst>
                  </a:tr>
                  <a:tr h="720712">
                    <a:tc>
                      <a:txBody>
                        <a:bodyPr/>
                        <a:lstStyle/>
                        <a:p>
                          <a:r>
                            <a:rPr lang="en-IN" dirty="0"/>
                            <a:t>1.</a:t>
                          </a:r>
                        </a:p>
                      </a:txBody>
                      <a:tcPr/>
                    </a:tc>
                    <a:tc>
                      <a:txBody>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𝑇</m:t>
                                </m:r>
                                <m:d>
                                  <m:dPr>
                                    <m:ctrlPr>
                                      <a:rPr lang="en-IN" b="0" i="1" smtClean="0">
                                        <a:latin typeface="Cambria Math" panose="02040503050406030204" pitchFamily="18" charset="0"/>
                                      </a:rPr>
                                    </m:ctrlPr>
                                  </m:dPr>
                                  <m:e>
                                    <m:r>
                                      <a:rPr lang="en-IN" b="0" i="1" smtClean="0">
                                        <a:latin typeface="Cambria Math" panose="02040503050406030204" pitchFamily="18" charset="0"/>
                                      </a:rPr>
                                      <m:t>𝑛</m:t>
                                    </m:r>
                                  </m:e>
                                </m:d>
                                <m:r>
                                  <a:rPr lang="en-IN" b="0" i="1" smtClean="0">
                                    <a:latin typeface="Cambria Math" panose="02040503050406030204" pitchFamily="18" charset="0"/>
                                  </a:rPr>
                                  <m:t>=</m:t>
                                </m:r>
                                <m:r>
                                  <a:rPr lang="en-IN" b="0" i="1" smtClean="0">
                                    <a:latin typeface="Cambria Math" panose="02040503050406030204" pitchFamily="18" charset="0"/>
                                  </a:rPr>
                                  <m:t>𝑇</m:t>
                                </m:r>
                                <m:d>
                                  <m:dPr>
                                    <m:ctrlPr>
                                      <a:rPr lang="en-IN" b="0" i="1" smtClean="0">
                                        <a:latin typeface="Cambria Math" panose="02040503050406030204" pitchFamily="18" charset="0"/>
                                      </a:rPr>
                                    </m:ctrlPr>
                                  </m:dPr>
                                  <m:e>
                                    <m:r>
                                      <a:rPr lang="en-IN" b="0" i="1" smtClean="0">
                                        <a:latin typeface="Cambria Math" panose="02040503050406030204" pitchFamily="18" charset="0"/>
                                      </a:rPr>
                                      <m:t>𝑛</m:t>
                                    </m:r>
                                    <m:r>
                                      <a:rPr lang="en-IN" b="0" i="1" smtClean="0">
                                        <a:latin typeface="Cambria Math" panose="02040503050406030204" pitchFamily="18" charset="0"/>
                                      </a:rPr>
                                      <m:t>−1</m:t>
                                    </m:r>
                                  </m:e>
                                </m:d>
                                <m:r>
                                  <a:rPr lang="en-IN" b="0" i="1" smtClean="0">
                                    <a:latin typeface="Cambria Math" panose="02040503050406030204" pitchFamily="18" charset="0"/>
                                  </a:rPr>
                                  <m:t>+1</m:t>
                                </m:r>
                              </m:oMath>
                            </m:oMathPara>
                          </a14:m>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IN" b="0" i="1" dirty="0">
                            <a:latin typeface="Cambria Math"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𝑇</m:t>
                                </m:r>
                                <m:d>
                                  <m:dPr>
                                    <m:ctrlPr>
                                      <a:rPr lang="en-IN" b="0" i="1" smtClean="0">
                                        <a:latin typeface="Cambria Math" panose="02040503050406030204" pitchFamily="18" charset="0"/>
                                      </a:rPr>
                                    </m:ctrlPr>
                                  </m:dPr>
                                  <m:e>
                                    <m:r>
                                      <a:rPr lang="en-IN" b="0" i="1" smtClean="0">
                                        <a:latin typeface="Cambria Math" panose="02040503050406030204" pitchFamily="18" charset="0"/>
                                      </a:rPr>
                                      <m:t>𝑛</m:t>
                                    </m:r>
                                  </m:e>
                                </m:d>
                                <m:r>
                                  <a:rPr lang="en-IN" b="0" i="1" smtClean="0">
                                    <a:latin typeface="Cambria Math" panose="02040503050406030204" pitchFamily="18" charset="0"/>
                                  </a:rPr>
                                  <m:t>=</m:t>
                                </m:r>
                                <m:r>
                                  <a:rPr lang="en-IN" b="0" i="1" smtClean="0">
                                    <a:latin typeface="Cambria Math" panose="02040503050406030204" pitchFamily="18" charset="0"/>
                                  </a:rPr>
                                  <m:t>𝑇</m:t>
                                </m:r>
                                <m:d>
                                  <m:dPr>
                                    <m:ctrlPr>
                                      <a:rPr lang="en-IN" b="0" i="1" smtClean="0">
                                        <a:latin typeface="Cambria Math" panose="02040503050406030204" pitchFamily="18" charset="0"/>
                                      </a:rPr>
                                    </m:ctrlPr>
                                  </m:dPr>
                                  <m:e>
                                    <m:r>
                                      <a:rPr lang="en-IN" b="0" i="1" smtClean="0">
                                        <a:latin typeface="Cambria Math" panose="02040503050406030204" pitchFamily="18" charset="0"/>
                                      </a:rPr>
                                      <m:t>𝑛</m:t>
                                    </m:r>
                                    <m:r>
                                      <a:rPr lang="en-IN" b="0" i="1" smtClean="0">
                                        <a:latin typeface="Cambria Math" panose="02040503050406030204" pitchFamily="18" charset="0"/>
                                      </a:rPr>
                                      <m:t>−2</m:t>
                                    </m:r>
                                  </m:e>
                                </m:d>
                                <m:r>
                                  <a:rPr lang="en-IN" b="0" i="1" smtClean="0">
                                    <a:latin typeface="Cambria Math" panose="02040503050406030204" pitchFamily="18" charset="0"/>
                                  </a:rPr>
                                  <m:t>+1</m:t>
                                </m:r>
                              </m:oMath>
                            </m:oMathPara>
                          </a14:m>
                          <a:endParaRPr lang="en-IN" dirty="0"/>
                        </a:p>
                      </a:txBody>
                      <a:tcPr/>
                    </a:tc>
                    <a:tc>
                      <a:txBody>
                        <a:bodyPr/>
                        <a:lstStyle/>
                        <a:p>
                          <a:pPr algn="l"/>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𝑂</m:t>
                                </m:r>
                                <m:d>
                                  <m:dPr>
                                    <m:ctrlPr>
                                      <a:rPr lang="en-IN" b="0" i="1" smtClean="0">
                                        <a:latin typeface="Cambria Math" panose="02040503050406030204" pitchFamily="18" charset="0"/>
                                      </a:rPr>
                                    </m:ctrlPr>
                                  </m:dPr>
                                  <m:e>
                                    <m:r>
                                      <a:rPr lang="en-IN" b="0" i="1" smtClean="0">
                                        <a:latin typeface="Cambria Math" panose="02040503050406030204" pitchFamily="18" charset="0"/>
                                      </a:rPr>
                                      <m:t>𝑛</m:t>
                                    </m:r>
                                  </m:e>
                                </m:d>
                              </m:oMath>
                            </m:oMathPara>
                          </a14:m>
                          <a:endParaRPr lang="en-IN" b="0" i="1" dirty="0">
                            <a:latin typeface="Cambria Math" panose="02040503050406030204" pitchFamily="18" charset="0"/>
                          </a:endParaRPr>
                        </a:p>
                        <a:p>
                          <a:pPr algn="l"/>
                          <a:endParaRPr lang="en-IN" i="1" dirty="0">
                            <a:latin typeface="Cambria Math" panose="02040503050406030204" pitchFamily="18" charset="0"/>
                          </a:endParaRPr>
                        </a:p>
                        <a:p>
                          <a:pPr algn="l"/>
                          <a14:m>
                            <m:oMathPara xmlns:m="http://schemas.openxmlformats.org/officeDocument/2006/math">
                              <m:oMathParaPr>
                                <m:jc m:val="left"/>
                              </m:oMathParaPr>
                              <m:oMath xmlns:m="http://schemas.openxmlformats.org/officeDocument/2006/math">
                                <m:f>
                                  <m:fPr>
                                    <m:ctrlPr>
                                      <a:rPr lang="en-IN" i="1" smtClean="0">
                                        <a:latin typeface="Cambria Math" panose="02040503050406030204" pitchFamily="18" charset="0"/>
                                      </a:rPr>
                                    </m:ctrlPr>
                                  </m:fPr>
                                  <m:num>
                                    <m:r>
                                      <a:rPr lang="en-IN" b="0" i="1" smtClean="0">
                                        <a:latin typeface="Cambria Math" panose="02040503050406030204" pitchFamily="18" charset="0"/>
                                      </a:rPr>
                                      <m:t>𝑛</m:t>
                                    </m:r>
                                  </m:num>
                                  <m:den>
                                    <m:r>
                                      <a:rPr lang="en-IN" b="0" i="1" smtClean="0">
                                        <a:latin typeface="Cambria Math" panose="02040503050406030204" pitchFamily="18" charset="0"/>
                                      </a:rPr>
                                      <m:t>2</m:t>
                                    </m:r>
                                  </m:den>
                                </m:f>
                                <m:r>
                                  <a:rPr lang="en-IN" i="1" smtClean="0">
                                    <a:latin typeface="Cambria Math" panose="02040503050406030204" pitchFamily="18" charset="0"/>
                                    <a:ea typeface="Cambria Math" panose="02040503050406030204" pitchFamily="18" charset="0"/>
                                  </a:rPr>
                                  <m:t>≈</m:t>
                                </m:r>
                                <m:r>
                                  <a:rPr lang="en-IN" b="0" i="1" smtClean="0">
                                    <a:latin typeface="Cambria Math" panose="02040503050406030204" pitchFamily="18" charset="0"/>
                                    <a:ea typeface="Cambria Math" panose="02040503050406030204" pitchFamily="18" charset="0"/>
                                  </a:rPr>
                                  <m:t>𝑂</m:t>
                                </m:r>
                                <m:r>
                                  <a:rPr lang="en-IN" b="0" i="1" smtClean="0">
                                    <a:latin typeface="Cambria Math" panose="02040503050406030204" pitchFamily="18" charset="0"/>
                                    <a:ea typeface="Cambria Math" panose="02040503050406030204" pitchFamily="18" charset="0"/>
                                  </a:rPr>
                                  <m:t>(</m:t>
                                </m:r>
                                <m:r>
                                  <a:rPr lang="en-IN" b="0" i="1" smtClean="0">
                                    <a:latin typeface="Cambria Math" panose="02040503050406030204" pitchFamily="18" charset="0"/>
                                    <a:ea typeface="Cambria Math" panose="02040503050406030204" pitchFamily="18" charset="0"/>
                                  </a:rPr>
                                  <m:t>𝑛</m:t>
                                </m:r>
                                <m:r>
                                  <a:rPr lang="en-IN" b="0" i="1" smtClean="0">
                                    <a:latin typeface="Cambria Math" panose="02040503050406030204" pitchFamily="18" charset="0"/>
                                    <a:ea typeface="Cambria Math" panose="02040503050406030204" pitchFamily="18" charset="0"/>
                                  </a:rPr>
                                  <m:t>)</m:t>
                                </m:r>
                              </m:oMath>
                            </m:oMathPara>
                          </a14:m>
                          <a:endParaRPr lang="en-IN" dirty="0"/>
                        </a:p>
                      </a:txBody>
                      <a:tcPr/>
                    </a:tc>
                    <a:extLst>
                      <a:ext uri="{0D108BD9-81ED-4DB2-BD59-A6C34878D82A}">
                        <a16:rowId xmlns:a16="http://schemas.microsoft.com/office/drawing/2014/main" val="4171856245"/>
                      </a:ext>
                    </a:extLst>
                  </a:tr>
                  <a:tr h="720712">
                    <a:tc>
                      <a:txBody>
                        <a:bodyPr/>
                        <a:lstStyle/>
                        <a:p>
                          <a:r>
                            <a:rPr lang="en-IN"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𝑇</m:t>
                                </m:r>
                                <m:d>
                                  <m:dPr>
                                    <m:ctrlPr>
                                      <a:rPr lang="en-IN" b="0" i="1" smtClean="0">
                                        <a:latin typeface="Cambria Math" panose="02040503050406030204" pitchFamily="18" charset="0"/>
                                      </a:rPr>
                                    </m:ctrlPr>
                                  </m:dPr>
                                  <m:e>
                                    <m:r>
                                      <a:rPr lang="en-IN" b="0" i="1" smtClean="0">
                                        <a:latin typeface="Cambria Math" panose="02040503050406030204" pitchFamily="18" charset="0"/>
                                      </a:rPr>
                                      <m:t>𝑛</m:t>
                                    </m:r>
                                  </m:e>
                                </m:d>
                                <m:r>
                                  <a:rPr lang="en-IN" b="0" i="1" smtClean="0">
                                    <a:latin typeface="Cambria Math" panose="02040503050406030204" pitchFamily="18" charset="0"/>
                                  </a:rPr>
                                  <m:t>=</m:t>
                                </m:r>
                                <m:r>
                                  <a:rPr lang="en-IN" b="0" i="1" smtClean="0">
                                    <a:latin typeface="Cambria Math" panose="02040503050406030204" pitchFamily="18" charset="0"/>
                                  </a:rPr>
                                  <m:t>𝑇</m:t>
                                </m:r>
                                <m:d>
                                  <m:dPr>
                                    <m:ctrlPr>
                                      <a:rPr lang="en-IN" b="0" i="1" smtClean="0">
                                        <a:latin typeface="Cambria Math" panose="02040503050406030204" pitchFamily="18" charset="0"/>
                                      </a:rPr>
                                    </m:ctrlPr>
                                  </m:dPr>
                                  <m:e>
                                    <m:r>
                                      <a:rPr lang="en-IN" b="0" i="1" smtClean="0">
                                        <a:latin typeface="Cambria Math" panose="02040503050406030204" pitchFamily="18" charset="0"/>
                                      </a:rPr>
                                      <m:t>𝑛</m:t>
                                    </m:r>
                                    <m:r>
                                      <a:rPr lang="en-IN" b="0" i="1" smtClean="0">
                                        <a:latin typeface="Cambria Math" panose="02040503050406030204" pitchFamily="18" charset="0"/>
                                      </a:rPr>
                                      <m:t>−1</m:t>
                                    </m:r>
                                  </m:e>
                                </m:d>
                                <m:r>
                                  <a:rPr lang="en-IN" b="0" i="1" smtClean="0">
                                    <a:latin typeface="Cambria Math" panose="02040503050406030204" pitchFamily="18" charset="0"/>
                                  </a:rPr>
                                  <m:t>+</m:t>
                                </m:r>
                                <m:r>
                                  <a:rPr lang="en-IN" b="0" i="1" smtClean="0">
                                    <a:latin typeface="Cambria Math" panose="02040503050406030204" pitchFamily="18" charset="0"/>
                                  </a:rPr>
                                  <m:t>𝑛</m:t>
                                </m:r>
                              </m:oMath>
                            </m:oMathPara>
                          </a14:m>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𝑇</m:t>
                                </m:r>
                                <m:d>
                                  <m:dPr>
                                    <m:ctrlPr>
                                      <a:rPr lang="en-IN" b="0" i="1" smtClean="0">
                                        <a:latin typeface="Cambria Math" panose="02040503050406030204" pitchFamily="18" charset="0"/>
                                      </a:rPr>
                                    </m:ctrlPr>
                                  </m:dPr>
                                  <m:e>
                                    <m:r>
                                      <a:rPr lang="en-IN" b="0" i="1" smtClean="0">
                                        <a:latin typeface="Cambria Math" panose="02040503050406030204" pitchFamily="18" charset="0"/>
                                      </a:rPr>
                                      <m:t>𝑛</m:t>
                                    </m:r>
                                  </m:e>
                                </m:d>
                                <m:r>
                                  <a:rPr lang="en-IN" b="0" i="1" smtClean="0">
                                    <a:latin typeface="Cambria Math" panose="02040503050406030204" pitchFamily="18" charset="0"/>
                                  </a:rPr>
                                  <m:t>=</m:t>
                                </m:r>
                                <m:r>
                                  <a:rPr lang="en-IN" b="0" i="1" smtClean="0">
                                    <a:latin typeface="Cambria Math" panose="02040503050406030204" pitchFamily="18" charset="0"/>
                                  </a:rPr>
                                  <m:t>𝑇</m:t>
                                </m:r>
                                <m:d>
                                  <m:dPr>
                                    <m:ctrlPr>
                                      <a:rPr lang="en-IN" b="0" i="1" smtClean="0">
                                        <a:latin typeface="Cambria Math" panose="02040503050406030204" pitchFamily="18" charset="0"/>
                                      </a:rPr>
                                    </m:ctrlPr>
                                  </m:dPr>
                                  <m:e>
                                    <m:r>
                                      <a:rPr lang="en-IN" b="0" i="1" smtClean="0">
                                        <a:latin typeface="Cambria Math" panose="02040503050406030204" pitchFamily="18" charset="0"/>
                                      </a:rPr>
                                      <m:t>𝑛</m:t>
                                    </m:r>
                                    <m:r>
                                      <a:rPr lang="en-IN" b="0" i="1" smtClean="0">
                                        <a:latin typeface="Cambria Math" panose="02040503050406030204" pitchFamily="18" charset="0"/>
                                      </a:rPr>
                                      <m:t>−100</m:t>
                                    </m:r>
                                  </m:e>
                                </m:d>
                                <m:r>
                                  <a:rPr lang="en-IN" b="0" i="1" smtClean="0">
                                    <a:latin typeface="Cambria Math" panose="02040503050406030204" pitchFamily="18" charset="0"/>
                                  </a:rPr>
                                  <m:t>+</m:t>
                                </m:r>
                                <m:r>
                                  <a:rPr lang="en-IN" b="0" i="1" smtClean="0">
                                    <a:latin typeface="Cambria Math" panose="02040503050406030204" pitchFamily="18" charset="0"/>
                                  </a:rPr>
                                  <m:t>𝑛</m:t>
                                </m:r>
                              </m:oMath>
                            </m:oMathPara>
                          </a14:m>
                          <a:endParaRPr lang="en-IN" dirty="0"/>
                        </a:p>
                      </a:txBody>
                      <a:tcPr/>
                    </a:tc>
                    <a:tc>
                      <a:txBody>
                        <a:bodyPr/>
                        <a:lstStyle/>
                        <a:p>
                          <a:endParaRPr lang="en-IN" dirty="0"/>
                        </a:p>
                        <a:p>
                          <a:pPr algn="l"/>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𝑂</m:t>
                                </m:r>
                                <m:r>
                                  <a:rPr lang="en-IN" b="0" i="1" smtClean="0">
                                    <a:latin typeface="Cambria Math" panose="02040503050406030204" pitchFamily="18" charset="0"/>
                                  </a:rPr>
                                  <m:t>(</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𝑛</m:t>
                                    </m:r>
                                  </m:e>
                                  <m:sup>
                                    <m:r>
                                      <a:rPr lang="en-IN" b="0" i="1" smtClean="0">
                                        <a:latin typeface="Cambria Math" panose="02040503050406030204" pitchFamily="18" charset="0"/>
                                      </a:rPr>
                                      <m:t>2</m:t>
                                    </m:r>
                                  </m:sup>
                                </m:sSup>
                                <m:r>
                                  <a:rPr lang="en-IN" b="0" i="1" smtClean="0">
                                    <a:latin typeface="Cambria Math" panose="02040503050406030204" pitchFamily="18" charset="0"/>
                                  </a:rPr>
                                  <m:t>)</m:t>
                                </m:r>
                              </m:oMath>
                            </m:oMathPara>
                          </a14:m>
                          <a:endParaRPr lang="en-IN" dirty="0"/>
                        </a:p>
                      </a:txBody>
                      <a:tcPr/>
                    </a:tc>
                    <a:extLst>
                      <a:ext uri="{0D108BD9-81ED-4DB2-BD59-A6C34878D82A}">
                        <a16:rowId xmlns:a16="http://schemas.microsoft.com/office/drawing/2014/main" val="1724525450"/>
                      </a:ext>
                    </a:extLst>
                  </a:tr>
                  <a:tr h="499544">
                    <a:tc>
                      <a:txBody>
                        <a:bodyPr/>
                        <a:lstStyle/>
                        <a:p>
                          <a:r>
                            <a:rPr lang="en-IN"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𝑇</m:t>
                                </m:r>
                                <m:d>
                                  <m:dPr>
                                    <m:ctrlPr>
                                      <a:rPr lang="en-IN" b="0" i="1" smtClean="0">
                                        <a:latin typeface="Cambria Math" panose="02040503050406030204" pitchFamily="18" charset="0"/>
                                      </a:rPr>
                                    </m:ctrlPr>
                                  </m:dPr>
                                  <m:e>
                                    <m:r>
                                      <a:rPr lang="en-IN" b="0" i="1" smtClean="0">
                                        <a:latin typeface="Cambria Math" panose="02040503050406030204" pitchFamily="18" charset="0"/>
                                      </a:rPr>
                                      <m:t>𝑛</m:t>
                                    </m:r>
                                  </m:e>
                                </m:d>
                                <m:r>
                                  <a:rPr lang="en-IN" b="0" i="1" smtClean="0">
                                    <a:latin typeface="Cambria Math" panose="02040503050406030204" pitchFamily="18" charset="0"/>
                                  </a:rPr>
                                  <m:t>=</m:t>
                                </m:r>
                                <m:r>
                                  <a:rPr lang="en-IN" b="0" i="1" smtClean="0">
                                    <a:latin typeface="Cambria Math" panose="02040503050406030204" pitchFamily="18" charset="0"/>
                                  </a:rPr>
                                  <m:t>𝑇</m:t>
                                </m:r>
                                <m:d>
                                  <m:dPr>
                                    <m:ctrlPr>
                                      <a:rPr lang="en-IN" b="0" i="1" smtClean="0">
                                        <a:latin typeface="Cambria Math" panose="02040503050406030204" pitchFamily="18" charset="0"/>
                                      </a:rPr>
                                    </m:ctrlPr>
                                  </m:dPr>
                                  <m:e>
                                    <m:r>
                                      <a:rPr lang="en-IN" b="0" i="1" smtClean="0">
                                        <a:latin typeface="Cambria Math" panose="02040503050406030204" pitchFamily="18" charset="0"/>
                                      </a:rPr>
                                      <m:t>𝑛</m:t>
                                    </m:r>
                                    <m:r>
                                      <a:rPr lang="en-IN" b="0" i="1" smtClean="0">
                                        <a:latin typeface="Cambria Math" panose="02040503050406030204" pitchFamily="18" charset="0"/>
                                      </a:rPr>
                                      <m:t>−1</m:t>
                                    </m:r>
                                  </m:e>
                                </m:d>
                                <m:r>
                                  <a:rPr lang="en-IN" b="0" i="1" smtClean="0">
                                    <a:latin typeface="Cambria Math" panose="02040503050406030204" pitchFamily="18" charset="0"/>
                                  </a:rPr>
                                  <m:t>+</m:t>
                                </m:r>
                                <m:r>
                                  <a:rPr lang="en-IN" b="0" i="1" smtClean="0">
                                    <a:latin typeface="Cambria Math" panose="02040503050406030204" pitchFamily="18" charset="0"/>
                                  </a:rPr>
                                  <m:t>𝑙𝑜𝑔𝑛</m:t>
                                </m:r>
                              </m:oMath>
                            </m:oMathPara>
                          </a14:m>
                          <a:endParaRPr lang="en-IN" dirty="0"/>
                        </a:p>
                      </a:txBody>
                      <a:tcPr/>
                    </a:tc>
                    <a:tc>
                      <a:txBody>
                        <a:body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𝑂</m:t>
                                </m:r>
                                <m:r>
                                  <a:rPr lang="en-IN" b="0" i="1" smtClean="0">
                                    <a:latin typeface="Cambria Math" panose="02040503050406030204" pitchFamily="18" charset="0"/>
                                  </a:rPr>
                                  <m:t>(</m:t>
                                </m:r>
                                <m:r>
                                  <a:rPr lang="en-IN" b="0" i="1" smtClean="0">
                                    <a:latin typeface="Cambria Math" panose="02040503050406030204" pitchFamily="18" charset="0"/>
                                  </a:rPr>
                                  <m:t>𝑛𝑙𝑜𝑔𝑛</m:t>
                                </m:r>
                                <m:r>
                                  <a:rPr lang="en-IN" b="0" i="1" smtClean="0">
                                    <a:latin typeface="Cambria Math" panose="02040503050406030204" pitchFamily="18" charset="0"/>
                                  </a:rPr>
                                  <m:t>)</m:t>
                                </m:r>
                              </m:oMath>
                            </m:oMathPara>
                          </a14:m>
                          <a:endParaRPr lang="en-IN" dirty="0"/>
                        </a:p>
                      </a:txBody>
                      <a:tcPr/>
                    </a:tc>
                    <a:extLst>
                      <a:ext uri="{0D108BD9-81ED-4DB2-BD59-A6C34878D82A}">
                        <a16:rowId xmlns:a16="http://schemas.microsoft.com/office/drawing/2014/main" val="3102111449"/>
                      </a:ext>
                    </a:extLst>
                  </a:tr>
                  <a:tr h="292289">
                    <a:tc>
                      <a:txBody>
                        <a:bodyPr/>
                        <a:lstStyle/>
                        <a:p>
                          <a:r>
                            <a:rPr lang="en-IN"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𝑇</m:t>
                                </m:r>
                                <m:d>
                                  <m:dPr>
                                    <m:ctrlPr>
                                      <a:rPr lang="en-IN" b="0" i="1" smtClean="0">
                                        <a:latin typeface="Cambria Math" panose="02040503050406030204" pitchFamily="18" charset="0"/>
                                      </a:rPr>
                                    </m:ctrlPr>
                                  </m:dPr>
                                  <m:e>
                                    <m:r>
                                      <a:rPr lang="en-IN" b="0" i="1" smtClean="0">
                                        <a:latin typeface="Cambria Math" panose="02040503050406030204" pitchFamily="18" charset="0"/>
                                      </a:rPr>
                                      <m:t>𝑛</m:t>
                                    </m:r>
                                  </m:e>
                                </m:d>
                                <m:r>
                                  <a:rPr lang="en-IN" b="0" i="1" smtClean="0">
                                    <a:latin typeface="Cambria Math" panose="02040503050406030204" pitchFamily="18" charset="0"/>
                                  </a:rPr>
                                  <m:t>=</m:t>
                                </m:r>
                                <m:r>
                                  <a:rPr lang="en-IN" b="0" i="1" smtClean="0">
                                    <a:latin typeface="Cambria Math" panose="02040503050406030204" pitchFamily="18" charset="0"/>
                                  </a:rPr>
                                  <m:t>𝑇</m:t>
                                </m:r>
                                <m:d>
                                  <m:dPr>
                                    <m:ctrlPr>
                                      <a:rPr lang="en-IN" b="0" i="1" smtClean="0">
                                        <a:latin typeface="Cambria Math" panose="02040503050406030204" pitchFamily="18" charset="0"/>
                                      </a:rPr>
                                    </m:ctrlPr>
                                  </m:dPr>
                                  <m:e>
                                    <m:r>
                                      <a:rPr lang="en-IN" b="0" i="1" smtClean="0">
                                        <a:latin typeface="Cambria Math" panose="02040503050406030204" pitchFamily="18" charset="0"/>
                                      </a:rPr>
                                      <m:t>𝑛</m:t>
                                    </m:r>
                                    <m:r>
                                      <a:rPr lang="en-IN" b="0" i="1" smtClean="0">
                                        <a:latin typeface="Cambria Math" panose="02040503050406030204" pitchFamily="18" charset="0"/>
                                      </a:rPr>
                                      <m:t>−1</m:t>
                                    </m:r>
                                  </m:e>
                                </m:d>
                                <m:r>
                                  <a:rPr lang="en-IN" b="0" i="1" smtClean="0">
                                    <a:latin typeface="Cambria Math" panose="02040503050406030204" pitchFamily="18" charset="0"/>
                                  </a:rPr>
                                  <m:t>+</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𝑛</m:t>
                                    </m:r>
                                  </m:e>
                                  <m:sup>
                                    <m:r>
                                      <a:rPr lang="en-IN" b="0" i="1" smtClean="0">
                                        <a:latin typeface="Cambria Math" panose="02040503050406030204" pitchFamily="18" charset="0"/>
                                      </a:rPr>
                                      <m:t>2</m:t>
                                    </m:r>
                                  </m:sup>
                                </m:sSup>
                              </m:oMath>
                            </m:oMathPara>
                          </a14:m>
                          <a:endParaRPr lang="en-IN" dirty="0"/>
                        </a:p>
                      </a:txBody>
                      <a:tcPr/>
                    </a:tc>
                    <a:tc>
                      <a:txBody>
                        <a:body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𝑂</m:t>
                                </m:r>
                                <m:r>
                                  <a:rPr lang="en-IN" b="0" i="1" smtClean="0">
                                    <a:latin typeface="Cambria Math" panose="02040503050406030204" pitchFamily="18" charset="0"/>
                                  </a:rPr>
                                  <m:t>(</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𝑛</m:t>
                                    </m:r>
                                  </m:e>
                                  <m:sup>
                                    <m:r>
                                      <a:rPr lang="en-IN" b="0" i="1" smtClean="0">
                                        <a:latin typeface="Cambria Math" panose="02040503050406030204" pitchFamily="18" charset="0"/>
                                      </a:rPr>
                                      <m:t>3</m:t>
                                    </m:r>
                                  </m:sup>
                                </m:sSup>
                                <m:r>
                                  <a:rPr lang="en-IN" b="0" i="1" smtClean="0">
                                    <a:latin typeface="Cambria Math" panose="02040503050406030204" pitchFamily="18" charset="0"/>
                                  </a:rPr>
                                  <m:t>)</m:t>
                                </m:r>
                              </m:oMath>
                            </m:oMathPara>
                          </a14:m>
                          <a:endParaRPr lang="en-IN" dirty="0"/>
                        </a:p>
                      </a:txBody>
                      <a:tcPr/>
                    </a:tc>
                    <a:extLst>
                      <a:ext uri="{0D108BD9-81ED-4DB2-BD59-A6C34878D82A}">
                        <a16:rowId xmlns:a16="http://schemas.microsoft.com/office/drawing/2014/main" val="1020507120"/>
                      </a:ext>
                    </a:extLst>
                  </a:tr>
                  <a:tr h="504498">
                    <a:tc>
                      <a:txBody>
                        <a:bodyPr/>
                        <a:lstStyle/>
                        <a:p>
                          <a:r>
                            <a:rPr lang="en-IN"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𝑇</m:t>
                                </m:r>
                                <m:d>
                                  <m:dPr>
                                    <m:ctrlPr>
                                      <a:rPr lang="en-IN" b="0" i="1" smtClean="0">
                                        <a:latin typeface="Cambria Math" panose="02040503050406030204" pitchFamily="18" charset="0"/>
                                      </a:rPr>
                                    </m:ctrlPr>
                                  </m:dPr>
                                  <m:e>
                                    <m:r>
                                      <a:rPr lang="en-IN" b="0" i="1" smtClean="0">
                                        <a:latin typeface="Cambria Math" panose="02040503050406030204" pitchFamily="18" charset="0"/>
                                      </a:rPr>
                                      <m:t>𝑛</m:t>
                                    </m:r>
                                  </m:e>
                                </m:d>
                                <m:r>
                                  <a:rPr lang="en-IN" b="0" i="1" smtClean="0">
                                    <a:latin typeface="Cambria Math" panose="02040503050406030204" pitchFamily="18" charset="0"/>
                                  </a:rPr>
                                  <m:t>=2</m:t>
                                </m:r>
                                <m:r>
                                  <a:rPr lang="en-IN" b="0" i="1" smtClean="0">
                                    <a:latin typeface="Cambria Math" panose="02040503050406030204" pitchFamily="18" charset="0"/>
                                  </a:rPr>
                                  <m:t>𝑇</m:t>
                                </m:r>
                                <m:d>
                                  <m:dPr>
                                    <m:ctrlPr>
                                      <a:rPr lang="en-IN" b="0" i="1" smtClean="0">
                                        <a:latin typeface="Cambria Math" panose="02040503050406030204" pitchFamily="18" charset="0"/>
                                      </a:rPr>
                                    </m:ctrlPr>
                                  </m:dPr>
                                  <m:e>
                                    <m:r>
                                      <a:rPr lang="en-IN" b="0" i="1" smtClean="0">
                                        <a:latin typeface="Cambria Math" panose="02040503050406030204" pitchFamily="18" charset="0"/>
                                      </a:rPr>
                                      <m:t>𝑛</m:t>
                                    </m:r>
                                    <m:r>
                                      <a:rPr lang="en-IN" b="0" i="1" smtClean="0">
                                        <a:latin typeface="Cambria Math" panose="02040503050406030204" pitchFamily="18" charset="0"/>
                                      </a:rPr>
                                      <m:t>−1</m:t>
                                    </m:r>
                                  </m:e>
                                </m:d>
                                <m:r>
                                  <a:rPr lang="en-IN" b="0" i="1" smtClean="0">
                                    <a:latin typeface="Cambria Math" panose="02040503050406030204" pitchFamily="18" charset="0"/>
                                  </a:rPr>
                                  <m:t>+</m:t>
                                </m:r>
                                <m:r>
                                  <a:rPr lang="en-US" b="0" i="1" smtClean="0">
                                    <a:latin typeface="Cambria Math" panose="02040503050406030204" pitchFamily="18" charset="0"/>
                                  </a:rPr>
                                  <m:t>1</m:t>
                                </m:r>
                              </m:oMath>
                            </m:oMathPara>
                          </a14:m>
                          <a:endParaRPr lang="en-IN" dirty="0"/>
                        </a:p>
                      </a:txBody>
                      <a:tcPr/>
                    </a:tc>
                    <a:tc>
                      <a:txBody>
                        <a:bodyPr/>
                        <a:lstStyle/>
                        <a:p>
                          <a:r>
                            <a:rPr lang="en-IN" dirty="0">
                              <a:solidFill>
                                <a:schemeClr val="tx1"/>
                              </a:solidFill>
                              <a:highlight>
                                <a:srgbClr val="FF0000"/>
                              </a:highlight>
                            </a:rPr>
                            <a:t>???</a:t>
                          </a:r>
                        </a:p>
                      </a:txBody>
                      <a:tcPr/>
                    </a:tc>
                    <a:extLst>
                      <a:ext uri="{0D108BD9-81ED-4DB2-BD59-A6C34878D82A}">
                        <a16:rowId xmlns:a16="http://schemas.microsoft.com/office/drawing/2014/main" val="1090500636"/>
                      </a:ext>
                    </a:extLst>
                  </a:tr>
                </a:tbl>
              </a:graphicData>
            </a:graphic>
          </p:graphicFrame>
        </mc:Choice>
        <mc:Fallback xmlns="">
          <p:graphicFrame>
            <p:nvGraphicFramePr>
              <p:cNvPr id="5" name="Table 5">
                <a:extLst>
                  <a:ext uri="{FF2B5EF4-FFF2-40B4-BE49-F238E27FC236}">
                    <a16:creationId xmlns:a16="http://schemas.microsoft.com/office/drawing/2014/main" id="{210C90EB-00C8-4779-9B00-CC782DAA15B4}"/>
                  </a:ext>
                </a:extLst>
              </p:cNvPr>
              <p:cNvGraphicFramePr>
                <a:graphicFrameLocks noGrp="1"/>
              </p:cNvGraphicFramePr>
              <p:nvPr>
                <p:ph idx="4294967295"/>
              </p:nvPr>
            </p:nvGraphicFramePr>
            <p:xfrm>
              <a:off x="3552669" y="2058112"/>
              <a:ext cx="5715000" cy="3383127"/>
            </p:xfrm>
            <a:graphic>
              <a:graphicData uri="http://schemas.openxmlformats.org/drawingml/2006/table">
                <a:tbl>
                  <a:tblPr firstRow="1" bandRow="1">
                    <a:tableStyleId>{93296810-A885-4BE3-A3E7-6D5BEEA58F35}</a:tableStyleId>
                  </a:tblPr>
                  <a:tblGrid>
                    <a:gridCol w="963306">
                      <a:extLst>
                        <a:ext uri="{9D8B030D-6E8A-4147-A177-3AD203B41FA5}">
                          <a16:colId xmlns:a16="http://schemas.microsoft.com/office/drawing/2014/main" val="3090783893"/>
                        </a:ext>
                      </a:extLst>
                    </a:gridCol>
                    <a:gridCol w="3177406">
                      <a:extLst>
                        <a:ext uri="{9D8B030D-6E8A-4147-A177-3AD203B41FA5}">
                          <a16:colId xmlns:a16="http://schemas.microsoft.com/office/drawing/2014/main" val="403654874"/>
                        </a:ext>
                      </a:extLst>
                    </a:gridCol>
                    <a:gridCol w="1574288">
                      <a:extLst>
                        <a:ext uri="{9D8B030D-6E8A-4147-A177-3AD203B41FA5}">
                          <a16:colId xmlns:a16="http://schemas.microsoft.com/office/drawing/2014/main" val="2457136414"/>
                        </a:ext>
                      </a:extLst>
                    </a:gridCol>
                  </a:tblGrid>
                  <a:tr h="460623">
                    <a:tc>
                      <a:txBody>
                        <a:bodyPr/>
                        <a:lstStyle/>
                        <a:p>
                          <a:r>
                            <a:rPr lang="en-IN" dirty="0"/>
                            <a:t>Sr No.</a:t>
                          </a:r>
                        </a:p>
                      </a:txBody>
                      <a:tcPr/>
                    </a:tc>
                    <a:tc>
                      <a:txBody>
                        <a:bodyPr/>
                        <a:lstStyle/>
                        <a:p>
                          <a:r>
                            <a:rPr lang="en-IN" dirty="0"/>
                            <a:t>Recurrence</a:t>
                          </a:r>
                        </a:p>
                      </a:txBody>
                      <a:tcPr/>
                    </a:tc>
                    <a:tc>
                      <a:txBody>
                        <a:bodyPr/>
                        <a:lstStyle/>
                        <a:p>
                          <a:r>
                            <a:rPr lang="en-IN" dirty="0"/>
                            <a:t>Solution</a:t>
                          </a:r>
                        </a:p>
                      </a:txBody>
                      <a:tcPr/>
                    </a:tc>
                    <a:extLst>
                      <a:ext uri="{0D108BD9-81ED-4DB2-BD59-A6C34878D82A}">
                        <a16:rowId xmlns:a16="http://schemas.microsoft.com/office/drawing/2014/main" val="4128184925"/>
                      </a:ext>
                    </a:extLst>
                  </a:tr>
                  <a:tr h="882142">
                    <a:tc>
                      <a:txBody>
                        <a:bodyPr/>
                        <a:lstStyle/>
                        <a:p>
                          <a:r>
                            <a:rPr lang="en-IN" dirty="0"/>
                            <a:t>1.</a:t>
                          </a:r>
                        </a:p>
                      </a:txBody>
                      <a:tcPr/>
                    </a:tc>
                    <a:tc>
                      <a:txBody>
                        <a:bodyPr/>
                        <a:lstStyle/>
                        <a:p>
                          <a:endParaRPr lang="en-US"/>
                        </a:p>
                      </a:txBody>
                      <a:tcPr>
                        <a:blipFill>
                          <a:blip r:embed="rId2"/>
                          <a:stretch>
                            <a:fillRect l="-30460" t="-53103" r="-50383" b="-232414"/>
                          </a:stretch>
                        </a:blipFill>
                      </a:tcPr>
                    </a:tc>
                    <a:tc>
                      <a:txBody>
                        <a:bodyPr/>
                        <a:lstStyle/>
                        <a:p>
                          <a:endParaRPr lang="en-US"/>
                        </a:p>
                      </a:txBody>
                      <a:tcPr>
                        <a:blipFill>
                          <a:blip r:embed="rId2"/>
                          <a:stretch>
                            <a:fillRect l="-262934" t="-53103" r="-1544" b="-232414"/>
                          </a:stretch>
                        </a:blipFill>
                      </a:tcPr>
                    </a:tc>
                    <a:extLst>
                      <a:ext uri="{0D108BD9-81ED-4DB2-BD59-A6C34878D82A}">
                        <a16:rowId xmlns:a16="http://schemas.microsoft.com/office/drawing/2014/main" val="4171856245"/>
                      </a:ext>
                    </a:extLst>
                  </a:tr>
                  <a:tr h="731520">
                    <a:tc>
                      <a:txBody>
                        <a:bodyPr/>
                        <a:lstStyle/>
                        <a:p>
                          <a:r>
                            <a:rPr lang="en-IN" dirty="0"/>
                            <a:t>2.</a:t>
                          </a:r>
                        </a:p>
                      </a:txBody>
                      <a:tcPr/>
                    </a:tc>
                    <a:tc>
                      <a:txBody>
                        <a:bodyPr/>
                        <a:lstStyle/>
                        <a:p>
                          <a:endParaRPr lang="en-US"/>
                        </a:p>
                      </a:txBody>
                      <a:tcPr>
                        <a:blipFill>
                          <a:blip r:embed="rId2"/>
                          <a:stretch>
                            <a:fillRect l="-30460" t="-185000" r="-50383" b="-180833"/>
                          </a:stretch>
                        </a:blipFill>
                      </a:tcPr>
                    </a:tc>
                    <a:tc>
                      <a:txBody>
                        <a:bodyPr/>
                        <a:lstStyle/>
                        <a:p>
                          <a:endParaRPr lang="en-US"/>
                        </a:p>
                      </a:txBody>
                      <a:tcPr>
                        <a:blipFill>
                          <a:blip r:embed="rId2"/>
                          <a:stretch>
                            <a:fillRect l="-262934" t="-185000" r="-1544" b="-180833"/>
                          </a:stretch>
                        </a:blipFill>
                      </a:tcPr>
                    </a:tc>
                    <a:extLst>
                      <a:ext uri="{0D108BD9-81ED-4DB2-BD59-A6C34878D82A}">
                        <a16:rowId xmlns:a16="http://schemas.microsoft.com/office/drawing/2014/main" val="1724525450"/>
                      </a:ext>
                    </a:extLst>
                  </a:tr>
                  <a:tr h="499544">
                    <a:tc>
                      <a:txBody>
                        <a:bodyPr/>
                        <a:lstStyle/>
                        <a:p>
                          <a:r>
                            <a:rPr lang="en-IN" dirty="0"/>
                            <a:t>3.</a:t>
                          </a:r>
                        </a:p>
                      </a:txBody>
                      <a:tcPr/>
                    </a:tc>
                    <a:tc>
                      <a:txBody>
                        <a:bodyPr/>
                        <a:lstStyle/>
                        <a:p>
                          <a:endParaRPr lang="en-US"/>
                        </a:p>
                      </a:txBody>
                      <a:tcPr>
                        <a:blipFill>
                          <a:blip r:embed="rId2"/>
                          <a:stretch>
                            <a:fillRect l="-30460" t="-417073" r="-50383" b="-164634"/>
                          </a:stretch>
                        </a:blipFill>
                      </a:tcPr>
                    </a:tc>
                    <a:tc>
                      <a:txBody>
                        <a:bodyPr/>
                        <a:lstStyle/>
                        <a:p>
                          <a:endParaRPr lang="en-US"/>
                        </a:p>
                      </a:txBody>
                      <a:tcPr>
                        <a:blipFill>
                          <a:blip r:embed="rId2"/>
                          <a:stretch>
                            <a:fillRect l="-262934" t="-417073" r="-1544" b="-164634"/>
                          </a:stretch>
                        </a:blipFill>
                      </a:tcPr>
                    </a:tc>
                    <a:extLst>
                      <a:ext uri="{0D108BD9-81ED-4DB2-BD59-A6C34878D82A}">
                        <a16:rowId xmlns:a16="http://schemas.microsoft.com/office/drawing/2014/main" val="3102111449"/>
                      </a:ext>
                    </a:extLst>
                  </a:tr>
                  <a:tr h="304800">
                    <a:tc>
                      <a:txBody>
                        <a:bodyPr/>
                        <a:lstStyle/>
                        <a:p>
                          <a:r>
                            <a:rPr lang="en-IN" dirty="0"/>
                            <a:t>4.</a:t>
                          </a:r>
                        </a:p>
                      </a:txBody>
                      <a:tcPr/>
                    </a:tc>
                    <a:tc>
                      <a:txBody>
                        <a:bodyPr/>
                        <a:lstStyle/>
                        <a:p>
                          <a:endParaRPr lang="en-US"/>
                        </a:p>
                      </a:txBody>
                      <a:tcPr>
                        <a:blipFill>
                          <a:blip r:embed="rId2"/>
                          <a:stretch>
                            <a:fillRect l="-30460" t="-848000" r="-50383" b="-170000"/>
                          </a:stretch>
                        </a:blipFill>
                      </a:tcPr>
                    </a:tc>
                    <a:tc>
                      <a:txBody>
                        <a:bodyPr/>
                        <a:lstStyle/>
                        <a:p>
                          <a:endParaRPr lang="en-US"/>
                        </a:p>
                      </a:txBody>
                      <a:tcPr>
                        <a:blipFill>
                          <a:blip r:embed="rId2"/>
                          <a:stretch>
                            <a:fillRect l="-262934" t="-848000" r="-1544" b="-170000"/>
                          </a:stretch>
                        </a:blipFill>
                      </a:tcPr>
                    </a:tc>
                    <a:extLst>
                      <a:ext uri="{0D108BD9-81ED-4DB2-BD59-A6C34878D82A}">
                        <a16:rowId xmlns:a16="http://schemas.microsoft.com/office/drawing/2014/main" val="1020507120"/>
                      </a:ext>
                    </a:extLst>
                  </a:tr>
                  <a:tr h="504498">
                    <a:tc>
                      <a:txBody>
                        <a:bodyPr/>
                        <a:lstStyle/>
                        <a:p>
                          <a:r>
                            <a:rPr lang="en-IN" dirty="0"/>
                            <a:t>5.</a:t>
                          </a:r>
                        </a:p>
                      </a:txBody>
                      <a:tcPr/>
                    </a:tc>
                    <a:tc>
                      <a:txBody>
                        <a:bodyPr/>
                        <a:lstStyle/>
                        <a:p>
                          <a:endParaRPr lang="en-US"/>
                        </a:p>
                      </a:txBody>
                      <a:tcPr>
                        <a:blipFill>
                          <a:blip r:embed="rId2"/>
                          <a:stretch>
                            <a:fillRect l="-30460" t="-571084" r="-50383" b="-2410"/>
                          </a:stretch>
                        </a:blipFill>
                      </a:tcPr>
                    </a:tc>
                    <a:tc>
                      <a:txBody>
                        <a:bodyPr/>
                        <a:lstStyle/>
                        <a:p>
                          <a:r>
                            <a:rPr lang="en-IN" dirty="0">
                              <a:solidFill>
                                <a:schemeClr val="tx1"/>
                              </a:solidFill>
                              <a:highlight>
                                <a:srgbClr val="FF0000"/>
                              </a:highlight>
                            </a:rPr>
                            <a:t>???</a:t>
                          </a:r>
                        </a:p>
                      </a:txBody>
                      <a:tcPr/>
                    </a:tc>
                    <a:extLst>
                      <a:ext uri="{0D108BD9-81ED-4DB2-BD59-A6C34878D82A}">
                        <a16:rowId xmlns:a16="http://schemas.microsoft.com/office/drawing/2014/main" val="1090500636"/>
                      </a:ext>
                    </a:extLst>
                  </a:tr>
                </a:tbl>
              </a:graphicData>
            </a:graphic>
          </p:graphicFrame>
        </mc:Fallback>
      </mc:AlternateContent>
      <p:pic>
        <p:nvPicPr>
          <p:cNvPr id="3" name="Picture 2">
            <a:extLst>
              <a:ext uri="{FF2B5EF4-FFF2-40B4-BE49-F238E27FC236}">
                <a16:creationId xmlns:a16="http://schemas.microsoft.com/office/drawing/2014/main" id="{7347AFFA-4284-16C6-8105-A90A226FD03C}"/>
              </a:ext>
            </a:extLst>
          </p:cNvPr>
          <p:cNvPicPr>
            <a:picLocks noChangeAspect="1"/>
          </p:cNvPicPr>
          <p:nvPr/>
        </p:nvPicPr>
        <p:blipFill>
          <a:blip r:embed="rId3"/>
          <a:stretch>
            <a:fillRect/>
          </a:stretch>
        </p:blipFill>
        <p:spPr>
          <a:xfrm>
            <a:off x="10771581" y="251099"/>
            <a:ext cx="1164437" cy="1005927"/>
          </a:xfrm>
          <a:prstGeom prst="rect">
            <a:avLst/>
          </a:prstGeom>
        </p:spPr>
      </p:pic>
      <p:pic>
        <p:nvPicPr>
          <p:cNvPr id="6" name="Picture 5">
            <a:extLst>
              <a:ext uri="{FF2B5EF4-FFF2-40B4-BE49-F238E27FC236}">
                <a16:creationId xmlns:a16="http://schemas.microsoft.com/office/drawing/2014/main" id="{B49F3556-4D98-4138-C7D6-DC3BB8E6CF30}"/>
              </a:ext>
            </a:extLst>
          </p:cNvPr>
          <p:cNvPicPr>
            <a:picLocks noChangeAspect="1"/>
          </p:cNvPicPr>
          <p:nvPr/>
        </p:nvPicPr>
        <p:blipFill>
          <a:blip r:embed="rId4"/>
          <a:stretch>
            <a:fillRect/>
          </a:stretch>
        </p:blipFill>
        <p:spPr>
          <a:xfrm>
            <a:off x="255982" y="153263"/>
            <a:ext cx="3804234" cy="737680"/>
          </a:xfrm>
          <a:prstGeom prst="rect">
            <a:avLst/>
          </a:prstGeom>
        </p:spPr>
      </p:pic>
    </p:spTree>
    <p:extLst>
      <p:ext uri="{BB962C8B-B14F-4D97-AF65-F5344CB8AC3E}">
        <p14:creationId xmlns:p14="http://schemas.microsoft.com/office/powerpoint/2010/main" val="27641219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8D2F4-FB14-4EF0-BEC6-3BDCEBFA1BF4}"/>
              </a:ext>
            </a:extLst>
          </p:cNvPr>
          <p:cNvSpPr>
            <a:spLocks noGrp="1"/>
          </p:cNvSpPr>
          <p:nvPr>
            <p:ph type="title"/>
          </p:nvPr>
        </p:nvSpPr>
        <p:spPr>
          <a:xfrm>
            <a:off x="3082040" y="608937"/>
            <a:ext cx="8134350" cy="777875"/>
          </a:xfrm>
        </p:spPr>
        <p:txBody>
          <a:bodyPr>
            <a:normAutofit fontScale="90000"/>
          </a:bodyPr>
          <a:lstStyle/>
          <a:p>
            <a:pPr algn="l"/>
            <a:br>
              <a:rPr lang="en-IN" sz="3200" dirty="0"/>
            </a:br>
            <a:br>
              <a:rPr lang="en-IN" sz="3200" dirty="0"/>
            </a:br>
            <a:r>
              <a:rPr lang="en-IN" sz="2400" b="1" dirty="0"/>
              <a:t>Master Method [Decreasing function]:</a:t>
            </a:r>
          </a:p>
        </p:txBody>
      </p:sp>
      <p:sp>
        <p:nvSpPr>
          <p:cNvPr id="4" name="Slide Number Placeholder 3">
            <a:extLst>
              <a:ext uri="{FF2B5EF4-FFF2-40B4-BE49-F238E27FC236}">
                <a16:creationId xmlns:a16="http://schemas.microsoft.com/office/drawing/2014/main" id="{A4BC84D4-072C-458A-ACCC-851D67477776}"/>
              </a:ext>
            </a:extLst>
          </p:cNvPr>
          <p:cNvSpPr>
            <a:spLocks noGrp="1"/>
          </p:cNvSpPr>
          <p:nvPr>
            <p:ph type="sldNum" idx="12"/>
          </p:nvPr>
        </p:nvSpPr>
        <p:spPr/>
        <p:txBody>
          <a:bodyPr/>
          <a:lstStyle/>
          <a:p>
            <a:pPr>
              <a:defRPr/>
            </a:pPr>
            <a:fld id="{0314B9FC-F7FA-4A5F-A68B-9084E75933A3}" type="slidenum">
              <a:rPr lang="en-US" altLang="en-US" smtClean="0"/>
              <a:pPr>
                <a:defRPr/>
              </a:pPr>
              <a:t>19</a:t>
            </a:fld>
            <a:endParaRPr lang="en-US" altLang="en-US" dirty="0"/>
          </a:p>
        </p:txBody>
      </p:sp>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210C90EB-00C8-4779-9B00-CC782DAA15B4}"/>
                  </a:ext>
                </a:extLst>
              </p:cNvPr>
              <p:cNvGraphicFramePr>
                <a:graphicFrameLocks noGrp="1"/>
              </p:cNvGraphicFramePr>
              <p:nvPr>
                <p:ph idx="4294967295"/>
              </p:nvPr>
            </p:nvGraphicFramePr>
            <p:xfrm>
              <a:off x="2570162" y="1843123"/>
              <a:ext cx="6858000" cy="2188084"/>
            </p:xfrm>
            <a:graphic>
              <a:graphicData uri="http://schemas.openxmlformats.org/drawingml/2006/table">
                <a:tbl>
                  <a:tblPr firstRow="1" bandRow="1">
                    <a:tableStyleId>{93296810-A885-4BE3-A3E7-6D5BEEA58F35}</a:tableStyleId>
                  </a:tblPr>
                  <a:tblGrid>
                    <a:gridCol w="1538698">
                      <a:extLst>
                        <a:ext uri="{9D8B030D-6E8A-4147-A177-3AD203B41FA5}">
                          <a16:colId xmlns:a16="http://schemas.microsoft.com/office/drawing/2014/main" val="3090783893"/>
                        </a:ext>
                      </a:extLst>
                    </a:gridCol>
                    <a:gridCol w="4041282">
                      <a:extLst>
                        <a:ext uri="{9D8B030D-6E8A-4147-A177-3AD203B41FA5}">
                          <a16:colId xmlns:a16="http://schemas.microsoft.com/office/drawing/2014/main" val="403654874"/>
                        </a:ext>
                      </a:extLst>
                    </a:gridCol>
                    <a:gridCol w="1278020">
                      <a:extLst>
                        <a:ext uri="{9D8B030D-6E8A-4147-A177-3AD203B41FA5}">
                          <a16:colId xmlns:a16="http://schemas.microsoft.com/office/drawing/2014/main" val="2457136414"/>
                        </a:ext>
                      </a:extLst>
                    </a:gridCol>
                  </a:tblGrid>
                  <a:tr h="852756">
                    <a:tc gridSpan="3">
                      <a:txBody>
                        <a:bodyPr/>
                        <a:lstStyle/>
                        <a:p>
                          <a:pPr/>
                          <a14:m>
                            <m:oMathPara xmlns:m="http://schemas.openxmlformats.org/officeDocument/2006/math">
                              <m:oMathParaPr>
                                <m:jc m:val="left"/>
                              </m:oMathParaPr>
                              <m:oMath xmlns:m="http://schemas.openxmlformats.org/officeDocument/2006/math">
                                <m:r>
                                  <a:rPr lang="en-IN" b="0" i="1" smtClean="0">
                                    <a:solidFill>
                                      <a:schemeClr val="tx1"/>
                                    </a:solidFill>
                                    <a:latin typeface="Cambria Math" panose="02040503050406030204" pitchFamily="18" charset="0"/>
                                  </a:rPr>
                                  <m:t>𝑇</m:t>
                                </m:r>
                                <m:d>
                                  <m:dPr>
                                    <m:ctrlPr>
                                      <a:rPr lang="en-IN" b="0" i="1" smtClean="0">
                                        <a:solidFill>
                                          <a:schemeClr val="tx1"/>
                                        </a:solidFill>
                                        <a:latin typeface="Cambria Math" panose="02040503050406030204" pitchFamily="18" charset="0"/>
                                      </a:rPr>
                                    </m:ctrlPr>
                                  </m:dPr>
                                  <m:e>
                                    <m:r>
                                      <a:rPr lang="en-IN" b="0" i="1" smtClean="0">
                                        <a:solidFill>
                                          <a:schemeClr val="tx1"/>
                                        </a:solidFill>
                                        <a:latin typeface="Cambria Math" panose="02040503050406030204" pitchFamily="18" charset="0"/>
                                      </a:rPr>
                                      <m:t>𝑛</m:t>
                                    </m:r>
                                  </m:e>
                                </m:d>
                                <m:r>
                                  <a:rPr lang="en-IN" b="0" i="1" smtClean="0">
                                    <a:solidFill>
                                      <a:schemeClr val="tx1"/>
                                    </a:solidFill>
                                    <a:latin typeface="Cambria Math" panose="02040503050406030204" pitchFamily="18" charset="0"/>
                                  </a:rPr>
                                  <m:t>=</m:t>
                                </m:r>
                                <m:r>
                                  <a:rPr lang="en-IN" b="1" i="1" smtClean="0">
                                    <a:solidFill>
                                      <a:schemeClr val="tx1"/>
                                    </a:solidFill>
                                    <a:latin typeface="Cambria Math" panose="02040503050406030204" pitchFamily="18" charset="0"/>
                                  </a:rPr>
                                  <m:t>𝒂</m:t>
                                </m:r>
                                <m:r>
                                  <a:rPr lang="en-IN" b="0" i="1" smtClean="0">
                                    <a:solidFill>
                                      <a:schemeClr val="tx1"/>
                                    </a:solidFill>
                                    <a:latin typeface="Cambria Math" panose="02040503050406030204" pitchFamily="18" charset="0"/>
                                  </a:rPr>
                                  <m:t>𝑇</m:t>
                                </m:r>
                                <m:d>
                                  <m:dPr>
                                    <m:ctrlPr>
                                      <a:rPr lang="en-IN" b="0" i="1" smtClean="0">
                                        <a:solidFill>
                                          <a:schemeClr val="tx1"/>
                                        </a:solidFill>
                                        <a:latin typeface="Cambria Math" panose="02040503050406030204" pitchFamily="18" charset="0"/>
                                      </a:rPr>
                                    </m:ctrlPr>
                                  </m:dPr>
                                  <m:e>
                                    <m:r>
                                      <a:rPr lang="en-IN" b="0" i="1" smtClean="0">
                                        <a:solidFill>
                                          <a:schemeClr val="tx1"/>
                                        </a:solidFill>
                                        <a:latin typeface="Cambria Math" panose="02040503050406030204" pitchFamily="18" charset="0"/>
                                      </a:rPr>
                                      <m:t>𝑛</m:t>
                                    </m:r>
                                    <m:r>
                                      <a:rPr lang="en-IN" b="0" i="1" smtClean="0">
                                        <a:solidFill>
                                          <a:schemeClr val="tx1"/>
                                        </a:solidFill>
                                        <a:latin typeface="Cambria Math" panose="02040503050406030204" pitchFamily="18" charset="0"/>
                                      </a:rPr>
                                      <m:t>−</m:t>
                                    </m:r>
                                    <m:r>
                                      <a:rPr lang="en-IN" b="1" i="1" smtClean="0">
                                        <a:solidFill>
                                          <a:schemeClr val="tx1"/>
                                        </a:solidFill>
                                        <a:latin typeface="Cambria Math" panose="02040503050406030204" pitchFamily="18" charset="0"/>
                                      </a:rPr>
                                      <m:t>𝒃</m:t>
                                    </m:r>
                                  </m:e>
                                </m:d>
                                <m:r>
                                  <a:rPr lang="en-IN" b="0" i="1" smtClean="0">
                                    <a:solidFill>
                                      <a:schemeClr val="tx1"/>
                                    </a:solidFill>
                                    <a:latin typeface="Cambria Math" panose="02040503050406030204" pitchFamily="18" charset="0"/>
                                  </a:rPr>
                                  <m:t>+</m:t>
                                </m:r>
                                <m:r>
                                  <a:rPr lang="en-IN" b="1" i="1" smtClean="0">
                                    <a:solidFill>
                                      <a:schemeClr val="tx1"/>
                                    </a:solidFill>
                                    <a:latin typeface="Cambria Math" panose="02040503050406030204" pitchFamily="18" charset="0"/>
                                  </a:rPr>
                                  <m:t>𝒇</m:t>
                                </m:r>
                                <m:d>
                                  <m:dPr>
                                    <m:ctrlPr>
                                      <a:rPr lang="en-IN" b="1" i="1" smtClean="0">
                                        <a:solidFill>
                                          <a:schemeClr val="tx1"/>
                                        </a:solidFill>
                                        <a:latin typeface="Cambria Math" panose="02040503050406030204" pitchFamily="18" charset="0"/>
                                      </a:rPr>
                                    </m:ctrlPr>
                                  </m:dPr>
                                  <m:e>
                                    <m:r>
                                      <a:rPr lang="en-IN" b="1" i="1" smtClean="0">
                                        <a:solidFill>
                                          <a:schemeClr val="tx1"/>
                                        </a:solidFill>
                                        <a:latin typeface="Cambria Math" panose="02040503050406030204" pitchFamily="18" charset="0"/>
                                      </a:rPr>
                                      <m:t>𝒏</m:t>
                                    </m:r>
                                  </m:e>
                                </m:d>
                              </m:oMath>
                            </m:oMathPara>
                          </a14:m>
                          <a:endParaRPr lang="en-IN" b="1" dirty="0">
                            <a:solidFill>
                              <a:schemeClr val="tx1"/>
                            </a:solidFill>
                          </a:endParaRPr>
                        </a:p>
                        <a:p>
                          <a:endParaRPr lang="en-IN" b="1" dirty="0">
                            <a:solidFill>
                              <a:schemeClr val="tx1"/>
                            </a:solidFill>
                          </a:endParaRPr>
                        </a:p>
                        <a:p>
                          <a:r>
                            <a:rPr lang="en-IN" dirty="0">
                              <a:solidFill>
                                <a:schemeClr val="tx1"/>
                              </a:solidFill>
                            </a:rPr>
                            <a:t>Where </a:t>
                          </a:r>
                          <a14:m>
                            <m:oMath xmlns:m="http://schemas.openxmlformats.org/officeDocument/2006/math">
                              <m:r>
                                <a:rPr lang="en-IN" b="0" i="1" smtClean="0">
                                  <a:solidFill>
                                    <a:schemeClr val="tx1"/>
                                  </a:solidFill>
                                  <a:latin typeface="Cambria Math" panose="02040503050406030204" pitchFamily="18" charset="0"/>
                                </a:rPr>
                                <m:t>𝑎</m:t>
                              </m:r>
                              <m:r>
                                <a:rPr lang="en-IN" b="0" i="1" smtClean="0">
                                  <a:solidFill>
                                    <a:schemeClr val="tx1"/>
                                  </a:solidFill>
                                  <a:latin typeface="Cambria Math" panose="02040503050406030204" pitchFamily="18" charset="0"/>
                                  <a:ea typeface="Cambria Math" panose="02040503050406030204" pitchFamily="18" charset="0"/>
                                </a:rPr>
                                <m:t>&gt;0, </m:t>
                              </m:r>
                              <m:r>
                                <a:rPr lang="en-IN" b="0" i="1" smtClean="0">
                                  <a:solidFill>
                                    <a:schemeClr val="tx1"/>
                                  </a:solidFill>
                                  <a:latin typeface="Cambria Math" panose="02040503050406030204" pitchFamily="18" charset="0"/>
                                  <a:ea typeface="Cambria Math" panose="02040503050406030204" pitchFamily="18" charset="0"/>
                                </a:rPr>
                                <m:t>𝑏</m:t>
                              </m:r>
                              <m:r>
                                <a:rPr lang="en-IN" b="0" i="1" smtClean="0">
                                  <a:solidFill>
                                    <a:schemeClr val="tx1"/>
                                  </a:solidFill>
                                  <a:latin typeface="Cambria Math" panose="02040503050406030204" pitchFamily="18" charset="0"/>
                                  <a:ea typeface="Cambria Math" panose="02040503050406030204" pitchFamily="18" charset="0"/>
                                </a:rPr>
                                <m:t>&gt;0      </m:t>
                              </m:r>
                              <m:r>
                                <a:rPr lang="en-IN" b="0" i="1" smtClean="0">
                                  <a:solidFill>
                                    <a:schemeClr val="tx1"/>
                                  </a:solidFill>
                                  <a:latin typeface="Cambria Math" panose="02040503050406030204" pitchFamily="18" charset="0"/>
                                  <a:ea typeface="Cambria Math" panose="02040503050406030204" pitchFamily="18" charset="0"/>
                                </a:rPr>
                                <m:t>𝑓</m:t>
                              </m:r>
                              <m:d>
                                <m:dPr>
                                  <m:ctrlPr>
                                    <a:rPr lang="en-IN" b="0" i="1" smtClean="0">
                                      <a:solidFill>
                                        <a:schemeClr val="tx1"/>
                                      </a:solidFill>
                                      <a:latin typeface="Cambria Math" panose="02040503050406030204" pitchFamily="18" charset="0"/>
                                      <a:ea typeface="Cambria Math" panose="02040503050406030204" pitchFamily="18" charset="0"/>
                                    </a:rPr>
                                  </m:ctrlPr>
                                </m:dPr>
                                <m:e>
                                  <m:r>
                                    <a:rPr lang="en-IN" b="0" i="1" smtClean="0">
                                      <a:solidFill>
                                        <a:schemeClr val="tx1"/>
                                      </a:solidFill>
                                      <a:latin typeface="Cambria Math" panose="02040503050406030204" pitchFamily="18" charset="0"/>
                                      <a:ea typeface="Cambria Math" panose="02040503050406030204" pitchFamily="18" charset="0"/>
                                    </a:rPr>
                                    <m:t>𝑛</m:t>
                                  </m:r>
                                </m:e>
                              </m:d>
                              <m:r>
                                <a:rPr lang="en-IN" b="0" i="1" smtClean="0">
                                  <a:solidFill>
                                    <a:schemeClr val="tx1"/>
                                  </a:solidFill>
                                  <a:latin typeface="Cambria Math" panose="02040503050406030204" pitchFamily="18" charset="0"/>
                                  <a:ea typeface="Cambria Math" panose="02040503050406030204" pitchFamily="18" charset="0"/>
                                </a:rPr>
                                <m:t>=</m:t>
                              </m:r>
                              <m:r>
                                <m:rPr>
                                  <m:sty m:val="p"/>
                                </m:rPr>
                                <a:rPr lang="en-IN" b="0" i="0" smtClean="0">
                                  <a:solidFill>
                                    <a:schemeClr val="tx1"/>
                                  </a:solidFill>
                                  <a:latin typeface="Cambria Math" panose="02040503050406030204" pitchFamily="18" charset="0"/>
                                  <a:ea typeface="Cambria Math" panose="02040503050406030204" pitchFamily="18" charset="0"/>
                                </a:rPr>
                                <m:t>O</m:t>
                              </m:r>
                              <m:d>
                                <m:dPr>
                                  <m:ctrlPr>
                                    <a:rPr lang="en-IN" b="0" i="1" smtClean="0">
                                      <a:solidFill>
                                        <a:schemeClr val="tx1"/>
                                      </a:solidFill>
                                      <a:latin typeface="Cambria Math" panose="02040503050406030204" pitchFamily="18" charset="0"/>
                                      <a:ea typeface="Cambria Math" panose="02040503050406030204" pitchFamily="18" charset="0"/>
                                    </a:rPr>
                                  </m:ctrlPr>
                                </m:dPr>
                                <m:e>
                                  <m:sSup>
                                    <m:sSupPr>
                                      <m:ctrlPr>
                                        <a:rPr lang="en-IN" b="0" i="1" smtClean="0">
                                          <a:solidFill>
                                            <a:schemeClr val="tx1"/>
                                          </a:solidFill>
                                          <a:latin typeface="Cambria Math" panose="02040503050406030204" pitchFamily="18" charset="0"/>
                                          <a:ea typeface="Cambria Math" panose="02040503050406030204" pitchFamily="18" charset="0"/>
                                        </a:rPr>
                                      </m:ctrlPr>
                                    </m:sSupPr>
                                    <m:e>
                                      <m:r>
                                        <a:rPr lang="en-IN" b="0" i="1" smtClean="0">
                                          <a:solidFill>
                                            <a:schemeClr val="tx1"/>
                                          </a:solidFill>
                                          <a:latin typeface="Cambria Math" panose="02040503050406030204" pitchFamily="18" charset="0"/>
                                          <a:ea typeface="Cambria Math" panose="02040503050406030204" pitchFamily="18" charset="0"/>
                                        </a:rPr>
                                        <m:t>𝑛</m:t>
                                      </m:r>
                                    </m:e>
                                    <m:sup>
                                      <m:r>
                                        <a:rPr lang="en-IN" b="0" i="1" smtClean="0">
                                          <a:solidFill>
                                            <a:schemeClr val="tx1"/>
                                          </a:solidFill>
                                          <a:latin typeface="Cambria Math" panose="02040503050406030204" pitchFamily="18" charset="0"/>
                                          <a:ea typeface="Cambria Math" panose="02040503050406030204" pitchFamily="18" charset="0"/>
                                        </a:rPr>
                                        <m:t>𝑘</m:t>
                                      </m:r>
                                    </m:sup>
                                  </m:sSup>
                                </m:e>
                              </m:d>
                              <m:r>
                                <a:rPr lang="en-IN" b="0" i="0" smtClean="0">
                                  <a:solidFill>
                                    <a:schemeClr val="tx1"/>
                                  </a:solidFill>
                                  <a:latin typeface="Cambria Math" panose="02040503050406030204" pitchFamily="18" charset="0"/>
                                  <a:ea typeface="Cambria Math" panose="02040503050406030204" pitchFamily="18" charset="0"/>
                                </a:rPr>
                                <m:t>    </m:t>
                              </m:r>
                              <m:r>
                                <m:rPr>
                                  <m:sty m:val="p"/>
                                </m:rPr>
                                <a:rPr lang="en-IN" b="0" i="0" smtClean="0">
                                  <a:solidFill>
                                    <a:schemeClr val="tx1"/>
                                  </a:solidFill>
                                  <a:latin typeface="Cambria Math" panose="02040503050406030204" pitchFamily="18" charset="0"/>
                                  <a:ea typeface="Cambria Math" panose="02040503050406030204" pitchFamily="18" charset="0"/>
                                </a:rPr>
                                <m:t>and</m:t>
                              </m:r>
                              <m:r>
                                <a:rPr lang="en-IN" b="0" i="0" smtClean="0">
                                  <a:solidFill>
                                    <a:schemeClr val="tx1"/>
                                  </a:solidFill>
                                  <a:latin typeface="Cambria Math" panose="02040503050406030204" pitchFamily="18" charset="0"/>
                                  <a:ea typeface="Cambria Math" panose="02040503050406030204" pitchFamily="18" charset="0"/>
                                </a:rPr>
                                <m:t>  </m:t>
                              </m:r>
                              <m:r>
                                <a:rPr lang="en-IN" b="0" i="1" smtClean="0">
                                  <a:solidFill>
                                    <a:schemeClr val="tx1"/>
                                  </a:solidFill>
                                  <a:latin typeface="Cambria Math" panose="02040503050406030204" pitchFamily="18" charset="0"/>
                                </a:rPr>
                                <m:t>𝑘</m:t>
                              </m:r>
                              <m:r>
                                <a:rPr lang="en-IN" b="0" i="1" smtClean="0">
                                  <a:solidFill>
                                    <a:schemeClr val="tx1"/>
                                  </a:solidFill>
                                  <a:latin typeface="Cambria Math" panose="02040503050406030204" pitchFamily="18" charset="0"/>
                                  <a:ea typeface="Cambria Math" panose="02040503050406030204" pitchFamily="18" charset="0"/>
                                </a:rPr>
                                <m:t>≥0</m:t>
                              </m:r>
                            </m:oMath>
                          </a14:m>
                          <a:endParaRPr lang="en-IN" dirty="0">
                            <a:solidFill>
                              <a:schemeClr val="tx1"/>
                            </a:solidFill>
                          </a:endParaRPr>
                        </a:p>
                      </a:txBody>
                      <a:tcPr>
                        <a:solidFill>
                          <a:schemeClr val="accent2">
                            <a:lumMod val="20000"/>
                            <a:lumOff val="80000"/>
                          </a:schemeClr>
                        </a:solidFill>
                      </a:tcPr>
                    </a:tc>
                    <a:tc hMerge="1">
                      <a:txBody>
                        <a:bodyPr/>
                        <a:lstStyle/>
                        <a:p>
                          <a:endParaRPr lang="en-IN" dirty="0"/>
                        </a:p>
                      </a:txBody>
                      <a:tcPr>
                        <a:solidFill>
                          <a:schemeClr val="accent2">
                            <a:lumMod val="20000"/>
                            <a:lumOff val="80000"/>
                          </a:schemeClr>
                        </a:solidFill>
                      </a:tcPr>
                    </a:tc>
                    <a:tc hMerge="1">
                      <a:txBody>
                        <a:bodyPr/>
                        <a:lstStyle/>
                        <a:p>
                          <a:pPr algn="l"/>
                          <a:endParaRPr lang="en-IN" dirty="0"/>
                        </a:p>
                      </a:txBody>
                      <a:tcPr>
                        <a:solidFill>
                          <a:schemeClr val="accent2">
                            <a:lumMod val="20000"/>
                            <a:lumOff val="80000"/>
                          </a:schemeClr>
                        </a:solidFill>
                      </a:tcPr>
                    </a:tc>
                    <a:extLst>
                      <a:ext uri="{0D108BD9-81ED-4DB2-BD59-A6C34878D82A}">
                        <a16:rowId xmlns:a16="http://schemas.microsoft.com/office/drawing/2014/main" val="4171856245"/>
                      </a:ext>
                    </a:extLst>
                  </a:tr>
                  <a:tr h="432752">
                    <a:tc>
                      <a:txBody>
                        <a:bodyPr/>
                        <a:lstStyle/>
                        <a:p>
                          <a:r>
                            <a:rPr lang="en-IN" dirty="0"/>
                            <a:t>Case1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𝑖𝑓</m:t>
                                </m:r>
                                <m:r>
                                  <a:rPr lang="en-IN" b="0" i="1" smtClean="0">
                                    <a:latin typeface="Cambria Math" panose="02040503050406030204" pitchFamily="18" charset="0"/>
                                  </a:rPr>
                                  <m:t> </m:t>
                                </m:r>
                                <m:r>
                                  <a:rPr lang="en-IN" b="0" i="1" smtClean="0">
                                    <a:latin typeface="Cambria Math" panose="02040503050406030204" pitchFamily="18" charset="0"/>
                                  </a:rPr>
                                  <m:t>𝑎</m:t>
                                </m:r>
                                <m:r>
                                  <a:rPr lang="en-IN" b="0" i="1" smtClean="0">
                                    <a:latin typeface="Cambria Math" panose="02040503050406030204" pitchFamily="18" charset="0"/>
                                  </a:rPr>
                                  <m:t>&lt;1,  </m:t>
                                </m:r>
                                <m:r>
                                  <a:rPr lang="en-IN" b="0" i="1" smtClean="0">
                                    <a:latin typeface="Cambria Math" panose="02040503050406030204" pitchFamily="18" charset="0"/>
                                  </a:rPr>
                                  <m:t>𝑇</m:t>
                                </m:r>
                                <m:d>
                                  <m:dPr>
                                    <m:ctrlPr>
                                      <a:rPr lang="en-IN" b="0" i="1" smtClean="0">
                                        <a:latin typeface="Cambria Math" panose="02040503050406030204" pitchFamily="18" charset="0"/>
                                      </a:rPr>
                                    </m:ctrlPr>
                                  </m:dPr>
                                  <m:e>
                                    <m:r>
                                      <a:rPr lang="en-IN" b="0" i="1" smtClean="0">
                                        <a:latin typeface="Cambria Math" panose="02040503050406030204" pitchFamily="18" charset="0"/>
                                      </a:rPr>
                                      <m:t>𝑛</m:t>
                                    </m:r>
                                  </m:e>
                                </m:d>
                                <m:r>
                                  <a:rPr lang="en-IN" b="0" i="1" smtClean="0">
                                    <a:latin typeface="Cambria Math" panose="02040503050406030204" pitchFamily="18" charset="0"/>
                                  </a:rPr>
                                  <m:t>=</m:t>
                                </m:r>
                                <m:r>
                                  <a:rPr lang="en-IN" b="0" i="1" smtClean="0">
                                    <a:latin typeface="Cambria Math" panose="02040503050406030204" pitchFamily="18" charset="0"/>
                                  </a:rPr>
                                  <m:t>𝑂</m:t>
                                </m:r>
                                <m:r>
                                  <a:rPr lang="en-IN" b="0" i="1" smtClean="0">
                                    <a:latin typeface="Cambria Math" panose="02040503050406030204" pitchFamily="18" charset="0"/>
                                  </a:rPr>
                                  <m:t>(</m:t>
                                </m:r>
                                <m:r>
                                  <a:rPr lang="en-IN" b="0" i="1" smtClean="0">
                                    <a:latin typeface="Cambria Math" panose="02040503050406030204" pitchFamily="18" charset="0"/>
                                  </a:rPr>
                                  <m:t>𝑓</m:t>
                                </m:r>
                                <m:d>
                                  <m:dPr>
                                    <m:ctrlPr>
                                      <a:rPr lang="en-IN" b="0" i="1" smtClean="0">
                                        <a:latin typeface="Cambria Math" panose="02040503050406030204" pitchFamily="18" charset="0"/>
                                      </a:rPr>
                                    </m:ctrlPr>
                                  </m:dPr>
                                  <m:e>
                                    <m:r>
                                      <a:rPr lang="en-IN" b="0" i="1" smtClean="0">
                                        <a:latin typeface="Cambria Math" panose="02040503050406030204" pitchFamily="18" charset="0"/>
                                      </a:rPr>
                                      <m:t>𝑛</m:t>
                                    </m:r>
                                  </m:e>
                                </m:d>
                                <m:r>
                                  <a:rPr lang="en-IN" b="0" i="1" smtClean="0">
                                    <a:latin typeface="Cambria Math" panose="02040503050406030204" pitchFamily="18" charset="0"/>
                                  </a:rPr>
                                  <m:t>)</m:t>
                                </m:r>
                              </m:oMath>
                            </m:oMathPara>
                          </a14:m>
                          <a:endParaRPr lang="en-IN" dirty="0"/>
                        </a:p>
                      </a:txBody>
                      <a:tcPr/>
                    </a:tc>
                    <a:tc>
                      <a:txBody>
                        <a:bodyPr/>
                        <a:lstStyle/>
                        <a:p>
                          <a:endParaRPr lang="en-IN" dirty="0"/>
                        </a:p>
                        <a:p>
                          <a:pPr algn="l"/>
                          <a:endParaRPr lang="en-IN" dirty="0"/>
                        </a:p>
                      </a:txBody>
                      <a:tcPr/>
                    </a:tc>
                    <a:extLst>
                      <a:ext uri="{0D108BD9-81ED-4DB2-BD59-A6C34878D82A}">
                        <a16:rowId xmlns:a16="http://schemas.microsoft.com/office/drawing/2014/main" val="1724525450"/>
                      </a:ext>
                    </a:extLst>
                  </a:tr>
                  <a:tr h="448548">
                    <a:tc>
                      <a:txBody>
                        <a:bodyPr/>
                        <a:lstStyle/>
                        <a:p>
                          <a:r>
                            <a:rPr lang="en-IN" dirty="0"/>
                            <a:t>Case2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𝑖𝑓</m:t>
                                </m:r>
                                <m:r>
                                  <a:rPr lang="en-IN" b="0" i="1" smtClean="0">
                                    <a:latin typeface="Cambria Math" panose="02040503050406030204" pitchFamily="18" charset="0"/>
                                  </a:rPr>
                                  <m:t> </m:t>
                                </m:r>
                                <m:r>
                                  <a:rPr lang="en-IN" b="0" i="1" smtClean="0">
                                    <a:latin typeface="Cambria Math" panose="02040503050406030204" pitchFamily="18" charset="0"/>
                                  </a:rPr>
                                  <m:t>𝑎</m:t>
                                </m:r>
                                <m:r>
                                  <a:rPr lang="en-IN" b="0" i="1" smtClean="0">
                                    <a:latin typeface="Cambria Math" panose="02040503050406030204" pitchFamily="18" charset="0"/>
                                  </a:rPr>
                                  <m:t>=1,  </m:t>
                                </m:r>
                                <m:r>
                                  <a:rPr lang="en-IN" b="0" i="1" smtClean="0">
                                    <a:latin typeface="Cambria Math" panose="02040503050406030204" pitchFamily="18" charset="0"/>
                                  </a:rPr>
                                  <m:t>𝑇</m:t>
                                </m:r>
                                <m:d>
                                  <m:dPr>
                                    <m:ctrlPr>
                                      <a:rPr lang="en-IN" b="0" i="1" smtClean="0">
                                        <a:latin typeface="Cambria Math" panose="02040503050406030204" pitchFamily="18" charset="0"/>
                                      </a:rPr>
                                    </m:ctrlPr>
                                  </m:dPr>
                                  <m:e>
                                    <m:r>
                                      <a:rPr lang="en-IN" b="0" i="1" smtClean="0">
                                        <a:latin typeface="Cambria Math" panose="02040503050406030204" pitchFamily="18" charset="0"/>
                                      </a:rPr>
                                      <m:t>𝑛</m:t>
                                    </m:r>
                                  </m:e>
                                </m:d>
                                <m:r>
                                  <a:rPr lang="en-IN" b="0" i="1" smtClean="0">
                                    <a:latin typeface="Cambria Math" panose="02040503050406030204" pitchFamily="18" charset="0"/>
                                  </a:rPr>
                                  <m:t>=</m:t>
                                </m:r>
                                <m:r>
                                  <a:rPr lang="en-IN" b="0" i="1" smtClean="0">
                                    <a:latin typeface="Cambria Math" panose="02040503050406030204" pitchFamily="18" charset="0"/>
                                  </a:rPr>
                                  <m:t>𝑂</m:t>
                                </m:r>
                                <m:r>
                                  <a:rPr lang="en-IN" b="0" i="1" smtClean="0">
                                    <a:latin typeface="Cambria Math" panose="02040503050406030204" pitchFamily="18" charset="0"/>
                                  </a:rPr>
                                  <m:t>(</m:t>
                                </m:r>
                                <m:r>
                                  <a:rPr lang="en-IN" b="0" i="1" smtClean="0">
                                    <a:latin typeface="Cambria Math" panose="02040503050406030204" pitchFamily="18" charset="0"/>
                                  </a:rPr>
                                  <m:t>𝑛</m:t>
                                </m:r>
                                <m:r>
                                  <a:rPr lang="en-IN" b="0" i="1" smtClean="0">
                                    <a:latin typeface="Cambria Math" panose="02040503050406030204" pitchFamily="18" charset="0"/>
                                  </a:rPr>
                                  <m:t>.</m:t>
                                </m:r>
                                <m:r>
                                  <a:rPr lang="en-IN" b="0" i="1" smtClean="0">
                                    <a:latin typeface="Cambria Math" panose="02040503050406030204" pitchFamily="18" charset="0"/>
                                  </a:rPr>
                                  <m:t>𝑓</m:t>
                                </m:r>
                                <m:d>
                                  <m:dPr>
                                    <m:ctrlPr>
                                      <a:rPr lang="en-IN" b="0" i="1" smtClean="0">
                                        <a:latin typeface="Cambria Math" panose="02040503050406030204" pitchFamily="18" charset="0"/>
                                      </a:rPr>
                                    </m:ctrlPr>
                                  </m:dPr>
                                  <m:e>
                                    <m:r>
                                      <a:rPr lang="en-IN" b="0" i="1" smtClean="0">
                                        <a:latin typeface="Cambria Math" panose="02040503050406030204" pitchFamily="18" charset="0"/>
                                      </a:rPr>
                                      <m:t>𝑛</m:t>
                                    </m:r>
                                  </m:e>
                                </m:d>
                                <m:r>
                                  <a:rPr lang="en-IN" b="0" i="1" smtClean="0">
                                    <a:latin typeface="Cambria Math" panose="02040503050406030204" pitchFamily="18" charset="0"/>
                                  </a:rPr>
                                  <m:t>)</m:t>
                                </m:r>
                              </m:oMath>
                            </m:oMathPara>
                          </a14:m>
                          <a:endParaRPr lang="en-IN" dirty="0"/>
                        </a:p>
                      </a:txBody>
                      <a:tcPr/>
                    </a:tc>
                    <a:tc>
                      <a:txBody>
                        <a:bodyPr/>
                        <a:lstStyle/>
                        <a:p>
                          <a:endParaRPr lang="en-IN" dirty="0"/>
                        </a:p>
                      </a:txBody>
                      <a:tcPr/>
                    </a:tc>
                    <a:extLst>
                      <a:ext uri="{0D108BD9-81ED-4DB2-BD59-A6C34878D82A}">
                        <a16:rowId xmlns:a16="http://schemas.microsoft.com/office/drawing/2014/main" val="3102111449"/>
                      </a:ext>
                    </a:extLst>
                  </a:tr>
                  <a:tr h="368620">
                    <a:tc>
                      <a:txBody>
                        <a:bodyPr/>
                        <a:lstStyle/>
                        <a:p>
                          <a:r>
                            <a:rPr lang="en-IN" dirty="0"/>
                            <a:t>Case3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𝑖𝑓</m:t>
                                </m:r>
                                <m:r>
                                  <a:rPr lang="en-IN" b="0" i="1" smtClean="0">
                                    <a:latin typeface="Cambria Math" panose="02040503050406030204" pitchFamily="18" charset="0"/>
                                  </a:rPr>
                                  <m:t> </m:t>
                                </m:r>
                                <m:r>
                                  <a:rPr lang="en-IN" b="0" i="1" smtClean="0">
                                    <a:latin typeface="Cambria Math" panose="02040503050406030204" pitchFamily="18" charset="0"/>
                                  </a:rPr>
                                  <m:t>𝑎</m:t>
                                </m:r>
                                <m:r>
                                  <a:rPr lang="en-IN" b="0" i="1" smtClean="0">
                                    <a:latin typeface="Cambria Math" panose="02040503050406030204" pitchFamily="18" charset="0"/>
                                  </a:rPr>
                                  <m:t>&gt;1,  </m:t>
                                </m:r>
                                <m:r>
                                  <a:rPr lang="en-IN" b="0" i="1" smtClean="0">
                                    <a:latin typeface="Cambria Math" panose="02040503050406030204" pitchFamily="18" charset="0"/>
                                  </a:rPr>
                                  <m:t>𝑇</m:t>
                                </m:r>
                                <m:d>
                                  <m:dPr>
                                    <m:ctrlPr>
                                      <a:rPr lang="en-IN" b="0" i="1" smtClean="0">
                                        <a:latin typeface="Cambria Math" panose="02040503050406030204" pitchFamily="18" charset="0"/>
                                      </a:rPr>
                                    </m:ctrlPr>
                                  </m:dPr>
                                  <m:e>
                                    <m:r>
                                      <a:rPr lang="en-IN" b="0" i="1" smtClean="0">
                                        <a:latin typeface="Cambria Math" panose="02040503050406030204" pitchFamily="18" charset="0"/>
                                      </a:rPr>
                                      <m:t>𝑛</m:t>
                                    </m:r>
                                  </m:e>
                                </m:d>
                                <m:r>
                                  <a:rPr lang="en-IN" b="0" i="1" smtClean="0">
                                    <a:latin typeface="Cambria Math" panose="02040503050406030204" pitchFamily="18" charset="0"/>
                                  </a:rPr>
                                  <m:t>=</m:t>
                                </m:r>
                                <m:r>
                                  <a:rPr lang="en-IN" b="0" i="1" smtClean="0">
                                    <a:latin typeface="Cambria Math" panose="02040503050406030204" pitchFamily="18" charset="0"/>
                                  </a:rPr>
                                  <m:t>𝑂</m:t>
                                </m:r>
                                <m:r>
                                  <a:rPr lang="en-IN" b="0" i="1" smtClean="0">
                                    <a:latin typeface="Cambria Math" panose="02040503050406030204" pitchFamily="18" charset="0"/>
                                  </a:rPr>
                                  <m:t>(</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𝑎</m:t>
                                    </m:r>
                                  </m:e>
                                  <m:sup>
                                    <m:f>
                                      <m:fPr>
                                        <m:type m:val="skw"/>
                                        <m:ctrlPr>
                                          <a:rPr lang="en-IN" b="0" i="1" smtClean="0">
                                            <a:latin typeface="Cambria Math" panose="02040503050406030204" pitchFamily="18" charset="0"/>
                                          </a:rPr>
                                        </m:ctrlPr>
                                      </m:fPr>
                                      <m:num>
                                        <m:r>
                                          <a:rPr lang="en-IN" b="0" i="1" smtClean="0">
                                            <a:latin typeface="Cambria Math" panose="02040503050406030204" pitchFamily="18" charset="0"/>
                                          </a:rPr>
                                          <m:t>𝑛</m:t>
                                        </m:r>
                                      </m:num>
                                      <m:den>
                                        <m:r>
                                          <a:rPr lang="en-IN" b="0" i="1" smtClean="0">
                                            <a:latin typeface="Cambria Math" panose="02040503050406030204" pitchFamily="18" charset="0"/>
                                          </a:rPr>
                                          <m:t>𝑏</m:t>
                                        </m:r>
                                      </m:den>
                                    </m:f>
                                  </m:sup>
                                </m:sSup>
                                <m:r>
                                  <a:rPr lang="en-IN" b="0" i="1" smtClean="0">
                                    <a:latin typeface="Cambria Math" panose="02040503050406030204" pitchFamily="18" charset="0"/>
                                  </a:rPr>
                                  <m:t>.</m:t>
                                </m:r>
                                <m:r>
                                  <a:rPr lang="en-IN" b="0" i="1" smtClean="0">
                                    <a:latin typeface="Cambria Math" panose="02040503050406030204" pitchFamily="18" charset="0"/>
                                  </a:rPr>
                                  <m:t>𝑓</m:t>
                                </m:r>
                                <m:d>
                                  <m:dPr>
                                    <m:ctrlPr>
                                      <a:rPr lang="en-IN" b="0" i="1" smtClean="0">
                                        <a:latin typeface="Cambria Math" panose="02040503050406030204" pitchFamily="18" charset="0"/>
                                      </a:rPr>
                                    </m:ctrlPr>
                                  </m:dPr>
                                  <m:e>
                                    <m:r>
                                      <a:rPr lang="en-IN" b="0" i="1" smtClean="0">
                                        <a:latin typeface="Cambria Math" panose="02040503050406030204" pitchFamily="18" charset="0"/>
                                      </a:rPr>
                                      <m:t>𝑛</m:t>
                                    </m:r>
                                  </m:e>
                                </m:d>
                                <m:r>
                                  <a:rPr lang="en-IN" b="0" i="1" smtClean="0">
                                    <a:latin typeface="Cambria Math" panose="02040503050406030204" pitchFamily="18" charset="0"/>
                                  </a:rPr>
                                  <m:t>)</m:t>
                                </m:r>
                              </m:oMath>
                            </m:oMathPara>
                          </a14:m>
                          <a:endParaRPr lang="en-IN" dirty="0"/>
                        </a:p>
                      </a:txBody>
                      <a:tcPr/>
                    </a:tc>
                    <a:tc>
                      <a:txBody>
                        <a:bodyPr/>
                        <a:lstStyle/>
                        <a:p>
                          <a:endParaRPr lang="en-IN" dirty="0"/>
                        </a:p>
                      </a:txBody>
                      <a:tcPr/>
                    </a:tc>
                    <a:extLst>
                      <a:ext uri="{0D108BD9-81ED-4DB2-BD59-A6C34878D82A}">
                        <a16:rowId xmlns:a16="http://schemas.microsoft.com/office/drawing/2014/main" val="1020507120"/>
                      </a:ext>
                    </a:extLst>
                  </a:tr>
                </a:tbl>
              </a:graphicData>
            </a:graphic>
          </p:graphicFrame>
        </mc:Choice>
        <mc:Fallback xmlns="">
          <p:graphicFrame>
            <p:nvGraphicFramePr>
              <p:cNvPr id="5" name="Table 5">
                <a:extLst>
                  <a:ext uri="{FF2B5EF4-FFF2-40B4-BE49-F238E27FC236}">
                    <a16:creationId xmlns:a16="http://schemas.microsoft.com/office/drawing/2014/main" id="{210C90EB-00C8-4779-9B00-CC782DAA15B4}"/>
                  </a:ext>
                </a:extLst>
              </p:cNvPr>
              <p:cNvGraphicFramePr>
                <a:graphicFrameLocks noGrp="1"/>
              </p:cNvGraphicFramePr>
              <p:nvPr>
                <p:ph idx="4294967295"/>
              </p:nvPr>
            </p:nvGraphicFramePr>
            <p:xfrm>
              <a:off x="2570162" y="1843123"/>
              <a:ext cx="6858000" cy="2188084"/>
            </p:xfrm>
            <a:graphic>
              <a:graphicData uri="http://schemas.openxmlformats.org/drawingml/2006/table">
                <a:tbl>
                  <a:tblPr firstRow="1" bandRow="1">
                    <a:tableStyleId>{93296810-A885-4BE3-A3E7-6D5BEEA58F35}</a:tableStyleId>
                  </a:tblPr>
                  <a:tblGrid>
                    <a:gridCol w="1538698">
                      <a:extLst>
                        <a:ext uri="{9D8B030D-6E8A-4147-A177-3AD203B41FA5}">
                          <a16:colId xmlns:a16="http://schemas.microsoft.com/office/drawing/2014/main" val="3090783893"/>
                        </a:ext>
                      </a:extLst>
                    </a:gridCol>
                    <a:gridCol w="4041282">
                      <a:extLst>
                        <a:ext uri="{9D8B030D-6E8A-4147-A177-3AD203B41FA5}">
                          <a16:colId xmlns:a16="http://schemas.microsoft.com/office/drawing/2014/main" val="403654874"/>
                        </a:ext>
                      </a:extLst>
                    </a:gridCol>
                    <a:gridCol w="1278020">
                      <a:extLst>
                        <a:ext uri="{9D8B030D-6E8A-4147-A177-3AD203B41FA5}">
                          <a16:colId xmlns:a16="http://schemas.microsoft.com/office/drawing/2014/main" val="2457136414"/>
                        </a:ext>
                      </a:extLst>
                    </a:gridCol>
                  </a:tblGrid>
                  <a:tr h="852756">
                    <a:tc gridSpan="3">
                      <a:txBody>
                        <a:bodyPr/>
                        <a:lstStyle/>
                        <a:p>
                          <a:endParaRPr lang="en-US"/>
                        </a:p>
                      </a:txBody>
                      <a:tcPr>
                        <a:blipFill>
                          <a:blip r:embed="rId2"/>
                          <a:stretch>
                            <a:fillRect l="-89" t="-714" r="-355" b="-200714"/>
                          </a:stretch>
                        </a:blipFill>
                      </a:tcPr>
                    </a:tc>
                    <a:tc hMerge="1">
                      <a:txBody>
                        <a:bodyPr/>
                        <a:lstStyle/>
                        <a:p>
                          <a:endParaRPr lang="en-IN" dirty="0"/>
                        </a:p>
                      </a:txBody>
                      <a:tcPr>
                        <a:solidFill>
                          <a:schemeClr val="accent2">
                            <a:lumMod val="20000"/>
                            <a:lumOff val="80000"/>
                          </a:schemeClr>
                        </a:solidFill>
                      </a:tcPr>
                    </a:tc>
                    <a:tc hMerge="1">
                      <a:txBody>
                        <a:bodyPr/>
                        <a:lstStyle/>
                        <a:p>
                          <a:pPr algn="l"/>
                          <a:endParaRPr lang="en-IN" dirty="0"/>
                        </a:p>
                      </a:txBody>
                      <a:tcPr>
                        <a:solidFill>
                          <a:schemeClr val="accent2">
                            <a:lumMod val="20000"/>
                            <a:lumOff val="80000"/>
                          </a:schemeClr>
                        </a:solidFill>
                      </a:tcPr>
                    </a:tc>
                    <a:extLst>
                      <a:ext uri="{0D108BD9-81ED-4DB2-BD59-A6C34878D82A}">
                        <a16:rowId xmlns:a16="http://schemas.microsoft.com/office/drawing/2014/main" val="4171856245"/>
                      </a:ext>
                    </a:extLst>
                  </a:tr>
                  <a:tr h="518160">
                    <a:tc>
                      <a:txBody>
                        <a:bodyPr/>
                        <a:lstStyle/>
                        <a:p>
                          <a:r>
                            <a:rPr lang="en-IN" dirty="0"/>
                            <a:t>Case1</a:t>
                          </a:r>
                        </a:p>
                      </a:txBody>
                      <a:tcPr/>
                    </a:tc>
                    <a:tc>
                      <a:txBody>
                        <a:bodyPr/>
                        <a:lstStyle/>
                        <a:p>
                          <a:endParaRPr lang="en-US"/>
                        </a:p>
                      </a:txBody>
                      <a:tcPr>
                        <a:blipFill>
                          <a:blip r:embed="rId2"/>
                          <a:stretch>
                            <a:fillRect l="-38311" t="-163953" r="-32278" b="-226744"/>
                          </a:stretch>
                        </a:blipFill>
                      </a:tcPr>
                    </a:tc>
                    <a:tc>
                      <a:txBody>
                        <a:bodyPr/>
                        <a:lstStyle/>
                        <a:p>
                          <a:endParaRPr lang="en-IN" dirty="0"/>
                        </a:p>
                        <a:p>
                          <a:pPr algn="l"/>
                          <a:endParaRPr lang="en-IN" dirty="0"/>
                        </a:p>
                      </a:txBody>
                      <a:tcPr/>
                    </a:tc>
                    <a:extLst>
                      <a:ext uri="{0D108BD9-81ED-4DB2-BD59-A6C34878D82A}">
                        <a16:rowId xmlns:a16="http://schemas.microsoft.com/office/drawing/2014/main" val="1724525450"/>
                      </a:ext>
                    </a:extLst>
                  </a:tr>
                  <a:tr h="448548">
                    <a:tc>
                      <a:txBody>
                        <a:bodyPr/>
                        <a:lstStyle/>
                        <a:p>
                          <a:r>
                            <a:rPr lang="en-IN" dirty="0"/>
                            <a:t>Case2</a:t>
                          </a:r>
                        </a:p>
                      </a:txBody>
                      <a:tcPr/>
                    </a:tc>
                    <a:tc>
                      <a:txBody>
                        <a:bodyPr/>
                        <a:lstStyle/>
                        <a:p>
                          <a:endParaRPr lang="en-US"/>
                        </a:p>
                      </a:txBody>
                      <a:tcPr>
                        <a:blipFill>
                          <a:blip r:embed="rId2"/>
                          <a:stretch>
                            <a:fillRect l="-38311" t="-310959" r="-32278" b="-167123"/>
                          </a:stretch>
                        </a:blipFill>
                      </a:tcPr>
                    </a:tc>
                    <a:tc>
                      <a:txBody>
                        <a:bodyPr/>
                        <a:lstStyle/>
                        <a:p>
                          <a:endParaRPr lang="en-IN" dirty="0"/>
                        </a:p>
                      </a:txBody>
                      <a:tcPr/>
                    </a:tc>
                    <a:extLst>
                      <a:ext uri="{0D108BD9-81ED-4DB2-BD59-A6C34878D82A}">
                        <a16:rowId xmlns:a16="http://schemas.microsoft.com/office/drawing/2014/main" val="3102111449"/>
                      </a:ext>
                    </a:extLst>
                  </a:tr>
                  <a:tr h="368620">
                    <a:tc>
                      <a:txBody>
                        <a:bodyPr/>
                        <a:lstStyle/>
                        <a:p>
                          <a:r>
                            <a:rPr lang="en-IN" dirty="0"/>
                            <a:t>Case3</a:t>
                          </a:r>
                        </a:p>
                      </a:txBody>
                      <a:tcPr/>
                    </a:tc>
                    <a:tc>
                      <a:txBody>
                        <a:bodyPr/>
                        <a:lstStyle/>
                        <a:p>
                          <a:endParaRPr lang="en-US"/>
                        </a:p>
                      </a:txBody>
                      <a:tcPr>
                        <a:blipFill>
                          <a:blip r:embed="rId2"/>
                          <a:stretch>
                            <a:fillRect l="-38311" t="-491803" r="-32278" b="-100000"/>
                          </a:stretch>
                        </a:blipFill>
                      </a:tcPr>
                    </a:tc>
                    <a:tc>
                      <a:txBody>
                        <a:bodyPr/>
                        <a:lstStyle/>
                        <a:p>
                          <a:endParaRPr lang="en-IN" dirty="0"/>
                        </a:p>
                      </a:txBody>
                      <a:tcPr/>
                    </a:tc>
                    <a:extLst>
                      <a:ext uri="{0D108BD9-81ED-4DB2-BD59-A6C34878D82A}">
                        <a16:rowId xmlns:a16="http://schemas.microsoft.com/office/drawing/2014/main" val="102050712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Table 5">
                <a:extLst>
                  <a:ext uri="{FF2B5EF4-FFF2-40B4-BE49-F238E27FC236}">
                    <a16:creationId xmlns:a16="http://schemas.microsoft.com/office/drawing/2014/main" id="{72C30093-1311-4E59-99C3-19CDD1F57166}"/>
                  </a:ext>
                </a:extLst>
              </p:cNvPr>
              <p:cNvGraphicFramePr>
                <a:graphicFrameLocks noGrp="1"/>
              </p:cNvGraphicFramePr>
              <p:nvPr/>
            </p:nvGraphicFramePr>
            <p:xfrm>
              <a:off x="2532063" y="4731330"/>
              <a:ext cx="6934198" cy="1517733"/>
            </p:xfrm>
            <a:graphic>
              <a:graphicData uri="http://schemas.openxmlformats.org/drawingml/2006/table">
                <a:tbl>
                  <a:tblPr firstRow="1" bandRow="1">
                    <a:tableStyleId>{21E4AEA4-8DFA-4A89-87EB-49C32662AFE0}</a:tableStyleId>
                  </a:tblPr>
                  <a:tblGrid>
                    <a:gridCol w="1582737">
                      <a:extLst>
                        <a:ext uri="{9D8B030D-6E8A-4147-A177-3AD203B41FA5}">
                          <a16:colId xmlns:a16="http://schemas.microsoft.com/office/drawing/2014/main" val="603199907"/>
                        </a:ext>
                      </a:extLst>
                    </a:gridCol>
                    <a:gridCol w="3886200">
                      <a:extLst>
                        <a:ext uri="{9D8B030D-6E8A-4147-A177-3AD203B41FA5}">
                          <a16:colId xmlns:a16="http://schemas.microsoft.com/office/drawing/2014/main" val="2716211770"/>
                        </a:ext>
                      </a:extLst>
                    </a:gridCol>
                    <a:gridCol w="1465261">
                      <a:extLst>
                        <a:ext uri="{9D8B030D-6E8A-4147-A177-3AD203B41FA5}">
                          <a16:colId xmlns:a16="http://schemas.microsoft.com/office/drawing/2014/main" val="1012927372"/>
                        </a:ext>
                      </a:extLst>
                    </a:gridCol>
                  </a:tblGrid>
                  <a:tr h="317665">
                    <a:tc>
                      <a:txBody>
                        <a:bodyPr/>
                        <a:lstStyle/>
                        <a:p>
                          <a:r>
                            <a:rPr lang="en-IN" dirty="0"/>
                            <a:t>Example</a:t>
                          </a:r>
                        </a:p>
                      </a:txBody>
                      <a:tcPr/>
                    </a:tc>
                    <a:tc>
                      <a:txBody>
                        <a:bodyPr/>
                        <a:lstStyle/>
                        <a:p>
                          <a:r>
                            <a:rPr lang="en-IN" dirty="0"/>
                            <a:t>Recurrence Relation</a:t>
                          </a:r>
                        </a:p>
                      </a:txBody>
                      <a:tcPr/>
                    </a:tc>
                    <a:tc>
                      <a:txBody>
                        <a:bodyPr/>
                        <a:lstStyle/>
                        <a:p>
                          <a:r>
                            <a:rPr lang="en-IN" dirty="0"/>
                            <a:t>Solution</a:t>
                          </a:r>
                        </a:p>
                      </a:txBody>
                      <a:tcPr/>
                    </a:tc>
                    <a:extLst>
                      <a:ext uri="{0D108BD9-81ED-4DB2-BD59-A6C34878D82A}">
                        <a16:rowId xmlns:a16="http://schemas.microsoft.com/office/drawing/2014/main" val="2301586857"/>
                      </a:ext>
                    </a:extLst>
                  </a:tr>
                  <a:tr h="322077">
                    <a:tc>
                      <a:txBody>
                        <a:bodyPr/>
                        <a:lstStyle/>
                        <a:p>
                          <a:r>
                            <a:rPr lang="en-IN"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𝑇</m:t>
                                </m:r>
                                <m:d>
                                  <m:dPr>
                                    <m:ctrlPr>
                                      <a:rPr lang="en-IN" b="0" i="1" smtClean="0">
                                        <a:latin typeface="Cambria Math" panose="02040503050406030204" pitchFamily="18" charset="0"/>
                                      </a:rPr>
                                    </m:ctrlPr>
                                  </m:dPr>
                                  <m:e>
                                    <m:r>
                                      <a:rPr lang="en-IN" b="0" i="1" smtClean="0">
                                        <a:latin typeface="Cambria Math" panose="02040503050406030204" pitchFamily="18" charset="0"/>
                                      </a:rPr>
                                      <m:t>𝑛</m:t>
                                    </m:r>
                                  </m:e>
                                </m:d>
                                <m:r>
                                  <a:rPr lang="en-IN" b="0" i="1" smtClean="0">
                                    <a:latin typeface="Cambria Math" panose="02040503050406030204" pitchFamily="18" charset="0"/>
                                  </a:rPr>
                                  <m:t>=</m:t>
                                </m:r>
                                <m:r>
                                  <a:rPr lang="en-IN" b="0" i="1" smtClean="0">
                                    <a:latin typeface="Cambria Math" panose="02040503050406030204" pitchFamily="18" charset="0"/>
                                  </a:rPr>
                                  <m:t>𝑇</m:t>
                                </m:r>
                                <m:d>
                                  <m:dPr>
                                    <m:ctrlPr>
                                      <a:rPr lang="en-IN" b="0" i="1" smtClean="0">
                                        <a:latin typeface="Cambria Math" panose="02040503050406030204" pitchFamily="18" charset="0"/>
                                      </a:rPr>
                                    </m:ctrlPr>
                                  </m:dPr>
                                  <m:e>
                                    <m:r>
                                      <a:rPr lang="en-IN" b="0" i="1" smtClean="0">
                                        <a:latin typeface="Cambria Math" panose="02040503050406030204" pitchFamily="18" charset="0"/>
                                      </a:rPr>
                                      <m:t>𝑛</m:t>
                                    </m:r>
                                    <m:r>
                                      <a:rPr lang="en-IN" b="0" i="1" smtClean="0">
                                        <a:latin typeface="Cambria Math" panose="02040503050406030204" pitchFamily="18" charset="0"/>
                                      </a:rPr>
                                      <m:t>−1</m:t>
                                    </m:r>
                                  </m:e>
                                </m:d>
                                <m:r>
                                  <a:rPr lang="en-IN" b="0" i="1" smtClean="0">
                                    <a:latin typeface="Cambria Math" panose="02040503050406030204" pitchFamily="18" charset="0"/>
                                  </a:rPr>
                                  <m:t>+</m:t>
                                </m:r>
                                <m:r>
                                  <a:rPr lang="en-IN" b="0" i="1" smtClean="0">
                                    <a:latin typeface="Cambria Math" panose="02040503050406030204" pitchFamily="18" charset="0"/>
                                  </a:rPr>
                                  <m:t>𝑐</m:t>
                                </m:r>
                              </m:oMath>
                            </m:oMathPara>
                          </a14:m>
                          <a:endParaRPr lang="en-IN" dirty="0"/>
                        </a:p>
                      </a:txBody>
                      <a:tcPr/>
                    </a:tc>
                    <a:tc>
                      <a:txBody>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𝑂</m:t>
                                </m:r>
                                <m:r>
                                  <a:rPr lang="en-IN" b="0" i="1" smtClean="0">
                                    <a:latin typeface="Cambria Math" panose="02040503050406030204" pitchFamily="18" charset="0"/>
                                  </a:rPr>
                                  <m:t>(</m:t>
                                </m:r>
                                <m:r>
                                  <a:rPr lang="en-IN" b="0" i="1" smtClean="0">
                                    <a:latin typeface="Cambria Math" panose="02040503050406030204" pitchFamily="18" charset="0"/>
                                  </a:rPr>
                                  <m:t>𝑛</m:t>
                                </m:r>
                                <m:r>
                                  <a:rPr lang="en-IN" b="0" i="1" smtClean="0">
                                    <a:latin typeface="Cambria Math" panose="02040503050406030204" pitchFamily="18" charset="0"/>
                                  </a:rPr>
                                  <m:t>)</m:t>
                                </m:r>
                              </m:oMath>
                            </m:oMathPara>
                          </a14:m>
                          <a:endParaRPr lang="en-IN" dirty="0"/>
                        </a:p>
                      </a:txBody>
                      <a:tcPr/>
                    </a:tc>
                    <a:extLst>
                      <a:ext uri="{0D108BD9-81ED-4DB2-BD59-A6C34878D82A}">
                        <a16:rowId xmlns:a16="http://schemas.microsoft.com/office/drawing/2014/main" val="2545788078"/>
                      </a:ext>
                    </a:extLst>
                  </a:tr>
                  <a:tr h="322077">
                    <a:tc>
                      <a:txBody>
                        <a:bodyPr/>
                        <a:lstStyle/>
                        <a:p>
                          <a:r>
                            <a:rPr lang="en-IN" dirty="0"/>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𝑇</m:t>
                                </m:r>
                                <m:d>
                                  <m:dPr>
                                    <m:ctrlPr>
                                      <a:rPr lang="en-IN" b="0" i="1" smtClean="0">
                                        <a:latin typeface="Cambria Math" panose="02040503050406030204" pitchFamily="18" charset="0"/>
                                      </a:rPr>
                                    </m:ctrlPr>
                                  </m:dPr>
                                  <m:e>
                                    <m:r>
                                      <a:rPr lang="en-IN" b="0" i="1" smtClean="0">
                                        <a:latin typeface="Cambria Math" panose="02040503050406030204" pitchFamily="18" charset="0"/>
                                      </a:rPr>
                                      <m:t>𝑛</m:t>
                                    </m:r>
                                  </m:e>
                                </m:d>
                                <m:r>
                                  <a:rPr lang="en-IN" b="0" i="1" smtClean="0">
                                    <a:latin typeface="Cambria Math" panose="02040503050406030204" pitchFamily="18" charset="0"/>
                                  </a:rPr>
                                  <m:t>=</m:t>
                                </m:r>
                                <m:r>
                                  <a:rPr lang="en-IN" b="0" i="1" smtClean="0">
                                    <a:latin typeface="Cambria Math" panose="02040503050406030204" pitchFamily="18" charset="0"/>
                                  </a:rPr>
                                  <m:t>𝑇</m:t>
                                </m:r>
                                <m:d>
                                  <m:dPr>
                                    <m:ctrlPr>
                                      <a:rPr lang="en-IN" b="0" i="1" smtClean="0">
                                        <a:latin typeface="Cambria Math" panose="02040503050406030204" pitchFamily="18" charset="0"/>
                                      </a:rPr>
                                    </m:ctrlPr>
                                  </m:dPr>
                                  <m:e>
                                    <m:r>
                                      <a:rPr lang="en-IN" b="0" i="1" smtClean="0">
                                        <a:latin typeface="Cambria Math" panose="02040503050406030204" pitchFamily="18" charset="0"/>
                                      </a:rPr>
                                      <m:t>𝑛</m:t>
                                    </m:r>
                                    <m:r>
                                      <a:rPr lang="en-IN" b="0" i="1" smtClean="0">
                                        <a:latin typeface="Cambria Math" panose="02040503050406030204" pitchFamily="18" charset="0"/>
                                      </a:rPr>
                                      <m:t>−1</m:t>
                                    </m:r>
                                  </m:e>
                                </m:d>
                                <m:r>
                                  <a:rPr lang="en-IN" b="0" i="1" smtClean="0">
                                    <a:latin typeface="Cambria Math" panose="02040503050406030204" pitchFamily="18" charset="0"/>
                                  </a:rPr>
                                  <m:t>+</m:t>
                                </m:r>
                                <m:r>
                                  <a:rPr lang="en-IN" b="0" i="1" smtClean="0">
                                    <a:latin typeface="Cambria Math" panose="02040503050406030204" pitchFamily="18" charset="0"/>
                                  </a:rPr>
                                  <m:t>𝑙𝑜𝑔𝑛</m:t>
                                </m:r>
                              </m:oMath>
                            </m:oMathPara>
                          </a14:m>
                          <a:endParaRPr lang="en-IN" dirty="0"/>
                        </a:p>
                      </a:txBody>
                      <a:tcPr/>
                    </a:tc>
                    <a:tc>
                      <a:txBody>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𝑂</m:t>
                                </m:r>
                                <m:r>
                                  <a:rPr lang="en-IN" b="0" i="1" smtClean="0">
                                    <a:latin typeface="Cambria Math" panose="02040503050406030204" pitchFamily="18" charset="0"/>
                                  </a:rPr>
                                  <m:t>(</m:t>
                                </m:r>
                                <m:r>
                                  <a:rPr lang="en-IN" b="0" i="1" smtClean="0">
                                    <a:latin typeface="Cambria Math" panose="02040503050406030204" pitchFamily="18" charset="0"/>
                                  </a:rPr>
                                  <m:t>𝑛𝑙𝑜𝑔𝑛</m:t>
                                </m:r>
                                <m:r>
                                  <a:rPr lang="en-IN" b="0" i="1" smtClean="0">
                                    <a:latin typeface="Cambria Math" panose="02040503050406030204" pitchFamily="18" charset="0"/>
                                  </a:rPr>
                                  <m:t>)</m:t>
                                </m:r>
                              </m:oMath>
                            </m:oMathPara>
                          </a14:m>
                          <a:endParaRPr lang="en-IN" dirty="0"/>
                        </a:p>
                      </a:txBody>
                      <a:tcPr/>
                    </a:tc>
                    <a:extLst>
                      <a:ext uri="{0D108BD9-81ED-4DB2-BD59-A6C34878D82A}">
                        <a16:rowId xmlns:a16="http://schemas.microsoft.com/office/drawing/2014/main" val="4269138362"/>
                      </a:ext>
                    </a:extLst>
                  </a:tr>
                  <a:tr h="555914">
                    <a:tc>
                      <a:txBody>
                        <a:bodyPr/>
                        <a:lstStyle/>
                        <a:p>
                          <a:r>
                            <a:rPr lang="en-IN" dirty="0"/>
                            <a:t>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𝑇</m:t>
                                </m:r>
                                <m:d>
                                  <m:dPr>
                                    <m:ctrlPr>
                                      <a:rPr lang="en-IN" b="0" i="1" smtClean="0">
                                        <a:latin typeface="Cambria Math" panose="02040503050406030204" pitchFamily="18" charset="0"/>
                                      </a:rPr>
                                    </m:ctrlPr>
                                  </m:dPr>
                                  <m:e>
                                    <m:r>
                                      <a:rPr lang="en-IN" b="0" i="1" smtClean="0">
                                        <a:latin typeface="Cambria Math" panose="02040503050406030204" pitchFamily="18" charset="0"/>
                                      </a:rPr>
                                      <m:t>𝑛</m:t>
                                    </m:r>
                                  </m:e>
                                </m:d>
                                <m:r>
                                  <a:rPr lang="en-IN" b="0" i="1" smtClean="0">
                                    <a:latin typeface="Cambria Math" panose="02040503050406030204" pitchFamily="18" charset="0"/>
                                  </a:rPr>
                                  <m:t>=2</m:t>
                                </m:r>
                                <m:r>
                                  <a:rPr lang="en-IN" b="0" i="1" smtClean="0">
                                    <a:latin typeface="Cambria Math" panose="02040503050406030204" pitchFamily="18" charset="0"/>
                                  </a:rPr>
                                  <m:t>𝑇</m:t>
                                </m:r>
                                <m:d>
                                  <m:dPr>
                                    <m:ctrlPr>
                                      <a:rPr lang="en-IN" b="0" i="1" smtClean="0">
                                        <a:latin typeface="Cambria Math" panose="02040503050406030204" pitchFamily="18" charset="0"/>
                                      </a:rPr>
                                    </m:ctrlPr>
                                  </m:dPr>
                                  <m:e>
                                    <m:r>
                                      <a:rPr lang="en-IN" b="0" i="1" smtClean="0">
                                        <a:latin typeface="Cambria Math" panose="02040503050406030204" pitchFamily="18" charset="0"/>
                                      </a:rPr>
                                      <m:t>𝑛</m:t>
                                    </m:r>
                                    <m:r>
                                      <a:rPr lang="en-IN" b="0" i="1" smtClean="0">
                                        <a:latin typeface="Cambria Math" panose="02040503050406030204" pitchFamily="18" charset="0"/>
                                      </a:rPr>
                                      <m:t>−1</m:t>
                                    </m:r>
                                  </m:e>
                                </m:d>
                                <m:r>
                                  <a:rPr lang="en-IN" b="0" i="1" smtClean="0">
                                    <a:latin typeface="Cambria Math" panose="02040503050406030204" pitchFamily="18" charset="0"/>
                                  </a:rPr>
                                  <m:t>+1</m:t>
                                </m:r>
                              </m:oMath>
                            </m:oMathPara>
                          </a14:m>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𝑂</m:t>
                                </m:r>
                                <m:r>
                                  <a:rPr lang="en-IN" b="0" i="1" smtClean="0">
                                    <a:latin typeface="Cambria Math" panose="02040503050406030204" pitchFamily="18" charset="0"/>
                                  </a:rPr>
                                  <m:t>(</m:t>
                                </m:r>
                                <m:sSup>
                                  <m:sSupPr>
                                    <m:ctrlPr>
                                      <a:rPr lang="en-IN" b="0" i="1" smtClean="0">
                                        <a:latin typeface="Cambria Math" panose="02040503050406030204" pitchFamily="18" charset="0"/>
                                      </a:rPr>
                                    </m:ctrlPr>
                                  </m:sSupPr>
                                  <m:e>
                                    <m:r>
                                      <a:rPr lang="en-IN" b="0" i="1" smtClean="0">
                                        <a:latin typeface="Cambria Math" panose="02040503050406030204" pitchFamily="18" charset="0"/>
                                      </a:rPr>
                                      <m:t>2</m:t>
                                    </m:r>
                                  </m:e>
                                  <m:sup>
                                    <m:r>
                                      <a:rPr lang="en-IN" b="0" i="1" smtClean="0">
                                        <a:latin typeface="Cambria Math" panose="02040503050406030204" pitchFamily="18" charset="0"/>
                                      </a:rPr>
                                      <m:t>𝑛</m:t>
                                    </m:r>
                                  </m:sup>
                                </m:sSup>
                                <m:r>
                                  <a:rPr lang="en-IN" b="0" i="1" smtClean="0">
                                    <a:latin typeface="Cambria Math" panose="02040503050406030204" pitchFamily="18" charset="0"/>
                                  </a:rPr>
                                  <m:t>)</m:t>
                                </m:r>
                              </m:oMath>
                            </m:oMathPara>
                          </a14:m>
                          <a:endParaRPr lang="en-IN" dirty="0"/>
                        </a:p>
                      </a:txBody>
                      <a:tcPr/>
                    </a:tc>
                    <a:extLst>
                      <a:ext uri="{0D108BD9-81ED-4DB2-BD59-A6C34878D82A}">
                        <a16:rowId xmlns:a16="http://schemas.microsoft.com/office/drawing/2014/main" val="4215418375"/>
                      </a:ext>
                    </a:extLst>
                  </a:tr>
                </a:tbl>
              </a:graphicData>
            </a:graphic>
          </p:graphicFrame>
        </mc:Choice>
        <mc:Fallback xmlns="">
          <p:graphicFrame>
            <p:nvGraphicFramePr>
              <p:cNvPr id="3" name="Table 5">
                <a:extLst>
                  <a:ext uri="{FF2B5EF4-FFF2-40B4-BE49-F238E27FC236}">
                    <a16:creationId xmlns:a16="http://schemas.microsoft.com/office/drawing/2014/main" id="{72C30093-1311-4E59-99C3-19CDD1F57166}"/>
                  </a:ext>
                </a:extLst>
              </p:cNvPr>
              <p:cNvGraphicFramePr>
                <a:graphicFrameLocks noGrp="1"/>
              </p:cNvGraphicFramePr>
              <p:nvPr/>
            </p:nvGraphicFramePr>
            <p:xfrm>
              <a:off x="2532063" y="4731330"/>
              <a:ext cx="6934198" cy="1653194"/>
            </p:xfrm>
            <a:graphic>
              <a:graphicData uri="http://schemas.openxmlformats.org/drawingml/2006/table">
                <a:tbl>
                  <a:tblPr firstRow="1" bandRow="1">
                    <a:tableStyleId>{21E4AEA4-8DFA-4A89-87EB-49C32662AFE0}</a:tableStyleId>
                  </a:tblPr>
                  <a:tblGrid>
                    <a:gridCol w="1582737">
                      <a:extLst>
                        <a:ext uri="{9D8B030D-6E8A-4147-A177-3AD203B41FA5}">
                          <a16:colId xmlns:a16="http://schemas.microsoft.com/office/drawing/2014/main" val="603199907"/>
                        </a:ext>
                      </a:extLst>
                    </a:gridCol>
                    <a:gridCol w="3886200">
                      <a:extLst>
                        <a:ext uri="{9D8B030D-6E8A-4147-A177-3AD203B41FA5}">
                          <a16:colId xmlns:a16="http://schemas.microsoft.com/office/drawing/2014/main" val="2716211770"/>
                        </a:ext>
                      </a:extLst>
                    </a:gridCol>
                    <a:gridCol w="1465261">
                      <a:extLst>
                        <a:ext uri="{9D8B030D-6E8A-4147-A177-3AD203B41FA5}">
                          <a16:colId xmlns:a16="http://schemas.microsoft.com/office/drawing/2014/main" val="1012927372"/>
                        </a:ext>
                      </a:extLst>
                    </a:gridCol>
                  </a:tblGrid>
                  <a:tr h="365760">
                    <a:tc>
                      <a:txBody>
                        <a:bodyPr/>
                        <a:lstStyle/>
                        <a:p>
                          <a:r>
                            <a:rPr lang="en-IN" dirty="0"/>
                            <a:t>Example</a:t>
                          </a:r>
                        </a:p>
                      </a:txBody>
                      <a:tcPr/>
                    </a:tc>
                    <a:tc>
                      <a:txBody>
                        <a:bodyPr/>
                        <a:lstStyle/>
                        <a:p>
                          <a:r>
                            <a:rPr lang="en-IN" dirty="0"/>
                            <a:t>Recurrence Relation</a:t>
                          </a:r>
                        </a:p>
                      </a:txBody>
                      <a:tcPr/>
                    </a:tc>
                    <a:tc>
                      <a:txBody>
                        <a:bodyPr/>
                        <a:lstStyle/>
                        <a:p>
                          <a:r>
                            <a:rPr lang="en-IN" dirty="0"/>
                            <a:t>Solution</a:t>
                          </a:r>
                        </a:p>
                      </a:txBody>
                      <a:tcPr/>
                    </a:tc>
                    <a:extLst>
                      <a:ext uri="{0D108BD9-81ED-4DB2-BD59-A6C34878D82A}">
                        <a16:rowId xmlns:a16="http://schemas.microsoft.com/office/drawing/2014/main" val="2301586857"/>
                      </a:ext>
                    </a:extLst>
                  </a:tr>
                  <a:tr h="365760">
                    <a:tc>
                      <a:txBody>
                        <a:bodyPr/>
                        <a:lstStyle/>
                        <a:p>
                          <a:r>
                            <a:rPr lang="en-IN" dirty="0"/>
                            <a:t>1</a:t>
                          </a:r>
                        </a:p>
                      </a:txBody>
                      <a:tcPr/>
                    </a:tc>
                    <a:tc>
                      <a:txBody>
                        <a:bodyPr/>
                        <a:lstStyle/>
                        <a:p>
                          <a:endParaRPr lang="en-US"/>
                        </a:p>
                      </a:txBody>
                      <a:tcPr>
                        <a:blipFill>
                          <a:blip r:embed="rId3"/>
                          <a:stretch>
                            <a:fillRect l="-40909" t="-108333" r="-38401" b="-256667"/>
                          </a:stretch>
                        </a:blipFill>
                      </a:tcPr>
                    </a:tc>
                    <a:tc>
                      <a:txBody>
                        <a:bodyPr/>
                        <a:lstStyle/>
                        <a:p>
                          <a:endParaRPr lang="en-US"/>
                        </a:p>
                      </a:txBody>
                      <a:tcPr>
                        <a:blipFill>
                          <a:blip r:embed="rId3"/>
                          <a:stretch>
                            <a:fillRect l="-374583" t="-108333" r="-2083" b="-256667"/>
                          </a:stretch>
                        </a:blipFill>
                      </a:tcPr>
                    </a:tc>
                    <a:extLst>
                      <a:ext uri="{0D108BD9-81ED-4DB2-BD59-A6C34878D82A}">
                        <a16:rowId xmlns:a16="http://schemas.microsoft.com/office/drawing/2014/main" val="2545788078"/>
                      </a:ext>
                    </a:extLst>
                  </a:tr>
                  <a:tr h="365760">
                    <a:tc>
                      <a:txBody>
                        <a:bodyPr/>
                        <a:lstStyle/>
                        <a:p>
                          <a:r>
                            <a:rPr lang="en-IN" dirty="0"/>
                            <a:t>2</a:t>
                          </a:r>
                        </a:p>
                      </a:txBody>
                      <a:tcPr/>
                    </a:tc>
                    <a:tc>
                      <a:txBody>
                        <a:bodyPr/>
                        <a:lstStyle/>
                        <a:p>
                          <a:endParaRPr lang="en-US"/>
                        </a:p>
                      </a:txBody>
                      <a:tcPr>
                        <a:blipFill>
                          <a:blip r:embed="rId3"/>
                          <a:stretch>
                            <a:fillRect l="-40909" t="-204918" r="-38401" b="-152459"/>
                          </a:stretch>
                        </a:blipFill>
                      </a:tcPr>
                    </a:tc>
                    <a:tc>
                      <a:txBody>
                        <a:bodyPr/>
                        <a:lstStyle/>
                        <a:p>
                          <a:endParaRPr lang="en-US"/>
                        </a:p>
                      </a:txBody>
                      <a:tcPr>
                        <a:blipFill>
                          <a:blip r:embed="rId3"/>
                          <a:stretch>
                            <a:fillRect l="-374583" t="-204918" r="-2083" b="-152459"/>
                          </a:stretch>
                        </a:blipFill>
                      </a:tcPr>
                    </a:tc>
                    <a:extLst>
                      <a:ext uri="{0D108BD9-81ED-4DB2-BD59-A6C34878D82A}">
                        <a16:rowId xmlns:a16="http://schemas.microsoft.com/office/drawing/2014/main" val="4269138362"/>
                      </a:ext>
                    </a:extLst>
                  </a:tr>
                  <a:tr h="555914">
                    <a:tc>
                      <a:txBody>
                        <a:bodyPr/>
                        <a:lstStyle/>
                        <a:p>
                          <a:r>
                            <a:rPr lang="en-IN" dirty="0"/>
                            <a:t>3</a:t>
                          </a:r>
                        </a:p>
                      </a:txBody>
                      <a:tcPr/>
                    </a:tc>
                    <a:tc>
                      <a:txBody>
                        <a:bodyPr/>
                        <a:lstStyle/>
                        <a:p>
                          <a:endParaRPr lang="en-US"/>
                        </a:p>
                      </a:txBody>
                      <a:tcPr>
                        <a:blipFill>
                          <a:blip r:embed="rId3"/>
                          <a:stretch>
                            <a:fillRect l="-40909" t="-204396" r="-38401" b="-2198"/>
                          </a:stretch>
                        </a:blipFill>
                      </a:tcPr>
                    </a:tc>
                    <a:tc>
                      <a:txBody>
                        <a:bodyPr/>
                        <a:lstStyle/>
                        <a:p>
                          <a:endParaRPr lang="en-US"/>
                        </a:p>
                      </a:txBody>
                      <a:tcPr>
                        <a:blipFill>
                          <a:blip r:embed="rId3"/>
                          <a:stretch>
                            <a:fillRect l="-374583" t="-204396" r="-2083" b="-2198"/>
                          </a:stretch>
                        </a:blipFill>
                      </a:tcPr>
                    </a:tc>
                    <a:extLst>
                      <a:ext uri="{0D108BD9-81ED-4DB2-BD59-A6C34878D82A}">
                        <a16:rowId xmlns:a16="http://schemas.microsoft.com/office/drawing/2014/main" val="4215418375"/>
                      </a:ext>
                    </a:extLst>
                  </a:tr>
                </a:tbl>
              </a:graphicData>
            </a:graphic>
          </p:graphicFrame>
        </mc:Fallback>
      </mc:AlternateContent>
      <p:pic>
        <p:nvPicPr>
          <p:cNvPr id="6" name="Picture 5">
            <a:extLst>
              <a:ext uri="{FF2B5EF4-FFF2-40B4-BE49-F238E27FC236}">
                <a16:creationId xmlns:a16="http://schemas.microsoft.com/office/drawing/2014/main" id="{200B22A3-7884-C555-C57F-10FEA383BBA4}"/>
              </a:ext>
            </a:extLst>
          </p:cNvPr>
          <p:cNvPicPr>
            <a:picLocks noChangeAspect="1"/>
          </p:cNvPicPr>
          <p:nvPr/>
        </p:nvPicPr>
        <p:blipFill>
          <a:blip r:embed="rId2"/>
          <a:stretch>
            <a:fillRect/>
          </a:stretch>
        </p:blipFill>
        <p:spPr>
          <a:xfrm>
            <a:off x="2883" y="90125"/>
            <a:ext cx="3804234" cy="737680"/>
          </a:xfrm>
          <a:prstGeom prst="rect">
            <a:avLst/>
          </a:prstGeom>
        </p:spPr>
      </p:pic>
      <p:pic>
        <p:nvPicPr>
          <p:cNvPr id="7" name="Picture 6">
            <a:extLst>
              <a:ext uri="{FF2B5EF4-FFF2-40B4-BE49-F238E27FC236}">
                <a16:creationId xmlns:a16="http://schemas.microsoft.com/office/drawing/2014/main" id="{AC11F22E-807B-CA84-F0EE-3C49072A88FD}"/>
              </a:ext>
            </a:extLst>
          </p:cNvPr>
          <p:cNvPicPr>
            <a:picLocks noChangeAspect="1"/>
          </p:cNvPicPr>
          <p:nvPr/>
        </p:nvPicPr>
        <p:blipFill>
          <a:blip r:embed="rId4"/>
          <a:stretch>
            <a:fillRect/>
          </a:stretch>
        </p:blipFill>
        <p:spPr>
          <a:xfrm>
            <a:off x="10771581" y="136525"/>
            <a:ext cx="1164437" cy="1005927"/>
          </a:xfrm>
          <a:prstGeom prst="rect">
            <a:avLst/>
          </a:prstGeom>
        </p:spPr>
      </p:pic>
    </p:spTree>
    <p:extLst>
      <p:ext uri="{BB962C8B-B14F-4D97-AF65-F5344CB8AC3E}">
        <p14:creationId xmlns:p14="http://schemas.microsoft.com/office/powerpoint/2010/main" val="40099289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4B237-5166-498C-950D-FECECF883C50}"/>
              </a:ext>
            </a:extLst>
          </p:cNvPr>
          <p:cNvSpPr>
            <a:spLocks noGrp="1"/>
          </p:cNvSpPr>
          <p:nvPr>
            <p:ph type="title"/>
          </p:nvPr>
        </p:nvSpPr>
        <p:spPr/>
        <p:txBody>
          <a:bodyPr>
            <a:normAutofit fontScale="90000"/>
          </a:bodyPr>
          <a:lstStyle/>
          <a:p>
            <a:pPr algn="l"/>
            <a:br>
              <a:rPr lang="en-US" b="1" dirty="0">
                <a:solidFill>
                  <a:srgbClr val="C00000"/>
                </a:solidFill>
              </a:rPr>
            </a:br>
            <a:br>
              <a:rPr lang="en-US" sz="3200" b="1" dirty="0">
                <a:solidFill>
                  <a:srgbClr val="C00000"/>
                </a:solidFill>
              </a:rPr>
            </a:br>
            <a:endParaRPr lang="en-IN" sz="3200" dirty="0"/>
          </a:p>
        </p:txBody>
      </p:sp>
      <p:sp>
        <p:nvSpPr>
          <p:cNvPr id="3" name="Content Placeholder 2">
            <a:extLst>
              <a:ext uri="{FF2B5EF4-FFF2-40B4-BE49-F238E27FC236}">
                <a16:creationId xmlns:a16="http://schemas.microsoft.com/office/drawing/2014/main" id="{EE482C4E-0FF2-4910-A77E-5C8A84438B74}"/>
              </a:ext>
            </a:extLst>
          </p:cNvPr>
          <p:cNvSpPr>
            <a:spLocks noGrp="1"/>
          </p:cNvSpPr>
          <p:nvPr>
            <p:ph type="body" idx="1"/>
          </p:nvPr>
        </p:nvSpPr>
        <p:spPr>
          <a:xfrm>
            <a:off x="2152650" y="1690688"/>
            <a:ext cx="7886700" cy="4351338"/>
          </a:xfrm>
        </p:spPr>
        <p:txBody>
          <a:bodyPr/>
          <a:lstStyle/>
          <a:p>
            <a:pPr marL="0" indent="0">
              <a:buNone/>
            </a:pPr>
            <a:r>
              <a:rPr lang="en-US" dirty="0"/>
              <a:t> </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1ACADEB6-28B6-4376-B628-E86EBC9CB678}"/>
              </a:ext>
            </a:extLst>
          </p:cNvPr>
          <p:cNvSpPr>
            <a:spLocks noGrp="1"/>
          </p:cNvSpPr>
          <p:nvPr>
            <p:ph type="sldNum" idx="12"/>
          </p:nvPr>
        </p:nvSpPr>
        <p:spPr/>
        <p:txBody>
          <a:bodyPr/>
          <a:lstStyle/>
          <a:p>
            <a:pPr algn="r" fontAlgn="base">
              <a:spcBef>
                <a:spcPct val="0"/>
              </a:spcBef>
              <a:spcAft>
                <a:spcPct val="0"/>
              </a:spcAft>
              <a:defRPr/>
            </a:pPr>
            <a:fld id="{0314B9FC-F7FA-4A5F-A68B-9084E75933A3}" type="slidenum">
              <a:rPr lang="en-US" altLang="en-US" sz="1100">
                <a:solidFill>
                  <a:srgbClr val="000000"/>
                </a:solidFill>
                <a:latin typeface="Arial" panose="020B0604020202020204" pitchFamily="34" charset="0"/>
              </a:rPr>
              <a:pPr algn="r" fontAlgn="base">
                <a:spcBef>
                  <a:spcPct val="0"/>
                </a:spcBef>
                <a:spcAft>
                  <a:spcPct val="0"/>
                </a:spcAft>
                <a:defRPr/>
              </a:pPr>
              <a:t>20</a:t>
            </a:fld>
            <a:endParaRPr lang="en-US" altLang="en-US" sz="1100" dirty="0">
              <a:solidFill>
                <a:srgbClr val="000000"/>
              </a:solidFill>
              <a:latin typeface="Arial" panose="020B0604020202020204" pitchFamily="34" charset="0"/>
            </a:endParaRPr>
          </a:p>
        </p:txBody>
      </p:sp>
      <p:graphicFrame>
        <p:nvGraphicFramePr>
          <p:cNvPr id="5" name="Table 5">
            <a:extLst>
              <a:ext uri="{FF2B5EF4-FFF2-40B4-BE49-F238E27FC236}">
                <a16:creationId xmlns:a16="http://schemas.microsoft.com/office/drawing/2014/main" id="{78179D76-9B7B-40EA-9BB3-A45B29C7A00A}"/>
              </a:ext>
            </a:extLst>
          </p:cNvPr>
          <p:cNvGraphicFramePr>
            <a:graphicFrameLocks noGrp="1"/>
          </p:cNvGraphicFramePr>
          <p:nvPr>
            <p:extLst>
              <p:ext uri="{D42A27DB-BD31-4B8C-83A1-F6EECF244321}">
                <p14:modId xmlns:p14="http://schemas.microsoft.com/office/powerpoint/2010/main" val="2433171248"/>
              </p:ext>
            </p:extLst>
          </p:nvPr>
        </p:nvGraphicFramePr>
        <p:xfrm>
          <a:off x="1019331" y="1896904"/>
          <a:ext cx="9437532" cy="1640776"/>
        </p:xfrm>
        <a:graphic>
          <a:graphicData uri="http://schemas.openxmlformats.org/drawingml/2006/table">
            <a:tbl>
              <a:tblPr firstRow="1" bandRow="1">
                <a:tableStyleId>{21E4AEA4-8DFA-4A89-87EB-49C32662AFE0}</a:tableStyleId>
              </a:tblPr>
              <a:tblGrid>
                <a:gridCol w="9437532">
                  <a:extLst>
                    <a:ext uri="{9D8B030D-6E8A-4147-A177-3AD203B41FA5}">
                      <a16:colId xmlns:a16="http://schemas.microsoft.com/office/drawing/2014/main" val="935080871"/>
                    </a:ext>
                  </a:extLst>
                </a:gridCol>
              </a:tblGrid>
              <a:tr h="8789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After completing this section, you will be able to </a:t>
                      </a:r>
                    </a:p>
                  </a:txBody>
                  <a:tcPr/>
                </a:tc>
                <a:extLst>
                  <a:ext uri="{0D108BD9-81ED-4DB2-BD59-A6C34878D82A}">
                    <a16:rowId xmlns:a16="http://schemas.microsoft.com/office/drawing/2014/main" val="72009204"/>
                  </a:ext>
                </a:extLst>
              </a:tr>
              <a:tr h="761788">
                <a:tc>
                  <a:txBody>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IN" sz="2000" b="1" dirty="0">
                          <a:solidFill>
                            <a:schemeClr val="accent6">
                              <a:lumMod val="75000"/>
                            </a:schemeClr>
                          </a:solidFill>
                        </a:rPr>
                        <a:t>Analyse recursive algorithms </a:t>
                      </a:r>
                      <a:r>
                        <a:rPr lang="en-IN" sz="2000" dirty="0"/>
                        <a:t>and </a:t>
                      </a:r>
                      <a:r>
                        <a:rPr lang="en-IN" sz="2000" b="1" dirty="0">
                          <a:solidFill>
                            <a:schemeClr val="accent6">
                              <a:lumMod val="75000"/>
                            </a:schemeClr>
                          </a:solidFill>
                        </a:rPr>
                        <a:t>Solve </a:t>
                      </a:r>
                      <a:r>
                        <a:rPr lang="en-US" sz="2000" b="1" dirty="0">
                          <a:solidFill>
                            <a:schemeClr val="accent6">
                              <a:lumMod val="75000"/>
                            </a:schemeClr>
                          </a:solidFill>
                          <a:latin typeface="Georgia"/>
                          <a:sym typeface="Georgia"/>
                        </a:rPr>
                        <a:t>Recurrence Relations</a:t>
                      </a:r>
                      <a:endParaRPr lang="en-IN" sz="2000" dirty="0"/>
                    </a:p>
                  </a:txBody>
                  <a:tcPr/>
                </a:tc>
                <a:extLst>
                  <a:ext uri="{0D108BD9-81ED-4DB2-BD59-A6C34878D82A}">
                    <a16:rowId xmlns:a16="http://schemas.microsoft.com/office/drawing/2014/main" val="4195794748"/>
                  </a:ext>
                </a:extLst>
              </a:tr>
            </a:tbl>
          </a:graphicData>
        </a:graphic>
      </p:graphicFrame>
    </p:spTree>
    <p:custDataLst>
      <p:tags r:id="rId1"/>
    </p:custDataLst>
    <p:extLst>
      <p:ext uri="{BB962C8B-B14F-4D97-AF65-F5344CB8AC3E}">
        <p14:creationId xmlns:p14="http://schemas.microsoft.com/office/powerpoint/2010/main" val="698736412"/>
      </p:ext>
    </p:extLst>
  </p:cSld>
  <p:clrMapOvr>
    <a:masterClrMapping/>
  </p:clrMapOvr>
  <mc:AlternateContent xmlns:mc="http://schemas.openxmlformats.org/markup-compatibility/2006" xmlns:p14="http://schemas.microsoft.com/office/powerpoint/2010/main">
    <mc:Choice Requires="p14">
      <p:transition spd="slow" p14:dur="2000" advTm="35798"/>
    </mc:Choice>
    <mc:Fallback xmlns="">
      <p:transition spd="slow" advTm="3579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down)">
                                      <p:cBhvr>
                                        <p:cTn id="14" dur="580">
                                          <p:stCondLst>
                                            <p:cond delay="0"/>
                                          </p:stCondLst>
                                        </p:cTn>
                                        <p:tgtEl>
                                          <p:spTgt spid="5"/>
                                        </p:tgtEl>
                                      </p:cBhvr>
                                    </p:animEffect>
                                    <p:anim calcmode="lin" valueType="num">
                                      <p:cBhvr>
                                        <p:cTn id="15"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20" dur="26">
                                          <p:stCondLst>
                                            <p:cond delay="650"/>
                                          </p:stCondLst>
                                        </p:cTn>
                                        <p:tgtEl>
                                          <p:spTgt spid="5"/>
                                        </p:tgtEl>
                                      </p:cBhvr>
                                      <p:to x="100000" y="60000"/>
                                    </p:animScale>
                                    <p:animScale>
                                      <p:cBhvr>
                                        <p:cTn id="21" dur="166" decel="50000">
                                          <p:stCondLst>
                                            <p:cond delay="676"/>
                                          </p:stCondLst>
                                        </p:cTn>
                                        <p:tgtEl>
                                          <p:spTgt spid="5"/>
                                        </p:tgtEl>
                                      </p:cBhvr>
                                      <p:to x="100000" y="100000"/>
                                    </p:animScale>
                                    <p:animScale>
                                      <p:cBhvr>
                                        <p:cTn id="22" dur="26">
                                          <p:stCondLst>
                                            <p:cond delay="1312"/>
                                          </p:stCondLst>
                                        </p:cTn>
                                        <p:tgtEl>
                                          <p:spTgt spid="5"/>
                                        </p:tgtEl>
                                      </p:cBhvr>
                                      <p:to x="100000" y="80000"/>
                                    </p:animScale>
                                    <p:animScale>
                                      <p:cBhvr>
                                        <p:cTn id="23" dur="166" decel="50000">
                                          <p:stCondLst>
                                            <p:cond delay="1338"/>
                                          </p:stCondLst>
                                        </p:cTn>
                                        <p:tgtEl>
                                          <p:spTgt spid="5"/>
                                        </p:tgtEl>
                                      </p:cBhvr>
                                      <p:to x="100000" y="100000"/>
                                    </p:animScale>
                                    <p:animScale>
                                      <p:cBhvr>
                                        <p:cTn id="24" dur="26">
                                          <p:stCondLst>
                                            <p:cond delay="1642"/>
                                          </p:stCondLst>
                                        </p:cTn>
                                        <p:tgtEl>
                                          <p:spTgt spid="5"/>
                                        </p:tgtEl>
                                      </p:cBhvr>
                                      <p:to x="100000" y="90000"/>
                                    </p:animScale>
                                    <p:animScale>
                                      <p:cBhvr>
                                        <p:cTn id="25" dur="166" decel="50000">
                                          <p:stCondLst>
                                            <p:cond delay="1668"/>
                                          </p:stCondLst>
                                        </p:cTn>
                                        <p:tgtEl>
                                          <p:spTgt spid="5"/>
                                        </p:tgtEl>
                                      </p:cBhvr>
                                      <p:to x="100000" y="100000"/>
                                    </p:animScale>
                                    <p:animScale>
                                      <p:cBhvr>
                                        <p:cTn id="26" dur="26">
                                          <p:stCondLst>
                                            <p:cond delay="1808"/>
                                          </p:stCondLst>
                                        </p:cTn>
                                        <p:tgtEl>
                                          <p:spTgt spid="5"/>
                                        </p:tgtEl>
                                      </p:cBhvr>
                                      <p:to x="100000" y="95000"/>
                                    </p:animScale>
                                    <p:animScale>
                                      <p:cBhvr>
                                        <p:cTn id="27" dur="166" decel="50000">
                                          <p:stCondLst>
                                            <p:cond delay="1834"/>
                                          </p:stCondLst>
                                        </p:cTn>
                                        <p:tgtEl>
                                          <p:spTgt spid="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noChangeArrowheads="1"/>
          </p:cNvSpPr>
          <p:nvPr/>
        </p:nvSpPr>
        <p:spPr>
          <a:xfrm>
            <a:off x="-1" y="6416040"/>
            <a:ext cx="12191997" cy="441960"/>
          </a:xfrm>
          <a:prstGeom prst="rect">
            <a:avLst/>
          </a:prstGeom>
          <a:solidFill>
            <a:srgbClr val="C00000"/>
          </a:solidFill>
        </p:spPr>
        <p:txBody>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altLang="zh-CN" sz="1800" b="1" i="0" u="none" strike="noStrike" kern="1200" cap="none" spc="0" normalizeH="0" baseline="0" noProof="0" dirty="0">
                <a:ln>
                  <a:noFill/>
                </a:ln>
                <a:solidFill>
                  <a:prstClr val="white"/>
                </a:solidFill>
                <a:effectLst/>
                <a:uLnTx/>
                <a:uFillTx/>
                <a:latin typeface="Tinos"/>
                <a:ea typeface="等线 Light" panose="02010600030101010101" pitchFamily="2" charset="-122"/>
                <a:cs typeface="+mn-cs"/>
              </a:rPr>
              <a:t>Name of the Faculty: </a:t>
            </a:r>
            <a:r>
              <a:rPr lang="en-IN" altLang="zh-CN" sz="1800" b="1" kern="1200" dirty="0">
                <a:solidFill>
                  <a:prstClr val="white"/>
                </a:solidFill>
                <a:latin typeface="Tinos"/>
                <a:ea typeface="等线 Light" panose="02010600030101010101" pitchFamily="2" charset="-122"/>
                <a:cs typeface="+mn-cs"/>
              </a:rPr>
              <a:t>Dr Pooja Singh </a:t>
            </a:r>
            <a:r>
              <a:rPr kumimoji="0" lang="en-IN" altLang="zh-CN" sz="1800" b="1" i="0" u="none" strike="noStrike" kern="1200" cap="none" spc="0" normalizeH="0" baseline="0" noProof="0" dirty="0">
                <a:ln>
                  <a:noFill/>
                </a:ln>
                <a:solidFill>
                  <a:prstClr val="white"/>
                </a:solidFill>
                <a:effectLst/>
                <a:uLnTx/>
                <a:uFillTx/>
                <a:latin typeface="Tinos"/>
                <a:ea typeface="等线 Light" panose="02010600030101010101" pitchFamily="2" charset="-122"/>
                <a:cs typeface="+mn-cs"/>
              </a:rPr>
              <a:t>					</a:t>
            </a:r>
            <a:r>
              <a:rPr kumimoji="0" lang="en-US" altLang="zh-CN" sz="1800" b="1" i="0" u="none" strike="noStrike" kern="1200" cap="none" spc="0" normalizeH="0" baseline="0" noProof="0" dirty="0">
                <a:ln>
                  <a:noFill/>
                </a:ln>
                <a:solidFill>
                  <a:prstClr val="white"/>
                </a:solidFill>
                <a:effectLst/>
                <a:uLnTx/>
                <a:uFillTx/>
                <a:latin typeface="Tinos"/>
                <a:ea typeface="等线" panose="02010600030101010101" pitchFamily="2" charset="-122"/>
                <a:cs typeface="+mn-cs"/>
              </a:rPr>
              <a:t>Program Name: B.</a:t>
            </a:r>
            <a:r>
              <a:rPr lang="en-US" altLang="zh-CN" b="1" dirty="0">
                <a:solidFill>
                  <a:prstClr val="white"/>
                </a:solidFill>
                <a:latin typeface="Tinos"/>
                <a:ea typeface="等线" panose="02010600030101010101" pitchFamily="2" charset="-122"/>
              </a:rPr>
              <a:t>TECH</a:t>
            </a:r>
            <a:endParaRPr kumimoji="0" lang="en-IN" altLang="zh-CN" sz="1800" b="1" i="0" u="none" strike="noStrike" kern="1200" cap="none" spc="0" normalizeH="0" baseline="0" noProof="0" dirty="0">
              <a:ln>
                <a:noFill/>
              </a:ln>
              <a:solidFill>
                <a:prstClr val="white"/>
              </a:solidFill>
              <a:effectLst/>
              <a:uLnTx/>
              <a:uFillTx/>
              <a:latin typeface="Tinos"/>
              <a:ea typeface="等线 Light" panose="02010600030101010101" pitchFamily="2" charset="-122"/>
              <a:cs typeface="+mn-cs"/>
            </a:endParaRPr>
          </a:p>
        </p:txBody>
      </p:sp>
      <p:sp>
        <p:nvSpPr>
          <p:cNvPr id="4" name="TextBox 3">
            <a:extLst>
              <a:ext uri="{FF2B5EF4-FFF2-40B4-BE49-F238E27FC236}">
                <a16:creationId xmlns:a16="http://schemas.microsoft.com/office/drawing/2014/main" id="{5022B484-CAE8-F2EF-AC58-FC0F260911EF}"/>
              </a:ext>
            </a:extLst>
          </p:cNvPr>
          <p:cNvSpPr txBox="1"/>
          <p:nvPr/>
        </p:nvSpPr>
        <p:spPr>
          <a:xfrm>
            <a:off x="1980382" y="2143593"/>
            <a:ext cx="7628314" cy="2923877"/>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Q1. T(n) = 5T(n/5) + (n/</a:t>
            </a:r>
            <a:r>
              <a:rPr lang="en-US" sz="3600" dirty="0" err="1">
                <a:latin typeface="Times New Roman" panose="02020603050405020304" pitchFamily="18" charset="0"/>
                <a:cs typeface="Times New Roman" panose="02020603050405020304" pitchFamily="18" charset="0"/>
              </a:rPr>
              <a:t>logn</a:t>
            </a:r>
            <a:r>
              <a:rPr lang="en-US" sz="3600" dirty="0">
                <a:latin typeface="Times New Roman" panose="02020603050405020304" pitchFamily="18" charset="0"/>
                <a:cs typeface="Times New Roman" panose="02020603050405020304" pitchFamily="18" charset="0"/>
              </a:rPr>
              <a:t>)	</a:t>
            </a:r>
            <a:r>
              <a:rPr lang="en-US" sz="3600" baseline="30000" dirty="0">
                <a:latin typeface="Times New Roman" panose="02020603050405020304" pitchFamily="18" charset="0"/>
                <a:cs typeface="Times New Roman" panose="02020603050405020304" pitchFamily="18" charset="0"/>
              </a:rPr>
              <a:t>if n&gt;1</a:t>
            </a:r>
          </a:p>
          <a:p>
            <a:r>
              <a:rPr lang="en-US" sz="3600" baseline="30000" dirty="0">
                <a:latin typeface="Times New Roman" panose="02020603050405020304" pitchFamily="18" charset="0"/>
                <a:cs typeface="Times New Roman" panose="02020603050405020304" pitchFamily="18" charset="0"/>
              </a:rPr>
              <a:t>	        </a:t>
            </a:r>
            <a:r>
              <a:rPr lang="en-US" sz="4800" baseline="30000" dirty="0">
                <a:latin typeface="Times New Roman" panose="02020603050405020304" pitchFamily="18" charset="0"/>
                <a:cs typeface="Times New Roman" panose="02020603050405020304" pitchFamily="18" charset="0"/>
              </a:rPr>
              <a:t>= 1</a:t>
            </a:r>
            <a:r>
              <a:rPr lang="en-US" sz="3600" baseline="30000" dirty="0">
                <a:latin typeface="Times New Roman" panose="02020603050405020304" pitchFamily="18" charset="0"/>
                <a:cs typeface="Times New Roman" panose="02020603050405020304" pitchFamily="18" charset="0"/>
              </a:rPr>
              <a:t>				if n=1</a:t>
            </a:r>
          </a:p>
          <a:p>
            <a:endParaRPr lang="en-US" sz="3600" baseline="300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Q2. T(n) = T(n-2) + 2logn 	</a:t>
            </a:r>
            <a:r>
              <a:rPr lang="en-US" sz="3600" baseline="30000" dirty="0">
                <a:latin typeface="Times New Roman" panose="02020603050405020304" pitchFamily="18" charset="0"/>
                <a:cs typeface="Times New Roman" panose="02020603050405020304" pitchFamily="18" charset="0"/>
              </a:rPr>
              <a:t>if n&gt;0</a:t>
            </a:r>
          </a:p>
          <a:p>
            <a:r>
              <a:rPr lang="en-US" sz="3600" baseline="30000" dirty="0">
                <a:latin typeface="Times New Roman" panose="02020603050405020304" pitchFamily="18" charset="0"/>
                <a:cs typeface="Times New Roman" panose="02020603050405020304" pitchFamily="18" charset="0"/>
              </a:rPr>
              <a:t>	        </a:t>
            </a:r>
            <a:r>
              <a:rPr lang="en-US" sz="4800" baseline="30000" dirty="0">
                <a:latin typeface="Times New Roman" panose="02020603050405020304" pitchFamily="18" charset="0"/>
                <a:cs typeface="Times New Roman" panose="02020603050405020304" pitchFamily="18" charset="0"/>
              </a:rPr>
              <a:t>= 1</a:t>
            </a:r>
            <a:r>
              <a:rPr lang="en-US" sz="3600" baseline="30000" dirty="0">
                <a:latin typeface="Times New Roman" panose="02020603050405020304" pitchFamily="18" charset="0"/>
                <a:cs typeface="Times New Roman" panose="02020603050405020304" pitchFamily="18" charset="0"/>
              </a:rPr>
              <a:t>				 if n=0</a:t>
            </a:r>
          </a:p>
          <a:p>
            <a:endParaRPr lang="en-US" sz="3600" baseline="30000" dirty="0">
              <a:latin typeface="Times New Roman" panose="02020603050405020304" pitchFamily="18" charset="0"/>
              <a:cs typeface="Times New Roman" panose="02020603050405020304" pitchFamily="18" charset="0"/>
            </a:endParaRPr>
          </a:p>
        </p:txBody>
      </p:sp>
      <p:pic>
        <p:nvPicPr>
          <p:cNvPr id="2" name="Picture 1" descr="A blue circle with text and words&#10;&#10;Description automatically generated">
            <a:extLst>
              <a:ext uri="{FF2B5EF4-FFF2-40B4-BE49-F238E27FC236}">
                <a16:creationId xmlns:a16="http://schemas.microsoft.com/office/drawing/2014/main" id="{380BD8A2-951F-D5CF-8C55-B26F0BE276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52682" y="-67435"/>
            <a:ext cx="976232" cy="976232"/>
          </a:xfrm>
          <a:prstGeom prst="rect">
            <a:avLst/>
          </a:prstGeom>
        </p:spPr>
      </p:pic>
      <p:pic>
        <p:nvPicPr>
          <p:cNvPr id="3" name="Picture 2">
            <a:extLst>
              <a:ext uri="{FF2B5EF4-FFF2-40B4-BE49-F238E27FC236}">
                <a16:creationId xmlns:a16="http://schemas.microsoft.com/office/drawing/2014/main" id="{61E6CBE1-63D9-A023-5E55-0F7B711A66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73" y="0"/>
            <a:ext cx="3112571" cy="607025"/>
          </a:xfrm>
          <a:prstGeom prst="rect">
            <a:avLst/>
          </a:prstGeom>
        </p:spPr>
      </p:pic>
      <p:sp>
        <p:nvSpPr>
          <p:cNvPr id="5" name="Title 1">
            <a:extLst>
              <a:ext uri="{FF2B5EF4-FFF2-40B4-BE49-F238E27FC236}">
                <a16:creationId xmlns:a16="http://schemas.microsoft.com/office/drawing/2014/main" id="{84A0E13E-FB61-A45D-8F14-05452836B5D8}"/>
              </a:ext>
            </a:extLst>
          </p:cNvPr>
          <p:cNvSpPr txBox="1">
            <a:spLocks/>
          </p:cNvSpPr>
          <p:nvPr/>
        </p:nvSpPr>
        <p:spPr>
          <a:xfrm>
            <a:off x="-731395" y="908797"/>
            <a:ext cx="9818849" cy="74023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atin typeface="Georgia" panose="02040502050405020303" pitchFamily="18" charset="0"/>
              </a:rPr>
              <a:t>Post session activities</a:t>
            </a:r>
            <a:endParaRPr lang="en-IN" sz="2800" dirty="0">
              <a:latin typeface="Georgia" panose="02040502050405020303" pitchFamily="18" charset="0"/>
            </a:endParaRPr>
          </a:p>
        </p:txBody>
      </p:sp>
    </p:spTree>
    <p:extLst>
      <p:ext uri="{BB962C8B-B14F-4D97-AF65-F5344CB8AC3E}">
        <p14:creationId xmlns:p14="http://schemas.microsoft.com/office/powerpoint/2010/main" val="2756146885"/>
      </p:ext>
    </p:extLst>
  </p:cSld>
  <p:clrMapOvr>
    <a:masterClrMapping/>
  </p:clrMapOvr>
  <p:transition advTm="2418"/>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E995B-751B-0A32-5A21-E7C3B8B54B6B}"/>
              </a:ext>
            </a:extLst>
          </p:cNvPr>
          <p:cNvSpPr>
            <a:spLocks noGrp="1"/>
          </p:cNvSpPr>
          <p:nvPr>
            <p:ph type="title"/>
          </p:nvPr>
        </p:nvSpPr>
        <p:spPr>
          <a:xfrm>
            <a:off x="683655" y="1213803"/>
            <a:ext cx="10074911" cy="2504757"/>
          </a:xfrm>
        </p:spPr>
        <p:txBody>
          <a:bodyPr>
            <a:noAutofit/>
          </a:bodyPr>
          <a:lstStyle/>
          <a:p>
            <a:r>
              <a:rPr lang="en-US" sz="3200" dirty="0">
                <a:latin typeface="Georgia" panose="02040502050405020303" pitchFamily="18" charset="0"/>
              </a:rPr>
              <a:t>In the next session, Analysis of Solving recurrences – Substitution method will be discussed in detail.</a:t>
            </a:r>
            <a:endParaRPr lang="en-IN" sz="3200" dirty="0">
              <a:latin typeface="Georgia" panose="02040502050405020303" pitchFamily="18" charset="0"/>
            </a:endParaRPr>
          </a:p>
        </p:txBody>
      </p:sp>
      <p:sp>
        <p:nvSpPr>
          <p:cNvPr id="5" name="Footer Placeholder 4">
            <a:extLst>
              <a:ext uri="{FF2B5EF4-FFF2-40B4-BE49-F238E27FC236}">
                <a16:creationId xmlns:a16="http://schemas.microsoft.com/office/drawing/2014/main" id="{F1040086-9969-C241-AB60-108D142D9E10}"/>
              </a:ext>
            </a:extLst>
          </p:cNvPr>
          <p:cNvSpPr>
            <a:spLocks noGrp="1"/>
          </p:cNvSpPr>
          <p:nvPr>
            <p:ph type="ftr" sz="quarter" idx="11"/>
          </p:nvPr>
        </p:nvSpPr>
        <p:spPr/>
        <p:txBody>
          <a:bodyPr/>
          <a:lstStyle/>
          <a:p>
            <a:r>
              <a:rPr lang="en-IN" dirty="0"/>
              <a:t>      Galgotias University</a:t>
            </a:r>
          </a:p>
        </p:txBody>
      </p:sp>
      <p:sp>
        <p:nvSpPr>
          <p:cNvPr id="6" name="Slide Number Placeholder 5">
            <a:extLst>
              <a:ext uri="{FF2B5EF4-FFF2-40B4-BE49-F238E27FC236}">
                <a16:creationId xmlns:a16="http://schemas.microsoft.com/office/drawing/2014/main" id="{1EF65707-3814-3027-565A-48A3BE9C3CE3}"/>
              </a:ext>
            </a:extLst>
          </p:cNvPr>
          <p:cNvSpPr>
            <a:spLocks noGrp="1"/>
          </p:cNvSpPr>
          <p:nvPr>
            <p:ph type="sldNum" sz="quarter" idx="12"/>
          </p:nvPr>
        </p:nvSpPr>
        <p:spPr/>
        <p:txBody>
          <a:bodyPr/>
          <a:lstStyle/>
          <a:p>
            <a:fld id="{26510230-8DD5-4BA5-AB2D-CA30FC08F9D7}" type="slidenum">
              <a:rPr lang="en-IN" smtClean="0"/>
              <a:t>22</a:t>
            </a:fld>
            <a:endParaRPr lang="en-IN"/>
          </a:p>
        </p:txBody>
      </p:sp>
      <p:pic>
        <p:nvPicPr>
          <p:cNvPr id="7" name="Picture 6" descr="A blue circle with text and words&#10;&#10;Description automatically generated">
            <a:extLst>
              <a:ext uri="{FF2B5EF4-FFF2-40B4-BE49-F238E27FC236}">
                <a16:creationId xmlns:a16="http://schemas.microsoft.com/office/drawing/2014/main" id="{C592EB9A-7F96-10B0-43BD-B1F95C6FBE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3" name="Picture 2">
            <a:extLst>
              <a:ext uri="{FF2B5EF4-FFF2-40B4-BE49-F238E27FC236}">
                <a16:creationId xmlns:a16="http://schemas.microsoft.com/office/drawing/2014/main" id="{5D834257-EC96-D536-3BBD-72E7CFA642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
        <p:nvSpPr>
          <p:cNvPr id="4" name="Footer Placeholder 2">
            <a:extLst>
              <a:ext uri="{FF2B5EF4-FFF2-40B4-BE49-F238E27FC236}">
                <a16:creationId xmlns:a16="http://schemas.microsoft.com/office/drawing/2014/main" id="{09503EB8-D1FD-6897-CC3D-CBCC6B3D2BD9}"/>
              </a:ext>
            </a:extLst>
          </p:cNvPr>
          <p:cNvSpPr txBox="1">
            <a:spLocks/>
          </p:cNvSpPr>
          <p:nvPr/>
        </p:nvSpPr>
        <p:spPr>
          <a:xfrm>
            <a:off x="4191000" y="65087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Dr. Pooja Singh</a:t>
            </a:r>
          </a:p>
        </p:txBody>
      </p:sp>
    </p:spTree>
    <p:extLst>
      <p:ext uri="{BB962C8B-B14F-4D97-AF65-F5344CB8AC3E}">
        <p14:creationId xmlns:p14="http://schemas.microsoft.com/office/powerpoint/2010/main" val="5042243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4"/>
          <p:cNvSpPr txBox="1">
            <a:spLocks noGrp="1"/>
          </p:cNvSpPr>
          <p:nvPr>
            <p:ph type="title"/>
          </p:nvPr>
        </p:nvSpPr>
        <p:spPr>
          <a:xfrm>
            <a:off x="347472" y="1604858"/>
            <a:ext cx="10899648" cy="3637701"/>
          </a:xfrm>
          <a:prstGeom prst="rect">
            <a:avLst/>
          </a:prstGeom>
          <a:noFill/>
          <a:ln>
            <a:noFill/>
          </a:ln>
        </p:spPr>
        <p:txBody>
          <a:bodyPr spcFirstLastPara="1" wrap="square" lIns="91425" tIns="45700" rIns="91425" bIns="45700" anchor="t" anchorCtr="0">
            <a:normAutofit/>
          </a:bodyPr>
          <a:lstStyle/>
          <a:p>
            <a:pPr lvl="0">
              <a:buSzPts val="4000"/>
            </a:pPr>
            <a:r>
              <a:rPr lang="en-US" sz="4000" b="1" dirty="0"/>
              <a:t>Reflection-</a:t>
            </a:r>
            <a:br>
              <a:rPr lang="en-US" sz="4000" b="1" dirty="0"/>
            </a:br>
            <a:br>
              <a:rPr lang="en-US" sz="3100" dirty="0"/>
            </a:br>
            <a:r>
              <a:rPr lang="en-US" sz="3100" dirty="0"/>
              <a:t>How did analyzing this scenario help you understand the importance of Solving recurrences algorithm efficiency?</a:t>
            </a:r>
            <a:endParaRPr sz="4000" b="1" dirty="0"/>
          </a:p>
        </p:txBody>
      </p:sp>
      <p:sp>
        <p:nvSpPr>
          <p:cNvPr id="225" name="Google Shape;225;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226" name="Google Shape;226;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pic>
        <p:nvPicPr>
          <p:cNvPr id="227" name="Google Shape;227;p14"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228" name="Google Shape;228;p14"/>
          <p:cNvPicPr preferRelativeResize="0"/>
          <p:nvPr/>
        </p:nvPicPr>
        <p:blipFill rotWithShape="1">
          <a:blip r:embed="rId4">
            <a:alphaModFix/>
          </a:blip>
          <a:srcRect/>
          <a:stretch/>
        </p:blipFill>
        <p:spPr>
          <a:xfrm>
            <a:off x="104932" y="114202"/>
            <a:ext cx="3795634" cy="740238"/>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18"/>
          <p:cNvSpPr txBox="1">
            <a:spLocks noGrp="1"/>
          </p:cNvSpPr>
          <p:nvPr>
            <p:ph type="title"/>
          </p:nvPr>
        </p:nvSpPr>
        <p:spPr>
          <a:xfrm>
            <a:off x="683655" y="2451539"/>
            <a:ext cx="10593232" cy="250475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600"/>
              <a:buFont typeface="Georgia"/>
              <a:buNone/>
            </a:pPr>
            <a:r>
              <a:rPr lang="en-US" sz="3600" dirty="0">
                <a:latin typeface="Georgia"/>
                <a:ea typeface="Georgia"/>
                <a:cs typeface="Georgia"/>
                <a:sym typeface="Georgia"/>
              </a:rPr>
              <a:t>What was the most interesting concept you learned today?</a:t>
            </a:r>
            <a:br>
              <a:rPr lang="en-US" sz="3600" dirty="0">
                <a:latin typeface="Georgia"/>
                <a:ea typeface="Georgia"/>
                <a:cs typeface="Georgia"/>
                <a:sym typeface="Georgia"/>
              </a:rPr>
            </a:br>
            <a:br>
              <a:rPr lang="en-US" sz="3600" dirty="0">
                <a:latin typeface="Georgia"/>
                <a:ea typeface="Georgia"/>
                <a:cs typeface="Georgia"/>
                <a:sym typeface="Georgia"/>
              </a:rPr>
            </a:br>
            <a:r>
              <a:rPr lang="en-US" sz="3600" dirty="0">
                <a:latin typeface="Georgia"/>
                <a:ea typeface="Georgia"/>
                <a:cs typeface="Georgia"/>
                <a:sym typeface="Georgia"/>
              </a:rPr>
              <a:t>Any doubts or areas requiring further clarification?</a:t>
            </a:r>
            <a:endParaRPr sz="3600" dirty="0">
              <a:latin typeface="Georgia"/>
              <a:ea typeface="Georgia"/>
              <a:cs typeface="Georgia"/>
              <a:sym typeface="Georgia"/>
            </a:endParaRPr>
          </a:p>
        </p:txBody>
      </p:sp>
      <p:sp>
        <p:nvSpPr>
          <p:cNvPr id="262" name="Google Shape;262;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263" name="Google Shape;26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pic>
        <p:nvPicPr>
          <p:cNvPr id="264" name="Google Shape;264;p18"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265" name="Google Shape;265;p18"/>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266" name="Google Shape;266;p18"/>
          <p:cNvSpPr txBox="1"/>
          <p:nvPr/>
        </p:nvSpPr>
        <p:spPr>
          <a:xfrm>
            <a:off x="915113" y="1591715"/>
            <a:ext cx="9261273" cy="1297115"/>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chemeClr val="dk2"/>
              </a:buClr>
              <a:buSzPts val="4000"/>
              <a:buFont typeface="Play"/>
              <a:buNone/>
            </a:pPr>
            <a:r>
              <a:rPr lang="en-US" sz="4000" b="0" i="0" u="none" strike="noStrike" cap="none" dirty="0">
                <a:solidFill>
                  <a:schemeClr val="bg2">
                    <a:lumMod val="50000"/>
                    <a:lumOff val="50000"/>
                  </a:schemeClr>
                </a:solidFill>
                <a:latin typeface="Play"/>
                <a:ea typeface="Play"/>
                <a:cs typeface="Play"/>
                <a:sym typeface="Play"/>
              </a:rPr>
              <a:t>Review and Reflection from students</a:t>
            </a:r>
            <a:endParaRPr sz="4000" b="0" i="0" u="none" strike="noStrike" cap="none" dirty="0">
              <a:solidFill>
                <a:schemeClr val="bg2">
                  <a:lumMod val="50000"/>
                  <a:lumOff val="50000"/>
                </a:schemeClr>
              </a:solidFill>
              <a:latin typeface="Play"/>
              <a:ea typeface="Play"/>
              <a:cs typeface="Play"/>
              <a:sym typeface="Play"/>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A8CBBD8-A2B3-1D4E-0AC2-241271D52B27}"/>
              </a:ext>
            </a:extLst>
          </p:cNvPr>
          <p:cNvPicPr>
            <a:picLocks noChangeAspect="1"/>
          </p:cNvPicPr>
          <p:nvPr/>
        </p:nvPicPr>
        <p:blipFill>
          <a:blip r:embed="rId2"/>
          <a:stretch>
            <a:fillRect/>
          </a:stretch>
        </p:blipFill>
        <p:spPr>
          <a:xfrm>
            <a:off x="398794" y="470678"/>
            <a:ext cx="3798137" cy="737680"/>
          </a:xfrm>
          <a:prstGeom prst="rect">
            <a:avLst/>
          </a:prstGeom>
        </p:spPr>
      </p:pic>
      <p:pic>
        <p:nvPicPr>
          <p:cNvPr id="6" name="Picture 5">
            <a:extLst>
              <a:ext uri="{FF2B5EF4-FFF2-40B4-BE49-F238E27FC236}">
                <a16:creationId xmlns:a16="http://schemas.microsoft.com/office/drawing/2014/main" id="{ABEBAB84-9B69-17B7-6B59-08758C565115}"/>
              </a:ext>
            </a:extLst>
          </p:cNvPr>
          <p:cNvPicPr>
            <a:picLocks noChangeAspect="1"/>
          </p:cNvPicPr>
          <p:nvPr/>
        </p:nvPicPr>
        <p:blipFill>
          <a:blip r:embed="rId3"/>
          <a:stretch>
            <a:fillRect/>
          </a:stretch>
        </p:blipFill>
        <p:spPr>
          <a:xfrm>
            <a:off x="10942820" y="272846"/>
            <a:ext cx="1060492" cy="935512"/>
          </a:xfrm>
          <a:prstGeom prst="rect">
            <a:avLst/>
          </a:prstGeom>
        </p:spPr>
      </p:pic>
      <p:sp>
        <p:nvSpPr>
          <p:cNvPr id="7" name="TextBox 6">
            <a:extLst>
              <a:ext uri="{FF2B5EF4-FFF2-40B4-BE49-F238E27FC236}">
                <a16:creationId xmlns:a16="http://schemas.microsoft.com/office/drawing/2014/main" id="{E422BEEA-402B-F480-C3F7-95957EE90C8B}"/>
              </a:ext>
            </a:extLst>
          </p:cNvPr>
          <p:cNvSpPr txBox="1"/>
          <p:nvPr/>
        </p:nvSpPr>
        <p:spPr>
          <a:xfrm>
            <a:off x="2128603" y="2308485"/>
            <a:ext cx="6730584" cy="923330"/>
          </a:xfrm>
          <a:prstGeom prst="rect">
            <a:avLst/>
          </a:prstGeom>
          <a:noFill/>
        </p:spPr>
        <p:txBody>
          <a:bodyPr wrap="square" rtlCol="0">
            <a:spAutoFit/>
          </a:bodyPr>
          <a:lstStyle/>
          <a:p>
            <a:pPr algn="ctr"/>
            <a:r>
              <a:rPr lang="en-US" sz="5400" dirty="0">
                <a:solidFill>
                  <a:schemeClr val="accent6">
                    <a:lumMod val="75000"/>
                  </a:schemeClr>
                </a:solidFill>
              </a:rPr>
              <a:t>Thank You!!</a:t>
            </a:r>
            <a:endParaRPr lang="en-ID" sz="5400" dirty="0">
              <a:solidFill>
                <a:schemeClr val="accent6">
                  <a:lumMod val="75000"/>
                </a:schemeClr>
              </a:solidFill>
            </a:endParaRPr>
          </a:p>
        </p:txBody>
      </p:sp>
    </p:spTree>
    <p:extLst>
      <p:ext uri="{BB962C8B-B14F-4D97-AF65-F5344CB8AC3E}">
        <p14:creationId xmlns:p14="http://schemas.microsoft.com/office/powerpoint/2010/main" val="687256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4|1.5"/>
</p:tagLst>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Lecture-5</Template>
  <TotalTime>674</TotalTime>
  <Words>1577</Words>
  <Application>Microsoft Office PowerPoint</Application>
  <PresentationFormat>Widescreen</PresentationFormat>
  <Paragraphs>244</Paragraphs>
  <Slides>25</Slides>
  <Notes>10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25</vt:i4>
      </vt:variant>
    </vt:vector>
  </HeadingPairs>
  <TitlesOfParts>
    <vt:vector size="38" baseType="lpstr">
      <vt:lpstr>Aptos</vt:lpstr>
      <vt:lpstr>Arial</vt:lpstr>
      <vt:lpstr>Calibri</vt:lpstr>
      <vt:lpstr>Cambria</vt:lpstr>
      <vt:lpstr>Cambria Math</vt:lpstr>
      <vt:lpstr>Georgia</vt:lpstr>
      <vt:lpstr>Play</vt:lpstr>
      <vt:lpstr>sofia-pro</vt:lpstr>
      <vt:lpstr>Soleil</vt:lpstr>
      <vt:lpstr>Times New Roman</vt:lpstr>
      <vt:lpstr>Tinos</vt:lpstr>
      <vt:lpstr>Wingdings</vt:lpstr>
      <vt:lpstr>Office Theme</vt:lpstr>
      <vt:lpstr>Introduction: Recurrence Relations and Analysis of Recursive Algorithms    Session No.: 6 Course Name: Design and analysis of algorithm Course Code: R1UC407B Instructor Name: Rakesh Bharati Duration: 50 Min. Date of Conduction of Class:  </vt:lpstr>
      <vt:lpstr>Learning Outcome</vt:lpstr>
      <vt:lpstr>Session Outline</vt:lpstr>
      <vt:lpstr>      Review of the key concepts  1. Complexity Analysis of Non-Recursive Algorithms  2. Analyzing Non-Recursive Algorithms      </vt:lpstr>
      <vt:lpstr> 🔹Conceptual &amp; Engaging “When we solve a problem by breaking it into smaller subproblems of the same type, how can we mathematically represent the total time it takes?”  🔹 Real-Life Trigger Question "If a function calls itself multiple times, how do we predict whether it will finish quickly or take exponential time?”  🔹 Analytical Thinking Question "Suppose an algorithm divides a problem into two smaller problems of half the size each time. How would you express its running time using a mathematical relation?”  🔹 Simple Warm-Up Version "What happens to time complexity when a function calls itself again and again?”  </vt:lpstr>
      <vt:lpstr>PowerPoint Presentation</vt:lpstr>
      <vt:lpstr>Definition</vt:lpstr>
      <vt:lpstr>  Analyse Recursive algorithm</vt:lpstr>
      <vt:lpstr>PowerPoint Presentation</vt:lpstr>
      <vt:lpstr>PowerPoint Presentation</vt:lpstr>
      <vt:lpstr>PowerPoint Presentation</vt:lpstr>
      <vt:lpstr>PowerPoint Presentation</vt:lpstr>
      <vt:lpstr>  Learning Activity: Pen Paper Activity</vt:lpstr>
      <vt:lpstr>PowerPoint Presentation</vt:lpstr>
      <vt:lpstr>PowerPoint Presentation</vt:lpstr>
      <vt:lpstr>PowerPoint Presentation</vt:lpstr>
      <vt:lpstr>Wooclap activities</vt:lpstr>
      <vt:lpstr>  Important results [Decreasing function]:</vt:lpstr>
      <vt:lpstr>  Master Method [Decreasing function]:</vt:lpstr>
      <vt:lpstr>  </vt:lpstr>
      <vt:lpstr>PowerPoint Presentation</vt:lpstr>
      <vt:lpstr>In the next session, Analysis of Solving recurrences – Substitution method will be discussed in detail.</vt:lpstr>
      <vt:lpstr>Reflection-  How did analyzing this scenario help you understand the importance of Solving recurrences algorithm efficiency?</vt:lpstr>
      <vt:lpstr>What was the most interesting concept you learned today?  Any doubts or areas requiring further clarification?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Recurrence Relations and Analysis of Recursive Algorithms    Session No.: 6 Course Name: Design and analysis of algorithm Course Code: R1UC407B Instructor Name: Rakesh Bharati Duration: 50 Min. Date of Conduction of Class:  </dc:title>
  <dc:creator>pooja singh</dc:creator>
  <cp:lastModifiedBy>RAKESH BHARATI</cp:lastModifiedBy>
  <cp:revision>28</cp:revision>
  <dcterms:created xsi:type="dcterms:W3CDTF">2025-11-21T06:03:44Z</dcterms:created>
  <dcterms:modified xsi:type="dcterms:W3CDTF">2026-02-19T08:36:08Z</dcterms:modified>
</cp:coreProperties>
</file>