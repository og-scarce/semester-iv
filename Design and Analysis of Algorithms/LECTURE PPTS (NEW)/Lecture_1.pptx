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82" r:id="rId3"/>
    <p:sldId id="257" r:id="rId4"/>
    <p:sldId id="259" r:id="rId5"/>
    <p:sldId id="285" r:id="rId6"/>
    <p:sldId id="291" r:id="rId7"/>
    <p:sldId id="293" r:id="rId8"/>
    <p:sldId id="292" r:id="rId9"/>
    <p:sldId id="294" r:id="rId10"/>
    <p:sldId id="261" r:id="rId11"/>
    <p:sldId id="295" r:id="rId12"/>
    <p:sldId id="262" r:id="rId13"/>
    <p:sldId id="296" r:id="rId14"/>
    <p:sldId id="284" r:id="rId15"/>
    <p:sldId id="281" r:id="rId16"/>
    <p:sldId id="27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94"/>
  </p:normalViewPr>
  <p:slideViewPr>
    <p:cSldViewPr snapToGrid="0">
      <p:cViewPr varScale="1">
        <p:scale>
          <a:sx n="61" d="100"/>
          <a:sy n="61" d="100"/>
        </p:scale>
        <p:origin x="884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FBD6BAB-0140-48B9-9073-E08FDCB01885}">
      <dgm:prSet/>
      <dgm:spPr/>
      <dgm:t>
        <a:bodyPr/>
        <a:lstStyle/>
        <a:p>
          <a:pPr algn="just"/>
          <a:r>
            <a:rPr lang="en-US" b="0" dirty="0">
              <a:latin typeface="Times New Roman" panose="02020603050405020304" pitchFamily="18" charset="0"/>
              <a:cs typeface="Times New Roman" panose="02020603050405020304" pitchFamily="18" charset="0"/>
            </a:rPr>
            <a:t>Define an algorithm and explain its role in problem solving.</a:t>
          </a:r>
        </a:p>
      </dgm:t>
    </dgm:pt>
    <dgm:pt modelId="{A7069F57-F0E9-4BC0-BE1B-B8F059C9E5B6}" type="parTrans" cxnId="{32A129EE-3813-43B6-AF53-E9A6D3182FA2}">
      <dgm:prSet/>
      <dgm:spPr/>
      <dgm:t>
        <a:bodyPr/>
        <a:lstStyle/>
        <a:p>
          <a:endParaRPr lang="en-US"/>
        </a:p>
      </dgm:t>
    </dgm:pt>
    <dgm:pt modelId="{0715BA3E-6351-4C71-A2A0-855403651045}" type="sibTrans" cxnId="{32A129EE-3813-43B6-AF53-E9A6D3182FA2}">
      <dgm:prSet/>
      <dgm:spPr/>
      <dgm:t>
        <a:bodyPr/>
        <a:lstStyle/>
        <a:p>
          <a:endParaRPr lang="en-US"/>
        </a:p>
      </dgm:t>
    </dgm:pt>
    <dgm:pt modelId="{A3B4F848-7886-4B10-8E34-39E0B844A474}">
      <dgm:prSet/>
      <dgm:spPr/>
      <dgm:t>
        <a:bodyPr/>
        <a:lstStyle/>
        <a:p>
          <a:pPr algn="just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Applies algorithmic thinking to real-world problems.</a:t>
          </a:r>
        </a:p>
      </dgm:t>
    </dgm:pt>
    <dgm:pt modelId="{421929F8-4756-4702-AAD7-7A5185D82904}" type="parTrans" cxnId="{10F4C3C1-D8D4-465A-A58C-B8F418AC919B}">
      <dgm:prSet/>
      <dgm:spPr/>
      <dgm:t>
        <a:bodyPr/>
        <a:lstStyle/>
        <a:p>
          <a:endParaRPr lang="en-US"/>
        </a:p>
      </dgm:t>
    </dgm:pt>
    <dgm:pt modelId="{3DE2F17F-758E-4FA7-AB6B-444F38F1FFC4}" type="sibTrans" cxnId="{10F4C3C1-D8D4-465A-A58C-B8F418AC919B}">
      <dgm:prSet/>
      <dgm:spPr/>
      <dgm:t>
        <a:bodyPr/>
        <a:lstStyle/>
        <a:p>
          <a:endParaRPr lang="en-US"/>
        </a:p>
      </dgm:t>
    </dgm:pt>
    <dgm:pt modelId="{E218E0F1-97EC-4D60-8F4A-A6E21D910199}" type="pres">
      <dgm:prSet presAssocID="{B7ED251F-A7A3-4D25-B004-4241BE03EDC3}" presName="outerComposite" presStyleCnt="0">
        <dgm:presLayoutVars>
          <dgm:chMax val="5"/>
          <dgm:dir/>
          <dgm:resizeHandles val="exact"/>
        </dgm:presLayoutVars>
      </dgm:prSet>
      <dgm:spPr/>
    </dgm:pt>
    <dgm:pt modelId="{353F2BDB-A1CE-4ECD-BC0F-35AD5A327550}" type="pres">
      <dgm:prSet presAssocID="{B7ED251F-A7A3-4D25-B004-4241BE03EDC3}" presName="dummyMaxCanvas" presStyleCnt="0">
        <dgm:presLayoutVars/>
      </dgm:prSet>
      <dgm:spPr/>
    </dgm:pt>
    <dgm:pt modelId="{50B3B115-9ED4-4424-B000-6C66B8D607D6}" type="pres">
      <dgm:prSet presAssocID="{B7ED251F-A7A3-4D25-B004-4241BE03EDC3}" presName="TwoNodes_1" presStyleLbl="node1" presStyleIdx="0" presStyleCnt="2">
        <dgm:presLayoutVars>
          <dgm:bulletEnabled val="1"/>
        </dgm:presLayoutVars>
      </dgm:prSet>
      <dgm:spPr/>
    </dgm:pt>
    <dgm:pt modelId="{66D5292E-E31B-47C3-B7F6-6E92D8DBC596}" type="pres">
      <dgm:prSet presAssocID="{B7ED251F-A7A3-4D25-B004-4241BE03EDC3}" presName="TwoNodes_2" presStyleLbl="node1" presStyleIdx="1" presStyleCnt="2">
        <dgm:presLayoutVars>
          <dgm:bulletEnabled val="1"/>
        </dgm:presLayoutVars>
      </dgm:prSet>
      <dgm:spPr/>
    </dgm:pt>
    <dgm:pt modelId="{C65C44E2-047F-4F51-A8DC-FF51C925FC7F}" type="pres">
      <dgm:prSet presAssocID="{B7ED251F-A7A3-4D25-B004-4241BE03EDC3}" presName="TwoConn_1-2" presStyleLbl="fgAccFollowNode1" presStyleIdx="0" presStyleCnt="1">
        <dgm:presLayoutVars>
          <dgm:bulletEnabled val="1"/>
        </dgm:presLayoutVars>
      </dgm:prSet>
      <dgm:spPr/>
    </dgm:pt>
    <dgm:pt modelId="{A4FE43DF-38F9-4E9D-BFAC-B056439DD239}" type="pres">
      <dgm:prSet presAssocID="{B7ED251F-A7A3-4D25-B004-4241BE03EDC3}" presName="TwoNodes_1_text" presStyleLbl="node1" presStyleIdx="1" presStyleCnt="2">
        <dgm:presLayoutVars>
          <dgm:bulletEnabled val="1"/>
        </dgm:presLayoutVars>
      </dgm:prSet>
      <dgm:spPr/>
    </dgm:pt>
    <dgm:pt modelId="{D6550B05-CA9B-414C-B02C-0996B53629B5}" type="pres">
      <dgm:prSet presAssocID="{B7ED251F-A7A3-4D25-B004-4241BE03EDC3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08A81826-7273-44A3-AF99-B781181E27AF}" type="presOf" srcId="{B7ED251F-A7A3-4D25-B004-4241BE03EDC3}" destId="{E218E0F1-97EC-4D60-8F4A-A6E21D910199}" srcOrd="0" destOrd="0" presId="urn:microsoft.com/office/officeart/2005/8/layout/vProcess5"/>
    <dgm:cxn modelId="{B7C90E5D-C08D-4C7A-BC09-978891E6C996}" type="presOf" srcId="{0715BA3E-6351-4C71-A2A0-855403651045}" destId="{C65C44E2-047F-4F51-A8DC-FF51C925FC7F}" srcOrd="0" destOrd="0" presId="urn:microsoft.com/office/officeart/2005/8/layout/vProcess5"/>
    <dgm:cxn modelId="{F8377941-5A76-4607-BD83-62C7797B0244}" type="presOf" srcId="{DFBD6BAB-0140-48B9-9073-E08FDCB01885}" destId="{A4FE43DF-38F9-4E9D-BFAC-B056439DD239}" srcOrd="1" destOrd="0" presId="urn:microsoft.com/office/officeart/2005/8/layout/vProcess5"/>
    <dgm:cxn modelId="{D8FD6265-6EFF-41EA-A3FD-157498354C48}" type="presOf" srcId="{A3B4F848-7886-4B10-8E34-39E0B844A474}" destId="{66D5292E-E31B-47C3-B7F6-6E92D8DBC596}" srcOrd="0" destOrd="0" presId="urn:microsoft.com/office/officeart/2005/8/layout/vProcess5"/>
    <dgm:cxn modelId="{77311569-CDC2-49AC-95DB-7463C529128E}" type="presOf" srcId="{A3B4F848-7886-4B10-8E34-39E0B844A474}" destId="{D6550B05-CA9B-414C-B02C-0996B53629B5}" srcOrd="1" destOrd="0" presId="urn:microsoft.com/office/officeart/2005/8/layout/vProcess5"/>
    <dgm:cxn modelId="{7987A051-5FB1-40A3-A3C7-DD53D6028BFC}" type="presOf" srcId="{DFBD6BAB-0140-48B9-9073-E08FDCB01885}" destId="{50B3B115-9ED4-4424-B000-6C66B8D607D6}" srcOrd="0" destOrd="0" presId="urn:microsoft.com/office/officeart/2005/8/layout/vProcess5"/>
    <dgm:cxn modelId="{10F4C3C1-D8D4-465A-A58C-B8F418AC919B}" srcId="{B7ED251F-A7A3-4D25-B004-4241BE03EDC3}" destId="{A3B4F848-7886-4B10-8E34-39E0B844A474}" srcOrd="1" destOrd="0" parTransId="{421929F8-4756-4702-AAD7-7A5185D82904}" sibTransId="{3DE2F17F-758E-4FA7-AB6B-444F38F1FFC4}"/>
    <dgm:cxn modelId="{32A129EE-3813-43B6-AF53-E9A6D3182FA2}" srcId="{B7ED251F-A7A3-4D25-B004-4241BE03EDC3}" destId="{DFBD6BAB-0140-48B9-9073-E08FDCB01885}" srcOrd="0" destOrd="0" parTransId="{A7069F57-F0E9-4BC0-BE1B-B8F059C9E5B6}" sibTransId="{0715BA3E-6351-4C71-A2A0-855403651045}"/>
    <dgm:cxn modelId="{61E78557-A66C-4CE5-B60F-73372A952247}" type="presParOf" srcId="{E218E0F1-97EC-4D60-8F4A-A6E21D910199}" destId="{353F2BDB-A1CE-4ECD-BC0F-35AD5A327550}" srcOrd="0" destOrd="0" presId="urn:microsoft.com/office/officeart/2005/8/layout/vProcess5"/>
    <dgm:cxn modelId="{91FFE510-5AEF-4699-93BA-62BCE0929612}" type="presParOf" srcId="{E218E0F1-97EC-4D60-8F4A-A6E21D910199}" destId="{50B3B115-9ED4-4424-B000-6C66B8D607D6}" srcOrd="1" destOrd="0" presId="urn:microsoft.com/office/officeart/2005/8/layout/vProcess5"/>
    <dgm:cxn modelId="{A6323143-C21B-48C4-A26E-C1BE1D3FDFA3}" type="presParOf" srcId="{E218E0F1-97EC-4D60-8F4A-A6E21D910199}" destId="{66D5292E-E31B-47C3-B7F6-6E92D8DBC596}" srcOrd="2" destOrd="0" presId="urn:microsoft.com/office/officeart/2005/8/layout/vProcess5"/>
    <dgm:cxn modelId="{A7712366-DE27-4D2D-9EA4-E72C08291FDF}" type="presParOf" srcId="{E218E0F1-97EC-4D60-8F4A-A6E21D910199}" destId="{C65C44E2-047F-4F51-A8DC-FF51C925FC7F}" srcOrd="3" destOrd="0" presId="urn:microsoft.com/office/officeart/2005/8/layout/vProcess5"/>
    <dgm:cxn modelId="{D9234DA3-5745-412D-96F2-93EDC8C718C2}" type="presParOf" srcId="{E218E0F1-97EC-4D60-8F4A-A6E21D910199}" destId="{A4FE43DF-38F9-4E9D-BFAC-B056439DD239}" srcOrd="4" destOrd="0" presId="urn:microsoft.com/office/officeart/2005/8/layout/vProcess5"/>
    <dgm:cxn modelId="{9F1A614F-0DA6-43D7-AACB-1E517E8A8B09}" type="presParOf" srcId="{E218E0F1-97EC-4D60-8F4A-A6E21D910199}" destId="{D6550B05-CA9B-414C-B02C-0996B53629B5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64DB52A-CA4F-4852-B41E-6A1F43CC58F9}" type="doc">
      <dgm:prSet loTypeId="urn:microsoft.com/office/officeart/2008/layout/LinedList" loCatId="list" qsTypeId="urn:microsoft.com/office/officeart/2005/8/quickstyle/simple1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C8BD7C71-8F1B-400D-96A3-6B553A93EB7F}">
      <dgm:prSet custT="1"/>
      <dgm:spPr/>
      <dgm:t>
        <a:bodyPr/>
        <a:lstStyle/>
        <a:p>
          <a:r>
            <a:rPr lang="en-IN" sz="2200" kern="1200" dirty="0"/>
            <a:t>1 Introduction to </a:t>
          </a:r>
          <a:r>
            <a:rPr lang="en-US" sz="22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notion of an algorithm, </a:t>
          </a:r>
        </a:p>
      </dgm:t>
    </dgm:pt>
    <dgm:pt modelId="{BBCFB319-5299-4310-B646-22472DABF40A}" type="parTrans" cxnId="{942D76EB-4E8A-49F9-9193-131FE6139044}">
      <dgm:prSet/>
      <dgm:spPr/>
      <dgm:t>
        <a:bodyPr/>
        <a:lstStyle/>
        <a:p>
          <a:endParaRPr lang="en-US"/>
        </a:p>
      </dgm:t>
    </dgm:pt>
    <dgm:pt modelId="{AF1C4F3A-D240-4EB1-9ECB-2ED225CCC019}" type="sibTrans" cxnId="{942D76EB-4E8A-49F9-9193-131FE6139044}">
      <dgm:prSet/>
      <dgm:spPr/>
      <dgm:t>
        <a:bodyPr/>
        <a:lstStyle/>
        <a:p>
          <a:endParaRPr lang="en-US"/>
        </a:p>
      </dgm:t>
    </dgm:pt>
    <dgm:pt modelId="{311F9A05-A7F4-4328-B319-DBCDF0DF0E82}">
      <dgm:prSet custT="1"/>
      <dgm:spPr/>
      <dgm:t>
        <a:bodyPr/>
        <a:lstStyle/>
        <a:p>
          <a:r>
            <a:rPr lang="en-IN" sz="2600" kern="1200" dirty="0"/>
            <a:t>2 </a:t>
          </a:r>
          <a:r>
            <a:rPr lang="en-US" sz="22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Fundamentals of algorithmic problem solving and problem types </a:t>
          </a:r>
        </a:p>
      </dgm:t>
    </dgm:pt>
    <dgm:pt modelId="{23B85C74-2F21-4685-BD89-BB563657B099}" type="parTrans" cxnId="{6DCFA649-9D6E-469B-AACA-1BA847263E9A}">
      <dgm:prSet/>
      <dgm:spPr/>
      <dgm:t>
        <a:bodyPr/>
        <a:lstStyle/>
        <a:p>
          <a:endParaRPr lang="en-US"/>
        </a:p>
      </dgm:t>
    </dgm:pt>
    <dgm:pt modelId="{91F4A534-BBDE-4EB5-BAE5-EACEB7D0B868}" type="sibTrans" cxnId="{6DCFA649-9D6E-469B-AACA-1BA847263E9A}">
      <dgm:prSet/>
      <dgm:spPr/>
      <dgm:t>
        <a:bodyPr/>
        <a:lstStyle/>
        <a:p>
          <a:endParaRPr lang="en-US"/>
        </a:p>
      </dgm:t>
    </dgm:pt>
    <dgm:pt modelId="{81CB55E0-0FB6-485C-B15D-9BD278F78C6F}">
      <dgm:prSet custT="1"/>
      <dgm:spPr/>
      <dgm:t>
        <a:bodyPr/>
        <a:lstStyle/>
        <a:p>
          <a:r>
            <a:rPr lang="en-IN" sz="2500" kern="1200" dirty="0"/>
            <a:t>3 </a:t>
          </a:r>
          <a:r>
            <a:rPr lang="en-US" sz="22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Concept and definition for learning Activity </a:t>
          </a:r>
        </a:p>
      </dgm:t>
    </dgm:pt>
    <dgm:pt modelId="{81E23C2F-5B75-4C87-B80F-F92D751EF2D3}" type="parTrans" cxnId="{B28E7539-702F-4403-B38C-CCE2EC9E181E}">
      <dgm:prSet/>
      <dgm:spPr/>
      <dgm:t>
        <a:bodyPr/>
        <a:lstStyle/>
        <a:p>
          <a:endParaRPr lang="en-US"/>
        </a:p>
      </dgm:t>
    </dgm:pt>
    <dgm:pt modelId="{CA453529-0F48-4EF3-8F16-E732FB1811C3}" type="sibTrans" cxnId="{B28E7539-702F-4403-B38C-CCE2EC9E181E}">
      <dgm:prSet/>
      <dgm:spPr/>
      <dgm:t>
        <a:bodyPr/>
        <a:lstStyle/>
        <a:p>
          <a:endParaRPr lang="en-US"/>
        </a:p>
      </dgm:t>
    </dgm:pt>
    <dgm:pt modelId="{51474CA9-1ADD-4331-9534-6780C3A18768}">
      <dgm:prSet custT="1"/>
      <dgm:spPr/>
      <dgm:t>
        <a:bodyPr/>
        <a:lstStyle/>
        <a:p>
          <a:r>
            <a:rPr lang="en-IN" sz="22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4 Activity (scenario based)</a:t>
          </a:r>
          <a:endParaRPr lang="en-US" sz="22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+mn-cs"/>
          </a:endParaRPr>
        </a:p>
      </dgm:t>
    </dgm:pt>
    <dgm:pt modelId="{BD15203B-A2C4-421B-84CE-AC22CC6E237F}" type="parTrans" cxnId="{C10A2E97-40D9-4123-9647-358E1A64D6C9}">
      <dgm:prSet/>
      <dgm:spPr/>
      <dgm:t>
        <a:bodyPr/>
        <a:lstStyle/>
        <a:p>
          <a:endParaRPr lang="en-US"/>
        </a:p>
      </dgm:t>
    </dgm:pt>
    <dgm:pt modelId="{5FA359DE-6932-424A-BDE2-579D3E29B33A}" type="sibTrans" cxnId="{C10A2E97-40D9-4123-9647-358E1A64D6C9}">
      <dgm:prSet/>
      <dgm:spPr/>
      <dgm:t>
        <a:bodyPr/>
        <a:lstStyle/>
        <a:p>
          <a:endParaRPr lang="en-US"/>
        </a:p>
      </dgm:t>
    </dgm:pt>
    <dgm:pt modelId="{BA2E5375-FD77-47B4-A888-7387932E6D62}">
      <dgm:prSet custT="1"/>
      <dgm:spPr/>
      <dgm:t>
        <a:bodyPr/>
        <a:lstStyle/>
        <a:p>
          <a:r>
            <a:rPr lang="en-IN" sz="2500" kern="1200" dirty="0"/>
            <a:t>5 </a:t>
          </a:r>
          <a:r>
            <a:rPr lang="en-US" sz="22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Reflection learning activity </a:t>
          </a:r>
        </a:p>
      </dgm:t>
    </dgm:pt>
    <dgm:pt modelId="{9F77997F-5AC0-4D93-89AC-B37B7BDB43EF}" type="parTrans" cxnId="{285F19B7-0DE6-4516-940F-56080AC841F9}">
      <dgm:prSet/>
      <dgm:spPr/>
      <dgm:t>
        <a:bodyPr/>
        <a:lstStyle/>
        <a:p>
          <a:endParaRPr lang="en-US"/>
        </a:p>
      </dgm:t>
    </dgm:pt>
    <dgm:pt modelId="{60B3BF56-C21F-456B-A5AC-F5C3D1CA9305}" type="sibTrans" cxnId="{285F19B7-0DE6-4516-940F-56080AC841F9}">
      <dgm:prSet/>
      <dgm:spPr/>
      <dgm:t>
        <a:bodyPr/>
        <a:lstStyle/>
        <a:p>
          <a:endParaRPr lang="en-US"/>
        </a:p>
      </dgm:t>
    </dgm:pt>
    <dgm:pt modelId="{B3A5C720-F6BA-415B-BACC-D6E1E00A3E9C}">
      <dgm:prSet custT="1"/>
      <dgm:spPr/>
      <dgm:t>
        <a:bodyPr/>
        <a:lstStyle/>
        <a:p>
          <a:r>
            <a:rPr lang="en-IN" sz="22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6 Conclusion</a:t>
          </a:r>
          <a:endParaRPr lang="en-US" sz="22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+mn-cs"/>
          </a:endParaRPr>
        </a:p>
      </dgm:t>
    </dgm:pt>
    <dgm:pt modelId="{F429E385-C516-4FAE-9D81-A0D8E294980B}" type="parTrans" cxnId="{0929CE6D-F2B1-4F6D-A0E5-1B096EB2DD2D}">
      <dgm:prSet/>
      <dgm:spPr/>
      <dgm:t>
        <a:bodyPr/>
        <a:lstStyle/>
        <a:p>
          <a:endParaRPr lang="en-US"/>
        </a:p>
      </dgm:t>
    </dgm:pt>
    <dgm:pt modelId="{70FFF6AF-5C8B-41F5-90C8-E0C6F35FD649}" type="sibTrans" cxnId="{0929CE6D-F2B1-4F6D-A0E5-1B096EB2DD2D}">
      <dgm:prSet/>
      <dgm:spPr/>
      <dgm:t>
        <a:bodyPr/>
        <a:lstStyle/>
        <a:p>
          <a:endParaRPr lang="en-US"/>
        </a:p>
      </dgm:t>
    </dgm:pt>
    <dgm:pt modelId="{573103A9-89AC-4873-8CB5-0F4B7370B2E1}" type="pres">
      <dgm:prSet presAssocID="{B64DB52A-CA4F-4852-B41E-6A1F43CC58F9}" presName="vert0" presStyleCnt="0">
        <dgm:presLayoutVars>
          <dgm:dir/>
          <dgm:animOne val="branch"/>
          <dgm:animLvl val="lvl"/>
        </dgm:presLayoutVars>
      </dgm:prSet>
      <dgm:spPr/>
    </dgm:pt>
    <dgm:pt modelId="{6FF76B5C-2320-4CB5-9844-D984662B1716}" type="pres">
      <dgm:prSet presAssocID="{C8BD7C71-8F1B-400D-96A3-6B553A93EB7F}" presName="thickLine" presStyleLbl="alignNode1" presStyleIdx="0" presStyleCnt="6"/>
      <dgm:spPr/>
    </dgm:pt>
    <dgm:pt modelId="{41C87863-73DE-4F9B-A76B-880D805954CA}" type="pres">
      <dgm:prSet presAssocID="{C8BD7C71-8F1B-400D-96A3-6B553A93EB7F}" presName="horz1" presStyleCnt="0"/>
      <dgm:spPr/>
    </dgm:pt>
    <dgm:pt modelId="{CBF4003A-096B-4C8D-8E4F-9D9EAB681D72}" type="pres">
      <dgm:prSet presAssocID="{C8BD7C71-8F1B-400D-96A3-6B553A93EB7F}" presName="tx1" presStyleLbl="revTx" presStyleIdx="0" presStyleCnt="6"/>
      <dgm:spPr/>
    </dgm:pt>
    <dgm:pt modelId="{608B7948-37DA-4DDD-A56D-16AA8CC3AD50}" type="pres">
      <dgm:prSet presAssocID="{C8BD7C71-8F1B-400D-96A3-6B553A93EB7F}" presName="vert1" presStyleCnt="0"/>
      <dgm:spPr/>
    </dgm:pt>
    <dgm:pt modelId="{F83A5B86-9D43-4C81-A6D4-87875817B689}" type="pres">
      <dgm:prSet presAssocID="{311F9A05-A7F4-4328-B319-DBCDF0DF0E82}" presName="thickLine" presStyleLbl="alignNode1" presStyleIdx="1" presStyleCnt="6"/>
      <dgm:spPr/>
    </dgm:pt>
    <dgm:pt modelId="{3BC975C1-0C99-4F97-8C52-C1CFA0BAF551}" type="pres">
      <dgm:prSet presAssocID="{311F9A05-A7F4-4328-B319-DBCDF0DF0E82}" presName="horz1" presStyleCnt="0"/>
      <dgm:spPr/>
    </dgm:pt>
    <dgm:pt modelId="{7BF0A7F7-0F37-4B11-9AED-B46FE7E128D8}" type="pres">
      <dgm:prSet presAssocID="{311F9A05-A7F4-4328-B319-DBCDF0DF0E82}" presName="tx1" presStyleLbl="revTx" presStyleIdx="1" presStyleCnt="6"/>
      <dgm:spPr/>
    </dgm:pt>
    <dgm:pt modelId="{AA11931C-C560-424D-BE37-4872DC1B2048}" type="pres">
      <dgm:prSet presAssocID="{311F9A05-A7F4-4328-B319-DBCDF0DF0E82}" presName="vert1" presStyleCnt="0"/>
      <dgm:spPr/>
    </dgm:pt>
    <dgm:pt modelId="{7EE56E18-6978-43E9-9D4D-E31AA5BEE441}" type="pres">
      <dgm:prSet presAssocID="{81CB55E0-0FB6-485C-B15D-9BD278F78C6F}" presName="thickLine" presStyleLbl="alignNode1" presStyleIdx="2" presStyleCnt="6"/>
      <dgm:spPr/>
    </dgm:pt>
    <dgm:pt modelId="{447FCB44-517C-43F4-BE59-391C36D21C9C}" type="pres">
      <dgm:prSet presAssocID="{81CB55E0-0FB6-485C-B15D-9BD278F78C6F}" presName="horz1" presStyleCnt="0"/>
      <dgm:spPr/>
    </dgm:pt>
    <dgm:pt modelId="{89436931-860B-40AD-8DCE-CEE0F56E60ED}" type="pres">
      <dgm:prSet presAssocID="{81CB55E0-0FB6-485C-B15D-9BD278F78C6F}" presName="tx1" presStyleLbl="revTx" presStyleIdx="2" presStyleCnt="6"/>
      <dgm:spPr/>
    </dgm:pt>
    <dgm:pt modelId="{0E51C315-1B46-45D6-B4D4-E44AF2F7FE47}" type="pres">
      <dgm:prSet presAssocID="{81CB55E0-0FB6-485C-B15D-9BD278F78C6F}" presName="vert1" presStyleCnt="0"/>
      <dgm:spPr/>
    </dgm:pt>
    <dgm:pt modelId="{B514687E-679F-4404-A929-C733AA004539}" type="pres">
      <dgm:prSet presAssocID="{51474CA9-1ADD-4331-9534-6780C3A18768}" presName="thickLine" presStyleLbl="alignNode1" presStyleIdx="3" presStyleCnt="6"/>
      <dgm:spPr/>
    </dgm:pt>
    <dgm:pt modelId="{80414A13-977F-40A0-BF88-8AEFF7DE361E}" type="pres">
      <dgm:prSet presAssocID="{51474CA9-1ADD-4331-9534-6780C3A18768}" presName="horz1" presStyleCnt="0"/>
      <dgm:spPr/>
    </dgm:pt>
    <dgm:pt modelId="{3E95DC57-D848-494F-A343-6CBABA986252}" type="pres">
      <dgm:prSet presAssocID="{51474CA9-1ADD-4331-9534-6780C3A18768}" presName="tx1" presStyleLbl="revTx" presStyleIdx="3" presStyleCnt="6"/>
      <dgm:spPr/>
    </dgm:pt>
    <dgm:pt modelId="{42E34139-9E2B-4ED7-9D4C-0E180FD5C739}" type="pres">
      <dgm:prSet presAssocID="{51474CA9-1ADD-4331-9534-6780C3A18768}" presName="vert1" presStyleCnt="0"/>
      <dgm:spPr/>
    </dgm:pt>
    <dgm:pt modelId="{0B062B2C-FD23-461E-89A1-3ECDF7A567C2}" type="pres">
      <dgm:prSet presAssocID="{BA2E5375-FD77-47B4-A888-7387932E6D62}" presName="thickLine" presStyleLbl="alignNode1" presStyleIdx="4" presStyleCnt="6"/>
      <dgm:spPr/>
    </dgm:pt>
    <dgm:pt modelId="{1BF4D050-06E8-4B19-AEB8-E6957BD50750}" type="pres">
      <dgm:prSet presAssocID="{BA2E5375-FD77-47B4-A888-7387932E6D62}" presName="horz1" presStyleCnt="0"/>
      <dgm:spPr/>
    </dgm:pt>
    <dgm:pt modelId="{D26876CA-709E-4928-AAF2-4734D1DACD6D}" type="pres">
      <dgm:prSet presAssocID="{BA2E5375-FD77-47B4-A888-7387932E6D62}" presName="tx1" presStyleLbl="revTx" presStyleIdx="4" presStyleCnt="6"/>
      <dgm:spPr/>
    </dgm:pt>
    <dgm:pt modelId="{88DBC881-0983-4C91-8705-CB8A16D50941}" type="pres">
      <dgm:prSet presAssocID="{BA2E5375-FD77-47B4-A888-7387932E6D62}" presName="vert1" presStyleCnt="0"/>
      <dgm:spPr/>
    </dgm:pt>
    <dgm:pt modelId="{2B37DFBD-1045-417A-89DD-348147EAB4F5}" type="pres">
      <dgm:prSet presAssocID="{B3A5C720-F6BA-415B-BACC-D6E1E00A3E9C}" presName="thickLine" presStyleLbl="alignNode1" presStyleIdx="5" presStyleCnt="6"/>
      <dgm:spPr/>
    </dgm:pt>
    <dgm:pt modelId="{37DCFB0B-1A16-4C35-A117-077E4A9AB132}" type="pres">
      <dgm:prSet presAssocID="{B3A5C720-F6BA-415B-BACC-D6E1E00A3E9C}" presName="horz1" presStyleCnt="0"/>
      <dgm:spPr/>
    </dgm:pt>
    <dgm:pt modelId="{1DE32878-1683-410B-AEEA-0DF09EA5FA62}" type="pres">
      <dgm:prSet presAssocID="{B3A5C720-F6BA-415B-BACC-D6E1E00A3E9C}" presName="tx1" presStyleLbl="revTx" presStyleIdx="5" presStyleCnt="6"/>
      <dgm:spPr/>
    </dgm:pt>
    <dgm:pt modelId="{41D82D7D-82CC-403F-8FAA-7EF8B4434DBF}" type="pres">
      <dgm:prSet presAssocID="{B3A5C720-F6BA-415B-BACC-D6E1E00A3E9C}" presName="vert1" presStyleCnt="0"/>
      <dgm:spPr/>
    </dgm:pt>
  </dgm:ptLst>
  <dgm:cxnLst>
    <dgm:cxn modelId="{AC777213-F11B-480E-B008-A2643A65BF23}" type="presOf" srcId="{B3A5C720-F6BA-415B-BACC-D6E1E00A3E9C}" destId="{1DE32878-1683-410B-AEEA-0DF09EA5FA62}" srcOrd="0" destOrd="0" presId="urn:microsoft.com/office/officeart/2008/layout/LinedList"/>
    <dgm:cxn modelId="{DC4EA019-245A-44D8-9BF0-3AD33B0D2A8D}" type="presOf" srcId="{311F9A05-A7F4-4328-B319-DBCDF0DF0E82}" destId="{7BF0A7F7-0F37-4B11-9AED-B46FE7E128D8}" srcOrd="0" destOrd="0" presId="urn:microsoft.com/office/officeart/2008/layout/LinedList"/>
    <dgm:cxn modelId="{B28E7539-702F-4403-B38C-CCE2EC9E181E}" srcId="{B64DB52A-CA4F-4852-B41E-6A1F43CC58F9}" destId="{81CB55E0-0FB6-485C-B15D-9BD278F78C6F}" srcOrd="2" destOrd="0" parTransId="{81E23C2F-5B75-4C87-B80F-F92D751EF2D3}" sibTransId="{CA453529-0F48-4EF3-8F16-E732FB1811C3}"/>
    <dgm:cxn modelId="{CB477A60-62F0-49EB-B58D-60D1B6535D8A}" type="presOf" srcId="{BA2E5375-FD77-47B4-A888-7387932E6D62}" destId="{D26876CA-709E-4928-AAF2-4734D1DACD6D}" srcOrd="0" destOrd="0" presId="urn:microsoft.com/office/officeart/2008/layout/LinedList"/>
    <dgm:cxn modelId="{A8279F42-205C-42CA-8385-164FB091EC3D}" type="presOf" srcId="{B64DB52A-CA4F-4852-B41E-6A1F43CC58F9}" destId="{573103A9-89AC-4873-8CB5-0F4B7370B2E1}" srcOrd="0" destOrd="0" presId="urn:microsoft.com/office/officeart/2008/layout/LinedList"/>
    <dgm:cxn modelId="{6DCFA649-9D6E-469B-AACA-1BA847263E9A}" srcId="{B64DB52A-CA4F-4852-B41E-6A1F43CC58F9}" destId="{311F9A05-A7F4-4328-B319-DBCDF0DF0E82}" srcOrd="1" destOrd="0" parTransId="{23B85C74-2F21-4685-BD89-BB563657B099}" sibTransId="{91F4A534-BBDE-4EB5-BAE5-EACEB7D0B868}"/>
    <dgm:cxn modelId="{0929CE6D-F2B1-4F6D-A0E5-1B096EB2DD2D}" srcId="{B64DB52A-CA4F-4852-B41E-6A1F43CC58F9}" destId="{B3A5C720-F6BA-415B-BACC-D6E1E00A3E9C}" srcOrd="5" destOrd="0" parTransId="{F429E385-C516-4FAE-9D81-A0D8E294980B}" sibTransId="{70FFF6AF-5C8B-41F5-90C8-E0C6F35FD649}"/>
    <dgm:cxn modelId="{C10A2E97-40D9-4123-9647-358E1A64D6C9}" srcId="{B64DB52A-CA4F-4852-B41E-6A1F43CC58F9}" destId="{51474CA9-1ADD-4331-9534-6780C3A18768}" srcOrd="3" destOrd="0" parTransId="{BD15203B-A2C4-421B-84CE-AC22CC6E237F}" sibTransId="{5FA359DE-6932-424A-BDE2-579D3E29B33A}"/>
    <dgm:cxn modelId="{285F19B7-0DE6-4516-940F-56080AC841F9}" srcId="{B64DB52A-CA4F-4852-B41E-6A1F43CC58F9}" destId="{BA2E5375-FD77-47B4-A888-7387932E6D62}" srcOrd="4" destOrd="0" parTransId="{9F77997F-5AC0-4D93-89AC-B37B7BDB43EF}" sibTransId="{60B3BF56-C21F-456B-A5AC-F5C3D1CA9305}"/>
    <dgm:cxn modelId="{CAEFD1C0-21C6-4BEE-BBD0-3E2B7599C8A0}" type="presOf" srcId="{C8BD7C71-8F1B-400D-96A3-6B553A93EB7F}" destId="{CBF4003A-096B-4C8D-8E4F-9D9EAB681D72}" srcOrd="0" destOrd="0" presId="urn:microsoft.com/office/officeart/2008/layout/LinedList"/>
    <dgm:cxn modelId="{36D8DFD7-E3DD-4A01-AC6D-A44FD86D70FA}" type="presOf" srcId="{81CB55E0-0FB6-485C-B15D-9BD278F78C6F}" destId="{89436931-860B-40AD-8DCE-CEE0F56E60ED}" srcOrd="0" destOrd="0" presId="urn:microsoft.com/office/officeart/2008/layout/LinedList"/>
    <dgm:cxn modelId="{942D76EB-4E8A-49F9-9193-131FE6139044}" srcId="{B64DB52A-CA4F-4852-B41E-6A1F43CC58F9}" destId="{C8BD7C71-8F1B-400D-96A3-6B553A93EB7F}" srcOrd="0" destOrd="0" parTransId="{BBCFB319-5299-4310-B646-22472DABF40A}" sibTransId="{AF1C4F3A-D240-4EB1-9ECB-2ED225CCC019}"/>
    <dgm:cxn modelId="{791F67ED-636D-40F8-93C7-87F14CF35636}" type="presOf" srcId="{51474CA9-1ADD-4331-9534-6780C3A18768}" destId="{3E95DC57-D848-494F-A343-6CBABA986252}" srcOrd="0" destOrd="0" presId="urn:microsoft.com/office/officeart/2008/layout/LinedList"/>
    <dgm:cxn modelId="{A8499597-22C4-40AB-8BB7-CEB6565C2724}" type="presParOf" srcId="{573103A9-89AC-4873-8CB5-0F4B7370B2E1}" destId="{6FF76B5C-2320-4CB5-9844-D984662B1716}" srcOrd="0" destOrd="0" presId="urn:microsoft.com/office/officeart/2008/layout/LinedList"/>
    <dgm:cxn modelId="{A93CB1D0-23F3-45EE-9AB1-A15778F91C98}" type="presParOf" srcId="{573103A9-89AC-4873-8CB5-0F4B7370B2E1}" destId="{41C87863-73DE-4F9B-A76B-880D805954CA}" srcOrd="1" destOrd="0" presId="urn:microsoft.com/office/officeart/2008/layout/LinedList"/>
    <dgm:cxn modelId="{F575AF3D-87A6-47A5-83AC-A73999B61EA5}" type="presParOf" srcId="{41C87863-73DE-4F9B-A76B-880D805954CA}" destId="{CBF4003A-096B-4C8D-8E4F-9D9EAB681D72}" srcOrd="0" destOrd="0" presId="urn:microsoft.com/office/officeart/2008/layout/LinedList"/>
    <dgm:cxn modelId="{C4AD05CD-ABA2-45F9-AD70-453A59B257AA}" type="presParOf" srcId="{41C87863-73DE-4F9B-A76B-880D805954CA}" destId="{608B7948-37DA-4DDD-A56D-16AA8CC3AD50}" srcOrd="1" destOrd="0" presId="urn:microsoft.com/office/officeart/2008/layout/LinedList"/>
    <dgm:cxn modelId="{09135F7C-D882-4001-9420-48C6F669E5A1}" type="presParOf" srcId="{573103A9-89AC-4873-8CB5-0F4B7370B2E1}" destId="{F83A5B86-9D43-4C81-A6D4-87875817B689}" srcOrd="2" destOrd="0" presId="urn:microsoft.com/office/officeart/2008/layout/LinedList"/>
    <dgm:cxn modelId="{42A74311-A9B5-4722-908E-E69DF0F7B3F2}" type="presParOf" srcId="{573103A9-89AC-4873-8CB5-0F4B7370B2E1}" destId="{3BC975C1-0C99-4F97-8C52-C1CFA0BAF551}" srcOrd="3" destOrd="0" presId="urn:microsoft.com/office/officeart/2008/layout/LinedList"/>
    <dgm:cxn modelId="{06716FB4-91E0-498C-9B25-67FC8A0410EE}" type="presParOf" srcId="{3BC975C1-0C99-4F97-8C52-C1CFA0BAF551}" destId="{7BF0A7F7-0F37-4B11-9AED-B46FE7E128D8}" srcOrd="0" destOrd="0" presId="urn:microsoft.com/office/officeart/2008/layout/LinedList"/>
    <dgm:cxn modelId="{08808E65-016C-4832-AD3A-0BCD56638EE0}" type="presParOf" srcId="{3BC975C1-0C99-4F97-8C52-C1CFA0BAF551}" destId="{AA11931C-C560-424D-BE37-4872DC1B2048}" srcOrd="1" destOrd="0" presId="urn:microsoft.com/office/officeart/2008/layout/LinedList"/>
    <dgm:cxn modelId="{206F6E77-1951-4EBC-9057-DD630DD20CCA}" type="presParOf" srcId="{573103A9-89AC-4873-8CB5-0F4B7370B2E1}" destId="{7EE56E18-6978-43E9-9D4D-E31AA5BEE441}" srcOrd="4" destOrd="0" presId="urn:microsoft.com/office/officeart/2008/layout/LinedList"/>
    <dgm:cxn modelId="{5A60FA20-ADA2-431F-8796-1BE8C988B2D2}" type="presParOf" srcId="{573103A9-89AC-4873-8CB5-0F4B7370B2E1}" destId="{447FCB44-517C-43F4-BE59-391C36D21C9C}" srcOrd="5" destOrd="0" presId="urn:microsoft.com/office/officeart/2008/layout/LinedList"/>
    <dgm:cxn modelId="{A05C2049-7944-4478-8D68-709AB77FAB96}" type="presParOf" srcId="{447FCB44-517C-43F4-BE59-391C36D21C9C}" destId="{89436931-860B-40AD-8DCE-CEE0F56E60ED}" srcOrd="0" destOrd="0" presId="urn:microsoft.com/office/officeart/2008/layout/LinedList"/>
    <dgm:cxn modelId="{2AEA7D18-2CA4-4040-8CA3-2E8EA6C53110}" type="presParOf" srcId="{447FCB44-517C-43F4-BE59-391C36D21C9C}" destId="{0E51C315-1B46-45D6-B4D4-E44AF2F7FE47}" srcOrd="1" destOrd="0" presId="urn:microsoft.com/office/officeart/2008/layout/LinedList"/>
    <dgm:cxn modelId="{0B8319B9-A001-4929-BF67-CFB04FA16945}" type="presParOf" srcId="{573103A9-89AC-4873-8CB5-0F4B7370B2E1}" destId="{B514687E-679F-4404-A929-C733AA004539}" srcOrd="6" destOrd="0" presId="urn:microsoft.com/office/officeart/2008/layout/LinedList"/>
    <dgm:cxn modelId="{257188D6-0003-435E-A862-DB1729B0A2C3}" type="presParOf" srcId="{573103A9-89AC-4873-8CB5-0F4B7370B2E1}" destId="{80414A13-977F-40A0-BF88-8AEFF7DE361E}" srcOrd="7" destOrd="0" presId="urn:microsoft.com/office/officeart/2008/layout/LinedList"/>
    <dgm:cxn modelId="{0D4D7625-BCDC-4E36-BA9D-FCFD4CC793E3}" type="presParOf" srcId="{80414A13-977F-40A0-BF88-8AEFF7DE361E}" destId="{3E95DC57-D848-494F-A343-6CBABA986252}" srcOrd="0" destOrd="0" presId="urn:microsoft.com/office/officeart/2008/layout/LinedList"/>
    <dgm:cxn modelId="{0E040604-2F36-489D-A967-FB8740498707}" type="presParOf" srcId="{80414A13-977F-40A0-BF88-8AEFF7DE361E}" destId="{42E34139-9E2B-4ED7-9D4C-0E180FD5C739}" srcOrd="1" destOrd="0" presId="urn:microsoft.com/office/officeart/2008/layout/LinedList"/>
    <dgm:cxn modelId="{DEAB5A35-1128-4DEF-AE18-D024423701D7}" type="presParOf" srcId="{573103A9-89AC-4873-8CB5-0F4B7370B2E1}" destId="{0B062B2C-FD23-461E-89A1-3ECDF7A567C2}" srcOrd="8" destOrd="0" presId="urn:microsoft.com/office/officeart/2008/layout/LinedList"/>
    <dgm:cxn modelId="{055AE2A9-59D6-49A8-A0DB-1D091F45E10E}" type="presParOf" srcId="{573103A9-89AC-4873-8CB5-0F4B7370B2E1}" destId="{1BF4D050-06E8-4B19-AEB8-E6957BD50750}" srcOrd="9" destOrd="0" presId="urn:microsoft.com/office/officeart/2008/layout/LinedList"/>
    <dgm:cxn modelId="{BBB3BEA1-FC70-4DE2-9A91-57EB33BF00AD}" type="presParOf" srcId="{1BF4D050-06E8-4B19-AEB8-E6957BD50750}" destId="{D26876CA-709E-4928-AAF2-4734D1DACD6D}" srcOrd="0" destOrd="0" presId="urn:microsoft.com/office/officeart/2008/layout/LinedList"/>
    <dgm:cxn modelId="{D188FA47-5832-42EC-9572-966048E3C4F5}" type="presParOf" srcId="{1BF4D050-06E8-4B19-AEB8-E6957BD50750}" destId="{88DBC881-0983-4C91-8705-CB8A16D50941}" srcOrd="1" destOrd="0" presId="urn:microsoft.com/office/officeart/2008/layout/LinedList"/>
    <dgm:cxn modelId="{D52B8AEE-6B59-47DE-96B8-D9B647AB0BD5}" type="presParOf" srcId="{573103A9-89AC-4873-8CB5-0F4B7370B2E1}" destId="{2B37DFBD-1045-417A-89DD-348147EAB4F5}" srcOrd="10" destOrd="0" presId="urn:microsoft.com/office/officeart/2008/layout/LinedList"/>
    <dgm:cxn modelId="{87CEFD5A-15D0-405F-A288-77213AA4C691}" type="presParOf" srcId="{573103A9-89AC-4873-8CB5-0F4B7370B2E1}" destId="{37DCFB0B-1A16-4C35-A117-077E4A9AB132}" srcOrd="11" destOrd="0" presId="urn:microsoft.com/office/officeart/2008/layout/LinedList"/>
    <dgm:cxn modelId="{FAE27A14-2C4C-460F-8666-684E767B4C26}" type="presParOf" srcId="{37DCFB0B-1A16-4C35-A117-077E4A9AB132}" destId="{1DE32878-1683-410B-AEEA-0DF09EA5FA62}" srcOrd="0" destOrd="0" presId="urn:microsoft.com/office/officeart/2008/layout/LinedList"/>
    <dgm:cxn modelId="{B8632CF4-76F8-45D5-970F-DC293805AC34}" type="presParOf" srcId="{37DCFB0B-1A16-4C35-A117-077E4A9AB132}" destId="{41D82D7D-82CC-403F-8FAA-7EF8B4434DB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B3B115-9ED4-4424-B000-6C66B8D607D6}">
      <dsp:nvSpPr>
        <dsp:cNvPr id="0" name=""/>
        <dsp:cNvSpPr/>
      </dsp:nvSpPr>
      <dsp:spPr>
        <a:xfrm>
          <a:off x="0" y="0"/>
          <a:ext cx="9288654" cy="166023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just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Define an algorithm and explain its role in problem solving.</a:t>
          </a:r>
        </a:p>
      </dsp:txBody>
      <dsp:txXfrm>
        <a:off x="48627" y="48627"/>
        <a:ext cx="7572674" cy="1562978"/>
      </dsp:txXfrm>
    </dsp:sp>
    <dsp:sp modelId="{66D5292E-E31B-47C3-B7F6-6E92D8DBC596}">
      <dsp:nvSpPr>
        <dsp:cNvPr id="0" name=""/>
        <dsp:cNvSpPr/>
      </dsp:nvSpPr>
      <dsp:spPr>
        <a:xfrm>
          <a:off x="1639174" y="2029172"/>
          <a:ext cx="9288654" cy="1660232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just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Applies algorithmic thinking to real-world problems.</a:t>
          </a:r>
        </a:p>
      </dsp:txBody>
      <dsp:txXfrm>
        <a:off x="1687801" y="2077799"/>
        <a:ext cx="6473075" cy="1562978"/>
      </dsp:txXfrm>
    </dsp:sp>
    <dsp:sp modelId="{C65C44E2-047F-4F51-A8DC-FF51C925FC7F}">
      <dsp:nvSpPr>
        <dsp:cNvPr id="0" name=""/>
        <dsp:cNvSpPr/>
      </dsp:nvSpPr>
      <dsp:spPr>
        <a:xfrm>
          <a:off x="8209503" y="1305127"/>
          <a:ext cx="1079150" cy="107915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452312" y="1305127"/>
        <a:ext cx="593532" cy="8120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F76B5C-2320-4CB5-9844-D984662B1716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F4003A-096B-4C8D-8E4F-9D9EAB681D72}">
      <dsp:nvSpPr>
        <dsp:cNvPr id="0" name=""/>
        <dsp:cNvSpPr/>
      </dsp:nvSpPr>
      <dsp:spPr>
        <a:xfrm>
          <a:off x="0" y="2703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1 Introduction to </a:t>
          </a:r>
          <a:r>
            <a:rPr lang="en-US" sz="22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notion of an algorithm, </a:t>
          </a:r>
        </a:p>
      </dsp:txBody>
      <dsp:txXfrm>
        <a:off x="0" y="2703"/>
        <a:ext cx="6900512" cy="921789"/>
      </dsp:txXfrm>
    </dsp:sp>
    <dsp:sp modelId="{F83A5B86-9D43-4C81-A6D4-87875817B689}">
      <dsp:nvSpPr>
        <dsp:cNvPr id="0" name=""/>
        <dsp:cNvSpPr/>
      </dsp:nvSpPr>
      <dsp:spPr>
        <a:xfrm>
          <a:off x="0" y="924492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F0A7F7-0F37-4B11-9AED-B46FE7E128D8}">
      <dsp:nvSpPr>
        <dsp:cNvPr id="0" name=""/>
        <dsp:cNvSpPr/>
      </dsp:nvSpPr>
      <dsp:spPr>
        <a:xfrm>
          <a:off x="0" y="924492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2 </a:t>
          </a:r>
          <a:r>
            <a:rPr lang="en-US" sz="22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Fundamentals of algorithmic problem solving and problem types </a:t>
          </a:r>
        </a:p>
      </dsp:txBody>
      <dsp:txXfrm>
        <a:off x="0" y="924492"/>
        <a:ext cx="6900512" cy="921789"/>
      </dsp:txXfrm>
    </dsp:sp>
    <dsp:sp modelId="{7EE56E18-6978-43E9-9D4D-E31AA5BEE441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436931-860B-40AD-8DCE-CEE0F56E60ED}">
      <dsp:nvSpPr>
        <dsp:cNvPr id="0" name=""/>
        <dsp:cNvSpPr/>
      </dsp:nvSpPr>
      <dsp:spPr>
        <a:xfrm>
          <a:off x="0" y="1846281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3 </a:t>
          </a:r>
          <a:r>
            <a:rPr lang="en-US" sz="22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Concept and definition for learning Activity </a:t>
          </a:r>
        </a:p>
      </dsp:txBody>
      <dsp:txXfrm>
        <a:off x="0" y="1846281"/>
        <a:ext cx="6900512" cy="921789"/>
      </dsp:txXfrm>
    </dsp:sp>
    <dsp:sp modelId="{B514687E-679F-4404-A929-C733AA004539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95DC57-D848-494F-A343-6CBABA986252}">
      <dsp:nvSpPr>
        <dsp:cNvPr id="0" name=""/>
        <dsp:cNvSpPr/>
      </dsp:nvSpPr>
      <dsp:spPr>
        <a:xfrm>
          <a:off x="0" y="2768070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4 Activity (scenario based)</a:t>
          </a:r>
          <a:endParaRPr lang="en-US" sz="22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+mn-cs"/>
          </a:endParaRPr>
        </a:p>
      </dsp:txBody>
      <dsp:txXfrm>
        <a:off x="0" y="2768070"/>
        <a:ext cx="6900512" cy="921789"/>
      </dsp:txXfrm>
    </dsp:sp>
    <dsp:sp modelId="{0B062B2C-FD23-461E-89A1-3ECDF7A567C2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6876CA-709E-4928-AAF2-4734D1DACD6D}">
      <dsp:nvSpPr>
        <dsp:cNvPr id="0" name=""/>
        <dsp:cNvSpPr/>
      </dsp:nvSpPr>
      <dsp:spPr>
        <a:xfrm>
          <a:off x="0" y="3689859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5 </a:t>
          </a:r>
          <a:r>
            <a:rPr lang="en-US" sz="22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Reflection learning activity </a:t>
          </a:r>
        </a:p>
      </dsp:txBody>
      <dsp:txXfrm>
        <a:off x="0" y="3689859"/>
        <a:ext cx="6900512" cy="921789"/>
      </dsp:txXfrm>
    </dsp:sp>
    <dsp:sp modelId="{2B37DFBD-1045-417A-89DD-348147EAB4F5}">
      <dsp:nvSpPr>
        <dsp:cNvPr id="0" name=""/>
        <dsp:cNvSpPr/>
      </dsp:nvSpPr>
      <dsp:spPr>
        <a:xfrm>
          <a:off x="0" y="4611648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E32878-1683-410B-AEEA-0DF09EA5FA62}">
      <dsp:nvSpPr>
        <dsp:cNvPr id="0" name=""/>
        <dsp:cNvSpPr/>
      </dsp:nvSpPr>
      <dsp:spPr>
        <a:xfrm>
          <a:off x="0" y="4611648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6 Conclusion</a:t>
          </a:r>
          <a:endParaRPr lang="en-US" sz="22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+mn-cs"/>
          </a:endParaRPr>
        </a:p>
      </dsp:txBody>
      <dsp:txXfrm>
        <a:off x="0" y="4611648"/>
        <a:ext cx="6900512" cy="9217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FBC31-3F3F-40A8-84DF-BE3B4616B22A}" type="datetimeFigureOut">
              <a:rPr lang="en-IN" smtClean="0"/>
              <a:pPr/>
              <a:t>11-02-2026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FE326-85E6-4395-8F28-A8F972B7BB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760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655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B19AD-E795-8469-CB7A-8D1393914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09FC3E-A433-5720-2C47-B21810485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3EDBC-57D9-C6A6-6869-371DC35F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B00A-0031-4EDD-BEBB-B131E3F68B8B}" type="datetime1">
              <a:rPr lang="en-IN" smtClean="0"/>
              <a:pPr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1DC6D-FB05-89AF-D06E-2A214B26A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79841-7A1B-1D77-4E0D-F440971A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415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6841F-4D47-CCA2-58EC-D8D2EE9AF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07BEF-2C9D-42DC-3411-00B3A39BC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6B5C3-B400-8ED2-C857-CC6B3B6EB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233B-F1E7-4818-B22D-9EDEAA6025FD}" type="datetime1">
              <a:rPr lang="en-IN" smtClean="0"/>
              <a:pPr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63E68-219E-B6BD-06FF-D09E8B6D7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7A96D-72D0-92EE-3B5C-8BFD78B7D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33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2F04E-14BF-8146-F649-927656875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C510D-E40E-01C5-FB7F-09741C6C9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5ACC9-6839-7636-07F4-E47B104A0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43A29-4BB0-4075-8E30-7986497052F0}" type="datetime1">
              <a:rPr lang="en-IN" smtClean="0"/>
              <a:pPr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B4601-E63D-A03B-1DD8-CFB63233D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9B235-6487-BCE9-DFAA-764CDD44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93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12733-E66D-2C01-CE97-F41A211F2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78475-62F3-3BA2-991E-7D770F7AA9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E4499-7667-A5BF-CFBF-9B3734E04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2D099-6445-5C93-00AE-432EFD070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8DEB-068D-4137-AD7C-2A99AB9732F4}" type="datetime1">
              <a:rPr lang="en-IN" smtClean="0"/>
              <a:pPr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5B21F9-91D3-7C2A-79CF-2138303F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1F9FC0-4A14-8219-84DC-B1D61698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578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7B0A1-9BD6-B0A3-1102-E0773ECBB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87F29-AEDA-BDF7-8C0B-52CF6D178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AB8B1-DB15-81F7-48C3-A6308F8F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A757F-7720-AA2F-16DB-5B4172569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578B9F-AEC2-1CCB-17EA-93BC35E420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ADDEEA-4DF4-410A-B65E-F750E83FB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C2F0-EA24-4949-874F-5F13F434AA44}" type="datetime1">
              <a:rPr lang="en-IN" smtClean="0"/>
              <a:pPr/>
              <a:t>11-02-2026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F839C7-3F7C-98F3-A612-DE6079BE9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D60D5-B96E-CB10-EF10-24D39020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610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685F8-3F04-96B2-DFBB-F5EA7C78F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A8FDE9-0DB9-E2EC-9EDB-3F7928924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A4BE-841D-4DBA-BF59-98160D016E95}" type="datetime1">
              <a:rPr lang="en-IN" smtClean="0"/>
              <a:pPr/>
              <a:t>11-02-2026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EA0CC-2F72-01A7-0018-794D28895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946089-63E6-1B47-884D-22AD3D59D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17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668AA3-F340-1EBC-A758-E63E971B3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9DE3D-92F0-4B90-9BC3-DF561ACCB514}" type="datetime1">
              <a:rPr lang="en-IN" smtClean="0"/>
              <a:pPr/>
              <a:t>11-02-2026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C5A41D-81C9-E2BD-E9AF-3AA5DB41D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962B3-3ADB-9572-0FD2-4DB07FD87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772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CF039-A9DA-5A12-2BF1-B6433B9D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751A8-C228-5300-A485-3F129FD36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84203-9632-6129-E4C9-0F99428BB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45EB5-72B0-9141-EA99-820C022CC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D748-5313-48F5-9420-28CC4F9D5D65}" type="datetime1">
              <a:rPr lang="en-IN" smtClean="0"/>
              <a:pPr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73D456-31B6-1D53-751D-AC82FEAB7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32809-415E-2282-E04D-9B200C1C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67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84906-117D-5407-AA07-22F539EE4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36F0D2-D921-4FA7-DA84-8E8520EED9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D2AD95-AB02-5A07-7492-E9E0B8545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380F9-07CE-6F7A-6038-870977B02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9F97-4389-4CF0-A3AF-539E1666475E}" type="datetime1">
              <a:rPr lang="en-IN" smtClean="0"/>
              <a:pPr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5F0A5-FF26-EF42-9F4E-7B487ABBD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E9705-E90F-F624-39D6-6FCBE3A7B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558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59D05-52FA-1788-519F-7A7F6048A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B93A4-5BFE-2E5E-89BD-A9A9F0DE2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D6E1C-2039-6998-16BF-892E575CF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1ADB8-9CB7-40E6-87C8-C7EB8EBBAF06}" type="datetime1">
              <a:rPr lang="en-IN" smtClean="0"/>
              <a:pPr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89FC5-03A9-A2BE-8045-500B37083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A79DC-4A34-B800-8BFC-C92A202F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501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66ADF1-8D2B-E20D-C592-6643F0F627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7D4B32-ED38-6AD9-3A88-BEE47D427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D39A2-CFE5-7E4C-6E1A-FABC5CF17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956E-FF61-4FBC-8614-5AF891B621A7}" type="datetime1">
              <a:rPr lang="en-IN" smtClean="0"/>
              <a:pPr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8CE03-A02D-B61D-500E-33B067F58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A42C-489C-58FC-CFE2-833549C6D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312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AADD83-735E-A88A-3D7F-6385A1A74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7D101-3984-8795-F0E9-CFAF99A14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624CD-D795-52B1-6203-0AF8F58B8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81F908-E6B3-4617-92D9-99814B0B813F}" type="datetime1">
              <a:rPr lang="en-IN" smtClean="0"/>
              <a:pPr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CF967-AE37-65C8-EF03-EB7E3B912D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BD2C0-494D-F5DE-E18D-99B852BA5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10230-8DD5-4BA5-AB2D-CA30FC08F9D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666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diagramLayout" Target="../diagrams/layout2.xml"/><Relationship Id="rId7" Type="http://schemas.openxmlformats.org/officeDocument/2006/relationships/image" Target="../media/image3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4841D-4109-20CB-B253-8EF7C0806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2520" y="2659753"/>
            <a:ext cx="8417477" cy="3696597"/>
          </a:xfrm>
        </p:spPr>
        <p:txBody>
          <a:bodyPr anchor="b">
            <a:normAutofit fontScale="90000"/>
          </a:bodyPr>
          <a:lstStyle/>
          <a:p>
            <a:pPr algn="l"/>
            <a:br>
              <a:rPr lang="en-US" sz="36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US" sz="36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US" sz="36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US" sz="36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US" sz="3600" b="1" dirty="0">
                <a:latin typeface="Georgia" panose="02040502050405020303" pitchFamily="18" charset="0"/>
                <a:cs typeface="Arial" panose="020B0604020202020204" pitchFamily="34" charset="0"/>
              </a:rPr>
              <a:t>Introduction to Algorithms-Definition, characteristics, real-world examples</a:t>
            </a:r>
            <a:br>
              <a:rPr lang="en-IN" sz="4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4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4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4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>Session No.: 1</a:t>
            </a:r>
            <a:b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>Course Name: Design and analysis of algorithm</a:t>
            </a:r>
            <a:b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>Course Code: R1UC407B</a:t>
            </a:r>
            <a:b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>Instructor Name: Rakesh Bharati</a:t>
            </a:r>
            <a:b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US" sz="1800" b="1" dirty="0">
                <a:latin typeface="Georgia" panose="02040502050405020303" pitchFamily="18" charset="0"/>
                <a:cs typeface="Arial" panose="020B0604020202020204" pitchFamily="34" charset="0"/>
              </a:rPr>
              <a:t>Duration: 50 Min.</a:t>
            </a:r>
            <a:br>
              <a:rPr lang="en-US" sz="1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US" sz="1800" b="1" dirty="0">
                <a:latin typeface="Georgia" panose="02040502050405020303" pitchFamily="18" charset="0"/>
                <a:cs typeface="Arial" panose="020B0604020202020204" pitchFamily="34" charset="0"/>
              </a:rPr>
              <a:t>Date of Conduction of Class:</a:t>
            </a:r>
            <a:br>
              <a:rPr lang="en-US" sz="1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endParaRPr lang="en-IN" sz="4800" b="1" dirty="0"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F329F-0D28-AAA9-6271-058B6B36C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B0897-FD56-B45E-C539-435F743AA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pPr/>
              <a:t>1</a:t>
            </a:fld>
            <a:endParaRPr lang="en-IN"/>
          </a:p>
        </p:txBody>
      </p:sp>
      <p:pic>
        <p:nvPicPr>
          <p:cNvPr id="10" name="Picture 9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B8F66ABA-C07C-7B4E-0E32-86C3BB04AA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22C87D-66F3-E0F4-0306-4C9A87A526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898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C14F6-7B57-DCCF-E6C1-F00D5A0C0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4440"/>
            <a:ext cx="10515600" cy="4052840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the key concepts</a:t>
            </a:r>
            <a:br>
              <a:rPr lang="en-US" dirty="0"/>
            </a:br>
            <a:br>
              <a:rPr lang="en-US" dirty="0"/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1.Basic concepts of data structure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Searching algorithm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Sorting Algorithm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 </a:t>
            </a:r>
            <a:br>
              <a:rPr lang="en-US" dirty="0"/>
            </a:b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pPr/>
              <a:t>2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ED013E-C79F-88E6-C380-BA222F110F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214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C40F3-E1DD-E82F-3F29-9401CD52B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942" y="2242457"/>
            <a:ext cx="11279777" cy="39898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Q1: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do you understand by the term algorithm?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Q2: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meant by input and output of an algorithm?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600" dirty="0"/>
            </a:br>
            <a:br>
              <a:rPr lang="en-US" dirty="0"/>
            </a:b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369DC-8D11-0F83-CECC-16C8D86AF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121A7-5B1D-94E2-DB07-9FE4C43AF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pPr/>
              <a:t>3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19ECFAAD-17D4-0306-3A15-FB8674D175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593B7E2-CC5E-CDA8-4EF8-BDA29B524E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F432C0-1638-288D-E13B-1D87BC0FFC67}"/>
              </a:ext>
            </a:extLst>
          </p:cNvPr>
          <p:cNvSpPr txBox="1"/>
          <p:nvPr/>
        </p:nvSpPr>
        <p:spPr>
          <a:xfrm>
            <a:off x="4158342" y="294060"/>
            <a:ext cx="62701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Opening Question</a:t>
            </a:r>
          </a:p>
        </p:txBody>
      </p:sp>
    </p:spTree>
    <p:extLst>
      <p:ext uri="{BB962C8B-B14F-4D97-AF65-F5344CB8AC3E}">
        <p14:creationId xmlns:p14="http://schemas.microsoft.com/office/powerpoint/2010/main" val="2304652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8EF4F-6060-143D-E2D3-D39BCB3AD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702" y="1102452"/>
            <a:ext cx="10542973" cy="822858"/>
          </a:xfrm>
        </p:spPr>
        <p:txBody>
          <a:bodyPr anchor="ctr">
            <a:normAutofit/>
          </a:bodyPr>
          <a:lstStyle/>
          <a:p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Learning Outcome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A7A3F3-F9E0-0ED6-9640-C09E20B4F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2BD711-0225-BB81-E56E-97842AEFB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pPr/>
              <a:t>4</a:t>
            </a:fld>
            <a:endParaRPr lang="en-IN"/>
          </a:p>
        </p:txBody>
      </p:sp>
      <p:graphicFrame>
        <p:nvGraphicFramePr>
          <p:cNvPr id="6" name="Title 1">
            <a:extLst>
              <a:ext uri="{FF2B5EF4-FFF2-40B4-BE49-F238E27FC236}">
                <a16:creationId xmlns:a16="http://schemas.microsoft.com/office/drawing/2014/main" id="{FBB5840F-85BE-5580-FDC6-C72FB2C1E2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4922605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6DC91442-66F2-504B-C67F-2CC391B8CAC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CE66B6B-F371-2A0A-CB0C-8E7576D582F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591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1553B-A216-73BB-FAAB-1FF7D4C33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IN" sz="5400" dirty="0"/>
              <a:t>Session Outline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1A9FE4B-6F20-1C22-6353-F1166E69B9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2090407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762DD5-123E-828B-BD74-061BEE1CE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4FF57-302B-97C8-BD3F-550746DA6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pPr/>
              <a:t>5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4DDE187-E81D-B835-E4CD-A2B8788BFA0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53114F5-F06B-4D82-5258-AB40ED145D3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559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B1322-4426-90D7-CC48-2DDA35333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A319-DFA9-0EF8-EDAD-9E52AE6AA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algorithm is a combination of sequence of finite step to solve a any particular problem.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81398D-1F5C-0846-E145-E9D70B7B3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662648-2284-252E-907F-BE7BA660B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3319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72DB6-29F7-4DFC-88C7-423399E3A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an algorithm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1B474F-2C0A-0836-4C4C-C09994A1F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8446BA-3FD1-B719-160C-AD4AA6135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pPr/>
              <a:t>7</a:t>
            </a:fld>
            <a:endParaRPr lang="en-IN"/>
          </a:p>
        </p:txBody>
      </p:sp>
      <p:pic>
        <p:nvPicPr>
          <p:cNvPr id="2050" name="Picture 2" descr="What is Algorithm | Introduction to Algorithms - GeeksforGeeks">
            <a:extLst>
              <a:ext uri="{FF2B5EF4-FFF2-40B4-BE49-F238E27FC236}">
                <a16:creationId xmlns:a16="http://schemas.microsoft.com/office/drawing/2014/main" id="{EB434380-4DD2-C5B2-9F37-31FC2496D8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9675" y="1690688"/>
            <a:ext cx="707265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0286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2464D-19D5-5122-78FA-4AEDED083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61" y="216039"/>
            <a:ext cx="10515600" cy="698361"/>
          </a:xfrm>
        </p:spPr>
        <p:txBody>
          <a:bodyPr>
            <a:normAutofit fontScale="90000"/>
          </a:bodyPr>
          <a:lstStyle/>
          <a:p>
            <a:r>
              <a:rPr lang="en-US" dirty="0"/>
              <a:t>Fundamentals of Algorithmic Problem Solving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E16B2-E85F-2CD1-57B9-8BEE0BB84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437" y="1103243"/>
            <a:ext cx="10515600" cy="5618231"/>
          </a:xfrm>
        </p:spPr>
        <p:txBody>
          <a:bodyPr>
            <a:normAutofit/>
          </a:bodyPr>
          <a:lstStyle/>
          <a:p>
            <a:r>
              <a:rPr lang="en-SG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Algorithmic problem-solving is the process of designing and implementing a solution to a problem using a series of steps or rules.</a:t>
            </a: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D8D24D-9DBB-9AEA-ADCA-A7F595DA6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684376-7C1E-13C8-A242-CC7CA9046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pPr/>
              <a:t>8</a:t>
            </a:fld>
            <a:endParaRPr lang="en-IN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A52E526-36BA-2742-B7DB-E910A2846F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9852" y="1938130"/>
            <a:ext cx="6023113" cy="4919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1292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BA798-E9C4-4917-BE19-A28F15E70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Problem Types in Algorithmic Problem Solving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134A6-54EF-B7C2-D8C6-F7A8EB777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35941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SG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Decision Problems: </a:t>
            </a:r>
            <a:r>
              <a:rPr lang="en-S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Answer is Yes/No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35941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SG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Optimization Problems: </a:t>
            </a:r>
            <a:r>
              <a:rPr lang="en-S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Find the best solution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35941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SG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Search Problems: </a:t>
            </a:r>
            <a:r>
              <a:rPr lang="en-S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Find an element in a dataset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35941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SG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Computational Problems: </a:t>
            </a:r>
            <a:r>
              <a:rPr lang="en-S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Require mathematical computations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6003B4-02F5-3001-F860-91B4A6E55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9F39C9-AEF6-6F88-6667-8442C71B8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2995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1BBC7-A388-146A-2A39-AFB2E86EE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272143"/>
            <a:ext cx="6419091" cy="957855"/>
          </a:xfrm>
        </p:spPr>
        <p:txBody>
          <a:bodyPr anchor="ctr">
            <a:normAutofit/>
          </a:bodyPr>
          <a:lstStyle/>
          <a:p>
            <a:r>
              <a:rPr lang="en-IN" sz="4000" dirty="0">
                <a:latin typeface="Georgia" panose="02040502050405020303" pitchFamily="18" charset="0"/>
              </a:rPr>
              <a:t> Activity1 (scenario based)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4586958-1DB9-1CC5-53F8-FFDE8D575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FBC34C4-937D-0155-8F30-D6ACD001C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pPr/>
              <a:t>10</a:t>
            </a:fld>
            <a:endParaRPr lang="en-IN"/>
          </a:p>
        </p:txBody>
      </p:sp>
      <p:pic>
        <p:nvPicPr>
          <p:cNvPr id="10" name="Picture 9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64174061-BF99-492B-2C4A-23874DE915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44D92CE-8282-0BEE-C5B9-AD12742F2C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05FBAD-A4C2-90BB-F902-2CE9F4185B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719" y="1844593"/>
            <a:ext cx="10922561" cy="3794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659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1BBC7-A388-146A-2A39-AFB2E86EE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9159" y="854440"/>
            <a:ext cx="8593682" cy="1024649"/>
          </a:xfrm>
        </p:spPr>
        <p:txBody>
          <a:bodyPr anchor="ctr">
            <a:normAutofit/>
          </a:bodyPr>
          <a:lstStyle/>
          <a:p>
            <a:pPr algn="ctr"/>
            <a:r>
              <a:rPr lang="en-IN" sz="4000" dirty="0">
                <a:latin typeface="Georgia" panose="02040502050405020303" pitchFamily="18" charset="0"/>
              </a:rPr>
              <a:t>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Activity-1 (scenario based)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7E881-D400-0EA2-D713-1475048FC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040" y="2416629"/>
            <a:ext cx="11110158" cy="3939722"/>
          </a:xfrm>
        </p:spPr>
        <p:txBody>
          <a:bodyPr anchor="ctr">
            <a:normAutofit fontScale="55000" lnSpcReduction="20000"/>
          </a:bodyPr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900" b="1" dirty="0"/>
          </a:p>
          <a:p>
            <a:pPr marL="0" indent="0">
              <a:buNone/>
            </a:pPr>
            <a:r>
              <a:rPr lang="en-US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</a:p>
          <a:p>
            <a:pPr marL="0" indent="0" algn="just">
              <a:buNone/>
            </a:pP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will understand the concept of an algorithm by creating step-by-step instructions to solve a problem in a real-world scenario.</a:t>
            </a:r>
            <a:endParaRPr lang="en-IN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Scenario:</a:t>
            </a:r>
          </a:p>
          <a:p>
            <a:pPr algn="just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how to prepare a cup of tea so that even a robot (or a person who has never made tea before) can follow the instructions without confusion.</a:t>
            </a:r>
            <a:endParaRPr lang="en-IN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4586958-1DB9-1CC5-53F8-FFDE8D575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FBC34C4-937D-0155-8F30-D6ACD001C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pPr/>
              <a:t>11</a:t>
            </a:fld>
            <a:endParaRPr lang="en-IN"/>
          </a:p>
        </p:txBody>
      </p:sp>
      <p:pic>
        <p:nvPicPr>
          <p:cNvPr id="10" name="Picture 9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64174061-BF99-492B-2C4A-23874DE915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44D92CE-8282-0BEE-C5B9-AD12742F2C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659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8E3D3-5416-2940-1D05-671B50B11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1604858"/>
            <a:ext cx="10899648" cy="36377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sz="4000" b="1" dirty="0">
                <a:solidFill>
                  <a:schemeClr val="tx2"/>
                </a:solidFill>
              </a:rPr>
              <a:t>Reflection-</a:t>
            </a:r>
            <a:br>
              <a:rPr lang="en-US" sz="4000" b="1" dirty="0">
                <a:solidFill>
                  <a:schemeClr val="tx2"/>
                </a:solidFill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activity helped students understand that an algorithm must consist of clear, precise, and logically ordered steps to achieve a desired outcome.</a:t>
            </a:r>
            <a:endParaRPr lang="en-US" sz="4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DBBCF98-7194-A5B3-66D3-440169D0A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036879-2E50-808F-68A7-FB01CEB99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pPr/>
              <a:t>12</a:t>
            </a:fld>
            <a:endParaRPr lang="en-IN"/>
          </a:p>
        </p:txBody>
      </p:sp>
      <p:pic>
        <p:nvPicPr>
          <p:cNvPr id="16" name="Picture 1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20737F5-4AA9-BC02-8957-C9DB2C2DFC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F28D91-705A-E725-0E92-0E3494439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167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897A04-D255-83FE-F5E9-FF4C22D53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E862E-7C37-2FF5-213C-AC9412420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040" y="2273181"/>
            <a:ext cx="11110158" cy="408317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an algorithm to find the sum of two numbers.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49C8449-A934-485D-2D98-C78FAAD22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F2D93CB-D743-3A64-20CD-66B388FD2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pPr/>
              <a:t>13</a:t>
            </a:fld>
            <a:endParaRPr lang="en-IN"/>
          </a:p>
        </p:txBody>
      </p:sp>
      <p:pic>
        <p:nvPicPr>
          <p:cNvPr id="10" name="Picture 9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2C8D5EC2-C968-DED3-CF26-5A3179CB711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32C42F3-9540-DCEB-0EDA-EA3EAD2981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E10A8B-D7FF-69F6-8F26-85355D4E562D}"/>
              </a:ext>
            </a:extLst>
          </p:cNvPr>
          <p:cNvSpPr txBox="1"/>
          <p:nvPr/>
        </p:nvSpPr>
        <p:spPr>
          <a:xfrm>
            <a:off x="4150938" y="656564"/>
            <a:ext cx="6357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Activity- 2 (Pen-Paper based)</a:t>
            </a:r>
          </a:p>
        </p:txBody>
      </p:sp>
    </p:spTree>
    <p:extLst>
      <p:ext uri="{BB962C8B-B14F-4D97-AF65-F5344CB8AC3E}">
        <p14:creationId xmlns:p14="http://schemas.microsoft.com/office/powerpoint/2010/main" val="235087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C14F6-7B57-DCCF-E6C1-F00D5A0C0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4440"/>
            <a:ext cx="10515600" cy="4525280"/>
          </a:xfrm>
        </p:spPr>
        <p:txBody>
          <a:bodyPr>
            <a:normAutofit/>
          </a:bodyPr>
          <a:lstStyle/>
          <a:p>
            <a:pPr algn="just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br>
              <a:rPr lang="en-IN" sz="4400" dirty="0"/>
            </a:br>
            <a:br>
              <a:rPr lang="en-IN" sz="4400" dirty="0"/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finite set of well-defined instructions designed to perform a task or solve a problem. Effective algorithmic problem solving involves understanding the problem, designing a clear solution strategy, and analyzing the algorithm's efficiency.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91CCA-1BE5-F500-6FE3-9286107B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DC841-660F-050E-F1D5-7EDF89E4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pPr/>
              <a:t>14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48F32E8-1C2C-DDC5-5A63-CE0734EE2B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00A3D7-8C56-079A-BFFF-58D27E7ED9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328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E995B-751B-0A32-5A21-E7C3B8B54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55" y="1213803"/>
            <a:ext cx="10074911" cy="2504757"/>
          </a:xfrm>
        </p:spPr>
        <p:txBody>
          <a:bodyPr>
            <a:noAutofit/>
          </a:bodyPr>
          <a:lstStyle/>
          <a:p>
            <a:r>
              <a:rPr lang="en-US" sz="3600" dirty="0">
                <a:latin typeface="Georgia" panose="02040502050405020303" pitchFamily="18" charset="0"/>
              </a:rPr>
              <a:t>In the next session, Algorithmic problem-solving strategies, problem types</a:t>
            </a:r>
            <a:endParaRPr lang="en-IN" sz="3600" dirty="0">
              <a:latin typeface="Georgia" panose="02040502050405020303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40086-9969-C241-AB60-108D142D9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65707-3814-3027-565A-48A3BE9C3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pPr/>
              <a:t>15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592EB9A-7F96-10B0-43BD-B1F95C6FBE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D834257-EC96-D536-3BBD-72E7CFA642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224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6F593-41A2-5797-581D-24AD95F1C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6501" y="2247113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Review and Reflection from students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B49D5-5A14-2BEC-3499-D6864FF74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6AAFE-4113-97E4-34C4-18F6BEDEA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pPr/>
              <a:t>16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40A47C-E275-8055-F3D9-D231119BA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200" y="4392420"/>
            <a:ext cx="2025218" cy="1940329"/>
          </a:xfrm>
          <a:prstGeom prst="rect">
            <a:avLst/>
          </a:prstGeom>
        </p:spPr>
      </p:pic>
      <p:pic>
        <p:nvPicPr>
          <p:cNvPr id="8" name="Picture 7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2D872DDF-4447-626A-EA2D-F25500CB53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DEA843D-98A8-0F4E-0617-582CE9651D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638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2574</TotalTime>
  <Words>483</Words>
  <Application>Microsoft Office PowerPoint</Application>
  <PresentationFormat>Widescreen</PresentationFormat>
  <Paragraphs>88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Cambria</vt:lpstr>
      <vt:lpstr>Georgia</vt:lpstr>
      <vt:lpstr>Times New Roman</vt:lpstr>
      <vt:lpstr>Office Theme</vt:lpstr>
      <vt:lpstr>    Introduction to Algorithms-Definition, characteristics, real-world examples    Session No.: 1 Course Name: Design and analysis of algorithm Course Code: R1UC407B Instructor Name: Rakesh Bharati Duration: 50 Min. Date of Conduction of Class:  </vt:lpstr>
      <vt:lpstr>  Review of the key concepts  1.Basic concepts of data structure 2. Searching algorithm 3. Sorting Algorithm     </vt:lpstr>
      <vt:lpstr>Q1: What do you understand by the term algorithm? Q2: What is meant by input and output of an algorithm?    </vt:lpstr>
      <vt:lpstr>Learning Outcome</vt:lpstr>
      <vt:lpstr>Session Outline</vt:lpstr>
      <vt:lpstr>Definition</vt:lpstr>
      <vt:lpstr>Characteristics of an algorithm</vt:lpstr>
      <vt:lpstr>Fundamentals of Algorithmic Problem Solving</vt:lpstr>
      <vt:lpstr>Problem Types in Algorithmic Problem Solving </vt:lpstr>
      <vt:lpstr> Activity1 (scenario based)</vt:lpstr>
      <vt:lpstr> Activity-1 (scenario based)</vt:lpstr>
      <vt:lpstr>Reflection- This activity helped students understand that an algorithm must consist of clear, precise, and logically ordered steps to achieve a desired outcome.</vt:lpstr>
      <vt:lpstr>PowerPoint Presentation</vt:lpstr>
      <vt:lpstr>Summary  An algorithm is a finite set of well-defined instructions designed to perform a task or solve a problem. Effective algorithmic problem solving involves understanding the problem, designing a clear solution strategy, and analyzing the algorithm's efficiency.</vt:lpstr>
      <vt:lpstr>In the next session, Algorithmic problem-solving strategies, problem types</vt:lpstr>
      <vt:lpstr>Review and Reflection from students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Notion of an algorithm, Fundamentals of algorithmic problem solving and problem types     Session No.: 1 Course Name: Design and analysis of algorithm Course Code: R1UC407B Instructor Name: Rakesh Bharati Duration: 50 Min. Date of Conduction of Class:  </dc:title>
  <dc:creator>Deepak Gupta</dc:creator>
  <cp:lastModifiedBy>RAKESH BHARATI</cp:lastModifiedBy>
  <cp:revision>73</cp:revision>
  <dcterms:created xsi:type="dcterms:W3CDTF">2024-08-22T06:33:55Z</dcterms:created>
  <dcterms:modified xsi:type="dcterms:W3CDTF">2026-02-11T09:48:44Z</dcterms:modified>
</cp:coreProperties>
</file>