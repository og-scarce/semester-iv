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embeddedFontLst>
    <p:embeddedFont>
      <p:font typeface="Georgia" panose="02040502050405020303" pitchFamily="18" charset="0"/>
      <p:regular r:id="rId31"/>
      <p:bold r:id="rId32"/>
      <p:italic r:id="rId33"/>
      <p:boldItalic r:id="rId34"/>
    </p:embeddedFont>
    <p:embeddedFont>
      <p:font typeface="Play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jD2CxtyoEy3+tDG87sRNPxyJDu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9CA05A-AF1C-475E-8352-7AD1236668D6}">
  <a:tblStyle styleId="{699CA05A-AF1C-475E-8352-7AD1236668D6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477981" y="1447482"/>
            <a:ext cx="8366216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eorgia"/>
              <a:buNone/>
            </a:pPr>
            <a:r>
              <a:rPr lang="en-US" sz="4800" b="1">
                <a:latin typeface="Georgia"/>
                <a:ea typeface="Georgia"/>
                <a:cs typeface="Georgia"/>
                <a:sym typeface="Georgia"/>
              </a:rPr>
              <a:t>Binary Search</a:t>
            </a:r>
            <a:br>
              <a:rPr lang="en-US" sz="4800" b="1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2000" b="1">
                <a:latin typeface="Georgia"/>
                <a:ea typeface="Georgia"/>
                <a:cs typeface="Georgia"/>
                <a:sym typeface="Georgia"/>
              </a:rPr>
              <a:t>Session No.: 10</a:t>
            </a:r>
            <a:br>
              <a:rPr lang="en-US" sz="20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2000" b="1">
                <a:latin typeface="Georgia"/>
                <a:ea typeface="Georgia"/>
                <a:cs typeface="Georgia"/>
                <a:sym typeface="Georgia"/>
              </a:rPr>
              <a:t>Course Name: </a:t>
            </a:r>
            <a:r>
              <a:rPr lang="en-US" sz="2000" b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Design and Analysis of Algorithm</a:t>
            </a:r>
            <a:br>
              <a:rPr lang="en-US" sz="20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2000" b="1">
                <a:latin typeface="Georgia"/>
                <a:ea typeface="Georgia"/>
                <a:cs typeface="Georgia"/>
                <a:sym typeface="Georgia"/>
              </a:rPr>
              <a:t>Course Code: </a:t>
            </a:r>
            <a:r>
              <a:rPr lang="en-US" sz="2000" b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R1UC407B</a:t>
            </a:r>
            <a:br>
              <a:rPr lang="en-US" sz="20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2000" b="1">
                <a:latin typeface="Georgia"/>
                <a:ea typeface="Georgia"/>
                <a:cs typeface="Georgia"/>
                <a:sym typeface="Georgia"/>
              </a:rPr>
              <a:t>Duration: 50 minutes</a:t>
            </a:r>
            <a:br>
              <a:rPr lang="en-US" sz="20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2000" b="1">
                <a:latin typeface="Georgia"/>
                <a:ea typeface="Georgia"/>
                <a:cs typeface="Georgia"/>
                <a:sym typeface="Georgia"/>
              </a:rPr>
              <a:t>Date of Conduction of Class: </a:t>
            </a: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endParaRPr sz="4800"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20725" y="1051671"/>
            <a:ext cx="10515600" cy="405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Review of the key concepts</a:t>
            </a:r>
            <a:br>
              <a:rPr lang="en-US"/>
            </a:br>
            <a:br>
              <a:rPr lang="en-US"/>
            </a:br>
            <a:r>
              <a:rPr lang="en-US" sz="3600"/>
              <a:t>1. Divide and Conquer approach</a:t>
            </a:r>
            <a:br>
              <a:rPr lang="en-US" sz="3600"/>
            </a:br>
            <a:r>
              <a:rPr lang="en-US" sz="3600"/>
              <a:t>2. Analyzing Recursive Algorithms</a:t>
            </a:r>
            <a:br>
              <a:rPr lang="en-US" sz="3600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 </a:t>
            </a:r>
            <a:br>
              <a:rPr lang="en-US"/>
            </a:br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0" name="Google Shape;100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838200" y="146621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Play"/>
              <a:buNone/>
            </a:pPr>
            <a:r>
              <a:rPr lang="en-US" b="1">
                <a:solidFill>
                  <a:srgbClr val="FF0000"/>
                </a:solidFill>
              </a:rPr>
              <a:t>Let’s play Guessing the number game :</a:t>
            </a:r>
            <a:br>
              <a:rPr lang="en-US"/>
            </a:br>
            <a:endParaRPr/>
          </a:p>
        </p:txBody>
      </p:sp>
      <p:sp>
        <p:nvSpPr>
          <p:cNvPr id="107" name="Google Shape;107;p3"/>
          <p:cNvSpPr txBox="1">
            <a:spLocks noGrp="1"/>
          </p:cNvSpPr>
          <p:nvPr>
            <p:ph type="body" idx="1"/>
          </p:nvPr>
        </p:nvSpPr>
        <p:spPr>
          <a:xfrm>
            <a:off x="838200" y="2440305"/>
            <a:ext cx="10515600" cy="373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How it works: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Think of a number between 1 and 100 in your mind, (</a:t>
            </a:r>
            <a:r>
              <a:rPr lang="en-US">
                <a:solidFill>
                  <a:srgbClr val="F2F2F2"/>
                </a:solidFill>
                <a:highlight>
                  <a:srgbClr val="000000"/>
                </a:highlight>
              </a:rPr>
              <a:t>say 42 - don’t reveal-keep in mind )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Ask students to guess it.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Discuss how they can optimize their guessing strategy 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362960" y="1541780"/>
            <a:ext cx="8702675" cy="412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18" name="Google Shape;11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 descr="A blue circle with text and word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558165" y="2493010"/>
            <a:ext cx="2804795" cy="1871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Case 1: When no Strategy is used at all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436245" y="2089785"/>
            <a:ext cx="3133090" cy="249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None/>
            </a:pPr>
            <a:r>
              <a:rPr lang="en-US" sz="2800" b="1"/>
              <a:t>Case 2: Some Strategy, but not efficient</a:t>
            </a:r>
            <a:r>
              <a:rPr lang="en-US"/>
              <a:t> </a:t>
            </a:r>
            <a:endParaRPr/>
          </a:p>
        </p:txBody>
      </p:sp>
      <p:pic>
        <p:nvPicPr>
          <p:cNvPr id="127" name="Google Shape;127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1193800"/>
            <a:ext cx="7712075" cy="461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5" descr="A blue circle with text and word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>
            <a:spLocks noGrp="1"/>
          </p:cNvSpPr>
          <p:nvPr>
            <p:ph type="title"/>
          </p:nvPr>
        </p:nvSpPr>
        <p:spPr>
          <a:xfrm>
            <a:off x="595630" y="2082165"/>
            <a:ext cx="2840355" cy="2732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0"/>
              <a:buFont typeface="Play"/>
              <a:buNone/>
            </a:pPr>
            <a:r>
              <a:rPr lang="en-US" sz="3110" b="1"/>
              <a:t>Case 3: Another Strategy, inefficeint</a:t>
            </a:r>
            <a:endParaRPr sz="3110" b="1"/>
          </a:p>
        </p:txBody>
      </p:sp>
      <p:pic>
        <p:nvPicPr>
          <p:cNvPr id="137" name="Google Shape;137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275330" y="1268730"/>
            <a:ext cx="8806180" cy="49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39" name="Google Shape;1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 descr="A blue circle with text and word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>
            <a:spLocks noGrp="1"/>
          </p:cNvSpPr>
          <p:nvPr>
            <p:ph type="title"/>
          </p:nvPr>
        </p:nvSpPr>
        <p:spPr>
          <a:xfrm>
            <a:off x="680720" y="10515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 b="1">
                <a:solidFill>
                  <a:schemeClr val="dk2"/>
                </a:solidFill>
              </a:rPr>
              <a:t>Reflection - Opening Activity </a:t>
            </a:r>
            <a:endParaRPr/>
          </a:p>
        </p:txBody>
      </p:sp>
      <p:sp>
        <p:nvSpPr>
          <p:cNvPr id="147" name="Google Shape;147;p7"/>
          <p:cNvSpPr txBox="1">
            <a:spLocks noGrp="1"/>
          </p:cNvSpPr>
          <p:nvPr>
            <p:ph type="body" idx="1"/>
          </p:nvPr>
        </p:nvSpPr>
        <p:spPr>
          <a:xfrm>
            <a:off x="680720" y="2574290"/>
            <a:ext cx="10256520" cy="25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Out of all 3 shown Strategies, no one is efficent.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the main disadvantage of linear search?</a:t>
            </a:r>
            <a:endParaRPr/>
          </a:p>
          <a:p>
            <a:pPr marL="22860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48" name="Google Shape;1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49" name="Google Shape;1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50" name="Google Shape;15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7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end of this session students will be able to </a:t>
            </a:r>
            <a:endParaRPr/>
          </a:p>
        </p:txBody>
      </p:sp>
      <p:sp>
        <p:nvSpPr>
          <p:cNvPr id="157" name="Google Shape;15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58" name="Google Shape;15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159" name="Google Shape;159;p8"/>
          <p:cNvGrpSpPr/>
          <p:nvPr/>
        </p:nvGrpSpPr>
        <p:grpSpPr>
          <a:xfrm>
            <a:off x="558710" y="2666946"/>
            <a:ext cx="10927828" cy="3689404"/>
            <a:chOff x="0" y="0"/>
            <a:chExt cx="10927828" cy="3689404"/>
          </a:xfrm>
        </p:grpSpPr>
        <p:sp>
          <p:nvSpPr>
            <p:cNvPr id="160" name="Google Shape;160;p8"/>
            <p:cNvSpPr/>
            <p:nvPr/>
          </p:nvSpPr>
          <p:spPr>
            <a:xfrm>
              <a:off x="0" y="0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 txBox="1"/>
            <p:nvPr/>
          </p:nvSpPr>
          <p:spPr>
            <a:xfrm>
              <a:off x="48627" y="48627"/>
              <a:ext cx="7572674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2800" b="1" u="sng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Outcome 1</a:t>
              </a:r>
              <a:r>
                <a:rPr lang="en-US" sz="2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: Apply Binary search on given sorted list of elements.</a:t>
              </a: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1639174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 txBox="1"/>
            <p:nvPr/>
          </p:nvSpPr>
          <p:spPr>
            <a:xfrm>
              <a:off x="1687801" y="2077799"/>
              <a:ext cx="6473075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2800" b="1" u="sng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Outcome 2:</a:t>
              </a:r>
              <a:r>
                <a:rPr lang="en-US" sz="2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Implement binary search in a programming language (e.g., Python, Java, or C++).</a:t>
              </a: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8209503" y="1305127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90196"/>
              </a:srgbClr>
            </a:solidFill>
            <a:ln w="19050" cap="flat" cmpd="sng">
              <a:solidFill>
                <a:srgbClr val="F6D4CC">
                  <a:alpha val="90196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 txBox="1"/>
            <p:nvPr/>
          </p:nvSpPr>
          <p:spPr>
            <a:xfrm>
              <a:off x="8452312" y="1305127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6" name="Google Shape;166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250" y="1152825"/>
            <a:ext cx="10746101" cy="12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>
            <a:spLocks noGrp="1"/>
          </p:cNvSpPr>
          <p:nvPr>
            <p:ph type="title"/>
          </p:nvPr>
        </p:nvSpPr>
        <p:spPr>
          <a:xfrm>
            <a:off x="1617980" y="1391920"/>
            <a:ext cx="3418840" cy="407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Session Outline</a:t>
            </a:r>
            <a:endParaRPr/>
          </a:p>
        </p:txBody>
      </p:sp>
      <p:sp>
        <p:nvSpPr>
          <p:cNvPr id="174" name="Google Shape;17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75" name="Google Shape;17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6" name="Google Shape;176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 txBox="1"/>
          <p:nvPr/>
        </p:nvSpPr>
        <p:spPr>
          <a:xfrm>
            <a:off x="5920740" y="1695450"/>
            <a:ext cx="4838065" cy="452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 to Binary Search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Binary Search Works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Complexity Analysis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 of Binary Search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 Problems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84" name="Google Shape;1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85" name="Google Shape;185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1149350" y="2647315"/>
            <a:ext cx="2379345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would you find a specific word in a dictionary quickly?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0" descr="download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8605" y="1825625"/>
            <a:ext cx="3996690" cy="3455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>
            <a:spLocks noGrp="1"/>
          </p:cNvSpPr>
          <p:nvPr>
            <p:ph type="title"/>
          </p:nvPr>
        </p:nvSpPr>
        <p:spPr>
          <a:xfrm>
            <a:off x="525145" y="1617345"/>
            <a:ext cx="4217670" cy="397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 b="1">
                <a:solidFill>
                  <a:schemeClr val="dk2"/>
                </a:solidFill>
              </a:rPr>
              <a:t>Concept and Definition for </a:t>
            </a:r>
            <a:br>
              <a:rPr lang="en-US" sz="4000" b="1">
                <a:solidFill>
                  <a:schemeClr val="dk2"/>
                </a:solidFill>
              </a:rPr>
            </a:br>
            <a:r>
              <a:rPr lang="en-US" sz="4000" b="1">
                <a:solidFill>
                  <a:schemeClr val="dk2"/>
                </a:solidFill>
              </a:rPr>
              <a:t>Learning Activity 1</a:t>
            </a:r>
            <a:endParaRPr/>
          </a:p>
        </p:txBody>
      </p:sp>
      <p:sp>
        <p:nvSpPr>
          <p:cNvPr id="194" name="Google Shape;19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95" name="Google Shape;19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96" name="Google Shape;196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 txBox="1"/>
          <p:nvPr/>
        </p:nvSpPr>
        <p:spPr>
          <a:xfrm>
            <a:off x="5715000" y="1722120"/>
            <a:ext cx="5043805" cy="397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Search: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search algorithm that finds the position of a target value within a </a:t>
            </a:r>
            <a:r>
              <a:rPr lang="en-US" sz="28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array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repeatedly </a:t>
            </a:r>
            <a:r>
              <a:rPr lang="en-US" sz="28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dividing the search interval in half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 txBox="1">
            <a:spLocks noGrp="1"/>
          </p:cNvSpPr>
          <p:nvPr>
            <p:ph type="title"/>
          </p:nvPr>
        </p:nvSpPr>
        <p:spPr>
          <a:xfrm>
            <a:off x="216959" y="825500"/>
            <a:ext cx="10765155" cy="1024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eorgia"/>
              <a:buNone/>
            </a:pPr>
            <a:r>
              <a:rPr lang="en-US" sz="3555" b="1">
                <a:latin typeface="Georgia"/>
                <a:ea typeface="Georgia"/>
                <a:cs typeface="Georgia"/>
                <a:sym typeface="Georgia"/>
              </a:rPr>
              <a:t>Learning Activity 1(a) -"Guess the Number" Game</a:t>
            </a:r>
            <a:endParaRPr/>
          </a:p>
        </p:txBody>
      </p:sp>
      <p:sp>
        <p:nvSpPr>
          <p:cNvPr id="204" name="Google Shape;204;p12"/>
          <p:cNvSpPr txBox="1">
            <a:spLocks noGrp="1"/>
          </p:cNvSpPr>
          <p:nvPr>
            <p:ph type="body" idx="1"/>
          </p:nvPr>
        </p:nvSpPr>
        <p:spPr>
          <a:xfrm>
            <a:off x="364067" y="1664335"/>
            <a:ext cx="9211945" cy="468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u="sng"/>
              <a:t>Activity: </a:t>
            </a:r>
            <a:r>
              <a:rPr lang="en-US" sz="1900"/>
              <a:t>Students will play a game where they guess a number between 1 and 100,</a:t>
            </a:r>
            <a:r>
              <a:rPr lang="en-US" sz="1900">
                <a:solidFill>
                  <a:srgbClr val="D8D8D8"/>
                </a:solidFill>
              </a:rPr>
              <a:t> </a:t>
            </a:r>
            <a:r>
              <a:rPr lang="en-US" sz="1900" b="1">
                <a:solidFill>
                  <a:srgbClr val="D8D8D8"/>
                </a:solidFill>
              </a:rPr>
              <a:t>say 42</a:t>
            </a:r>
            <a:r>
              <a:rPr lang="en-US" sz="1900"/>
              <a:t>, with the teacher responding "higher" or "lower" after each guess.</a:t>
            </a:r>
            <a:endParaRPr/>
          </a:p>
          <a:p>
            <a:pPr marL="228600" lvl="0" indent="-1079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endParaRPr sz="190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 b="1" u="sng"/>
              <a:t>Purpose: </a:t>
            </a:r>
            <a:r>
              <a:rPr lang="en-US" sz="1900"/>
              <a:t>To demonstrate how binary search works by narrowing down the search range.</a:t>
            </a:r>
            <a:endParaRPr/>
          </a:p>
          <a:p>
            <a:pPr marL="228600" lvl="0" indent="-1079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endParaRPr sz="190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 b="1" u="sng"/>
              <a:t>Skills Encouraged:</a:t>
            </a:r>
            <a:endParaRPr/>
          </a:p>
          <a:p>
            <a:pPr marL="228600" lvl="0" indent="-1079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endParaRPr sz="190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/>
              <a:t>Cognitive skills (strategic thinking).</a:t>
            </a:r>
            <a:endParaRPr/>
          </a:p>
          <a:p>
            <a:pPr marL="228600" lvl="0" indent="-1079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endParaRPr sz="190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/>
              <a:t>Analytical skills (understanding the process of elimination).</a:t>
            </a:r>
            <a:endParaRPr/>
          </a:p>
        </p:txBody>
      </p:sp>
      <p:sp>
        <p:nvSpPr>
          <p:cNvPr id="205" name="Google Shape;20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06" name="Google Shape;20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07" name="Google Shape;207;p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>
            <a:spLocks noGrp="1"/>
          </p:cNvSpPr>
          <p:nvPr>
            <p:ph type="title"/>
          </p:nvPr>
        </p:nvSpPr>
        <p:spPr>
          <a:xfrm>
            <a:off x="221615" y="2239645"/>
            <a:ext cx="3679190" cy="2750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lang="en-US" sz="2800" b="1"/>
            </a:br>
            <a:r>
              <a:rPr lang="en-US" sz="2800"/>
              <a:t>After each guess, say "Too high" or "Too low" until they find the number.</a:t>
            </a:r>
            <a:br>
              <a:rPr lang="en-US" sz="2800" b="1"/>
            </a:br>
            <a:br>
              <a:rPr lang="en-US" sz="2800" b="1"/>
            </a:br>
            <a:endParaRPr sz="2800" b="1"/>
          </a:p>
        </p:txBody>
      </p:sp>
      <p:sp>
        <p:nvSpPr>
          <p:cNvPr id="214" name="Google Shape;21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15" name="Google Shape;21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16" name="Google Shape;21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0805" y="1720215"/>
            <a:ext cx="7989570" cy="4364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3" descr="A blue circle with text and word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21055" y="1221740"/>
            <a:ext cx="11130915" cy="496443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25" name="Google Shape;22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26" name="Google Shape;22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4" descr="A blue circle with text and word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>
            <a:spLocks noGrp="1"/>
          </p:cNvSpPr>
          <p:nvPr>
            <p:ph type="title"/>
          </p:nvPr>
        </p:nvSpPr>
        <p:spPr>
          <a:xfrm>
            <a:off x="838200" y="10172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Some Questions ..?</a:t>
            </a:r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body" idx="1"/>
          </p:nvPr>
        </p:nvSpPr>
        <p:spPr>
          <a:xfrm>
            <a:off x="838200" y="250634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 is sorting important for binary search?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you think of a real-life example where binary search might be useful?</a:t>
            </a:r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36" name="Google Shape;23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5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>
            <a:spLocks noGrp="1"/>
          </p:cNvSpPr>
          <p:nvPr>
            <p:ph type="title"/>
          </p:nvPr>
        </p:nvSpPr>
        <p:spPr>
          <a:xfrm>
            <a:off x="347345" y="1880870"/>
            <a:ext cx="5262880" cy="305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 b="1">
                <a:solidFill>
                  <a:schemeClr val="dk2"/>
                </a:solidFill>
              </a:rPr>
              <a:t>Reflection- Learning Activity 1(a)</a:t>
            </a:r>
            <a:endParaRPr/>
          </a:p>
        </p:txBody>
      </p:sp>
      <p:sp>
        <p:nvSpPr>
          <p:cNvPr id="243" name="Google Shape;2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44" name="Google Shape;2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45" name="Google Shape;245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6"/>
          <p:cNvSpPr txBox="1"/>
          <p:nvPr/>
        </p:nvSpPr>
        <p:spPr>
          <a:xfrm>
            <a:off x="6659245" y="1880870"/>
            <a:ext cx="4694555" cy="310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Discussed the strategy which students used to guess the number.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1" u="sng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Relate the activity to binary search.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53" name="Google Shape;2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54" name="Google Shape;254;p17"/>
          <p:cNvSpPr/>
          <p:nvPr/>
        </p:nvSpPr>
        <p:spPr>
          <a:xfrm>
            <a:off x="654685" y="2392680"/>
            <a:ext cx="3869690" cy="3665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 b="1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Working of Binary search</a:t>
            </a:r>
            <a:endParaRPr/>
          </a:p>
        </p:txBody>
      </p:sp>
      <p:pic>
        <p:nvPicPr>
          <p:cNvPr id="255" name="Google Shape;255;p17" descr="B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62195" y="1691005"/>
            <a:ext cx="6681470" cy="4367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7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 txBox="1">
            <a:spLocks noGrp="1"/>
          </p:cNvSpPr>
          <p:nvPr>
            <p:ph type="body" idx="1"/>
          </p:nvPr>
        </p:nvSpPr>
        <p:spPr>
          <a:xfrm>
            <a:off x="733425" y="3112135"/>
            <a:ext cx="10725150" cy="2724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(1) Search 42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(2) Search 12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(3) Search 30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Also find number of comparisons required in each case.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Ask students to solve it on their notebook and after scanning ask them to upload on pedlet.</a:t>
            </a:r>
            <a:endParaRPr/>
          </a:p>
        </p:txBody>
      </p:sp>
      <p:sp>
        <p:nvSpPr>
          <p:cNvPr id="263" name="Google Shape;2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64" name="Google Shape;2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65" name="Google Shape;265;p18"/>
          <p:cNvSpPr/>
          <p:nvPr/>
        </p:nvSpPr>
        <p:spPr>
          <a:xfrm>
            <a:off x="429260" y="1051560"/>
            <a:ext cx="10329545" cy="206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Learning Activity 1(b) - Think Pair Share [15 min]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None/>
            </a:pP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Apply Binary Search on the following list of numbers - </a:t>
            </a:r>
            <a:endParaRPr/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3,6,8,12,14,17,25,29,31,36,42,47,53,55,62</a:t>
            </a:r>
            <a:endParaRPr/>
          </a:p>
        </p:txBody>
      </p:sp>
      <p:pic>
        <p:nvPicPr>
          <p:cNvPr id="266" name="Google Shape;266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b="1"/>
              <a:t>Activity Time</a:t>
            </a:r>
            <a:br>
              <a:rPr lang="en-US" b="1"/>
            </a:br>
            <a:r>
              <a:rPr lang="en-US" b="1"/>
              <a:t>Padlet QR codes to Submit the response</a:t>
            </a:r>
            <a:endParaRPr/>
          </a:p>
        </p:txBody>
      </p:sp>
      <p:sp>
        <p:nvSpPr>
          <p:cNvPr id="273" name="Google Shape;27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74" name="Google Shape;27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76" name="Google Shape;276;p19" descr="QR Sec 58 padle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3065" y="2331085"/>
            <a:ext cx="2375535" cy="237553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9"/>
          <p:cNvSpPr txBox="1"/>
          <p:nvPr/>
        </p:nvSpPr>
        <p:spPr>
          <a:xfrm>
            <a:off x="1996440" y="4762500"/>
            <a:ext cx="225679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1 QR</a:t>
            </a:r>
            <a:endParaRPr/>
          </a:p>
        </p:txBody>
      </p:sp>
      <p:pic>
        <p:nvPicPr>
          <p:cNvPr id="278" name="Google Shape;278;p19" descr="QR pedlet sec 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6560" y="2510790"/>
            <a:ext cx="2281555" cy="219583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9"/>
          <p:cNvSpPr txBox="1"/>
          <p:nvPr/>
        </p:nvSpPr>
        <p:spPr>
          <a:xfrm>
            <a:off x="8347710" y="4762500"/>
            <a:ext cx="225679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2 QR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>
            <a:spLocks noGrp="1"/>
          </p:cNvSpPr>
          <p:nvPr>
            <p:ph type="title"/>
          </p:nvPr>
        </p:nvSpPr>
        <p:spPr>
          <a:xfrm>
            <a:off x="347345" y="1880870"/>
            <a:ext cx="5262880" cy="305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 b="1">
                <a:solidFill>
                  <a:schemeClr val="dk2"/>
                </a:solidFill>
              </a:rPr>
              <a:t>Reflection- Learning Activity 1(b)</a:t>
            </a:r>
            <a:endParaRPr/>
          </a:p>
        </p:txBody>
      </p:sp>
      <p:sp>
        <p:nvSpPr>
          <p:cNvPr id="285" name="Google Shape;28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86" name="Google Shape;28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87" name="Google Shape;287;p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0"/>
          <p:cNvSpPr txBox="1"/>
          <p:nvPr/>
        </p:nvSpPr>
        <p:spPr>
          <a:xfrm>
            <a:off x="6659245" y="1880870"/>
            <a:ext cx="4694555" cy="310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Discussed the number of comparison required in each case.  </a:t>
            </a:r>
            <a:r>
              <a:rPr lang="en-US" sz="2800" i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Also, cover 1 case , when element is not found in the list. Then students will get to know, how the algorithm successfully stops.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"/>
          <p:cNvSpPr txBox="1">
            <a:spLocks noGrp="1"/>
          </p:cNvSpPr>
          <p:nvPr>
            <p:ph type="title"/>
          </p:nvPr>
        </p:nvSpPr>
        <p:spPr>
          <a:xfrm>
            <a:off x="460374" y="1858645"/>
            <a:ext cx="4416425" cy="3665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 b="1">
                <a:solidFill>
                  <a:schemeClr val="dk2"/>
                </a:solidFill>
              </a:rPr>
              <a:t>Concept and Definition for Learning Activity 2</a:t>
            </a:r>
            <a:endParaRPr/>
          </a:p>
        </p:txBody>
      </p:sp>
      <p:sp>
        <p:nvSpPr>
          <p:cNvPr id="295" name="Google Shape;29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96" name="Google Shape;29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297" name="Google Shape;297;p2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1"/>
          <p:cNvSpPr txBox="1"/>
          <p:nvPr/>
        </p:nvSpPr>
        <p:spPr>
          <a:xfrm>
            <a:off x="5423535" y="1858010"/>
            <a:ext cx="5489575" cy="303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search has a time complexity of O(log n), making it much faster than linear search for large datasets.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"/>
          <p:cNvSpPr/>
          <p:nvPr/>
        </p:nvSpPr>
        <p:spPr>
          <a:xfrm>
            <a:off x="6183630" y="1013460"/>
            <a:ext cx="914400" cy="91440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3997960" y="2266315"/>
            <a:ext cx="914400" cy="91440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8504555" y="2266315"/>
            <a:ext cx="914400" cy="91440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2266315" y="3657600"/>
            <a:ext cx="914400" cy="91440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4451985" y="3733165"/>
            <a:ext cx="914400" cy="91440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309" name="Google Shape;309;p22"/>
          <p:cNvSpPr/>
          <p:nvPr/>
        </p:nvSpPr>
        <p:spPr>
          <a:xfrm>
            <a:off x="7247255" y="3557270"/>
            <a:ext cx="914400" cy="91440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9585325" y="3574415"/>
            <a:ext cx="914400" cy="91440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cxnSp>
        <p:nvCxnSpPr>
          <p:cNvPr id="311" name="Google Shape;311;p22"/>
          <p:cNvCxnSpPr>
            <a:endCxn id="305" idx="7"/>
          </p:cNvCxnSpPr>
          <p:nvPr/>
        </p:nvCxnSpPr>
        <p:spPr>
          <a:xfrm flipH="1">
            <a:off x="4778449" y="1708726"/>
            <a:ext cx="1454100" cy="691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2" name="Google Shape;312;p22"/>
          <p:cNvCxnSpPr>
            <a:endCxn id="306" idx="1"/>
          </p:cNvCxnSpPr>
          <p:nvPr/>
        </p:nvCxnSpPr>
        <p:spPr>
          <a:xfrm>
            <a:off x="7088366" y="1628026"/>
            <a:ext cx="1550100" cy="772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3" name="Google Shape;313;p22"/>
          <p:cNvCxnSpPr/>
          <p:nvPr/>
        </p:nvCxnSpPr>
        <p:spPr>
          <a:xfrm flipH="1">
            <a:off x="2787650" y="2839085"/>
            <a:ext cx="1216660" cy="81851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4" name="Google Shape;314;p22"/>
          <p:cNvCxnSpPr>
            <a:stCxn id="305" idx="5"/>
          </p:cNvCxnSpPr>
          <p:nvPr/>
        </p:nvCxnSpPr>
        <p:spPr>
          <a:xfrm>
            <a:off x="4778449" y="3046804"/>
            <a:ext cx="210900" cy="729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5" name="Google Shape;315;p22"/>
          <p:cNvCxnSpPr/>
          <p:nvPr/>
        </p:nvCxnSpPr>
        <p:spPr>
          <a:xfrm flipH="1">
            <a:off x="7925435" y="2936240"/>
            <a:ext cx="632460" cy="63817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6" name="Google Shape;316;p22"/>
          <p:cNvCxnSpPr>
            <a:stCxn id="306" idx="5"/>
            <a:endCxn id="310" idx="0"/>
          </p:cNvCxnSpPr>
          <p:nvPr/>
        </p:nvCxnSpPr>
        <p:spPr>
          <a:xfrm>
            <a:off x="9285044" y="3046804"/>
            <a:ext cx="757500" cy="52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7" name="Google Shape;317;p22"/>
          <p:cNvSpPr/>
          <p:nvPr/>
        </p:nvSpPr>
        <p:spPr>
          <a:xfrm>
            <a:off x="1034415" y="5648960"/>
            <a:ext cx="914400" cy="91440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2439035" y="5619115"/>
            <a:ext cx="914400" cy="91440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3855720" y="5701030"/>
            <a:ext cx="914400" cy="91440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5197475" y="5701030"/>
            <a:ext cx="914400" cy="91440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21" name="Google Shape;321;p22"/>
          <p:cNvSpPr/>
          <p:nvPr/>
        </p:nvSpPr>
        <p:spPr>
          <a:xfrm>
            <a:off x="6607810" y="5701030"/>
            <a:ext cx="914400" cy="91440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8165465" y="5717540"/>
            <a:ext cx="921385" cy="89789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23" name="Google Shape;323;p22"/>
          <p:cNvSpPr/>
          <p:nvPr/>
        </p:nvSpPr>
        <p:spPr>
          <a:xfrm>
            <a:off x="9360535" y="5718175"/>
            <a:ext cx="855980" cy="897255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10776585" y="5717540"/>
            <a:ext cx="871220" cy="908050"/>
          </a:xfrm>
          <a:prstGeom prst="ellipse">
            <a:avLst/>
          </a:prstGeom>
          <a:solidFill>
            <a:srgbClr val="ADD8E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cxnSp>
        <p:nvCxnSpPr>
          <p:cNvPr id="325" name="Google Shape;325;p22"/>
          <p:cNvCxnSpPr>
            <a:stCxn id="307" idx="3"/>
            <a:endCxn id="317" idx="7"/>
          </p:cNvCxnSpPr>
          <p:nvPr/>
        </p:nvCxnSpPr>
        <p:spPr>
          <a:xfrm flipH="1">
            <a:off x="1814926" y="4438089"/>
            <a:ext cx="585300" cy="1344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6" name="Google Shape;326;p22"/>
          <p:cNvCxnSpPr>
            <a:stCxn id="307" idx="4"/>
          </p:cNvCxnSpPr>
          <p:nvPr/>
        </p:nvCxnSpPr>
        <p:spPr>
          <a:xfrm>
            <a:off x="2723515" y="4572000"/>
            <a:ext cx="473100" cy="120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7" name="Google Shape;327;p22"/>
          <p:cNvCxnSpPr>
            <a:endCxn id="319" idx="0"/>
          </p:cNvCxnSpPr>
          <p:nvPr/>
        </p:nvCxnSpPr>
        <p:spPr>
          <a:xfrm flipH="1">
            <a:off x="4312920" y="4615030"/>
            <a:ext cx="402000" cy="108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8" name="Google Shape;328;p22"/>
          <p:cNvCxnSpPr>
            <a:endCxn id="320" idx="0"/>
          </p:cNvCxnSpPr>
          <p:nvPr/>
        </p:nvCxnSpPr>
        <p:spPr>
          <a:xfrm>
            <a:off x="5117975" y="4582930"/>
            <a:ext cx="536700" cy="1118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9" name="Google Shape;329;p22"/>
          <p:cNvCxnSpPr>
            <a:stCxn id="309" idx="4"/>
            <a:endCxn id="321" idx="0"/>
          </p:cNvCxnSpPr>
          <p:nvPr/>
        </p:nvCxnSpPr>
        <p:spPr>
          <a:xfrm flipH="1">
            <a:off x="7065155" y="4471670"/>
            <a:ext cx="639300" cy="122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0" name="Google Shape;330;p22"/>
          <p:cNvCxnSpPr/>
          <p:nvPr/>
        </p:nvCxnSpPr>
        <p:spPr>
          <a:xfrm>
            <a:off x="7927975" y="4421505"/>
            <a:ext cx="532765" cy="125984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1" name="Google Shape;331;p22"/>
          <p:cNvCxnSpPr/>
          <p:nvPr/>
        </p:nvCxnSpPr>
        <p:spPr>
          <a:xfrm flipH="1">
            <a:off x="9618980" y="4438015"/>
            <a:ext cx="214630" cy="127952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2" name="Google Shape;332;p22"/>
          <p:cNvCxnSpPr>
            <a:stCxn id="310" idx="5"/>
          </p:cNvCxnSpPr>
          <p:nvPr/>
        </p:nvCxnSpPr>
        <p:spPr>
          <a:xfrm>
            <a:off x="10365814" y="4354904"/>
            <a:ext cx="663000" cy="139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333" name="Google Shape;333;p22"/>
          <p:cNvGraphicFramePr/>
          <p:nvPr/>
        </p:nvGraphicFramePr>
        <p:xfrm>
          <a:off x="1896745" y="140970"/>
          <a:ext cx="8879800" cy="762000"/>
        </p:xfrm>
        <a:graphic>
          <a:graphicData uri="http://schemas.openxmlformats.org/drawingml/2006/table">
            <a:tbl>
              <a:tblPr firstRow="1" bandRow="1">
                <a:noFill/>
                <a:tableStyleId>{699CA05A-AF1C-475E-8352-7AD1236668D6}</a:tableStyleId>
              </a:tblPr>
              <a:tblGrid>
                <a:gridCol w="88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33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index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value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53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55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62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>
            <a:spLocks noGrp="1"/>
          </p:cNvSpPr>
          <p:nvPr>
            <p:ph type="title"/>
          </p:nvPr>
        </p:nvSpPr>
        <p:spPr>
          <a:xfrm>
            <a:off x="429260" y="953135"/>
            <a:ext cx="10329545" cy="1024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orgia"/>
              <a:buNone/>
            </a:pPr>
            <a:r>
              <a:rPr lang="en-US" sz="4000" b="1">
                <a:latin typeface="Georgia"/>
                <a:ea typeface="Georgia"/>
                <a:cs typeface="Georgia"/>
                <a:sym typeface="Georgia"/>
              </a:rPr>
              <a:t>Learning Activity 2 [15 min]</a:t>
            </a:r>
            <a:endParaRPr/>
          </a:p>
        </p:txBody>
      </p:sp>
      <p:sp>
        <p:nvSpPr>
          <p:cNvPr id="339" name="Google Shape;339;p23"/>
          <p:cNvSpPr txBox="1">
            <a:spLocks noGrp="1"/>
          </p:cNvSpPr>
          <p:nvPr>
            <p:ph type="body" idx="1"/>
          </p:nvPr>
        </p:nvSpPr>
        <p:spPr>
          <a:xfrm>
            <a:off x="429260" y="2266950"/>
            <a:ext cx="10330180" cy="4228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 b="1" u="sng"/>
              <a:t>Activity:</a:t>
            </a:r>
            <a:r>
              <a:rPr lang="en-US" sz="3000"/>
              <a:t> Write a program to implement binary search in a programming language (e.g., C or java).</a:t>
            </a:r>
            <a:endParaRPr/>
          </a:p>
          <a:p>
            <a:pPr marL="228600" lvl="0" indent="-952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00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 b="1" u="sng"/>
              <a:t>Purpose: </a:t>
            </a:r>
            <a:r>
              <a:rPr lang="en-US" sz="3000"/>
              <a:t>To reinforce the concept through hands-on coding practice.</a:t>
            </a:r>
            <a:endParaRPr/>
          </a:p>
          <a:p>
            <a:pPr marL="228600" lvl="0" indent="-952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00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 b="1" u="sng"/>
              <a:t>Skills Encouraged:</a:t>
            </a:r>
            <a:endParaRPr/>
          </a:p>
          <a:p>
            <a:pPr marL="228600" lvl="0" indent="-952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00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Cognitive skills (problem-solving).</a:t>
            </a:r>
            <a:endParaRPr/>
          </a:p>
          <a:p>
            <a:pPr marL="228600" lvl="0" indent="-952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00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Analytical skills (debugging and testing).</a:t>
            </a:r>
            <a:endParaRPr/>
          </a:p>
          <a:p>
            <a:pPr marL="22860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/>
          </a:p>
          <a:p>
            <a:pPr marL="22860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/>
          </a:p>
        </p:txBody>
      </p:sp>
      <p:sp>
        <p:nvSpPr>
          <p:cNvPr id="340" name="Google Shape;34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41" name="Google Shape;34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42" name="Google Shape;342;p2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 txBox="1">
            <a:spLocks noGrp="1"/>
          </p:cNvSpPr>
          <p:nvPr>
            <p:ph type="title"/>
          </p:nvPr>
        </p:nvSpPr>
        <p:spPr>
          <a:xfrm>
            <a:off x="347345" y="2219960"/>
            <a:ext cx="519938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 b="1">
                <a:solidFill>
                  <a:schemeClr val="dk2"/>
                </a:solidFill>
              </a:rPr>
              <a:t>Reflection-Learning Activity 2</a:t>
            </a:r>
            <a:endParaRPr/>
          </a:p>
        </p:txBody>
      </p:sp>
      <p:sp>
        <p:nvSpPr>
          <p:cNvPr id="349" name="Google Shape;34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50" name="Google Shape;35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351" name="Google Shape;351;p2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4"/>
          <p:cNvSpPr txBox="1"/>
          <p:nvPr/>
        </p:nvSpPr>
        <p:spPr>
          <a:xfrm>
            <a:off x="5795645" y="1604645"/>
            <a:ext cx="5557520" cy="362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 the challenges which students faced while implementing binary search.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Highlight the importance of sorted data for binary search to work.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the complexity of Binary Search.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5"/>
          <p:cNvSpPr txBox="1">
            <a:spLocks noGrp="1"/>
          </p:cNvSpPr>
          <p:nvPr>
            <p:ph type="title"/>
          </p:nvPr>
        </p:nvSpPr>
        <p:spPr>
          <a:xfrm>
            <a:off x="838200" y="1220835"/>
            <a:ext cx="10515600" cy="6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4400" b="1"/>
              <a:t>Summary</a:t>
            </a:r>
            <a:endParaRPr b="1"/>
          </a:p>
        </p:txBody>
      </p:sp>
      <p:sp>
        <p:nvSpPr>
          <p:cNvPr id="359" name="Google Shape;35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60" name="Google Shape;36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361" name="Google Shape;361;p2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5"/>
          <p:cNvSpPr txBox="1"/>
          <p:nvPr/>
        </p:nvSpPr>
        <p:spPr>
          <a:xfrm>
            <a:off x="838200" y="2417445"/>
            <a:ext cx="10056495" cy="235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search is an efficient algorithm for finding an item in a sorted list.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works by repeatedly dividing the search range in half.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complexity: O(log n).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"/>
          <p:cNvSpPr txBox="1">
            <a:spLocks noGrp="1"/>
          </p:cNvSpPr>
          <p:nvPr>
            <p:ph type="title"/>
          </p:nvPr>
        </p:nvSpPr>
        <p:spPr>
          <a:xfrm>
            <a:off x="901762" y="1198963"/>
            <a:ext cx="9818849" cy="191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orgia"/>
              <a:buNone/>
            </a:pPr>
            <a:r>
              <a:rPr lang="en-US" sz="4000" b="1">
                <a:latin typeface="Georgia"/>
                <a:ea typeface="Georgia"/>
                <a:cs typeface="Georgia"/>
                <a:sym typeface="Georgia"/>
              </a:rPr>
              <a:t>Post session activities</a:t>
            </a:r>
            <a:br>
              <a:rPr lang="en-US" sz="4000" b="1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000" b="1">
                <a:latin typeface="Georgia"/>
                <a:ea typeface="Georgia"/>
                <a:cs typeface="Georgia"/>
                <a:sym typeface="Georgia"/>
              </a:rPr>
            </a:br>
            <a:endParaRPr sz="4000"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9" name="Google Shape;36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70" name="Google Shape;37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371" name="Google Shape;371;p2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6"/>
          <p:cNvSpPr txBox="1"/>
          <p:nvPr/>
        </p:nvSpPr>
        <p:spPr>
          <a:xfrm>
            <a:off x="951865" y="3223260"/>
            <a:ext cx="9539605" cy="1716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 recursive version of Binary search.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 txBox="1">
            <a:spLocks noGrp="1"/>
          </p:cNvSpPr>
          <p:nvPr>
            <p:ph type="title"/>
          </p:nvPr>
        </p:nvSpPr>
        <p:spPr>
          <a:xfrm>
            <a:off x="683655" y="1213803"/>
            <a:ext cx="9818849" cy="158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orgia"/>
              <a:buNone/>
            </a:pPr>
            <a:r>
              <a:rPr lang="en-US" sz="4000" b="1">
                <a:latin typeface="Georgia"/>
                <a:ea typeface="Georgia"/>
                <a:cs typeface="Georgia"/>
                <a:sym typeface="Georgia"/>
              </a:rPr>
              <a:t>Information about the next lesson</a:t>
            </a:r>
            <a:endParaRPr/>
          </a:p>
        </p:txBody>
      </p:sp>
      <p:sp>
        <p:nvSpPr>
          <p:cNvPr id="379" name="Google Shape;37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80" name="Google Shape;38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381" name="Google Shape;381;p2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7"/>
          <p:cNvSpPr txBox="1"/>
          <p:nvPr/>
        </p:nvSpPr>
        <p:spPr>
          <a:xfrm>
            <a:off x="683895" y="3683000"/>
            <a:ext cx="9580245" cy="179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 and Conquer: Strassen's Matrix Multiplication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>
            <a:spLocks noGrp="1"/>
          </p:cNvSpPr>
          <p:nvPr>
            <p:ph type="title"/>
          </p:nvPr>
        </p:nvSpPr>
        <p:spPr>
          <a:xfrm>
            <a:off x="3541395" y="3235960"/>
            <a:ext cx="4805680" cy="21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Thank you </a:t>
            </a:r>
            <a:endParaRPr/>
          </a:p>
        </p:txBody>
      </p:sp>
      <p:sp>
        <p:nvSpPr>
          <p:cNvPr id="389" name="Google Shape;38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90" name="Google Shape;39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91" name="Google Shape;391;p2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</Words>
  <Application>Microsoft Office PowerPoint</Application>
  <PresentationFormat>Widescreen</PresentationFormat>
  <Paragraphs>194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Georgia</vt:lpstr>
      <vt:lpstr>Play</vt:lpstr>
      <vt:lpstr>Office Theme</vt:lpstr>
      <vt:lpstr>Binary Search    Session No.: 10 Course Name: Design and Analysis of Algorithm Course Code: R1UC407B Duration: 50 minutes Date of Conduction of Class:   </vt:lpstr>
      <vt:lpstr>   Review of the key concepts  1. Divide and Conquer approach 2. Analyzing Recursive Algorithms      </vt:lpstr>
      <vt:lpstr>Let’s play Guessing the number game : </vt:lpstr>
      <vt:lpstr>PowerPoint Presentation</vt:lpstr>
      <vt:lpstr>Case 2: Some Strategy, but not efficient </vt:lpstr>
      <vt:lpstr>Case 3: Another Strategy, inefficeint</vt:lpstr>
      <vt:lpstr>Reflection - Opening Activity </vt:lpstr>
      <vt:lpstr>At the end of this session students will be able to </vt:lpstr>
      <vt:lpstr>Session Outline</vt:lpstr>
      <vt:lpstr>PowerPoint Presentation</vt:lpstr>
      <vt:lpstr>Concept and Definition for  Learning Activity 1</vt:lpstr>
      <vt:lpstr>Learning Activity 1(a) -"Guess the Number" Game</vt:lpstr>
      <vt:lpstr> After each guess, say "Too high" or "Too low" until they find the number.  </vt:lpstr>
      <vt:lpstr>PowerPoint Presentation</vt:lpstr>
      <vt:lpstr>Some Questions ..?</vt:lpstr>
      <vt:lpstr>Reflection- Learning Activity 1(a)</vt:lpstr>
      <vt:lpstr>PowerPoint Presentation</vt:lpstr>
      <vt:lpstr>PowerPoint Presentation</vt:lpstr>
      <vt:lpstr>Activity Time Padlet QR codes to Submit the response</vt:lpstr>
      <vt:lpstr>Reflection- Learning Activity 1(b)</vt:lpstr>
      <vt:lpstr>Concept and Definition for Learning Activity 2</vt:lpstr>
      <vt:lpstr>PowerPoint Presentation</vt:lpstr>
      <vt:lpstr>Learning Activity 2 [15 min]</vt:lpstr>
      <vt:lpstr>Reflection-Learning Activity 2</vt:lpstr>
      <vt:lpstr>Summary</vt:lpstr>
      <vt:lpstr>Post session activities  </vt:lpstr>
      <vt:lpstr>Information about the next lesson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    Session No.: 10 Course Name: Design and Analysis of Algorithm Course Code: R1UC407B Duration: 50 minutes Date of Conduction of Class:   </dc:title>
  <dc:creator>Deepak Gupta</dc:creator>
  <cp:lastModifiedBy>RAKESH BHARATI</cp:lastModifiedBy>
  <cp:revision>1</cp:revision>
  <dcterms:created xsi:type="dcterms:W3CDTF">2024-08-22T06:33:00Z</dcterms:created>
  <dcterms:modified xsi:type="dcterms:W3CDTF">2026-02-19T08:45:00Z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B868E8C0F01048E0B0209B2A8EB28678_13</vt:lpwstr>
  </property>
  <property fmtid="{D5CDD505-2E9C-101B-9397-08002B2CF9AE}" pid="3" name="KSOProductBuildVer">
    <vt:lpwstr>1033-12.2.0.20795</vt:lpwstr>
  </property>
</Properties>
</file>