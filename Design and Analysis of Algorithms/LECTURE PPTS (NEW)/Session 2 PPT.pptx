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notesSlides/notesSlide2.xml" ContentType="application/vnd.openxmlformats-officedocument.presentationml.notesSlide+xml"/>
  <Default Extension="svg" ContentType="image/svg+xml"/>
  <Override PartName="/ppt/diagrams/drawing2.xml" ContentType="application/vnd.ms-office.drawingml.diagramDrawing+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diagrams/quickStyle2.xml" ContentType="application/vnd.openxmlformats-officedocument.drawingml.diagramStyl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diagrams/layout3.xml" ContentType="application/vnd.openxmlformats-officedocument.drawingml.diagramLayout+xml"/>
  <Override PartName="/ppt/notesSlides/notesSlide9.xml" ContentType="application/vnd.openxmlformats-officedocument.presentationml.notesSlide+xml"/>
  <Override PartName="/ppt/notesSlides/notesSlide12.xml" ContentType="application/vnd.openxmlformats-officedocument.presentationml.notesSlide+xml"/>
  <Override PartName="/ppt/diagrams/layout1.xml" ContentType="application/vnd.openxmlformats-officedocument.drawingml.diagramLayout+xml"/>
  <Override PartName="/ppt/diagrams/data2.xml" ContentType="application/vnd.openxmlformats-officedocument.drawingml.diagramData+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diagrams/colors2.xml" ContentType="application/vnd.openxmlformats-officedocument.drawingml.diagramColors+xml"/>
  <Override PartName="/ppt/notesSlides/notesSlide1.xml" ContentType="application/vnd.openxmlformats-officedocument.presentationml.notesSlide+xml"/>
  <Override PartName="/ppt/notesSlides/notesSlide3.xml" ContentType="application/vnd.openxmlformats-officedocument.presentationml.notesSlide+xml"/>
  <Default Extension="bin" ContentType="application/vnd.openxmlformats-officedocument.oleObject"/>
  <Override PartName="/ppt/diagrams/drawing3.xml" ContentType="application/vnd.ms-office.drawingml.diagramDrawing+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diagrams/quickStyle3.xml" ContentType="application/vnd.openxmlformats-officedocument.drawingml.diagramStyle+xml"/>
  <Override PartName="/ppt/diagrams/drawing1.xml" ContentType="application/vnd.ms-office.drawingml.diagramDrawing+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Override PartName="/ppt/diagrams/quickStyle1.xml" ContentType="application/vnd.openxmlformats-officedocument.drawingml.diagramStyle+xml"/>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notesSlides/notesSlide13.xml" ContentType="application/vnd.openxmlformats-officedocument.presentationml.notesSlide+xml"/>
  <Override PartName="/ppt/slideLayouts/slideLayout10.xml" ContentType="application/vnd.openxmlformats-officedocument.presentationml.slideLayout+xml"/>
  <Override PartName="/ppt/diagrams/layout2.xml" ContentType="application/vnd.openxmlformats-officedocument.drawingml.diagramLayout+xml"/>
  <Default Extension="vml" ContentType="application/vnd.openxmlformats-officedocument.vmlDrawing"/>
  <Override PartName="/ppt/notesSlides/notesSlide8.xml" ContentType="application/vnd.openxmlformats-officedocument.presentationml.notesSlide+xml"/>
  <Override PartName="/ppt/notesSlides/notesSlide11.xml" ContentType="application/vnd.openxmlformats-officedocument.presentationml.notesSlide+xml"/>
  <Override PartName="/ppt/diagrams/data3.xml" ContentType="application/vnd.openxmlformats-officedocument.drawingml.diagramData+xml"/>
  <Override PartName="/ppt/notesSlides/notesSlide6.xml" ContentType="application/vnd.openxmlformats-officedocument.presentationml.notesSlide+xml"/>
  <Override PartName="/ppt/slides/slide8.xml" ContentType="application/vnd.openxmlformats-officedocument.presentationml.slide+xml"/>
  <Override PartName="/ppt/diagrams/data1.xml" ContentType="application/vnd.openxmlformats-officedocument.drawingml.diagramData+xml"/>
  <Override PartName="/ppt/diagrams/colors3.xml" ContentType="application/vnd.openxmlformats-officedocument.drawingml.diagramColors+xml"/>
  <Override PartName="/ppt/notesSlides/notesSlide4.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56" r:id="rId2"/>
    <p:sldId id="282" r:id="rId3"/>
    <p:sldId id="257" r:id="rId4"/>
    <p:sldId id="276" r:id="rId5"/>
    <p:sldId id="259" r:id="rId6"/>
    <p:sldId id="285" r:id="rId7"/>
    <p:sldId id="260" r:id="rId8"/>
    <p:sldId id="291" r:id="rId9"/>
    <p:sldId id="286" r:id="rId10"/>
    <p:sldId id="292" r:id="rId11"/>
    <p:sldId id="301" r:id="rId12"/>
    <p:sldId id="302" r:id="rId13"/>
    <p:sldId id="303" r:id="rId14"/>
    <p:sldId id="304" r:id="rId15"/>
    <p:sldId id="294" r:id="rId16"/>
    <p:sldId id="305" r:id="rId17"/>
    <p:sldId id="306" r:id="rId18"/>
    <p:sldId id="307" r:id="rId19"/>
    <p:sldId id="296" r:id="rId20"/>
    <p:sldId id="308" r:id="rId21"/>
    <p:sldId id="309" r:id="rId22"/>
    <p:sldId id="310" r:id="rId23"/>
    <p:sldId id="312" r:id="rId24"/>
    <p:sldId id="313" r:id="rId25"/>
    <p:sldId id="314" r:id="rId26"/>
    <p:sldId id="315" r:id="rId27"/>
    <p:sldId id="263" r:id="rId28"/>
    <p:sldId id="288" r:id="rId29"/>
    <p:sldId id="298" r:id="rId30"/>
    <p:sldId id="299" r:id="rId31"/>
    <p:sldId id="300" r:id="rId32"/>
    <p:sldId id="284" r:id="rId33"/>
    <p:sldId id="290" r:id="rId34"/>
    <p:sldId id="281" r:id="rId35"/>
    <p:sldId id="277"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016" autoAdjust="0"/>
    <p:restoredTop sz="94694"/>
  </p:normalViewPr>
  <p:slideViewPr>
    <p:cSldViewPr snapToGrid="0">
      <p:cViewPr varScale="1">
        <p:scale>
          <a:sx n="64" d="100"/>
          <a:sy n="64" d="100"/>
        </p:scale>
        <p:origin x="-748" y="-68"/>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diagrams/_rels/data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7.png"/><Relationship Id="rId4" Type="http://schemas.openxmlformats.org/officeDocument/2006/relationships/image" Target="../media/image9.svg"/></Relationships>
</file>

<file path=ppt/diagrams/_rels/drawing1.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7.svg"/><Relationship Id="rId1" Type="http://schemas.openxmlformats.org/officeDocument/2006/relationships/image" Target="../media/image6.png"/><Relationship Id="rId4" Type="http://schemas.openxmlformats.org/officeDocument/2006/relationships/image" Target="../media/image9.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5CC967B-D532-43D3-AFE4-9868DA9E2AFA}"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57DC3616-D6FE-448F-8B8A-1B2A78F74581}">
      <dgm:prSet/>
      <dgm:spPr/>
      <dgm:t>
        <a:bodyPr/>
        <a:lstStyle/>
        <a:p>
          <a:pPr>
            <a:lnSpc>
              <a:spcPct val="100000"/>
            </a:lnSpc>
          </a:pPr>
          <a:r>
            <a:rPr lang="en-US" dirty="0"/>
            <a:t>Can you compare the time taken by the 3 algorithms  that you have written?</a:t>
          </a:r>
        </a:p>
      </dgm:t>
    </dgm:pt>
    <dgm:pt modelId="{D0FB601A-14D3-4B7D-A673-CC9EE6B8FC6A}" type="parTrans" cxnId="{135D2E51-77C6-4BB3-94AE-100F029FE5A5}">
      <dgm:prSet/>
      <dgm:spPr/>
      <dgm:t>
        <a:bodyPr/>
        <a:lstStyle/>
        <a:p>
          <a:endParaRPr lang="en-US"/>
        </a:p>
      </dgm:t>
    </dgm:pt>
    <dgm:pt modelId="{73C04852-EFA0-4E29-AF28-CAC84CB0EABA}" type="sibTrans" cxnId="{135D2E51-77C6-4BB3-94AE-100F029FE5A5}">
      <dgm:prSet/>
      <dgm:spPr/>
      <dgm:t>
        <a:bodyPr/>
        <a:lstStyle/>
        <a:p>
          <a:endParaRPr lang="en-US"/>
        </a:p>
      </dgm:t>
    </dgm:pt>
    <dgm:pt modelId="{365E7DE0-94B8-4068-BE7B-CA748B212368}">
      <dgm:prSet/>
      <dgm:spPr/>
      <dgm:t>
        <a:bodyPr/>
        <a:lstStyle/>
        <a:p>
          <a:pPr>
            <a:lnSpc>
              <a:spcPct val="100000"/>
            </a:lnSpc>
          </a:pPr>
          <a:r>
            <a:rPr lang="en-US" dirty="0"/>
            <a:t>How are you able to compare the time.</a:t>
          </a:r>
        </a:p>
        <a:p>
          <a:pPr>
            <a:lnSpc>
              <a:spcPct val="100000"/>
            </a:lnSpc>
          </a:pPr>
          <a:r>
            <a:rPr lang="en-US" dirty="0"/>
            <a:t>Discuss among your table members.</a:t>
          </a:r>
        </a:p>
      </dgm:t>
    </dgm:pt>
    <dgm:pt modelId="{B2492943-D8C1-40B5-9CD9-390A340AFD9D}" type="parTrans" cxnId="{4B0E66BF-721A-4FDC-8F52-633C8A0ECDD9}">
      <dgm:prSet/>
      <dgm:spPr/>
      <dgm:t>
        <a:bodyPr/>
        <a:lstStyle/>
        <a:p>
          <a:endParaRPr lang="en-US"/>
        </a:p>
      </dgm:t>
    </dgm:pt>
    <dgm:pt modelId="{BC918EB2-5C29-4D8A-85EB-3B147C66C86B}" type="sibTrans" cxnId="{4B0E66BF-721A-4FDC-8F52-633C8A0ECDD9}">
      <dgm:prSet/>
      <dgm:spPr/>
      <dgm:t>
        <a:bodyPr/>
        <a:lstStyle/>
        <a:p>
          <a:endParaRPr lang="en-US"/>
        </a:p>
      </dgm:t>
    </dgm:pt>
    <dgm:pt modelId="{5FEB8C7E-3E52-449C-A8A3-311C1BABF30E}" type="pres">
      <dgm:prSet presAssocID="{E5CC967B-D532-43D3-AFE4-9868DA9E2AFA}" presName="root" presStyleCnt="0">
        <dgm:presLayoutVars>
          <dgm:dir/>
          <dgm:resizeHandles val="exact"/>
        </dgm:presLayoutVars>
      </dgm:prSet>
      <dgm:spPr/>
      <dgm:t>
        <a:bodyPr/>
        <a:lstStyle/>
        <a:p>
          <a:endParaRPr lang="en-US"/>
        </a:p>
      </dgm:t>
    </dgm:pt>
    <dgm:pt modelId="{5251719D-0A93-46EF-B06D-F5118D87F7BD}" type="pres">
      <dgm:prSet presAssocID="{57DC3616-D6FE-448F-8B8A-1B2A78F74581}" presName="compNode" presStyleCnt="0"/>
      <dgm:spPr/>
    </dgm:pt>
    <dgm:pt modelId="{4B622E99-6EF6-4714-A151-692F8298A724}" type="pres">
      <dgm:prSet presAssocID="{57DC3616-D6FE-448F-8B8A-1B2A78F74581}"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xmlns="" val="0"/>
              </a:ext>
              <a:ext uri="{96DAC541-7B7A-43D3-8B79-37D633B846F1}">
                <asvg:svgBlip xmlns:asvg="http://schemas.microsoft.com/office/drawing/2016/SVG/main" xmlns="" r:embed="rId2"/>
              </a:ext>
            </a:extLst>
          </a:blip>
          <a:stretch>
            <a:fillRect/>
          </a:stretch>
        </a:blipFill>
      </dgm:spPr>
      <dgm:extLst>
        <a:ext uri="{E40237B7-FDA0-4F09-8148-C483321AD2D9}">
          <dgm14:cNvPr xmlns:dgm14="http://schemas.microsoft.com/office/drawing/2010/diagram" xmlns="" id="0" name="" descr="Questions"/>
        </a:ext>
      </dgm:extLst>
    </dgm:pt>
    <dgm:pt modelId="{3303C4A2-A3EF-437F-BB40-49CB0072FE0C}" type="pres">
      <dgm:prSet presAssocID="{57DC3616-D6FE-448F-8B8A-1B2A78F74581}" presName="spaceRect" presStyleCnt="0"/>
      <dgm:spPr/>
    </dgm:pt>
    <dgm:pt modelId="{91822D5E-6C77-4A5A-8BFC-03CB3FBEDC90}" type="pres">
      <dgm:prSet presAssocID="{57DC3616-D6FE-448F-8B8A-1B2A78F74581}" presName="textRect" presStyleLbl="revTx" presStyleIdx="0" presStyleCnt="2">
        <dgm:presLayoutVars>
          <dgm:chMax val="1"/>
          <dgm:chPref val="1"/>
        </dgm:presLayoutVars>
      </dgm:prSet>
      <dgm:spPr/>
      <dgm:t>
        <a:bodyPr/>
        <a:lstStyle/>
        <a:p>
          <a:endParaRPr lang="en-US"/>
        </a:p>
      </dgm:t>
    </dgm:pt>
    <dgm:pt modelId="{55CF457C-7460-423D-B0E9-D3ED0625E7EE}" type="pres">
      <dgm:prSet presAssocID="{73C04852-EFA0-4E29-AF28-CAC84CB0EABA}" presName="sibTrans" presStyleCnt="0"/>
      <dgm:spPr/>
    </dgm:pt>
    <dgm:pt modelId="{3596255F-56C9-4A0B-B994-6D9A56510CE4}" type="pres">
      <dgm:prSet presAssocID="{365E7DE0-94B8-4068-BE7B-CA748B212368}" presName="compNode" presStyleCnt="0"/>
      <dgm:spPr/>
    </dgm:pt>
    <dgm:pt modelId="{CC6432B2-6D09-4891-82E2-F9B65191BC2C}" type="pres">
      <dgm:prSet presAssocID="{365E7DE0-94B8-4068-BE7B-CA748B212368}"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xmlns="" val="0"/>
              </a:ext>
              <a:ext uri="{96DAC541-7B7A-43D3-8B79-37D633B846F1}">
                <asvg:svgBlip xmlns:asvg="http://schemas.microsoft.com/office/drawing/2016/SVG/main" xmlns="" r:embed="rId4"/>
              </a:ext>
            </a:extLst>
          </a:blip>
          <a:stretch>
            <a:fillRect/>
          </a:stretch>
        </a:blipFill>
      </dgm:spPr>
      <dgm:extLst>
        <a:ext uri="{E40237B7-FDA0-4F09-8148-C483321AD2D9}">
          <dgm14:cNvPr xmlns:dgm14="http://schemas.microsoft.com/office/drawing/2010/diagram" xmlns="" id="0" name="" descr="Puzzle Pieces"/>
        </a:ext>
      </dgm:extLst>
    </dgm:pt>
    <dgm:pt modelId="{98EAD11D-A731-466D-90FF-A2C1BB38C89D}" type="pres">
      <dgm:prSet presAssocID="{365E7DE0-94B8-4068-BE7B-CA748B212368}" presName="spaceRect" presStyleCnt="0"/>
      <dgm:spPr/>
    </dgm:pt>
    <dgm:pt modelId="{09C081C5-3487-4D31-BBB1-5133460056EC}" type="pres">
      <dgm:prSet presAssocID="{365E7DE0-94B8-4068-BE7B-CA748B212368}" presName="textRect" presStyleLbl="revTx" presStyleIdx="1" presStyleCnt="2">
        <dgm:presLayoutVars>
          <dgm:chMax val="1"/>
          <dgm:chPref val="1"/>
        </dgm:presLayoutVars>
      </dgm:prSet>
      <dgm:spPr/>
      <dgm:t>
        <a:bodyPr/>
        <a:lstStyle/>
        <a:p>
          <a:endParaRPr lang="en-US"/>
        </a:p>
      </dgm:t>
    </dgm:pt>
  </dgm:ptLst>
  <dgm:cxnLst>
    <dgm:cxn modelId="{9BA25456-F1D0-4020-88AE-AEED8F6FC23B}" type="presOf" srcId="{E5CC967B-D532-43D3-AFE4-9868DA9E2AFA}" destId="{5FEB8C7E-3E52-449C-A8A3-311C1BABF30E}" srcOrd="0" destOrd="0" presId="urn:microsoft.com/office/officeart/2018/2/layout/IconLabelList"/>
    <dgm:cxn modelId="{4B0E66BF-721A-4FDC-8F52-633C8A0ECDD9}" srcId="{E5CC967B-D532-43D3-AFE4-9868DA9E2AFA}" destId="{365E7DE0-94B8-4068-BE7B-CA748B212368}" srcOrd="1" destOrd="0" parTransId="{B2492943-D8C1-40B5-9CD9-390A340AFD9D}" sibTransId="{BC918EB2-5C29-4D8A-85EB-3B147C66C86B}"/>
    <dgm:cxn modelId="{135D2E51-77C6-4BB3-94AE-100F029FE5A5}" srcId="{E5CC967B-D532-43D3-AFE4-9868DA9E2AFA}" destId="{57DC3616-D6FE-448F-8B8A-1B2A78F74581}" srcOrd="0" destOrd="0" parTransId="{D0FB601A-14D3-4B7D-A673-CC9EE6B8FC6A}" sibTransId="{73C04852-EFA0-4E29-AF28-CAC84CB0EABA}"/>
    <dgm:cxn modelId="{D90D255C-CAEE-4655-B451-3716957BC7B9}" type="presOf" srcId="{57DC3616-D6FE-448F-8B8A-1B2A78F74581}" destId="{91822D5E-6C77-4A5A-8BFC-03CB3FBEDC90}" srcOrd="0" destOrd="0" presId="urn:microsoft.com/office/officeart/2018/2/layout/IconLabelList"/>
    <dgm:cxn modelId="{5C42B96D-A0BD-435A-B093-1A6D48C16CDD}" type="presOf" srcId="{365E7DE0-94B8-4068-BE7B-CA748B212368}" destId="{09C081C5-3487-4D31-BBB1-5133460056EC}" srcOrd="0" destOrd="0" presId="urn:microsoft.com/office/officeart/2018/2/layout/IconLabelList"/>
    <dgm:cxn modelId="{5413E313-9C51-475A-B2BF-001B65DDDF01}" type="presParOf" srcId="{5FEB8C7E-3E52-449C-A8A3-311C1BABF30E}" destId="{5251719D-0A93-46EF-B06D-F5118D87F7BD}" srcOrd="0" destOrd="0" presId="urn:microsoft.com/office/officeart/2018/2/layout/IconLabelList"/>
    <dgm:cxn modelId="{BAB9448E-58F1-4DE2-A380-92E3DD071B10}" type="presParOf" srcId="{5251719D-0A93-46EF-B06D-F5118D87F7BD}" destId="{4B622E99-6EF6-4714-A151-692F8298A724}" srcOrd="0" destOrd="0" presId="urn:microsoft.com/office/officeart/2018/2/layout/IconLabelList"/>
    <dgm:cxn modelId="{FE6885F5-54FF-43B6-B507-0E99D710A58D}" type="presParOf" srcId="{5251719D-0A93-46EF-B06D-F5118D87F7BD}" destId="{3303C4A2-A3EF-437F-BB40-49CB0072FE0C}" srcOrd="1" destOrd="0" presId="urn:microsoft.com/office/officeart/2018/2/layout/IconLabelList"/>
    <dgm:cxn modelId="{CE93A710-0DAE-4BC9-9921-40D7AADB5CE4}" type="presParOf" srcId="{5251719D-0A93-46EF-B06D-F5118D87F7BD}" destId="{91822D5E-6C77-4A5A-8BFC-03CB3FBEDC90}" srcOrd="2" destOrd="0" presId="urn:microsoft.com/office/officeart/2018/2/layout/IconLabelList"/>
    <dgm:cxn modelId="{866A1480-4778-4FEB-A4DA-DC3DDC706A9E}" type="presParOf" srcId="{5FEB8C7E-3E52-449C-A8A3-311C1BABF30E}" destId="{55CF457C-7460-423D-B0E9-D3ED0625E7EE}" srcOrd="1" destOrd="0" presId="urn:microsoft.com/office/officeart/2018/2/layout/IconLabelList"/>
    <dgm:cxn modelId="{344A6B46-F0C2-43E7-850C-D8C75719F7CA}" type="presParOf" srcId="{5FEB8C7E-3E52-449C-A8A3-311C1BABF30E}" destId="{3596255F-56C9-4A0B-B994-6D9A56510CE4}" srcOrd="2" destOrd="0" presId="urn:microsoft.com/office/officeart/2018/2/layout/IconLabelList"/>
    <dgm:cxn modelId="{DC6EC28C-FCE1-4CCC-80AF-46C344BCB5DC}" type="presParOf" srcId="{3596255F-56C9-4A0B-B994-6D9A56510CE4}" destId="{CC6432B2-6D09-4891-82E2-F9B65191BC2C}" srcOrd="0" destOrd="0" presId="urn:microsoft.com/office/officeart/2018/2/layout/IconLabelList"/>
    <dgm:cxn modelId="{B62EC377-AEE1-4954-AFCB-C363DE8F93C4}" type="presParOf" srcId="{3596255F-56C9-4A0B-B994-6D9A56510CE4}" destId="{98EAD11D-A731-466D-90FF-A2C1BB38C89D}" srcOrd="1" destOrd="0" presId="urn:microsoft.com/office/officeart/2018/2/layout/IconLabelList"/>
    <dgm:cxn modelId="{D6BDFA9E-BB60-4978-BB1A-61B8406E98A8}" type="presParOf" srcId="{3596255F-56C9-4A0B-B994-6D9A56510CE4}" destId="{09C081C5-3487-4D31-BBB1-5133460056EC}" srcOrd="2" destOrd="0" presId="urn:microsoft.com/office/officeart/2018/2/layout/IconLabelList"/>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7ED251F-A7A3-4D25-B004-4241BE03EDC3}" type="doc">
      <dgm:prSet loTypeId="urn:microsoft.com/office/officeart/2005/8/layout/vProcess5" loCatId="process" qsTypeId="urn:microsoft.com/office/officeart/2005/8/quickstyle/simple1" qsCatId="simple" csTypeId="urn:microsoft.com/office/officeart/2005/8/colors/colorful2" csCatId="colorful" phldr="1"/>
      <dgm:spPr/>
      <dgm:t>
        <a:bodyPr/>
        <a:lstStyle/>
        <a:p>
          <a:endParaRPr lang="en-US"/>
        </a:p>
      </dgm:t>
    </dgm:pt>
    <dgm:pt modelId="{DFBD6BAB-0140-48B9-9073-E08FDCB01885}">
      <dgm:prSet/>
      <dgm:spPr/>
      <dgm:t>
        <a:bodyPr/>
        <a:lstStyle/>
        <a:p>
          <a:r>
            <a:rPr lang="en-IN" dirty="0"/>
            <a:t>Learning Outcome 1:</a:t>
          </a:r>
          <a:r>
            <a:rPr lang="en-US" dirty="0"/>
            <a:t>Understand the importance of analyzing algorithm efficiency. </a:t>
          </a:r>
        </a:p>
      </dgm:t>
    </dgm:pt>
    <dgm:pt modelId="{A7069F57-F0E9-4BC0-BE1B-B8F059C9E5B6}" type="parTrans" cxnId="{32A129EE-3813-43B6-AF53-E9A6D3182FA2}">
      <dgm:prSet/>
      <dgm:spPr/>
      <dgm:t>
        <a:bodyPr/>
        <a:lstStyle/>
        <a:p>
          <a:endParaRPr lang="en-US"/>
        </a:p>
      </dgm:t>
    </dgm:pt>
    <dgm:pt modelId="{0715BA3E-6351-4C71-A2A0-855403651045}" type="sibTrans" cxnId="{32A129EE-3813-43B6-AF53-E9A6D3182FA2}">
      <dgm:prSet/>
      <dgm:spPr/>
      <dgm:t>
        <a:bodyPr/>
        <a:lstStyle/>
        <a:p>
          <a:endParaRPr lang="en-US"/>
        </a:p>
      </dgm:t>
    </dgm:pt>
    <dgm:pt modelId="{A3B4F848-7886-4B10-8E34-39E0B844A474}">
      <dgm:prSet/>
      <dgm:spPr/>
      <dgm:t>
        <a:bodyPr/>
        <a:lstStyle/>
        <a:p>
          <a:r>
            <a:rPr lang="en-IN" dirty="0"/>
            <a:t>Learning Outcome 2</a:t>
          </a:r>
          <a:r>
            <a:rPr lang="en-US" dirty="0"/>
            <a:t> : Comprehend different asymptotic notations. </a:t>
          </a:r>
        </a:p>
      </dgm:t>
    </dgm:pt>
    <dgm:pt modelId="{421929F8-4756-4702-AAD7-7A5185D82904}" type="parTrans" cxnId="{10F4C3C1-D8D4-465A-A58C-B8F418AC919B}">
      <dgm:prSet/>
      <dgm:spPr/>
      <dgm:t>
        <a:bodyPr/>
        <a:lstStyle/>
        <a:p>
          <a:endParaRPr lang="en-US"/>
        </a:p>
      </dgm:t>
    </dgm:pt>
    <dgm:pt modelId="{3DE2F17F-758E-4FA7-AB6B-444F38F1FFC4}" type="sibTrans" cxnId="{10F4C3C1-D8D4-465A-A58C-B8F418AC919B}">
      <dgm:prSet/>
      <dgm:spPr/>
      <dgm:t>
        <a:bodyPr/>
        <a:lstStyle/>
        <a:p>
          <a:endParaRPr lang="en-US"/>
        </a:p>
      </dgm:t>
    </dgm:pt>
    <dgm:pt modelId="{E218E0F1-97EC-4D60-8F4A-A6E21D910199}" type="pres">
      <dgm:prSet presAssocID="{B7ED251F-A7A3-4D25-B004-4241BE03EDC3}" presName="outerComposite" presStyleCnt="0">
        <dgm:presLayoutVars>
          <dgm:chMax val="5"/>
          <dgm:dir/>
          <dgm:resizeHandles val="exact"/>
        </dgm:presLayoutVars>
      </dgm:prSet>
      <dgm:spPr/>
      <dgm:t>
        <a:bodyPr/>
        <a:lstStyle/>
        <a:p>
          <a:endParaRPr lang="en-US"/>
        </a:p>
      </dgm:t>
    </dgm:pt>
    <dgm:pt modelId="{353F2BDB-A1CE-4ECD-BC0F-35AD5A327550}" type="pres">
      <dgm:prSet presAssocID="{B7ED251F-A7A3-4D25-B004-4241BE03EDC3}" presName="dummyMaxCanvas" presStyleCnt="0">
        <dgm:presLayoutVars/>
      </dgm:prSet>
      <dgm:spPr/>
    </dgm:pt>
    <dgm:pt modelId="{50B3B115-9ED4-4424-B000-6C66B8D607D6}" type="pres">
      <dgm:prSet presAssocID="{B7ED251F-A7A3-4D25-B004-4241BE03EDC3}" presName="TwoNodes_1" presStyleLbl="node1" presStyleIdx="0" presStyleCnt="2">
        <dgm:presLayoutVars>
          <dgm:bulletEnabled val="1"/>
        </dgm:presLayoutVars>
      </dgm:prSet>
      <dgm:spPr/>
      <dgm:t>
        <a:bodyPr/>
        <a:lstStyle/>
        <a:p>
          <a:endParaRPr lang="en-US"/>
        </a:p>
      </dgm:t>
    </dgm:pt>
    <dgm:pt modelId="{66D5292E-E31B-47C3-B7F6-6E92D8DBC596}" type="pres">
      <dgm:prSet presAssocID="{B7ED251F-A7A3-4D25-B004-4241BE03EDC3}" presName="TwoNodes_2" presStyleLbl="node1" presStyleIdx="1" presStyleCnt="2">
        <dgm:presLayoutVars>
          <dgm:bulletEnabled val="1"/>
        </dgm:presLayoutVars>
      </dgm:prSet>
      <dgm:spPr/>
      <dgm:t>
        <a:bodyPr/>
        <a:lstStyle/>
        <a:p>
          <a:endParaRPr lang="en-US"/>
        </a:p>
      </dgm:t>
    </dgm:pt>
    <dgm:pt modelId="{C65C44E2-047F-4F51-A8DC-FF51C925FC7F}" type="pres">
      <dgm:prSet presAssocID="{B7ED251F-A7A3-4D25-B004-4241BE03EDC3}" presName="TwoConn_1-2" presStyleLbl="fgAccFollowNode1" presStyleIdx="0" presStyleCnt="1">
        <dgm:presLayoutVars>
          <dgm:bulletEnabled val="1"/>
        </dgm:presLayoutVars>
      </dgm:prSet>
      <dgm:spPr/>
      <dgm:t>
        <a:bodyPr/>
        <a:lstStyle/>
        <a:p>
          <a:endParaRPr lang="en-US"/>
        </a:p>
      </dgm:t>
    </dgm:pt>
    <dgm:pt modelId="{A4FE43DF-38F9-4E9D-BFAC-B056439DD239}" type="pres">
      <dgm:prSet presAssocID="{B7ED251F-A7A3-4D25-B004-4241BE03EDC3}" presName="TwoNodes_1_text" presStyleLbl="node1" presStyleIdx="1" presStyleCnt="2">
        <dgm:presLayoutVars>
          <dgm:bulletEnabled val="1"/>
        </dgm:presLayoutVars>
      </dgm:prSet>
      <dgm:spPr/>
      <dgm:t>
        <a:bodyPr/>
        <a:lstStyle/>
        <a:p>
          <a:endParaRPr lang="en-US"/>
        </a:p>
      </dgm:t>
    </dgm:pt>
    <dgm:pt modelId="{D6550B05-CA9B-414C-B02C-0996B53629B5}" type="pres">
      <dgm:prSet presAssocID="{B7ED251F-A7A3-4D25-B004-4241BE03EDC3}" presName="TwoNodes_2_text" presStyleLbl="node1" presStyleIdx="1" presStyleCnt="2">
        <dgm:presLayoutVars>
          <dgm:bulletEnabled val="1"/>
        </dgm:presLayoutVars>
      </dgm:prSet>
      <dgm:spPr/>
      <dgm:t>
        <a:bodyPr/>
        <a:lstStyle/>
        <a:p>
          <a:endParaRPr lang="en-US"/>
        </a:p>
      </dgm:t>
    </dgm:pt>
  </dgm:ptLst>
  <dgm:cxnLst>
    <dgm:cxn modelId="{10F4C3C1-D8D4-465A-A58C-B8F418AC919B}" srcId="{B7ED251F-A7A3-4D25-B004-4241BE03EDC3}" destId="{A3B4F848-7886-4B10-8E34-39E0B844A474}" srcOrd="1" destOrd="0" parTransId="{421929F8-4756-4702-AAD7-7A5185D82904}" sibTransId="{3DE2F17F-758E-4FA7-AB6B-444F38F1FFC4}"/>
    <dgm:cxn modelId="{77311569-CDC2-49AC-95DB-7463C529128E}" type="presOf" srcId="{A3B4F848-7886-4B10-8E34-39E0B844A474}" destId="{D6550B05-CA9B-414C-B02C-0996B53629B5}" srcOrd="1" destOrd="0" presId="urn:microsoft.com/office/officeart/2005/8/layout/vProcess5"/>
    <dgm:cxn modelId="{F8377941-5A76-4607-BD83-62C7797B0244}" type="presOf" srcId="{DFBD6BAB-0140-48B9-9073-E08FDCB01885}" destId="{A4FE43DF-38F9-4E9D-BFAC-B056439DD239}" srcOrd="1" destOrd="0" presId="urn:microsoft.com/office/officeart/2005/8/layout/vProcess5"/>
    <dgm:cxn modelId="{7987A051-5FB1-40A3-A3C7-DD53D6028BFC}" type="presOf" srcId="{DFBD6BAB-0140-48B9-9073-E08FDCB01885}" destId="{50B3B115-9ED4-4424-B000-6C66B8D607D6}" srcOrd="0" destOrd="0" presId="urn:microsoft.com/office/officeart/2005/8/layout/vProcess5"/>
    <dgm:cxn modelId="{B7C90E5D-C08D-4C7A-BC09-978891E6C996}" type="presOf" srcId="{0715BA3E-6351-4C71-A2A0-855403651045}" destId="{C65C44E2-047F-4F51-A8DC-FF51C925FC7F}" srcOrd="0" destOrd="0" presId="urn:microsoft.com/office/officeart/2005/8/layout/vProcess5"/>
    <dgm:cxn modelId="{32A129EE-3813-43B6-AF53-E9A6D3182FA2}" srcId="{B7ED251F-A7A3-4D25-B004-4241BE03EDC3}" destId="{DFBD6BAB-0140-48B9-9073-E08FDCB01885}" srcOrd="0" destOrd="0" parTransId="{A7069F57-F0E9-4BC0-BE1B-B8F059C9E5B6}" sibTransId="{0715BA3E-6351-4C71-A2A0-855403651045}"/>
    <dgm:cxn modelId="{D8FD6265-6EFF-41EA-A3FD-157498354C48}" type="presOf" srcId="{A3B4F848-7886-4B10-8E34-39E0B844A474}" destId="{66D5292E-E31B-47C3-B7F6-6E92D8DBC596}" srcOrd="0" destOrd="0" presId="urn:microsoft.com/office/officeart/2005/8/layout/vProcess5"/>
    <dgm:cxn modelId="{08A81826-7273-44A3-AF99-B781181E27AF}" type="presOf" srcId="{B7ED251F-A7A3-4D25-B004-4241BE03EDC3}" destId="{E218E0F1-97EC-4D60-8F4A-A6E21D910199}" srcOrd="0" destOrd="0" presId="urn:microsoft.com/office/officeart/2005/8/layout/vProcess5"/>
    <dgm:cxn modelId="{61E78557-A66C-4CE5-B60F-73372A952247}" type="presParOf" srcId="{E218E0F1-97EC-4D60-8F4A-A6E21D910199}" destId="{353F2BDB-A1CE-4ECD-BC0F-35AD5A327550}" srcOrd="0" destOrd="0" presId="urn:microsoft.com/office/officeart/2005/8/layout/vProcess5"/>
    <dgm:cxn modelId="{91FFE510-5AEF-4699-93BA-62BCE0929612}" type="presParOf" srcId="{E218E0F1-97EC-4D60-8F4A-A6E21D910199}" destId="{50B3B115-9ED4-4424-B000-6C66B8D607D6}" srcOrd="1" destOrd="0" presId="urn:microsoft.com/office/officeart/2005/8/layout/vProcess5"/>
    <dgm:cxn modelId="{A6323143-C21B-48C4-A26E-C1BE1D3FDFA3}" type="presParOf" srcId="{E218E0F1-97EC-4D60-8F4A-A6E21D910199}" destId="{66D5292E-E31B-47C3-B7F6-6E92D8DBC596}" srcOrd="2" destOrd="0" presId="urn:microsoft.com/office/officeart/2005/8/layout/vProcess5"/>
    <dgm:cxn modelId="{A7712366-DE27-4D2D-9EA4-E72C08291FDF}" type="presParOf" srcId="{E218E0F1-97EC-4D60-8F4A-A6E21D910199}" destId="{C65C44E2-047F-4F51-A8DC-FF51C925FC7F}" srcOrd="3" destOrd="0" presId="urn:microsoft.com/office/officeart/2005/8/layout/vProcess5"/>
    <dgm:cxn modelId="{D9234DA3-5745-412D-96F2-93EDC8C718C2}" type="presParOf" srcId="{E218E0F1-97EC-4D60-8F4A-A6E21D910199}" destId="{A4FE43DF-38F9-4E9D-BFAC-B056439DD239}" srcOrd="4" destOrd="0" presId="urn:microsoft.com/office/officeart/2005/8/layout/vProcess5"/>
    <dgm:cxn modelId="{9F1A614F-0DA6-43D7-AACB-1E517E8A8B09}" type="presParOf" srcId="{E218E0F1-97EC-4D60-8F4A-A6E21D910199}" destId="{D6550B05-CA9B-414C-B02C-0996B53629B5}" srcOrd="5" destOrd="0" presId="urn:microsoft.com/office/officeart/2005/8/layout/vProcess5"/>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64DB52A-CA4F-4852-B41E-6A1F43CC58F9}" type="doc">
      <dgm:prSet loTypeId="urn:microsoft.com/office/officeart/2008/layout/LinedList" loCatId="list" qsTypeId="urn:microsoft.com/office/officeart/2005/8/quickstyle/simple1" qsCatId="simple" csTypeId="urn:microsoft.com/office/officeart/2005/8/colors/colorful1#1" csCatId="colorful" phldr="1"/>
      <dgm:spPr/>
      <dgm:t>
        <a:bodyPr/>
        <a:lstStyle/>
        <a:p>
          <a:endParaRPr lang="en-US"/>
        </a:p>
      </dgm:t>
    </dgm:pt>
    <dgm:pt modelId="{C8BD7C71-8F1B-400D-96A3-6B553A93EB7F}">
      <dgm:prSet/>
      <dgm:spPr/>
      <dgm:t>
        <a:bodyPr/>
        <a:lstStyle/>
        <a:p>
          <a:r>
            <a:rPr lang="en-IN" dirty="0"/>
            <a:t>1 Introduction</a:t>
          </a:r>
          <a:endParaRPr lang="en-US" dirty="0"/>
        </a:p>
      </dgm:t>
    </dgm:pt>
    <dgm:pt modelId="{BBCFB319-5299-4310-B646-22472DABF40A}" type="parTrans" cxnId="{942D76EB-4E8A-49F9-9193-131FE6139044}">
      <dgm:prSet/>
      <dgm:spPr/>
      <dgm:t>
        <a:bodyPr/>
        <a:lstStyle/>
        <a:p>
          <a:endParaRPr lang="en-US"/>
        </a:p>
      </dgm:t>
    </dgm:pt>
    <dgm:pt modelId="{AF1C4F3A-D240-4EB1-9ECB-2ED225CCC019}" type="sibTrans" cxnId="{942D76EB-4E8A-49F9-9193-131FE6139044}">
      <dgm:prSet/>
      <dgm:spPr/>
      <dgm:t>
        <a:bodyPr/>
        <a:lstStyle/>
        <a:p>
          <a:endParaRPr lang="en-US"/>
        </a:p>
      </dgm:t>
    </dgm:pt>
    <dgm:pt modelId="{311F9A05-A7F4-4328-B319-DBCDF0DF0E82}">
      <dgm:prSet/>
      <dgm:spPr/>
      <dgm:t>
        <a:bodyPr/>
        <a:lstStyle/>
        <a:p>
          <a:r>
            <a:rPr lang="en-IN" dirty="0"/>
            <a:t>2</a:t>
          </a:r>
          <a:endParaRPr lang="en-US" dirty="0"/>
        </a:p>
      </dgm:t>
    </dgm:pt>
    <dgm:pt modelId="{23B85C74-2F21-4685-BD89-BB563657B099}" type="parTrans" cxnId="{6DCFA649-9D6E-469B-AACA-1BA847263E9A}">
      <dgm:prSet/>
      <dgm:spPr/>
      <dgm:t>
        <a:bodyPr/>
        <a:lstStyle/>
        <a:p>
          <a:endParaRPr lang="en-US"/>
        </a:p>
      </dgm:t>
    </dgm:pt>
    <dgm:pt modelId="{91F4A534-BBDE-4EB5-BAE5-EACEB7D0B868}" type="sibTrans" cxnId="{6DCFA649-9D6E-469B-AACA-1BA847263E9A}">
      <dgm:prSet/>
      <dgm:spPr/>
      <dgm:t>
        <a:bodyPr/>
        <a:lstStyle/>
        <a:p>
          <a:endParaRPr lang="en-US"/>
        </a:p>
      </dgm:t>
    </dgm:pt>
    <dgm:pt modelId="{81CB55E0-0FB6-485C-B15D-9BD278F78C6F}">
      <dgm:prSet/>
      <dgm:spPr/>
      <dgm:t>
        <a:bodyPr/>
        <a:lstStyle/>
        <a:p>
          <a:r>
            <a:rPr lang="en-IN"/>
            <a:t>3</a:t>
          </a:r>
          <a:endParaRPr lang="en-US"/>
        </a:p>
      </dgm:t>
    </dgm:pt>
    <dgm:pt modelId="{81E23C2F-5B75-4C87-B80F-F92D751EF2D3}" type="parTrans" cxnId="{B28E7539-702F-4403-B38C-CCE2EC9E181E}">
      <dgm:prSet/>
      <dgm:spPr/>
      <dgm:t>
        <a:bodyPr/>
        <a:lstStyle/>
        <a:p>
          <a:endParaRPr lang="en-US"/>
        </a:p>
      </dgm:t>
    </dgm:pt>
    <dgm:pt modelId="{CA453529-0F48-4EF3-8F16-E732FB1811C3}" type="sibTrans" cxnId="{B28E7539-702F-4403-B38C-CCE2EC9E181E}">
      <dgm:prSet/>
      <dgm:spPr/>
      <dgm:t>
        <a:bodyPr/>
        <a:lstStyle/>
        <a:p>
          <a:endParaRPr lang="en-US"/>
        </a:p>
      </dgm:t>
    </dgm:pt>
    <dgm:pt modelId="{51474CA9-1ADD-4331-9534-6780C3A18768}">
      <dgm:prSet/>
      <dgm:spPr/>
      <dgm:t>
        <a:bodyPr/>
        <a:lstStyle/>
        <a:p>
          <a:r>
            <a:rPr lang="en-IN"/>
            <a:t>4</a:t>
          </a:r>
          <a:endParaRPr lang="en-US"/>
        </a:p>
      </dgm:t>
    </dgm:pt>
    <dgm:pt modelId="{BD15203B-A2C4-421B-84CE-AC22CC6E237F}" type="parTrans" cxnId="{C10A2E97-40D9-4123-9647-358E1A64D6C9}">
      <dgm:prSet/>
      <dgm:spPr/>
      <dgm:t>
        <a:bodyPr/>
        <a:lstStyle/>
        <a:p>
          <a:endParaRPr lang="en-US"/>
        </a:p>
      </dgm:t>
    </dgm:pt>
    <dgm:pt modelId="{5FA359DE-6932-424A-BDE2-579D3E29B33A}" type="sibTrans" cxnId="{C10A2E97-40D9-4123-9647-358E1A64D6C9}">
      <dgm:prSet/>
      <dgm:spPr/>
      <dgm:t>
        <a:bodyPr/>
        <a:lstStyle/>
        <a:p>
          <a:endParaRPr lang="en-US"/>
        </a:p>
      </dgm:t>
    </dgm:pt>
    <dgm:pt modelId="{BA2E5375-FD77-47B4-A888-7387932E6D62}">
      <dgm:prSet/>
      <dgm:spPr/>
      <dgm:t>
        <a:bodyPr/>
        <a:lstStyle/>
        <a:p>
          <a:r>
            <a:rPr lang="en-IN"/>
            <a:t>5</a:t>
          </a:r>
          <a:endParaRPr lang="en-US"/>
        </a:p>
      </dgm:t>
    </dgm:pt>
    <dgm:pt modelId="{9F77997F-5AC0-4D93-89AC-B37B7BDB43EF}" type="parTrans" cxnId="{285F19B7-0DE6-4516-940F-56080AC841F9}">
      <dgm:prSet/>
      <dgm:spPr/>
      <dgm:t>
        <a:bodyPr/>
        <a:lstStyle/>
        <a:p>
          <a:endParaRPr lang="en-US"/>
        </a:p>
      </dgm:t>
    </dgm:pt>
    <dgm:pt modelId="{60B3BF56-C21F-456B-A5AC-F5C3D1CA9305}" type="sibTrans" cxnId="{285F19B7-0DE6-4516-940F-56080AC841F9}">
      <dgm:prSet/>
      <dgm:spPr/>
      <dgm:t>
        <a:bodyPr/>
        <a:lstStyle/>
        <a:p>
          <a:endParaRPr lang="en-US"/>
        </a:p>
      </dgm:t>
    </dgm:pt>
    <dgm:pt modelId="{B3A5C720-F6BA-415B-BACC-D6E1E00A3E9C}">
      <dgm:prSet/>
      <dgm:spPr/>
      <dgm:t>
        <a:bodyPr/>
        <a:lstStyle/>
        <a:p>
          <a:r>
            <a:rPr lang="en-IN"/>
            <a:t>6</a:t>
          </a:r>
          <a:endParaRPr lang="en-US"/>
        </a:p>
      </dgm:t>
    </dgm:pt>
    <dgm:pt modelId="{F429E385-C516-4FAE-9D81-A0D8E294980B}" type="parTrans" cxnId="{0929CE6D-F2B1-4F6D-A0E5-1B096EB2DD2D}">
      <dgm:prSet/>
      <dgm:spPr/>
      <dgm:t>
        <a:bodyPr/>
        <a:lstStyle/>
        <a:p>
          <a:endParaRPr lang="en-US"/>
        </a:p>
      </dgm:t>
    </dgm:pt>
    <dgm:pt modelId="{70FFF6AF-5C8B-41F5-90C8-E0C6F35FD649}" type="sibTrans" cxnId="{0929CE6D-F2B1-4F6D-A0E5-1B096EB2DD2D}">
      <dgm:prSet/>
      <dgm:spPr/>
      <dgm:t>
        <a:bodyPr/>
        <a:lstStyle/>
        <a:p>
          <a:endParaRPr lang="en-US"/>
        </a:p>
      </dgm:t>
    </dgm:pt>
    <dgm:pt modelId="{573103A9-89AC-4873-8CB5-0F4B7370B2E1}" type="pres">
      <dgm:prSet presAssocID="{B64DB52A-CA4F-4852-B41E-6A1F43CC58F9}" presName="vert0" presStyleCnt="0">
        <dgm:presLayoutVars>
          <dgm:dir/>
          <dgm:animOne val="branch"/>
          <dgm:animLvl val="lvl"/>
        </dgm:presLayoutVars>
      </dgm:prSet>
      <dgm:spPr/>
      <dgm:t>
        <a:bodyPr/>
        <a:lstStyle/>
        <a:p>
          <a:endParaRPr lang="en-US"/>
        </a:p>
      </dgm:t>
    </dgm:pt>
    <dgm:pt modelId="{6FF76B5C-2320-4CB5-9844-D984662B1716}" type="pres">
      <dgm:prSet presAssocID="{C8BD7C71-8F1B-400D-96A3-6B553A93EB7F}" presName="thickLine" presStyleLbl="alignNode1" presStyleIdx="0" presStyleCnt="6"/>
      <dgm:spPr/>
    </dgm:pt>
    <dgm:pt modelId="{41C87863-73DE-4F9B-A76B-880D805954CA}" type="pres">
      <dgm:prSet presAssocID="{C8BD7C71-8F1B-400D-96A3-6B553A93EB7F}" presName="horz1" presStyleCnt="0"/>
      <dgm:spPr/>
    </dgm:pt>
    <dgm:pt modelId="{CBF4003A-096B-4C8D-8E4F-9D9EAB681D72}" type="pres">
      <dgm:prSet presAssocID="{C8BD7C71-8F1B-400D-96A3-6B553A93EB7F}" presName="tx1" presStyleLbl="revTx" presStyleIdx="0" presStyleCnt="6"/>
      <dgm:spPr/>
      <dgm:t>
        <a:bodyPr/>
        <a:lstStyle/>
        <a:p>
          <a:endParaRPr lang="en-US"/>
        </a:p>
      </dgm:t>
    </dgm:pt>
    <dgm:pt modelId="{608B7948-37DA-4DDD-A56D-16AA8CC3AD50}" type="pres">
      <dgm:prSet presAssocID="{C8BD7C71-8F1B-400D-96A3-6B553A93EB7F}" presName="vert1" presStyleCnt="0"/>
      <dgm:spPr/>
    </dgm:pt>
    <dgm:pt modelId="{F83A5B86-9D43-4C81-A6D4-87875817B689}" type="pres">
      <dgm:prSet presAssocID="{311F9A05-A7F4-4328-B319-DBCDF0DF0E82}" presName="thickLine" presStyleLbl="alignNode1" presStyleIdx="1" presStyleCnt="6"/>
      <dgm:spPr/>
    </dgm:pt>
    <dgm:pt modelId="{3BC975C1-0C99-4F97-8C52-C1CFA0BAF551}" type="pres">
      <dgm:prSet presAssocID="{311F9A05-A7F4-4328-B319-DBCDF0DF0E82}" presName="horz1" presStyleCnt="0"/>
      <dgm:spPr/>
    </dgm:pt>
    <dgm:pt modelId="{7BF0A7F7-0F37-4B11-9AED-B46FE7E128D8}" type="pres">
      <dgm:prSet presAssocID="{311F9A05-A7F4-4328-B319-DBCDF0DF0E82}" presName="tx1" presStyleLbl="revTx" presStyleIdx="1" presStyleCnt="6"/>
      <dgm:spPr/>
      <dgm:t>
        <a:bodyPr/>
        <a:lstStyle/>
        <a:p>
          <a:endParaRPr lang="en-US"/>
        </a:p>
      </dgm:t>
    </dgm:pt>
    <dgm:pt modelId="{AA11931C-C560-424D-BE37-4872DC1B2048}" type="pres">
      <dgm:prSet presAssocID="{311F9A05-A7F4-4328-B319-DBCDF0DF0E82}" presName="vert1" presStyleCnt="0"/>
      <dgm:spPr/>
    </dgm:pt>
    <dgm:pt modelId="{7EE56E18-6978-43E9-9D4D-E31AA5BEE441}" type="pres">
      <dgm:prSet presAssocID="{81CB55E0-0FB6-485C-B15D-9BD278F78C6F}" presName="thickLine" presStyleLbl="alignNode1" presStyleIdx="2" presStyleCnt="6"/>
      <dgm:spPr/>
    </dgm:pt>
    <dgm:pt modelId="{447FCB44-517C-43F4-BE59-391C36D21C9C}" type="pres">
      <dgm:prSet presAssocID="{81CB55E0-0FB6-485C-B15D-9BD278F78C6F}" presName="horz1" presStyleCnt="0"/>
      <dgm:spPr/>
    </dgm:pt>
    <dgm:pt modelId="{89436931-860B-40AD-8DCE-CEE0F56E60ED}" type="pres">
      <dgm:prSet presAssocID="{81CB55E0-0FB6-485C-B15D-9BD278F78C6F}" presName="tx1" presStyleLbl="revTx" presStyleIdx="2" presStyleCnt="6"/>
      <dgm:spPr/>
      <dgm:t>
        <a:bodyPr/>
        <a:lstStyle/>
        <a:p>
          <a:endParaRPr lang="en-US"/>
        </a:p>
      </dgm:t>
    </dgm:pt>
    <dgm:pt modelId="{0E51C315-1B46-45D6-B4D4-E44AF2F7FE47}" type="pres">
      <dgm:prSet presAssocID="{81CB55E0-0FB6-485C-B15D-9BD278F78C6F}" presName="vert1" presStyleCnt="0"/>
      <dgm:spPr/>
    </dgm:pt>
    <dgm:pt modelId="{B514687E-679F-4404-A929-C733AA004539}" type="pres">
      <dgm:prSet presAssocID="{51474CA9-1ADD-4331-9534-6780C3A18768}" presName="thickLine" presStyleLbl="alignNode1" presStyleIdx="3" presStyleCnt="6"/>
      <dgm:spPr/>
    </dgm:pt>
    <dgm:pt modelId="{80414A13-977F-40A0-BF88-8AEFF7DE361E}" type="pres">
      <dgm:prSet presAssocID="{51474CA9-1ADD-4331-9534-6780C3A18768}" presName="horz1" presStyleCnt="0"/>
      <dgm:spPr/>
    </dgm:pt>
    <dgm:pt modelId="{3E95DC57-D848-494F-A343-6CBABA986252}" type="pres">
      <dgm:prSet presAssocID="{51474CA9-1ADD-4331-9534-6780C3A18768}" presName="tx1" presStyleLbl="revTx" presStyleIdx="3" presStyleCnt="6"/>
      <dgm:spPr/>
      <dgm:t>
        <a:bodyPr/>
        <a:lstStyle/>
        <a:p>
          <a:endParaRPr lang="en-US"/>
        </a:p>
      </dgm:t>
    </dgm:pt>
    <dgm:pt modelId="{42E34139-9E2B-4ED7-9D4C-0E180FD5C739}" type="pres">
      <dgm:prSet presAssocID="{51474CA9-1ADD-4331-9534-6780C3A18768}" presName="vert1" presStyleCnt="0"/>
      <dgm:spPr/>
    </dgm:pt>
    <dgm:pt modelId="{0B062B2C-FD23-461E-89A1-3ECDF7A567C2}" type="pres">
      <dgm:prSet presAssocID="{BA2E5375-FD77-47B4-A888-7387932E6D62}" presName="thickLine" presStyleLbl="alignNode1" presStyleIdx="4" presStyleCnt="6"/>
      <dgm:spPr/>
    </dgm:pt>
    <dgm:pt modelId="{1BF4D050-06E8-4B19-AEB8-E6957BD50750}" type="pres">
      <dgm:prSet presAssocID="{BA2E5375-FD77-47B4-A888-7387932E6D62}" presName="horz1" presStyleCnt="0"/>
      <dgm:spPr/>
    </dgm:pt>
    <dgm:pt modelId="{D26876CA-709E-4928-AAF2-4734D1DACD6D}" type="pres">
      <dgm:prSet presAssocID="{BA2E5375-FD77-47B4-A888-7387932E6D62}" presName="tx1" presStyleLbl="revTx" presStyleIdx="4" presStyleCnt="6"/>
      <dgm:spPr/>
      <dgm:t>
        <a:bodyPr/>
        <a:lstStyle/>
        <a:p>
          <a:endParaRPr lang="en-US"/>
        </a:p>
      </dgm:t>
    </dgm:pt>
    <dgm:pt modelId="{88DBC881-0983-4C91-8705-CB8A16D50941}" type="pres">
      <dgm:prSet presAssocID="{BA2E5375-FD77-47B4-A888-7387932E6D62}" presName="vert1" presStyleCnt="0"/>
      <dgm:spPr/>
    </dgm:pt>
    <dgm:pt modelId="{2B37DFBD-1045-417A-89DD-348147EAB4F5}" type="pres">
      <dgm:prSet presAssocID="{B3A5C720-F6BA-415B-BACC-D6E1E00A3E9C}" presName="thickLine" presStyleLbl="alignNode1" presStyleIdx="5" presStyleCnt="6"/>
      <dgm:spPr/>
    </dgm:pt>
    <dgm:pt modelId="{37DCFB0B-1A16-4C35-A117-077E4A9AB132}" type="pres">
      <dgm:prSet presAssocID="{B3A5C720-F6BA-415B-BACC-D6E1E00A3E9C}" presName="horz1" presStyleCnt="0"/>
      <dgm:spPr/>
    </dgm:pt>
    <dgm:pt modelId="{1DE32878-1683-410B-AEEA-0DF09EA5FA62}" type="pres">
      <dgm:prSet presAssocID="{B3A5C720-F6BA-415B-BACC-D6E1E00A3E9C}" presName="tx1" presStyleLbl="revTx" presStyleIdx="5" presStyleCnt="6"/>
      <dgm:spPr/>
      <dgm:t>
        <a:bodyPr/>
        <a:lstStyle/>
        <a:p>
          <a:endParaRPr lang="en-US"/>
        </a:p>
      </dgm:t>
    </dgm:pt>
    <dgm:pt modelId="{41D82D7D-82CC-403F-8FAA-7EF8B4434DBF}" type="pres">
      <dgm:prSet presAssocID="{B3A5C720-F6BA-415B-BACC-D6E1E00A3E9C}" presName="vert1" presStyleCnt="0"/>
      <dgm:spPr/>
    </dgm:pt>
  </dgm:ptLst>
  <dgm:cxnLst>
    <dgm:cxn modelId="{942D76EB-4E8A-49F9-9193-131FE6139044}" srcId="{B64DB52A-CA4F-4852-B41E-6A1F43CC58F9}" destId="{C8BD7C71-8F1B-400D-96A3-6B553A93EB7F}" srcOrd="0" destOrd="0" parTransId="{BBCFB319-5299-4310-B646-22472DABF40A}" sibTransId="{AF1C4F3A-D240-4EB1-9ECB-2ED225CCC019}"/>
    <dgm:cxn modelId="{A8279F42-205C-42CA-8385-164FB091EC3D}" type="presOf" srcId="{B64DB52A-CA4F-4852-B41E-6A1F43CC58F9}" destId="{573103A9-89AC-4873-8CB5-0F4B7370B2E1}" srcOrd="0" destOrd="0" presId="urn:microsoft.com/office/officeart/2008/layout/LinedList"/>
    <dgm:cxn modelId="{CAEFD1C0-21C6-4BEE-BBD0-3E2B7599C8A0}" type="presOf" srcId="{C8BD7C71-8F1B-400D-96A3-6B553A93EB7F}" destId="{CBF4003A-096B-4C8D-8E4F-9D9EAB681D72}" srcOrd="0" destOrd="0" presId="urn:microsoft.com/office/officeart/2008/layout/LinedList"/>
    <dgm:cxn modelId="{0929CE6D-F2B1-4F6D-A0E5-1B096EB2DD2D}" srcId="{B64DB52A-CA4F-4852-B41E-6A1F43CC58F9}" destId="{B3A5C720-F6BA-415B-BACC-D6E1E00A3E9C}" srcOrd="5" destOrd="0" parTransId="{F429E385-C516-4FAE-9D81-A0D8E294980B}" sibTransId="{70FFF6AF-5C8B-41F5-90C8-E0C6F35FD649}"/>
    <dgm:cxn modelId="{CB477A60-62F0-49EB-B58D-60D1B6535D8A}" type="presOf" srcId="{BA2E5375-FD77-47B4-A888-7387932E6D62}" destId="{D26876CA-709E-4928-AAF2-4734D1DACD6D}" srcOrd="0" destOrd="0" presId="urn:microsoft.com/office/officeart/2008/layout/LinedList"/>
    <dgm:cxn modelId="{36D8DFD7-E3DD-4A01-AC6D-A44FD86D70FA}" type="presOf" srcId="{81CB55E0-0FB6-485C-B15D-9BD278F78C6F}" destId="{89436931-860B-40AD-8DCE-CEE0F56E60ED}" srcOrd="0" destOrd="0" presId="urn:microsoft.com/office/officeart/2008/layout/LinedList"/>
    <dgm:cxn modelId="{C10A2E97-40D9-4123-9647-358E1A64D6C9}" srcId="{B64DB52A-CA4F-4852-B41E-6A1F43CC58F9}" destId="{51474CA9-1ADD-4331-9534-6780C3A18768}" srcOrd="3" destOrd="0" parTransId="{BD15203B-A2C4-421B-84CE-AC22CC6E237F}" sibTransId="{5FA359DE-6932-424A-BDE2-579D3E29B33A}"/>
    <dgm:cxn modelId="{AC777213-F11B-480E-B008-A2643A65BF23}" type="presOf" srcId="{B3A5C720-F6BA-415B-BACC-D6E1E00A3E9C}" destId="{1DE32878-1683-410B-AEEA-0DF09EA5FA62}" srcOrd="0" destOrd="0" presId="urn:microsoft.com/office/officeart/2008/layout/LinedList"/>
    <dgm:cxn modelId="{6DCFA649-9D6E-469B-AACA-1BA847263E9A}" srcId="{B64DB52A-CA4F-4852-B41E-6A1F43CC58F9}" destId="{311F9A05-A7F4-4328-B319-DBCDF0DF0E82}" srcOrd="1" destOrd="0" parTransId="{23B85C74-2F21-4685-BD89-BB563657B099}" sibTransId="{91F4A534-BBDE-4EB5-BAE5-EACEB7D0B868}"/>
    <dgm:cxn modelId="{B28E7539-702F-4403-B38C-CCE2EC9E181E}" srcId="{B64DB52A-CA4F-4852-B41E-6A1F43CC58F9}" destId="{81CB55E0-0FB6-485C-B15D-9BD278F78C6F}" srcOrd="2" destOrd="0" parTransId="{81E23C2F-5B75-4C87-B80F-F92D751EF2D3}" sibTransId="{CA453529-0F48-4EF3-8F16-E732FB1811C3}"/>
    <dgm:cxn modelId="{791F67ED-636D-40F8-93C7-87F14CF35636}" type="presOf" srcId="{51474CA9-1ADD-4331-9534-6780C3A18768}" destId="{3E95DC57-D848-494F-A343-6CBABA986252}" srcOrd="0" destOrd="0" presId="urn:microsoft.com/office/officeart/2008/layout/LinedList"/>
    <dgm:cxn modelId="{DC4EA019-245A-44D8-9BF0-3AD33B0D2A8D}" type="presOf" srcId="{311F9A05-A7F4-4328-B319-DBCDF0DF0E82}" destId="{7BF0A7F7-0F37-4B11-9AED-B46FE7E128D8}" srcOrd="0" destOrd="0" presId="urn:microsoft.com/office/officeart/2008/layout/LinedList"/>
    <dgm:cxn modelId="{285F19B7-0DE6-4516-940F-56080AC841F9}" srcId="{B64DB52A-CA4F-4852-B41E-6A1F43CC58F9}" destId="{BA2E5375-FD77-47B4-A888-7387932E6D62}" srcOrd="4" destOrd="0" parTransId="{9F77997F-5AC0-4D93-89AC-B37B7BDB43EF}" sibTransId="{60B3BF56-C21F-456B-A5AC-F5C3D1CA9305}"/>
    <dgm:cxn modelId="{A8499597-22C4-40AB-8BB7-CEB6565C2724}" type="presParOf" srcId="{573103A9-89AC-4873-8CB5-0F4B7370B2E1}" destId="{6FF76B5C-2320-4CB5-9844-D984662B1716}" srcOrd="0" destOrd="0" presId="urn:microsoft.com/office/officeart/2008/layout/LinedList"/>
    <dgm:cxn modelId="{A93CB1D0-23F3-45EE-9AB1-A15778F91C98}" type="presParOf" srcId="{573103A9-89AC-4873-8CB5-0F4B7370B2E1}" destId="{41C87863-73DE-4F9B-A76B-880D805954CA}" srcOrd="1" destOrd="0" presId="urn:microsoft.com/office/officeart/2008/layout/LinedList"/>
    <dgm:cxn modelId="{F575AF3D-87A6-47A5-83AC-A73999B61EA5}" type="presParOf" srcId="{41C87863-73DE-4F9B-A76B-880D805954CA}" destId="{CBF4003A-096B-4C8D-8E4F-9D9EAB681D72}" srcOrd="0" destOrd="0" presId="urn:microsoft.com/office/officeart/2008/layout/LinedList"/>
    <dgm:cxn modelId="{C4AD05CD-ABA2-45F9-AD70-453A59B257AA}" type="presParOf" srcId="{41C87863-73DE-4F9B-A76B-880D805954CA}" destId="{608B7948-37DA-4DDD-A56D-16AA8CC3AD50}" srcOrd="1" destOrd="0" presId="urn:microsoft.com/office/officeart/2008/layout/LinedList"/>
    <dgm:cxn modelId="{09135F7C-D882-4001-9420-48C6F669E5A1}" type="presParOf" srcId="{573103A9-89AC-4873-8CB5-0F4B7370B2E1}" destId="{F83A5B86-9D43-4C81-A6D4-87875817B689}" srcOrd="2" destOrd="0" presId="urn:microsoft.com/office/officeart/2008/layout/LinedList"/>
    <dgm:cxn modelId="{42A74311-A9B5-4722-908E-E69DF0F7B3F2}" type="presParOf" srcId="{573103A9-89AC-4873-8CB5-0F4B7370B2E1}" destId="{3BC975C1-0C99-4F97-8C52-C1CFA0BAF551}" srcOrd="3" destOrd="0" presId="urn:microsoft.com/office/officeart/2008/layout/LinedList"/>
    <dgm:cxn modelId="{06716FB4-91E0-498C-9B25-67FC8A0410EE}" type="presParOf" srcId="{3BC975C1-0C99-4F97-8C52-C1CFA0BAF551}" destId="{7BF0A7F7-0F37-4B11-9AED-B46FE7E128D8}" srcOrd="0" destOrd="0" presId="urn:microsoft.com/office/officeart/2008/layout/LinedList"/>
    <dgm:cxn modelId="{08808E65-016C-4832-AD3A-0BCD56638EE0}" type="presParOf" srcId="{3BC975C1-0C99-4F97-8C52-C1CFA0BAF551}" destId="{AA11931C-C560-424D-BE37-4872DC1B2048}" srcOrd="1" destOrd="0" presId="urn:microsoft.com/office/officeart/2008/layout/LinedList"/>
    <dgm:cxn modelId="{206F6E77-1951-4EBC-9057-DD630DD20CCA}" type="presParOf" srcId="{573103A9-89AC-4873-8CB5-0F4B7370B2E1}" destId="{7EE56E18-6978-43E9-9D4D-E31AA5BEE441}" srcOrd="4" destOrd="0" presId="urn:microsoft.com/office/officeart/2008/layout/LinedList"/>
    <dgm:cxn modelId="{5A60FA20-ADA2-431F-8796-1BE8C988B2D2}" type="presParOf" srcId="{573103A9-89AC-4873-8CB5-0F4B7370B2E1}" destId="{447FCB44-517C-43F4-BE59-391C36D21C9C}" srcOrd="5" destOrd="0" presId="urn:microsoft.com/office/officeart/2008/layout/LinedList"/>
    <dgm:cxn modelId="{A05C2049-7944-4478-8D68-709AB77FAB96}" type="presParOf" srcId="{447FCB44-517C-43F4-BE59-391C36D21C9C}" destId="{89436931-860B-40AD-8DCE-CEE0F56E60ED}" srcOrd="0" destOrd="0" presId="urn:microsoft.com/office/officeart/2008/layout/LinedList"/>
    <dgm:cxn modelId="{2AEA7D18-2CA4-4040-8CA3-2E8EA6C53110}" type="presParOf" srcId="{447FCB44-517C-43F4-BE59-391C36D21C9C}" destId="{0E51C315-1B46-45D6-B4D4-E44AF2F7FE47}" srcOrd="1" destOrd="0" presId="urn:microsoft.com/office/officeart/2008/layout/LinedList"/>
    <dgm:cxn modelId="{0B8319B9-A001-4929-BF67-CFB04FA16945}" type="presParOf" srcId="{573103A9-89AC-4873-8CB5-0F4B7370B2E1}" destId="{B514687E-679F-4404-A929-C733AA004539}" srcOrd="6" destOrd="0" presId="urn:microsoft.com/office/officeart/2008/layout/LinedList"/>
    <dgm:cxn modelId="{257188D6-0003-435E-A862-DB1729B0A2C3}" type="presParOf" srcId="{573103A9-89AC-4873-8CB5-0F4B7370B2E1}" destId="{80414A13-977F-40A0-BF88-8AEFF7DE361E}" srcOrd="7" destOrd="0" presId="urn:microsoft.com/office/officeart/2008/layout/LinedList"/>
    <dgm:cxn modelId="{0D4D7625-BCDC-4E36-BA9D-FCFD4CC793E3}" type="presParOf" srcId="{80414A13-977F-40A0-BF88-8AEFF7DE361E}" destId="{3E95DC57-D848-494F-A343-6CBABA986252}" srcOrd="0" destOrd="0" presId="urn:microsoft.com/office/officeart/2008/layout/LinedList"/>
    <dgm:cxn modelId="{0E040604-2F36-489D-A967-FB8740498707}" type="presParOf" srcId="{80414A13-977F-40A0-BF88-8AEFF7DE361E}" destId="{42E34139-9E2B-4ED7-9D4C-0E180FD5C739}" srcOrd="1" destOrd="0" presId="urn:microsoft.com/office/officeart/2008/layout/LinedList"/>
    <dgm:cxn modelId="{DEAB5A35-1128-4DEF-AE18-D024423701D7}" type="presParOf" srcId="{573103A9-89AC-4873-8CB5-0F4B7370B2E1}" destId="{0B062B2C-FD23-461E-89A1-3ECDF7A567C2}" srcOrd="8" destOrd="0" presId="urn:microsoft.com/office/officeart/2008/layout/LinedList"/>
    <dgm:cxn modelId="{055AE2A9-59D6-49A8-A0DB-1D091F45E10E}" type="presParOf" srcId="{573103A9-89AC-4873-8CB5-0F4B7370B2E1}" destId="{1BF4D050-06E8-4B19-AEB8-E6957BD50750}" srcOrd="9" destOrd="0" presId="urn:microsoft.com/office/officeart/2008/layout/LinedList"/>
    <dgm:cxn modelId="{BBB3BEA1-FC70-4DE2-9A91-57EB33BF00AD}" type="presParOf" srcId="{1BF4D050-06E8-4B19-AEB8-E6957BD50750}" destId="{D26876CA-709E-4928-AAF2-4734D1DACD6D}" srcOrd="0" destOrd="0" presId="urn:microsoft.com/office/officeart/2008/layout/LinedList"/>
    <dgm:cxn modelId="{D188FA47-5832-42EC-9572-966048E3C4F5}" type="presParOf" srcId="{1BF4D050-06E8-4B19-AEB8-E6957BD50750}" destId="{88DBC881-0983-4C91-8705-CB8A16D50941}" srcOrd="1" destOrd="0" presId="urn:microsoft.com/office/officeart/2008/layout/LinedList"/>
    <dgm:cxn modelId="{D52B8AEE-6B59-47DE-96B8-D9B647AB0BD5}" type="presParOf" srcId="{573103A9-89AC-4873-8CB5-0F4B7370B2E1}" destId="{2B37DFBD-1045-417A-89DD-348147EAB4F5}" srcOrd="10" destOrd="0" presId="urn:microsoft.com/office/officeart/2008/layout/LinedList"/>
    <dgm:cxn modelId="{87CEFD5A-15D0-405F-A288-77213AA4C691}" type="presParOf" srcId="{573103A9-89AC-4873-8CB5-0F4B7370B2E1}" destId="{37DCFB0B-1A16-4C35-A117-077E4A9AB132}" srcOrd="11" destOrd="0" presId="urn:microsoft.com/office/officeart/2008/layout/LinedList"/>
    <dgm:cxn modelId="{FAE27A14-2C4C-460F-8666-684E767B4C26}" type="presParOf" srcId="{37DCFB0B-1A16-4C35-A117-077E4A9AB132}" destId="{1DE32878-1683-410B-AEEA-0DF09EA5FA62}" srcOrd="0" destOrd="0" presId="urn:microsoft.com/office/officeart/2008/layout/LinedList"/>
    <dgm:cxn modelId="{B8632CF4-76F8-45D5-970F-DC293805AC34}" type="presParOf" srcId="{37DCFB0B-1A16-4C35-A117-077E4A9AB132}" destId="{41D82D7D-82CC-403F-8FAA-7EF8B4434DBF}" srcOrd="1" destOrd="0" presId="urn:microsoft.com/office/officeart/2008/layout/LinedList"/>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622E99-6EF6-4714-A151-692F8298A724}">
      <dsp:nvSpPr>
        <dsp:cNvPr id="0" name=""/>
        <dsp:cNvSpPr/>
      </dsp:nvSpPr>
      <dsp:spPr>
        <a:xfrm>
          <a:off x="1608050" y="645930"/>
          <a:ext cx="1944000" cy="1944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1822D5E-6C77-4A5A-8BFC-03CB3FBEDC90}">
      <dsp:nvSpPr>
        <dsp:cNvPr id="0" name=""/>
        <dsp:cNvSpPr/>
      </dsp:nvSpPr>
      <dsp:spPr>
        <a:xfrm>
          <a:off x="420050" y="3060111"/>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100000"/>
            </a:lnSpc>
            <a:spcBef>
              <a:spcPct val="0"/>
            </a:spcBef>
            <a:spcAft>
              <a:spcPct val="35000"/>
            </a:spcAft>
            <a:buNone/>
          </a:pPr>
          <a:r>
            <a:rPr lang="en-US" sz="1900" kern="1200" dirty="0"/>
            <a:t>Can you compare the time taken by the 3 algorithms  that you have written?</a:t>
          </a:r>
        </a:p>
      </dsp:txBody>
      <dsp:txXfrm>
        <a:off x="420050" y="3060111"/>
        <a:ext cx="4320000" cy="720000"/>
      </dsp:txXfrm>
    </dsp:sp>
    <dsp:sp modelId="{CC6432B2-6D09-4891-82E2-F9B65191BC2C}">
      <dsp:nvSpPr>
        <dsp:cNvPr id="0" name=""/>
        <dsp:cNvSpPr/>
      </dsp:nvSpPr>
      <dsp:spPr>
        <a:xfrm>
          <a:off x="6684051" y="645930"/>
          <a:ext cx="1944000" cy="1944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9C081C5-3487-4D31-BBB1-5133460056EC}">
      <dsp:nvSpPr>
        <dsp:cNvPr id="0" name=""/>
        <dsp:cNvSpPr/>
      </dsp:nvSpPr>
      <dsp:spPr>
        <a:xfrm>
          <a:off x="5496051" y="3060111"/>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100000"/>
            </a:lnSpc>
            <a:spcBef>
              <a:spcPct val="0"/>
            </a:spcBef>
            <a:spcAft>
              <a:spcPct val="35000"/>
            </a:spcAft>
            <a:buNone/>
          </a:pPr>
          <a:r>
            <a:rPr lang="en-US" sz="1900" kern="1200" dirty="0"/>
            <a:t>How are you able to compare the time.</a:t>
          </a:r>
        </a:p>
        <a:p>
          <a:pPr marL="0" lvl="0" indent="0" algn="ctr" defTabSz="844550">
            <a:lnSpc>
              <a:spcPct val="100000"/>
            </a:lnSpc>
            <a:spcBef>
              <a:spcPct val="0"/>
            </a:spcBef>
            <a:spcAft>
              <a:spcPct val="35000"/>
            </a:spcAft>
            <a:buNone/>
          </a:pPr>
          <a:r>
            <a:rPr lang="en-US" sz="1900" kern="1200" dirty="0"/>
            <a:t>Discuss among your table members.</a:t>
          </a:r>
        </a:p>
      </dsp:txBody>
      <dsp:txXfrm>
        <a:off x="5496051" y="3060111"/>
        <a:ext cx="432000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B3B115-9ED4-4424-B000-6C66B8D607D6}">
      <dsp:nvSpPr>
        <dsp:cNvPr id="0" name=""/>
        <dsp:cNvSpPr/>
      </dsp:nvSpPr>
      <dsp:spPr>
        <a:xfrm>
          <a:off x="0" y="0"/>
          <a:ext cx="9288654" cy="1660232"/>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IN" sz="3100" kern="1200" dirty="0"/>
            <a:t>Learning Outcome 1:</a:t>
          </a:r>
          <a:r>
            <a:rPr lang="en-US" sz="3100" kern="1200" dirty="0"/>
            <a:t>Understand the importance of analyzing algorithm efficiency. </a:t>
          </a:r>
        </a:p>
      </dsp:txBody>
      <dsp:txXfrm>
        <a:off x="48627" y="48627"/>
        <a:ext cx="7572674" cy="1562978"/>
      </dsp:txXfrm>
    </dsp:sp>
    <dsp:sp modelId="{66D5292E-E31B-47C3-B7F6-6E92D8DBC596}">
      <dsp:nvSpPr>
        <dsp:cNvPr id="0" name=""/>
        <dsp:cNvSpPr/>
      </dsp:nvSpPr>
      <dsp:spPr>
        <a:xfrm>
          <a:off x="1639174" y="2029172"/>
          <a:ext cx="9288654" cy="1660232"/>
        </a:xfrm>
        <a:prstGeom prst="roundRect">
          <a:avLst>
            <a:gd name="adj" fmla="val 10000"/>
          </a:avLst>
        </a:prstGeom>
        <a:solidFill>
          <a:schemeClr val="accent2">
            <a:hueOff val="6443612"/>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IN" sz="3100" kern="1200" dirty="0"/>
            <a:t>Learning Outcome 2</a:t>
          </a:r>
          <a:r>
            <a:rPr lang="en-US" sz="3100" kern="1200" dirty="0"/>
            <a:t> : Comprehend different asymptotic notations. </a:t>
          </a:r>
        </a:p>
      </dsp:txBody>
      <dsp:txXfrm>
        <a:off x="1687801" y="2077799"/>
        <a:ext cx="6473075" cy="1562978"/>
      </dsp:txXfrm>
    </dsp:sp>
    <dsp:sp modelId="{C65C44E2-047F-4F51-A8DC-FF51C925FC7F}">
      <dsp:nvSpPr>
        <dsp:cNvPr id="0" name=""/>
        <dsp:cNvSpPr/>
      </dsp:nvSpPr>
      <dsp:spPr>
        <a:xfrm>
          <a:off x="8209503" y="1305127"/>
          <a:ext cx="1079150" cy="1079150"/>
        </a:xfrm>
        <a:prstGeom prst="downArrow">
          <a:avLst>
            <a:gd name="adj1" fmla="val 55000"/>
            <a:gd name="adj2" fmla="val 45000"/>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8452312" y="1305127"/>
        <a:ext cx="593532" cy="81206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F76B5C-2320-4CB5-9844-D984662B1716}">
      <dsp:nvSpPr>
        <dsp:cNvPr id="0" name=""/>
        <dsp:cNvSpPr/>
      </dsp:nvSpPr>
      <dsp:spPr>
        <a:xfrm>
          <a:off x="0" y="2726"/>
          <a:ext cx="7467414"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BF4003A-096B-4C8D-8E4F-9D9EAB681D72}">
      <dsp:nvSpPr>
        <dsp:cNvPr id="0" name=""/>
        <dsp:cNvSpPr/>
      </dsp:nvSpPr>
      <dsp:spPr>
        <a:xfrm>
          <a:off x="0" y="2726"/>
          <a:ext cx="7467414" cy="9296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0020" tIns="160020" rIns="160020" bIns="160020" numCol="1" spcCol="1270" anchor="t" anchorCtr="0">
          <a:noAutofit/>
        </a:bodyPr>
        <a:lstStyle/>
        <a:p>
          <a:pPr marL="0" lvl="0" indent="0" algn="l" defTabSz="1866900">
            <a:lnSpc>
              <a:spcPct val="90000"/>
            </a:lnSpc>
            <a:spcBef>
              <a:spcPct val="0"/>
            </a:spcBef>
            <a:spcAft>
              <a:spcPct val="35000"/>
            </a:spcAft>
            <a:buNone/>
          </a:pPr>
          <a:r>
            <a:rPr lang="en-IN" sz="4200" kern="1200" dirty="0"/>
            <a:t>1 Introduction</a:t>
          </a:r>
          <a:endParaRPr lang="en-US" sz="4200" kern="1200" dirty="0"/>
        </a:p>
      </dsp:txBody>
      <dsp:txXfrm>
        <a:off x="0" y="2726"/>
        <a:ext cx="7467414" cy="929615"/>
      </dsp:txXfrm>
    </dsp:sp>
    <dsp:sp modelId="{F83A5B86-9D43-4C81-A6D4-87875817B689}">
      <dsp:nvSpPr>
        <dsp:cNvPr id="0" name=""/>
        <dsp:cNvSpPr/>
      </dsp:nvSpPr>
      <dsp:spPr>
        <a:xfrm>
          <a:off x="0" y="932342"/>
          <a:ext cx="7467414"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BF0A7F7-0F37-4B11-9AED-B46FE7E128D8}">
      <dsp:nvSpPr>
        <dsp:cNvPr id="0" name=""/>
        <dsp:cNvSpPr/>
      </dsp:nvSpPr>
      <dsp:spPr>
        <a:xfrm>
          <a:off x="0" y="932342"/>
          <a:ext cx="7467414" cy="9296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0020" tIns="160020" rIns="160020" bIns="160020" numCol="1" spcCol="1270" anchor="t" anchorCtr="0">
          <a:noAutofit/>
        </a:bodyPr>
        <a:lstStyle/>
        <a:p>
          <a:pPr marL="0" lvl="0" indent="0" algn="l" defTabSz="1866900">
            <a:lnSpc>
              <a:spcPct val="90000"/>
            </a:lnSpc>
            <a:spcBef>
              <a:spcPct val="0"/>
            </a:spcBef>
            <a:spcAft>
              <a:spcPct val="35000"/>
            </a:spcAft>
            <a:buNone/>
          </a:pPr>
          <a:r>
            <a:rPr lang="en-IN" sz="4200" kern="1200" dirty="0"/>
            <a:t>2</a:t>
          </a:r>
          <a:endParaRPr lang="en-US" sz="4200" kern="1200" dirty="0"/>
        </a:p>
      </dsp:txBody>
      <dsp:txXfrm>
        <a:off x="0" y="932342"/>
        <a:ext cx="7467414" cy="929615"/>
      </dsp:txXfrm>
    </dsp:sp>
    <dsp:sp modelId="{7EE56E18-6978-43E9-9D4D-E31AA5BEE441}">
      <dsp:nvSpPr>
        <dsp:cNvPr id="0" name=""/>
        <dsp:cNvSpPr/>
      </dsp:nvSpPr>
      <dsp:spPr>
        <a:xfrm>
          <a:off x="0" y="1861958"/>
          <a:ext cx="7467414" cy="0"/>
        </a:xfrm>
        <a:prstGeom prst="line">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9436931-860B-40AD-8DCE-CEE0F56E60ED}">
      <dsp:nvSpPr>
        <dsp:cNvPr id="0" name=""/>
        <dsp:cNvSpPr/>
      </dsp:nvSpPr>
      <dsp:spPr>
        <a:xfrm>
          <a:off x="0" y="1861958"/>
          <a:ext cx="7467414" cy="9296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0020" tIns="160020" rIns="160020" bIns="160020" numCol="1" spcCol="1270" anchor="t" anchorCtr="0">
          <a:noAutofit/>
        </a:bodyPr>
        <a:lstStyle/>
        <a:p>
          <a:pPr marL="0" lvl="0" indent="0" algn="l" defTabSz="1866900">
            <a:lnSpc>
              <a:spcPct val="90000"/>
            </a:lnSpc>
            <a:spcBef>
              <a:spcPct val="0"/>
            </a:spcBef>
            <a:spcAft>
              <a:spcPct val="35000"/>
            </a:spcAft>
            <a:buNone/>
          </a:pPr>
          <a:r>
            <a:rPr lang="en-IN" sz="4200" kern="1200"/>
            <a:t>3</a:t>
          </a:r>
          <a:endParaRPr lang="en-US" sz="4200" kern="1200"/>
        </a:p>
      </dsp:txBody>
      <dsp:txXfrm>
        <a:off x="0" y="1861958"/>
        <a:ext cx="7467414" cy="929615"/>
      </dsp:txXfrm>
    </dsp:sp>
    <dsp:sp modelId="{B514687E-679F-4404-A929-C733AA004539}">
      <dsp:nvSpPr>
        <dsp:cNvPr id="0" name=""/>
        <dsp:cNvSpPr/>
      </dsp:nvSpPr>
      <dsp:spPr>
        <a:xfrm>
          <a:off x="0" y="2791574"/>
          <a:ext cx="7467414" cy="0"/>
        </a:xfrm>
        <a:prstGeom prst="line">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E95DC57-D848-494F-A343-6CBABA986252}">
      <dsp:nvSpPr>
        <dsp:cNvPr id="0" name=""/>
        <dsp:cNvSpPr/>
      </dsp:nvSpPr>
      <dsp:spPr>
        <a:xfrm>
          <a:off x="0" y="2791574"/>
          <a:ext cx="7467414" cy="9296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0020" tIns="160020" rIns="160020" bIns="160020" numCol="1" spcCol="1270" anchor="t" anchorCtr="0">
          <a:noAutofit/>
        </a:bodyPr>
        <a:lstStyle/>
        <a:p>
          <a:pPr marL="0" lvl="0" indent="0" algn="l" defTabSz="1866900">
            <a:lnSpc>
              <a:spcPct val="90000"/>
            </a:lnSpc>
            <a:spcBef>
              <a:spcPct val="0"/>
            </a:spcBef>
            <a:spcAft>
              <a:spcPct val="35000"/>
            </a:spcAft>
            <a:buNone/>
          </a:pPr>
          <a:r>
            <a:rPr lang="en-IN" sz="4200" kern="1200"/>
            <a:t>4</a:t>
          </a:r>
          <a:endParaRPr lang="en-US" sz="4200" kern="1200"/>
        </a:p>
      </dsp:txBody>
      <dsp:txXfrm>
        <a:off x="0" y="2791574"/>
        <a:ext cx="7467414" cy="929615"/>
      </dsp:txXfrm>
    </dsp:sp>
    <dsp:sp modelId="{0B062B2C-FD23-461E-89A1-3ECDF7A567C2}">
      <dsp:nvSpPr>
        <dsp:cNvPr id="0" name=""/>
        <dsp:cNvSpPr/>
      </dsp:nvSpPr>
      <dsp:spPr>
        <a:xfrm>
          <a:off x="0" y="3721189"/>
          <a:ext cx="7467414" cy="0"/>
        </a:xfrm>
        <a:prstGeom prst="line">
          <a:avLst/>
        </a:prstGeom>
        <a:solidFill>
          <a:schemeClr val="accent6">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26876CA-709E-4928-AAF2-4734D1DACD6D}">
      <dsp:nvSpPr>
        <dsp:cNvPr id="0" name=""/>
        <dsp:cNvSpPr/>
      </dsp:nvSpPr>
      <dsp:spPr>
        <a:xfrm>
          <a:off x="0" y="3721189"/>
          <a:ext cx="7467414" cy="9296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0020" tIns="160020" rIns="160020" bIns="160020" numCol="1" spcCol="1270" anchor="t" anchorCtr="0">
          <a:noAutofit/>
        </a:bodyPr>
        <a:lstStyle/>
        <a:p>
          <a:pPr marL="0" lvl="0" indent="0" algn="l" defTabSz="1866900">
            <a:lnSpc>
              <a:spcPct val="90000"/>
            </a:lnSpc>
            <a:spcBef>
              <a:spcPct val="0"/>
            </a:spcBef>
            <a:spcAft>
              <a:spcPct val="35000"/>
            </a:spcAft>
            <a:buNone/>
          </a:pPr>
          <a:r>
            <a:rPr lang="en-IN" sz="4200" kern="1200"/>
            <a:t>5</a:t>
          </a:r>
          <a:endParaRPr lang="en-US" sz="4200" kern="1200"/>
        </a:p>
      </dsp:txBody>
      <dsp:txXfrm>
        <a:off x="0" y="3721189"/>
        <a:ext cx="7467414" cy="929615"/>
      </dsp:txXfrm>
    </dsp:sp>
    <dsp:sp modelId="{2B37DFBD-1045-417A-89DD-348147EAB4F5}">
      <dsp:nvSpPr>
        <dsp:cNvPr id="0" name=""/>
        <dsp:cNvSpPr/>
      </dsp:nvSpPr>
      <dsp:spPr>
        <a:xfrm>
          <a:off x="0" y="4650805"/>
          <a:ext cx="7467414"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DE32878-1683-410B-AEEA-0DF09EA5FA62}">
      <dsp:nvSpPr>
        <dsp:cNvPr id="0" name=""/>
        <dsp:cNvSpPr/>
      </dsp:nvSpPr>
      <dsp:spPr>
        <a:xfrm>
          <a:off x="0" y="4650805"/>
          <a:ext cx="7467414" cy="9296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0020" tIns="160020" rIns="160020" bIns="160020" numCol="1" spcCol="1270" anchor="t" anchorCtr="0">
          <a:noAutofit/>
        </a:bodyPr>
        <a:lstStyle/>
        <a:p>
          <a:pPr marL="0" lvl="0" indent="0" algn="l" defTabSz="1866900">
            <a:lnSpc>
              <a:spcPct val="90000"/>
            </a:lnSpc>
            <a:spcBef>
              <a:spcPct val="0"/>
            </a:spcBef>
            <a:spcAft>
              <a:spcPct val="35000"/>
            </a:spcAft>
            <a:buNone/>
          </a:pPr>
          <a:r>
            <a:rPr lang="en-IN" sz="4200" kern="1200"/>
            <a:t>6</a:t>
          </a:r>
          <a:endParaRPr lang="en-US" sz="4200" kern="1200"/>
        </a:p>
      </dsp:txBody>
      <dsp:txXfrm>
        <a:off x="0" y="4650805"/>
        <a:ext cx="7467414" cy="929615"/>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xmlns="">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image" Target="../media/image10.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6FBC31-3F3F-40A8-84DF-BE3B4616B22A}" type="datetimeFigureOut">
              <a:rPr lang="en-IN" smtClean="0"/>
              <a:pPr/>
              <a:t>20-03-2025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9FE326-85E6-4395-8F28-A8F972B7BB4E}" type="slidenum">
              <a:rPr lang="en-IN" smtClean="0"/>
              <a:pPr/>
              <a:t>‹#›</a:t>
            </a:fld>
            <a:endParaRPr lang="en-IN"/>
          </a:p>
        </p:txBody>
      </p:sp>
    </p:spTree>
    <p:extLst>
      <p:ext uri="{BB962C8B-B14F-4D97-AF65-F5344CB8AC3E}">
        <p14:creationId xmlns:p14="http://schemas.microsoft.com/office/powerpoint/2010/main" xmlns="" val="19937608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7"/>
          <p:cNvSpPr>
            <a:spLocks noGrp="1" noChangeArrowheads="1"/>
          </p:cNvSpPr>
          <p:nvPr>
            <p:ph type="sldNum"/>
          </p:nvPr>
        </p:nvSpPr>
        <p:spPr>
          <a:ln/>
        </p:spPr>
        <p:txBody>
          <a:bodyPr/>
          <a:lstStyle/>
          <a:p>
            <a:fld id="{983929DA-9D29-4FD6-8EDE-F9F7B1BE7CA1}" type="slidenum">
              <a:rPr lang="en-US"/>
              <a:pPr/>
              <a:t>11</a:t>
            </a:fld>
            <a:endParaRPr lang="en-US"/>
          </a:p>
        </p:txBody>
      </p:sp>
      <p:sp>
        <p:nvSpPr>
          <p:cNvPr id="39937" name="Rectangle 1"/>
          <p:cNvSpPr txBox="1">
            <a:spLocks noGrp="1" noRot="1" noChangeAspect="1" noChangeArrowheads="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39938" name="Rectangle 2"/>
          <p:cNvSpPr txBox="1">
            <a:spLocks noGrp="1" noChangeArrowheads="1"/>
          </p:cNvSpPr>
          <p:nvPr>
            <p:ph type="body" idx="1"/>
          </p:nvPr>
        </p:nvSpPr>
        <p:spPr bwMode="auto">
          <a:xfrm>
            <a:off x="685480" y="4343693"/>
            <a:ext cx="5487042" cy="4115385"/>
          </a:xfrm>
          <a:prstGeom prst="rect">
            <a:avLst/>
          </a:prstGeom>
          <a:noFill/>
          <a:ln>
            <a:round/>
            <a:headEnd/>
            <a:tailEnd/>
          </a:ln>
        </p:spPr>
        <p:txBody>
          <a:bodyPr wrap="none" anchor="ct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7"/>
          <p:cNvSpPr>
            <a:spLocks noGrp="1" noChangeArrowheads="1"/>
          </p:cNvSpPr>
          <p:nvPr>
            <p:ph type="sldNum"/>
          </p:nvPr>
        </p:nvSpPr>
        <p:spPr>
          <a:ln/>
        </p:spPr>
        <p:txBody>
          <a:bodyPr/>
          <a:lstStyle/>
          <a:p>
            <a:fld id="{34D99B26-943F-4A9D-A6ED-6288EE6C9877}" type="slidenum">
              <a:rPr lang="en-US"/>
              <a:pPr/>
              <a:t>12</a:t>
            </a:fld>
            <a:endParaRPr lang="en-US"/>
          </a:p>
        </p:txBody>
      </p:sp>
      <p:sp>
        <p:nvSpPr>
          <p:cNvPr id="40961" name="Rectangle 1"/>
          <p:cNvSpPr txBox="1">
            <a:spLocks noGrp="1" noRot="1" noChangeAspect="1" noChangeArrowheads="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40962" name="Rectangle 2"/>
          <p:cNvSpPr txBox="1">
            <a:spLocks noGrp="1" noChangeArrowheads="1"/>
          </p:cNvSpPr>
          <p:nvPr>
            <p:ph type="body" idx="1"/>
          </p:nvPr>
        </p:nvSpPr>
        <p:spPr bwMode="auto">
          <a:xfrm>
            <a:off x="685480" y="4343693"/>
            <a:ext cx="5487042" cy="4115385"/>
          </a:xfrm>
          <a:prstGeom prst="rect">
            <a:avLst/>
          </a:prstGeom>
          <a:noFill/>
          <a:ln>
            <a:round/>
            <a:headEnd/>
            <a:tailEnd/>
          </a:ln>
        </p:spPr>
        <p:txBody>
          <a:bodyPr wrap="none" anchor="ct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7"/>
          <p:cNvSpPr>
            <a:spLocks noGrp="1" noChangeArrowheads="1"/>
          </p:cNvSpPr>
          <p:nvPr>
            <p:ph type="sldNum"/>
          </p:nvPr>
        </p:nvSpPr>
        <p:spPr>
          <a:ln/>
        </p:spPr>
        <p:txBody>
          <a:bodyPr/>
          <a:lstStyle/>
          <a:p>
            <a:fld id="{E055304E-CEA7-4FE5-9B3C-9866FB5DCA84}" type="slidenum">
              <a:rPr lang="en-US"/>
              <a:pPr/>
              <a:t>13</a:t>
            </a:fld>
            <a:endParaRPr lang="en-US"/>
          </a:p>
        </p:txBody>
      </p:sp>
      <p:sp>
        <p:nvSpPr>
          <p:cNvPr id="41985" name="Rectangle 1"/>
          <p:cNvSpPr txBox="1">
            <a:spLocks noGrp="1" noRot="1" noChangeAspect="1" noChangeArrowheads="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41986" name="Rectangle 2"/>
          <p:cNvSpPr txBox="1">
            <a:spLocks noGrp="1" noChangeArrowheads="1"/>
          </p:cNvSpPr>
          <p:nvPr>
            <p:ph type="body" idx="1"/>
          </p:nvPr>
        </p:nvSpPr>
        <p:spPr bwMode="auto">
          <a:xfrm>
            <a:off x="685480" y="4343693"/>
            <a:ext cx="5487042" cy="4115385"/>
          </a:xfrm>
          <a:prstGeom prst="rect">
            <a:avLst/>
          </a:prstGeom>
          <a:noFill/>
          <a:ln>
            <a:round/>
            <a:headEnd/>
            <a:tailEnd/>
          </a:ln>
        </p:spPr>
        <p:txBody>
          <a:bodyPr wrap="none" anchor="ct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7"/>
          <p:cNvSpPr>
            <a:spLocks noGrp="1" noChangeArrowheads="1"/>
          </p:cNvSpPr>
          <p:nvPr>
            <p:ph type="sldNum"/>
          </p:nvPr>
        </p:nvSpPr>
        <p:spPr>
          <a:ln/>
        </p:spPr>
        <p:txBody>
          <a:bodyPr/>
          <a:lstStyle/>
          <a:p>
            <a:fld id="{ED688078-4CB2-424D-9EFF-E160C1A57598}" type="slidenum">
              <a:rPr lang="en-US"/>
              <a:pPr/>
              <a:t>14</a:t>
            </a:fld>
            <a:endParaRPr lang="en-US"/>
          </a:p>
        </p:txBody>
      </p:sp>
      <p:sp>
        <p:nvSpPr>
          <p:cNvPr id="43009" name="Rectangle 1"/>
          <p:cNvSpPr txBox="1">
            <a:spLocks noGrp="1" noRot="1" noChangeAspect="1" noChangeArrowheads="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43010" name="Rectangle 2"/>
          <p:cNvSpPr txBox="1">
            <a:spLocks noGrp="1" noChangeArrowheads="1"/>
          </p:cNvSpPr>
          <p:nvPr>
            <p:ph type="body" idx="1"/>
          </p:nvPr>
        </p:nvSpPr>
        <p:spPr bwMode="auto">
          <a:xfrm>
            <a:off x="685480" y="4343693"/>
            <a:ext cx="5487042" cy="4115385"/>
          </a:xfrm>
          <a:prstGeom prst="rect">
            <a:avLst/>
          </a:prstGeom>
          <a:noFill/>
          <a:ln>
            <a:round/>
            <a:headEnd/>
            <a:tailEnd/>
          </a:ln>
        </p:spPr>
        <p:txBody>
          <a:bodyPr wrap="none" anchor="ct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7"/>
          <p:cNvSpPr>
            <a:spLocks noGrp="1" noChangeArrowheads="1"/>
          </p:cNvSpPr>
          <p:nvPr>
            <p:ph type="sldNum"/>
          </p:nvPr>
        </p:nvSpPr>
        <p:spPr>
          <a:ln/>
        </p:spPr>
        <p:txBody>
          <a:bodyPr/>
          <a:lstStyle/>
          <a:p>
            <a:fld id="{10220F76-6DD4-4790-8BE5-D04588A42070}" type="slidenum">
              <a:rPr lang="en-US"/>
              <a:pPr/>
              <a:t>16</a:t>
            </a:fld>
            <a:endParaRPr lang="en-US"/>
          </a:p>
        </p:txBody>
      </p:sp>
      <p:sp>
        <p:nvSpPr>
          <p:cNvPr id="44033" name="Rectangle 1"/>
          <p:cNvSpPr txBox="1">
            <a:spLocks noGrp="1" noRot="1" noChangeAspect="1" noChangeArrowheads="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44034" name="Rectangle 2"/>
          <p:cNvSpPr txBox="1">
            <a:spLocks noGrp="1" noChangeArrowheads="1"/>
          </p:cNvSpPr>
          <p:nvPr>
            <p:ph type="body" idx="1"/>
          </p:nvPr>
        </p:nvSpPr>
        <p:spPr bwMode="auto">
          <a:xfrm>
            <a:off x="685480" y="4343693"/>
            <a:ext cx="5487042" cy="4115385"/>
          </a:xfrm>
          <a:prstGeom prst="rect">
            <a:avLst/>
          </a:prstGeom>
          <a:noFill/>
          <a:ln>
            <a:round/>
            <a:headEnd/>
            <a:tailEnd/>
          </a:ln>
        </p:spPr>
        <p:txBody>
          <a:bodyPr wrap="none" anchor="ct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7"/>
          <p:cNvSpPr>
            <a:spLocks noGrp="1" noChangeArrowheads="1"/>
          </p:cNvSpPr>
          <p:nvPr>
            <p:ph type="sldNum"/>
          </p:nvPr>
        </p:nvSpPr>
        <p:spPr>
          <a:ln/>
        </p:spPr>
        <p:txBody>
          <a:bodyPr/>
          <a:lstStyle/>
          <a:p>
            <a:fld id="{680CF6D8-4740-4D69-BCD4-842F66D5F120}" type="slidenum">
              <a:rPr lang="en-US"/>
              <a:pPr/>
              <a:t>17</a:t>
            </a:fld>
            <a:endParaRPr lang="en-US"/>
          </a:p>
        </p:txBody>
      </p:sp>
      <p:sp>
        <p:nvSpPr>
          <p:cNvPr id="45057" name="Rectangle 1"/>
          <p:cNvSpPr txBox="1">
            <a:spLocks noGrp="1" noRot="1" noChangeAspect="1" noChangeArrowheads="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45058" name="Rectangle 2"/>
          <p:cNvSpPr txBox="1">
            <a:spLocks noGrp="1" noChangeArrowheads="1"/>
          </p:cNvSpPr>
          <p:nvPr>
            <p:ph type="body" idx="1"/>
          </p:nvPr>
        </p:nvSpPr>
        <p:spPr bwMode="auto">
          <a:xfrm>
            <a:off x="685480" y="4343693"/>
            <a:ext cx="5487042" cy="4115385"/>
          </a:xfrm>
          <a:prstGeom prst="rect">
            <a:avLst/>
          </a:prstGeom>
          <a:noFill/>
          <a:ln>
            <a:round/>
            <a:headEnd/>
            <a:tailEnd/>
          </a:ln>
        </p:spPr>
        <p:txBody>
          <a:bodyPr wrap="none" anchor="ct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7"/>
          <p:cNvSpPr>
            <a:spLocks noGrp="1" noChangeArrowheads="1"/>
          </p:cNvSpPr>
          <p:nvPr>
            <p:ph type="sldNum"/>
          </p:nvPr>
        </p:nvSpPr>
        <p:spPr>
          <a:ln/>
        </p:spPr>
        <p:txBody>
          <a:bodyPr/>
          <a:lstStyle/>
          <a:p>
            <a:fld id="{CAF055BC-D6C2-4408-B737-EA7910484C0A}" type="slidenum">
              <a:rPr lang="en-US"/>
              <a:pPr/>
              <a:t>18</a:t>
            </a:fld>
            <a:endParaRPr lang="en-US"/>
          </a:p>
        </p:txBody>
      </p:sp>
      <p:sp>
        <p:nvSpPr>
          <p:cNvPr id="46081" name="Rectangle 1"/>
          <p:cNvSpPr txBox="1">
            <a:spLocks noGrp="1" noRot="1" noChangeAspect="1" noChangeArrowheads="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46082" name="Rectangle 2"/>
          <p:cNvSpPr txBox="1">
            <a:spLocks noGrp="1" noChangeArrowheads="1"/>
          </p:cNvSpPr>
          <p:nvPr>
            <p:ph type="body" idx="1"/>
          </p:nvPr>
        </p:nvSpPr>
        <p:spPr bwMode="auto">
          <a:xfrm>
            <a:off x="685480" y="4343693"/>
            <a:ext cx="5487042" cy="4115385"/>
          </a:xfrm>
          <a:prstGeom prst="rect">
            <a:avLst/>
          </a:prstGeom>
          <a:noFill/>
          <a:ln>
            <a:round/>
            <a:headEnd/>
            <a:tailEnd/>
          </a:ln>
        </p:spPr>
        <p:txBody>
          <a:bodyPr wrap="none" anchor="ct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7"/>
          <p:cNvSpPr>
            <a:spLocks noGrp="1" noChangeArrowheads="1"/>
          </p:cNvSpPr>
          <p:nvPr>
            <p:ph type="sldNum"/>
          </p:nvPr>
        </p:nvSpPr>
        <p:spPr>
          <a:ln/>
        </p:spPr>
        <p:txBody>
          <a:bodyPr/>
          <a:lstStyle/>
          <a:p>
            <a:fld id="{DC4913A1-5173-445B-A71D-5EE671CD9A24}" type="slidenum">
              <a:rPr lang="en-US"/>
              <a:pPr/>
              <a:t>20</a:t>
            </a:fld>
            <a:endParaRPr lang="en-US"/>
          </a:p>
        </p:txBody>
      </p:sp>
      <p:sp>
        <p:nvSpPr>
          <p:cNvPr id="47105" name="Rectangle 1"/>
          <p:cNvSpPr txBox="1">
            <a:spLocks noGrp="1" noRot="1" noChangeAspect="1" noChangeArrowheads="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47106" name="Rectangle 2"/>
          <p:cNvSpPr txBox="1">
            <a:spLocks noGrp="1" noChangeArrowheads="1"/>
          </p:cNvSpPr>
          <p:nvPr>
            <p:ph type="body" idx="1"/>
          </p:nvPr>
        </p:nvSpPr>
        <p:spPr bwMode="auto">
          <a:xfrm>
            <a:off x="685480" y="4343693"/>
            <a:ext cx="5487042" cy="4115385"/>
          </a:xfrm>
          <a:prstGeom prst="rect">
            <a:avLst/>
          </a:prstGeom>
          <a:noFill/>
          <a:ln>
            <a:round/>
            <a:headEnd/>
            <a:tailEnd/>
          </a:ln>
        </p:spPr>
        <p:txBody>
          <a:bodyPr wrap="none" anchor="ct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7"/>
          <p:cNvSpPr>
            <a:spLocks noGrp="1" noChangeArrowheads="1"/>
          </p:cNvSpPr>
          <p:nvPr>
            <p:ph type="sldNum"/>
          </p:nvPr>
        </p:nvSpPr>
        <p:spPr>
          <a:ln/>
        </p:spPr>
        <p:txBody>
          <a:bodyPr/>
          <a:lstStyle/>
          <a:p>
            <a:fld id="{42D5D1D3-D63D-49F5-88C4-22C6F067F24A}" type="slidenum">
              <a:rPr lang="en-US"/>
              <a:pPr/>
              <a:t>21</a:t>
            </a:fld>
            <a:endParaRPr lang="en-US"/>
          </a:p>
        </p:txBody>
      </p:sp>
      <p:sp>
        <p:nvSpPr>
          <p:cNvPr id="48129" name="Rectangle 1"/>
          <p:cNvSpPr txBox="1">
            <a:spLocks noGrp="1" noRot="1" noChangeAspect="1" noChangeArrowheads="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48130" name="Rectangle 2"/>
          <p:cNvSpPr txBox="1">
            <a:spLocks noGrp="1" noChangeArrowheads="1"/>
          </p:cNvSpPr>
          <p:nvPr>
            <p:ph type="body" idx="1"/>
          </p:nvPr>
        </p:nvSpPr>
        <p:spPr bwMode="auto">
          <a:xfrm>
            <a:off x="685480" y="4343693"/>
            <a:ext cx="5487042" cy="4115385"/>
          </a:xfrm>
          <a:prstGeom prst="rect">
            <a:avLst/>
          </a:prstGeom>
          <a:noFill/>
          <a:ln>
            <a:round/>
            <a:headEnd/>
            <a:tailEnd/>
          </a:ln>
        </p:spPr>
        <p:txBody>
          <a:bodyPr wrap="none" anchor="ct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7"/>
          <p:cNvSpPr>
            <a:spLocks noGrp="1" noChangeArrowheads="1"/>
          </p:cNvSpPr>
          <p:nvPr>
            <p:ph type="sldNum"/>
          </p:nvPr>
        </p:nvSpPr>
        <p:spPr>
          <a:ln/>
        </p:spPr>
        <p:txBody>
          <a:bodyPr/>
          <a:lstStyle/>
          <a:p>
            <a:fld id="{4C080CB5-841F-4D22-B7DE-CB331A681C1B}" type="slidenum">
              <a:rPr lang="en-US"/>
              <a:pPr/>
              <a:t>22</a:t>
            </a:fld>
            <a:endParaRPr lang="en-US"/>
          </a:p>
        </p:txBody>
      </p:sp>
      <p:sp>
        <p:nvSpPr>
          <p:cNvPr id="49153" name="Rectangle 1"/>
          <p:cNvSpPr txBox="1">
            <a:spLocks noGrp="1" noRot="1" noChangeAspect="1" noChangeArrowheads="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49154" name="Rectangle 2"/>
          <p:cNvSpPr txBox="1">
            <a:spLocks noGrp="1" noChangeArrowheads="1"/>
          </p:cNvSpPr>
          <p:nvPr>
            <p:ph type="body" idx="1"/>
          </p:nvPr>
        </p:nvSpPr>
        <p:spPr bwMode="auto">
          <a:xfrm>
            <a:off x="685480" y="4343693"/>
            <a:ext cx="5487042" cy="4115385"/>
          </a:xfrm>
          <a:prstGeom prst="rect">
            <a:avLst/>
          </a:prstGeom>
          <a:noFill/>
          <a:ln>
            <a:round/>
            <a:headEnd/>
            <a:tailEnd/>
          </a:ln>
        </p:spPr>
        <p:txBody>
          <a:bodyPr wrap="none" anchor="ct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7"/>
          <p:cNvSpPr>
            <a:spLocks noGrp="1" noChangeArrowheads="1"/>
          </p:cNvSpPr>
          <p:nvPr>
            <p:ph type="sldNum"/>
          </p:nvPr>
        </p:nvSpPr>
        <p:spPr>
          <a:ln/>
        </p:spPr>
        <p:txBody>
          <a:bodyPr/>
          <a:lstStyle/>
          <a:p>
            <a:fld id="{1A1F4ED9-B87D-4F55-A8CF-7180B5692B74}" type="slidenum">
              <a:rPr lang="en-US"/>
              <a:pPr/>
              <a:t>23</a:t>
            </a:fld>
            <a:endParaRPr lang="en-US"/>
          </a:p>
        </p:txBody>
      </p:sp>
      <p:sp>
        <p:nvSpPr>
          <p:cNvPr id="51201" name="Rectangle 1"/>
          <p:cNvSpPr txBox="1">
            <a:spLocks noGrp="1" noRot="1" noChangeAspect="1" noChangeArrowheads="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51202" name="Rectangle 2"/>
          <p:cNvSpPr txBox="1">
            <a:spLocks noGrp="1" noChangeArrowheads="1"/>
          </p:cNvSpPr>
          <p:nvPr>
            <p:ph type="body" idx="1"/>
          </p:nvPr>
        </p:nvSpPr>
        <p:spPr bwMode="auto">
          <a:xfrm>
            <a:off x="685480" y="4343693"/>
            <a:ext cx="5487042" cy="4115385"/>
          </a:xfrm>
          <a:prstGeom prst="rect">
            <a:avLst/>
          </a:prstGeom>
          <a:noFill/>
          <a:ln>
            <a:round/>
            <a:headEnd/>
            <a:tailEnd/>
          </a:ln>
        </p:spPr>
        <p:txBody>
          <a:bodyPr wrap="none" anchor="ct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8034" name="Rectangle 2"/>
          <p:cNvSpPr>
            <a:spLocks noGrp="1" noRot="1" noChangeAspect="1" noChangeArrowheads="1" noTextEdit="1"/>
          </p:cNvSpPr>
          <p:nvPr>
            <p:ph type="sldImg"/>
          </p:nvPr>
        </p:nvSpPr>
        <p:spPr>
          <a:ln/>
        </p:spPr>
      </p:sp>
      <p:sp>
        <p:nvSpPr>
          <p:cNvPr id="428035"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7490" name="Rectangle 2"/>
          <p:cNvSpPr>
            <a:spLocks noGrp="1" noRot="1" noChangeAspect="1" noChangeArrowheads="1" noTextEdit="1"/>
          </p:cNvSpPr>
          <p:nvPr>
            <p:ph type="sldImg"/>
          </p:nvPr>
        </p:nvSpPr>
        <p:spPr>
          <a:ln/>
        </p:spPr>
      </p:sp>
      <p:sp>
        <p:nvSpPr>
          <p:cNvPr id="447491" name="Rectangle 3"/>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4B19AD-E795-8469-CB7A-8D1393914F3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6B09FC3E-A433-5720-2C47-B218104854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0233EDBC-57D9-C6A6-6869-371DC35FAC4A}"/>
              </a:ext>
            </a:extLst>
          </p:cNvPr>
          <p:cNvSpPr>
            <a:spLocks noGrp="1"/>
          </p:cNvSpPr>
          <p:nvPr>
            <p:ph type="dt" sz="half" idx="10"/>
          </p:nvPr>
        </p:nvSpPr>
        <p:spPr/>
        <p:txBody>
          <a:bodyPr/>
          <a:lstStyle/>
          <a:p>
            <a:fld id="{CAB0B00A-0031-4EDD-BEBB-B131E3F68B8B}" type="datetime1">
              <a:rPr lang="en-IN" smtClean="0"/>
              <a:pPr/>
              <a:t>20-03-2025</a:t>
            </a:fld>
            <a:endParaRPr lang="en-IN"/>
          </a:p>
        </p:txBody>
      </p:sp>
      <p:sp>
        <p:nvSpPr>
          <p:cNvPr id="5" name="Footer Placeholder 4">
            <a:extLst>
              <a:ext uri="{FF2B5EF4-FFF2-40B4-BE49-F238E27FC236}">
                <a16:creationId xmlns:a16="http://schemas.microsoft.com/office/drawing/2014/main" xmlns="" id="{A8B1DC6D-FB05-89AF-D06E-2A214B26AC59}"/>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xmlns="" id="{E5979841-7A1B-1D77-4E0D-F440971A186C}"/>
              </a:ext>
            </a:extLst>
          </p:cNvPr>
          <p:cNvSpPr>
            <a:spLocks noGrp="1"/>
          </p:cNvSpPr>
          <p:nvPr>
            <p:ph type="sldNum" sz="quarter" idx="12"/>
          </p:nvPr>
        </p:nvSpPr>
        <p:spPr/>
        <p:txBody>
          <a:bodyPr/>
          <a:lstStyle/>
          <a:p>
            <a:fld id="{26510230-8DD5-4BA5-AB2D-CA30FC08F9D7}" type="slidenum">
              <a:rPr lang="en-IN" smtClean="0"/>
              <a:pPr/>
              <a:t>‹#›</a:t>
            </a:fld>
            <a:endParaRPr lang="en-IN"/>
          </a:p>
        </p:txBody>
      </p:sp>
    </p:spTree>
    <p:extLst>
      <p:ext uri="{BB962C8B-B14F-4D97-AF65-F5344CB8AC3E}">
        <p14:creationId xmlns:p14="http://schemas.microsoft.com/office/powerpoint/2010/main" xmlns="" val="14474159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316841F-4D47-CCA2-58EC-D8D2EE9AF01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CC907BEF-2C9D-42DC-3411-00B3A39BC08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6736B5C3-B400-8ED2-C857-CC6B3B6EB6B7}"/>
              </a:ext>
            </a:extLst>
          </p:cNvPr>
          <p:cNvSpPr>
            <a:spLocks noGrp="1"/>
          </p:cNvSpPr>
          <p:nvPr>
            <p:ph type="dt" sz="half" idx="10"/>
          </p:nvPr>
        </p:nvSpPr>
        <p:spPr/>
        <p:txBody>
          <a:bodyPr/>
          <a:lstStyle/>
          <a:p>
            <a:fld id="{218D233B-F1E7-4818-B22D-9EDEAA6025FD}" type="datetime1">
              <a:rPr lang="en-IN" smtClean="0"/>
              <a:pPr/>
              <a:t>20-03-2025</a:t>
            </a:fld>
            <a:endParaRPr lang="en-IN"/>
          </a:p>
        </p:txBody>
      </p:sp>
      <p:sp>
        <p:nvSpPr>
          <p:cNvPr id="5" name="Footer Placeholder 4">
            <a:extLst>
              <a:ext uri="{FF2B5EF4-FFF2-40B4-BE49-F238E27FC236}">
                <a16:creationId xmlns:a16="http://schemas.microsoft.com/office/drawing/2014/main" xmlns="" id="{77C63E68-219E-B6BD-06FF-D09E8B6D7CE6}"/>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xmlns="" id="{F927A96D-72D0-92EE-3B5C-8BFD78B7D7AD}"/>
              </a:ext>
            </a:extLst>
          </p:cNvPr>
          <p:cNvSpPr>
            <a:spLocks noGrp="1"/>
          </p:cNvSpPr>
          <p:nvPr>
            <p:ph type="sldNum" sz="quarter" idx="12"/>
          </p:nvPr>
        </p:nvSpPr>
        <p:spPr/>
        <p:txBody>
          <a:bodyPr/>
          <a:lstStyle/>
          <a:p>
            <a:fld id="{26510230-8DD5-4BA5-AB2D-CA30FC08F9D7}" type="slidenum">
              <a:rPr lang="en-IN" smtClean="0"/>
              <a:pPr/>
              <a:t>‹#›</a:t>
            </a:fld>
            <a:endParaRPr lang="en-IN"/>
          </a:p>
        </p:txBody>
      </p:sp>
    </p:spTree>
    <p:extLst>
      <p:ext uri="{BB962C8B-B14F-4D97-AF65-F5344CB8AC3E}">
        <p14:creationId xmlns:p14="http://schemas.microsoft.com/office/powerpoint/2010/main" xmlns="" val="24123341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572F04E-14BF-8146-F649-927656875C4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B8EC510D-E40E-01C5-FB7F-09741C6C960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77E5ACC9-6839-7636-07F4-E47B104A0B91}"/>
              </a:ext>
            </a:extLst>
          </p:cNvPr>
          <p:cNvSpPr>
            <a:spLocks noGrp="1"/>
          </p:cNvSpPr>
          <p:nvPr>
            <p:ph type="dt" sz="half" idx="10"/>
          </p:nvPr>
        </p:nvSpPr>
        <p:spPr/>
        <p:txBody>
          <a:bodyPr/>
          <a:lstStyle/>
          <a:p>
            <a:fld id="{2A543A29-4BB0-4075-8E30-7986497052F0}" type="datetime1">
              <a:rPr lang="en-IN" smtClean="0"/>
              <a:pPr/>
              <a:t>20-03-2025</a:t>
            </a:fld>
            <a:endParaRPr lang="en-IN"/>
          </a:p>
        </p:txBody>
      </p:sp>
      <p:sp>
        <p:nvSpPr>
          <p:cNvPr id="5" name="Footer Placeholder 4">
            <a:extLst>
              <a:ext uri="{FF2B5EF4-FFF2-40B4-BE49-F238E27FC236}">
                <a16:creationId xmlns:a16="http://schemas.microsoft.com/office/drawing/2014/main" xmlns="" id="{331B4601-E63D-A03B-1DD8-CFB63233DA53}"/>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xmlns="" id="{F609B235-6487-BCE9-DFAA-764CDD446CFE}"/>
              </a:ext>
            </a:extLst>
          </p:cNvPr>
          <p:cNvSpPr>
            <a:spLocks noGrp="1"/>
          </p:cNvSpPr>
          <p:nvPr>
            <p:ph type="sldNum" sz="quarter" idx="12"/>
          </p:nvPr>
        </p:nvSpPr>
        <p:spPr/>
        <p:txBody>
          <a:bodyPr/>
          <a:lstStyle/>
          <a:p>
            <a:fld id="{26510230-8DD5-4BA5-AB2D-CA30FC08F9D7}" type="slidenum">
              <a:rPr lang="en-IN" smtClean="0"/>
              <a:pPr/>
              <a:t>‹#›</a:t>
            </a:fld>
            <a:endParaRPr lang="en-IN"/>
          </a:p>
        </p:txBody>
      </p:sp>
    </p:spTree>
    <p:extLst>
      <p:ext uri="{BB962C8B-B14F-4D97-AF65-F5344CB8AC3E}">
        <p14:creationId xmlns:p14="http://schemas.microsoft.com/office/powerpoint/2010/main" xmlns="" val="1376938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7612733-E66D-2C01-CE97-F41A211F2ED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24778475-62F3-3BA2-991E-7D770F7AA9A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C66E4499-7667-A5BF-CFBF-9B3734E0407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39E2D099-6445-5C93-00AE-432EFD0706EB}"/>
              </a:ext>
            </a:extLst>
          </p:cNvPr>
          <p:cNvSpPr>
            <a:spLocks noGrp="1"/>
          </p:cNvSpPr>
          <p:nvPr>
            <p:ph type="dt" sz="half" idx="10"/>
          </p:nvPr>
        </p:nvSpPr>
        <p:spPr/>
        <p:txBody>
          <a:bodyPr/>
          <a:lstStyle/>
          <a:p>
            <a:fld id="{C1228DEB-068D-4137-AD7C-2A99AB9732F4}" type="datetime1">
              <a:rPr lang="en-IN" smtClean="0"/>
              <a:pPr/>
              <a:t>20-03-2025</a:t>
            </a:fld>
            <a:endParaRPr lang="en-IN"/>
          </a:p>
        </p:txBody>
      </p:sp>
      <p:sp>
        <p:nvSpPr>
          <p:cNvPr id="6" name="Footer Placeholder 5">
            <a:extLst>
              <a:ext uri="{FF2B5EF4-FFF2-40B4-BE49-F238E27FC236}">
                <a16:creationId xmlns:a16="http://schemas.microsoft.com/office/drawing/2014/main" xmlns="" id="{6C5B21F9-91D3-7C2A-79CF-2138303F1B9C}"/>
              </a:ext>
            </a:extLst>
          </p:cNvPr>
          <p:cNvSpPr>
            <a:spLocks noGrp="1"/>
          </p:cNvSpPr>
          <p:nvPr>
            <p:ph type="ftr" sz="quarter" idx="11"/>
          </p:nvPr>
        </p:nvSpPr>
        <p:spPr/>
        <p:txBody>
          <a:bodyPr/>
          <a:lstStyle/>
          <a:p>
            <a:r>
              <a:rPr lang="en-IN"/>
              <a:t>Galgotias University</a:t>
            </a:r>
          </a:p>
        </p:txBody>
      </p:sp>
      <p:sp>
        <p:nvSpPr>
          <p:cNvPr id="7" name="Slide Number Placeholder 6">
            <a:extLst>
              <a:ext uri="{FF2B5EF4-FFF2-40B4-BE49-F238E27FC236}">
                <a16:creationId xmlns:a16="http://schemas.microsoft.com/office/drawing/2014/main" xmlns="" id="{CA1F9FC0-4A14-8219-84DC-B1D61698EE4A}"/>
              </a:ext>
            </a:extLst>
          </p:cNvPr>
          <p:cNvSpPr>
            <a:spLocks noGrp="1"/>
          </p:cNvSpPr>
          <p:nvPr>
            <p:ph type="sldNum" sz="quarter" idx="12"/>
          </p:nvPr>
        </p:nvSpPr>
        <p:spPr/>
        <p:txBody>
          <a:bodyPr/>
          <a:lstStyle/>
          <a:p>
            <a:fld id="{26510230-8DD5-4BA5-AB2D-CA30FC08F9D7}" type="slidenum">
              <a:rPr lang="en-IN" smtClean="0"/>
              <a:pPr/>
              <a:t>‹#›</a:t>
            </a:fld>
            <a:endParaRPr lang="en-IN"/>
          </a:p>
        </p:txBody>
      </p:sp>
    </p:spTree>
    <p:extLst>
      <p:ext uri="{BB962C8B-B14F-4D97-AF65-F5344CB8AC3E}">
        <p14:creationId xmlns:p14="http://schemas.microsoft.com/office/powerpoint/2010/main" xmlns="" val="30485788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667B0A1-9BD6-B0A3-1102-E0773ECBB3F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83E87F29-AEDA-BDF7-8C0B-52CF6D178C8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D9DAB8B1-DB15-81F7-48C3-A6308F8FEA5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950A757F-7720-AA2F-16DB-5B4172569D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A7578B9F-AEC2-1CCB-17EA-93BC35E4208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B3ADDEEA-4DF4-410A-B65E-F750E83FBB36}"/>
              </a:ext>
            </a:extLst>
          </p:cNvPr>
          <p:cNvSpPr>
            <a:spLocks noGrp="1"/>
          </p:cNvSpPr>
          <p:nvPr>
            <p:ph type="dt" sz="half" idx="10"/>
          </p:nvPr>
        </p:nvSpPr>
        <p:spPr/>
        <p:txBody>
          <a:bodyPr/>
          <a:lstStyle/>
          <a:p>
            <a:fld id="{040CC2F0-EA24-4949-874F-5F13F434AA44}" type="datetime1">
              <a:rPr lang="en-IN" smtClean="0"/>
              <a:pPr/>
              <a:t>20-03-2025</a:t>
            </a:fld>
            <a:endParaRPr lang="en-IN"/>
          </a:p>
        </p:txBody>
      </p:sp>
      <p:sp>
        <p:nvSpPr>
          <p:cNvPr id="8" name="Footer Placeholder 7">
            <a:extLst>
              <a:ext uri="{FF2B5EF4-FFF2-40B4-BE49-F238E27FC236}">
                <a16:creationId xmlns:a16="http://schemas.microsoft.com/office/drawing/2014/main" xmlns="" id="{90F839C7-3F7C-98F3-A612-DE6079BE9163}"/>
              </a:ext>
            </a:extLst>
          </p:cNvPr>
          <p:cNvSpPr>
            <a:spLocks noGrp="1"/>
          </p:cNvSpPr>
          <p:nvPr>
            <p:ph type="ftr" sz="quarter" idx="11"/>
          </p:nvPr>
        </p:nvSpPr>
        <p:spPr/>
        <p:txBody>
          <a:bodyPr/>
          <a:lstStyle/>
          <a:p>
            <a:r>
              <a:rPr lang="en-IN"/>
              <a:t>Galgotias University</a:t>
            </a:r>
          </a:p>
        </p:txBody>
      </p:sp>
      <p:sp>
        <p:nvSpPr>
          <p:cNvPr id="9" name="Slide Number Placeholder 8">
            <a:extLst>
              <a:ext uri="{FF2B5EF4-FFF2-40B4-BE49-F238E27FC236}">
                <a16:creationId xmlns:a16="http://schemas.microsoft.com/office/drawing/2014/main" xmlns="" id="{A6ED60D5-B96E-CB10-EF10-24D390209158}"/>
              </a:ext>
            </a:extLst>
          </p:cNvPr>
          <p:cNvSpPr>
            <a:spLocks noGrp="1"/>
          </p:cNvSpPr>
          <p:nvPr>
            <p:ph type="sldNum" sz="quarter" idx="12"/>
          </p:nvPr>
        </p:nvSpPr>
        <p:spPr/>
        <p:txBody>
          <a:bodyPr/>
          <a:lstStyle/>
          <a:p>
            <a:fld id="{26510230-8DD5-4BA5-AB2D-CA30FC08F9D7}" type="slidenum">
              <a:rPr lang="en-IN" smtClean="0"/>
              <a:pPr/>
              <a:t>‹#›</a:t>
            </a:fld>
            <a:endParaRPr lang="en-IN"/>
          </a:p>
        </p:txBody>
      </p:sp>
    </p:spTree>
    <p:extLst>
      <p:ext uri="{BB962C8B-B14F-4D97-AF65-F5344CB8AC3E}">
        <p14:creationId xmlns:p14="http://schemas.microsoft.com/office/powerpoint/2010/main" xmlns="" val="24936104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91685F8-3F04-96B2-DFBB-F5EA7C78F86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C8A8FDE9-0DB9-E2EC-9EDB-3F7928924032}"/>
              </a:ext>
            </a:extLst>
          </p:cNvPr>
          <p:cNvSpPr>
            <a:spLocks noGrp="1"/>
          </p:cNvSpPr>
          <p:nvPr>
            <p:ph type="dt" sz="half" idx="10"/>
          </p:nvPr>
        </p:nvSpPr>
        <p:spPr/>
        <p:txBody>
          <a:bodyPr/>
          <a:lstStyle/>
          <a:p>
            <a:fld id="{D9FCA4BE-841D-4DBA-BF59-98160D016E95}" type="datetime1">
              <a:rPr lang="en-IN" smtClean="0"/>
              <a:pPr/>
              <a:t>20-03-2025</a:t>
            </a:fld>
            <a:endParaRPr lang="en-IN"/>
          </a:p>
        </p:txBody>
      </p:sp>
      <p:sp>
        <p:nvSpPr>
          <p:cNvPr id="4" name="Footer Placeholder 3">
            <a:extLst>
              <a:ext uri="{FF2B5EF4-FFF2-40B4-BE49-F238E27FC236}">
                <a16:creationId xmlns:a16="http://schemas.microsoft.com/office/drawing/2014/main" xmlns="" id="{B76EA0CC-2F72-01A7-0018-794D28895805}"/>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xmlns="" id="{D1946089-63E6-1B47-884D-22AD3D59DAD3}"/>
              </a:ext>
            </a:extLst>
          </p:cNvPr>
          <p:cNvSpPr>
            <a:spLocks noGrp="1"/>
          </p:cNvSpPr>
          <p:nvPr>
            <p:ph type="sldNum" sz="quarter" idx="12"/>
          </p:nvPr>
        </p:nvSpPr>
        <p:spPr/>
        <p:txBody>
          <a:bodyPr/>
          <a:lstStyle/>
          <a:p>
            <a:fld id="{26510230-8DD5-4BA5-AB2D-CA30FC08F9D7}" type="slidenum">
              <a:rPr lang="en-IN" smtClean="0"/>
              <a:pPr/>
              <a:t>‹#›</a:t>
            </a:fld>
            <a:endParaRPr lang="en-IN"/>
          </a:p>
        </p:txBody>
      </p:sp>
    </p:spTree>
    <p:extLst>
      <p:ext uri="{BB962C8B-B14F-4D97-AF65-F5344CB8AC3E}">
        <p14:creationId xmlns:p14="http://schemas.microsoft.com/office/powerpoint/2010/main" xmlns="" val="33951771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BC668AA3-F340-1EBC-A758-E63E971B3C45}"/>
              </a:ext>
            </a:extLst>
          </p:cNvPr>
          <p:cNvSpPr>
            <a:spLocks noGrp="1"/>
          </p:cNvSpPr>
          <p:nvPr>
            <p:ph type="dt" sz="half" idx="10"/>
          </p:nvPr>
        </p:nvSpPr>
        <p:spPr/>
        <p:txBody>
          <a:bodyPr/>
          <a:lstStyle/>
          <a:p>
            <a:fld id="{2EA9DE3D-92F0-4B90-9BC3-DF561ACCB514}" type="datetime1">
              <a:rPr lang="en-IN" smtClean="0"/>
              <a:pPr/>
              <a:t>20-03-2025</a:t>
            </a:fld>
            <a:endParaRPr lang="en-IN"/>
          </a:p>
        </p:txBody>
      </p:sp>
      <p:sp>
        <p:nvSpPr>
          <p:cNvPr id="3" name="Footer Placeholder 2">
            <a:extLst>
              <a:ext uri="{FF2B5EF4-FFF2-40B4-BE49-F238E27FC236}">
                <a16:creationId xmlns:a16="http://schemas.microsoft.com/office/drawing/2014/main" xmlns="" id="{15C5A41D-81C9-E2BD-E9AF-3AA5DB41DC6F}"/>
              </a:ext>
            </a:extLst>
          </p:cNvPr>
          <p:cNvSpPr>
            <a:spLocks noGrp="1"/>
          </p:cNvSpPr>
          <p:nvPr>
            <p:ph type="ftr" sz="quarter" idx="11"/>
          </p:nvPr>
        </p:nvSpPr>
        <p:spPr/>
        <p:txBody>
          <a:bodyPr/>
          <a:lstStyle/>
          <a:p>
            <a:r>
              <a:rPr lang="en-IN"/>
              <a:t>Galgotias University</a:t>
            </a:r>
          </a:p>
        </p:txBody>
      </p:sp>
      <p:sp>
        <p:nvSpPr>
          <p:cNvPr id="4" name="Slide Number Placeholder 3">
            <a:extLst>
              <a:ext uri="{FF2B5EF4-FFF2-40B4-BE49-F238E27FC236}">
                <a16:creationId xmlns:a16="http://schemas.microsoft.com/office/drawing/2014/main" xmlns="" id="{F1F962B3-3ADB-9572-0FD2-4DB07FD8763A}"/>
              </a:ext>
            </a:extLst>
          </p:cNvPr>
          <p:cNvSpPr>
            <a:spLocks noGrp="1"/>
          </p:cNvSpPr>
          <p:nvPr>
            <p:ph type="sldNum" sz="quarter" idx="12"/>
          </p:nvPr>
        </p:nvSpPr>
        <p:spPr/>
        <p:txBody>
          <a:bodyPr/>
          <a:lstStyle/>
          <a:p>
            <a:fld id="{26510230-8DD5-4BA5-AB2D-CA30FC08F9D7}" type="slidenum">
              <a:rPr lang="en-IN" smtClean="0"/>
              <a:pPr/>
              <a:t>‹#›</a:t>
            </a:fld>
            <a:endParaRPr lang="en-IN"/>
          </a:p>
        </p:txBody>
      </p:sp>
    </p:spTree>
    <p:extLst>
      <p:ext uri="{BB962C8B-B14F-4D97-AF65-F5344CB8AC3E}">
        <p14:creationId xmlns:p14="http://schemas.microsoft.com/office/powerpoint/2010/main" xmlns="" val="3755772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03CF039-A9DA-5A12-2BF1-B6433B9DF3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7C6751A8-C228-5300-A485-3F129FD363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A9584203-9632-6129-E4C9-0F99428BB6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D6945EB5-72B0-9141-EA99-820C022CC386}"/>
              </a:ext>
            </a:extLst>
          </p:cNvPr>
          <p:cNvSpPr>
            <a:spLocks noGrp="1"/>
          </p:cNvSpPr>
          <p:nvPr>
            <p:ph type="dt" sz="half" idx="10"/>
          </p:nvPr>
        </p:nvSpPr>
        <p:spPr/>
        <p:txBody>
          <a:bodyPr/>
          <a:lstStyle/>
          <a:p>
            <a:fld id="{44A4D748-5313-48F5-9420-28CC4F9D5D65}" type="datetime1">
              <a:rPr lang="en-IN" smtClean="0"/>
              <a:pPr/>
              <a:t>20-03-2025</a:t>
            </a:fld>
            <a:endParaRPr lang="en-IN"/>
          </a:p>
        </p:txBody>
      </p:sp>
      <p:sp>
        <p:nvSpPr>
          <p:cNvPr id="6" name="Footer Placeholder 5">
            <a:extLst>
              <a:ext uri="{FF2B5EF4-FFF2-40B4-BE49-F238E27FC236}">
                <a16:creationId xmlns:a16="http://schemas.microsoft.com/office/drawing/2014/main" xmlns="" id="{A273D456-31B6-1D53-751D-AC82FEAB700D}"/>
              </a:ext>
            </a:extLst>
          </p:cNvPr>
          <p:cNvSpPr>
            <a:spLocks noGrp="1"/>
          </p:cNvSpPr>
          <p:nvPr>
            <p:ph type="ftr" sz="quarter" idx="11"/>
          </p:nvPr>
        </p:nvSpPr>
        <p:spPr/>
        <p:txBody>
          <a:bodyPr/>
          <a:lstStyle/>
          <a:p>
            <a:r>
              <a:rPr lang="en-IN"/>
              <a:t>Galgotias University</a:t>
            </a:r>
          </a:p>
        </p:txBody>
      </p:sp>
      <p:sp>
        <p:nvSpPr>
          <p:cNvPr id="7" name="Slide Number Placeholder 6">
            <a:extLst>
              <a:ext uri="{FF2B5EF4-FFF2-40B4-BE49-F238E27FC236}">
                <a16:creationId xmlns:a16="http://schemas.microsoft.com/office/drawing/2014/main" xmlns="" id="{CBC32809-415E-2282-E04D-9B200C1C352E}"/>
              </a:ext>
            </a:extLst>
          </p:cNvPr>
          <p:cNvSpPr>
            <a:spLocks noGrp="1"/>
          </p:cNvSpPr>
          <p:nvPr>
            <p:ph type="sldNum" sz="quarter" idx="12"/>
          </p:nvPr>
        </p:nvSpPr>
        <p:spPr/>
        <p:txBody>
          <a:bodyPr/>
          <a:lstStyle/>
          <a:p>
            <a:fld id="{26510230-8DD5-4BA5-AB2D-CA30FC08F9D7}" type="slidenum">
              <a:rPr lang="en-IN" smtClean="0"/>
              <a:pPr/>
              <a:t>‹#›</a:t>
            </a:fld>
            <a:endParaRPr lang="en-IN"/>
          </a:p>
        </p:txBody>
      </p:sp>
    </p:spTree>
    <p:extLst>
      <p:ext uri="{BB962C8B-B14F-4D97-AF65-F5344CB8AC3E}">
        <p14:creationId xmlns:p14="http://schemas.microsoft.com/office/powerpoint/2010/main" xmlns="" val="10596731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8584906-117D-5407-AA07-22F539EE4D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5636F0D2-D921-4FA7-DA84-8E8520EED9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AAD2AD95-AB02-5A07-7492-E9E0B8545F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A92380F9-07CE-6F7A-6038-870977B023CB}"/>
              </a:ext>
            </a:extLst>
          </p:cNvPr>
          <p:cNvSpPr>
            <a:spLocks noGrp="1"/>
          </p:cNvSpPr>
          <p:nvPr>
            <p:ph type="dt" sz="half" idx="10"/>
          </p:nvPr>
        </p:nvSpPr>
        <p:spPr/>
        <p:txBody>
          <a:bodyPr/>
          <a:lstStyle/>
          <a:p>
            <a:fld id="{8E259F97-4389-4CF0-A3AF-539E1666475E}" type="datetime1">
              <a:rPr lang="en-IN" smtClean="0"/>
              <a:pPr/>
              <a:t>20-03-2025</a:t>
            </a:fld>
            <a:endParaRPr lang="en-IN"/>
          </a:p>
        </p:txBody>
      </p:sp>
      <p:sp>
        <p:nvSpPr>
          <p:cNvPr id="6" name="Footer Placeholder 5">
            <a:extLst>
              <a:ext uri="{FF2B5EF4-FFF2-40B4-BE49-F238E27FC236}">
                <a16:creationId xmlns:a16="http://schemas.microsoft.com/office/drawing/2014/main" xmlns="" id="{3B35F0A5-FF26-EF42-9F4E-7B487ABBDC60}"/>
              </a:ext>
            </a:extLst>
          </p:cNvPr>
          <p:cNvSpPr>
            <a:spLocks noGrp="1"/>
          </p:cNvSpPr>
          <p:nvPr>
            <p:ph type="ftr" sz="quarter" idx="11"/>
          </p:nvPr>
        </p:nvSpPr>
        <p:spPr/>
        <p:txBody>
          <a:bodyPr/>
          <a:lstStyle/>
          <a:p>
            <a:r>
              <a:rPr lang="en-IN"/>
              <a:t>Galgotias University</a:t>
            </a:r>
          </a:p>
        </p:txBody>
      </p:sp>
      <p:sp>
        <p:nvSpPr>
          <p:cNvPr id="7" name="Slide Number Placeholder 6">
            <a:extLst>
              <a:ext uri="{FF2B5EF4-FFF2-40B4-BE49-F238E27FC236}">
                <a16:creationId xmlns:a16="http://schemas.microsoft.com/office/drawing/2014/main" xmlns="" id="{A6CE9705-E90F-F624-39D6-6FCBE3A7BA48}"/>
              </a:ext>
            </a:extLst>
          </p:cNvPr>
          <p:cNvSpPr>
            <a:spLocks noGrp="1"/>
          </p:cNvSpPr>
          <p:nvPr>
            <p:ph type="sldNum" sz="quarter" idx="12"/>
          </p:nvPr>
        </p:nvSpPr>
        <p:spPr/>
        <p:txBody>
          <a:bodyPr/>
          <a:lstStyle/>
          <a:p>
            <a:fld id="{26510230-8DD5-4BA5-AB2D-CA30FC08F9D7}" type="slidenum">
              <a:rPr lang="en-IN" smtClean="0"/>
              <a:pPr/>
              <a:t>‹#›</a:t>
            </a:fld>
            <a:endParaRPr lang="en-IN"/>
          </a:p>
        </p:txBody>
      </p:sp>
    </p:spTree>
    <p:extLst>
      <p:ext uri="{BB962C8B-B14F-4D97-AF65-F5344CB8AC3E}">
        <p14:creationId xmlns:p14="http://schemas.microsoft.com/office/powerpoint/2010/main" xmlns="" val="8335582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D359D05-52FA-1788-519F-7A7F6048A04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F32B93A4-5BFE-2E5E-89BD-A9A9F0DE2B6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378D6E1C-2039-6998-16BF-892E575CFF2A}"/>
              </a:ext>
            </a:extLst>
          </p:cNvPr>
          <p:cNvSpPr>
            <a:spLocks noGrp="1"/>
          </p:cNvSpPr>
          <p:nvPr>
            <p:ph type="dt" sz="half" idx="10"/>
          </p:nvPr>
        </p:nvSpPr>
        <p:spPr/>
        <p:txBody>
          <a:bodyPr/>
          <a:lstStyle/>
          <a:p>
            <a:fld id="{C911ADB8-9CB7-40E6-87C8-C7EB8EBBAF06}" type="datetime1">
              <a:rPr lang="en-IN" smtClean="0"/>
              <a:pPr/>
              <a:t>20-03-2025</a:t>
            </a:fld>
            <a:endParaRPr lang="en-IN"/>
          </a:p>
        </p:txBody>
      </p:sp>
      <p:sp>
        <p:nvSpPr>
          <p:cNvPr id="5" name="Footer Placeholder 4">
            <a:extLst>
              <a:ext uri="{FF2B5EF4-FFF2-40B4-BE49-F238E27FC236}">
                <a16:creationId xmlns:a16="http://schemas.microsoft.com/office/drawing/2014/main" xmlns="" id="{BA389FC5-03A9-A2BE-8045-500B370839C0}"/>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xmlns="" id="{8B4A79DC-4A34-B800-8BFC-C92A202FB94B}"/>
              </a:ext>
            </a:extLst>
          </p:cNvPr>
          <p:cNvSpPr>
            <a:spLocks noGrp="1"/>
          </p:cNvSpPr>
          <p:nvPr>
            <p:ph type="sldNum" sz="quarter" idx="12"/>
          </p:nvPr>
        </p:nvSpPr>
        <p:spPr/>
        <p:txBody>
          <a:bodyPr/>
          <a:lstStyle/>
          <a:p>
            <a:fld id="{26510230-8DD5-4BA5-AB2D-CA30FC08F9D7}" type="slidenum">
              <a:rPr lang="en-IN" smtClean="0"/>
              <a:pPr/>
              <a:t>‹#›</a:t>
            </a:fld>
            <a:endParaRPr lang="en-IN"/>
          </a:p>
        </p:txBody>
      </p:sp>
    </p:spTree>
    <p:extLst>
      <p:ext uri="{BB962C8B-B14F-4D97-AF65-F5344CB8AC3E}">
        <p14:creationId xmlns:p14="http://schemas.microsoft.com/office/powerpoint/2010/main" xmlns="" val="28875018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0A66ADF1-8D2B-E20D-C592-6643F0F627D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A57D4B32-ED38-6AD9-3A88-BEE47D427E9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BF3D39A2-CFE5-7E4C-6E1A-FABC5CF177F3}"/>
              </a:ext>
            </a:extLst>
          </p:cNvPr>
          <p:cNvSpPr>
            <a:spLocks noGrp="1"/>
          </p:cNvSpPr>
          <p:nvPr>
            <p:ph type="dt" sz="half" idx="10"/>
          </p:nvPr>
        </p:nvSpPr>
        <p:spPr/>
        <p:txBody>
          <a:bodyPr/>
          <a:lstStyle/>
          <a:p>
            <a:fld id="{6903956E-FF61-4FBC-8614-5AF891B621A7}" type="datetime1">
              <a:rPr lang="en-IN" smtClean="0"/>
              <a:pPr/>
              <a:t>20-03-2025</a:t>
            </a:fld>
            <a:endParaRPr lang="en-IN"/>
          </a:p>
        </p:txBody>
      </p:sp>
      <p:sp>
        <p:nvSpPr>
          <p:cNvPr id="5" name="Footer Placeholder 4">
            <a:extLst>
              <a:ext uri="{FF2B5EF4-FFF2-40B4-BE49-F238E27FC236}">
                <a16:creationId xmlns:a16="http://schemas.microsoft.com/office/drawing/2014/main" xmlns="" id="{A758CE03-A02D-B61D-500E-33B067F58A15}"/>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xmlns="" id="{32BFA42C-489C-58FC-CFE2-833549C6DC3A}"/>
              </a:ext>
            </a:extLst>
          </p:cNvPr>
          <p:cNvSpPr>
            <a:spLocks noGrp="1"/>
          </p:cNvSpPr>
          <p:nvPr>
            <p:ph type="sldNum" sz="quarter" idx="12"/>
          </p:nvPr>
        </p:nvSpPr>
        <p:spPr/>
        <p:txBody>
          <a:bodyPr/>
          <a:lstStyle/>
          <a:p>
            <a:fld id="{26510230-8DD5-4BA5-AB2D-CA30FC08F9D7}" type="slidenum">
              <a:rPr lang="en-IN" smtClean="0"/>
              <a:pPr/>
              <a:t>‹#›</a:t>
            </a:fld>
            <a:endParaRPr lang="en-IN"/>
          </a:p>
        </p:txBody>
      </p:sp>
    </p:spTree>
    <p:extLst>
      <p:ext uri="{BB962C8B-B14F-4D97-AF65-F5344CB8AC3E}">
        <p14:creationId xmlns:p14="http://schemas.microsoft.com/office/powerpoint/2010/main" xmlns="" val="40133122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AEAADD83-735E-A88A-3D7F-6385A1A746F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E167D101-3984-8795-F0E9-CFAF99A1449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F54624CD-D795-52B1-6203-0AF8F58B881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381F908-E6B3-4617-92D9-99814B0B813F}" type="datetime1">
              <a:rPr lang="en-IN" smtClean="0"/>
              <a:pPr/>
              <a:t>20-03-2025</a:t>
            </a:fld>
            <a:endParaRPr lang="en-IN"/>
          </a:p>
        </p:txBody>
      </p:sp>
      <p:sp>
        <p:nvSpPr>
          <p:cNvPr id="5" name="Footer Placeholder 4">
            <a:extLst>
              <a:ext uri="{FF2B5EF4-FFF2-40B4-BE49-F238E27FC236}">
                <a16:creationId xmlns:a16="http://schemas.microsoft.com/office/drawing/2014/main" xmlns="" id="{491CF967-AE37-65C8-EF03-EB7E3B912DE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IN"/>
              <a:t>Galgotias University</a:t>
            </a:r>
          </a:p>
        </p:txBody>
      </p:sp>
      <p:sp>
        <p:nvSpPr>
          <p:cNvPr id="6" name="Slide Number Placeholder 5">
            <a:extLst>
              <a:ext uri="{FF2B5EF4-FFF2-40B4-BE49-F238E27FC236}">
                <a16:creationId xmlns:a16="http://schemas.microsoft.com/office/drawing/2014/main" xmlns="" id="{C47BD2C0-494D-F5DE-E18D-99B852BA50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6510230-8DD5-4BA5-AB2D-CA30FC08F9D7}" type="slidenum">
              <a:rPr lang="en-IN" smtClean="0"/>
              <a:pPr/>
              <a:t>‹#›</a:t>
            </a:fld>
            <a:endParaRPr lang="en-IN"/>
          </a:p>
        </p:txBody>
      </p:sp>
    </p:spTree>
    <p:extLst>
      <p:ext uri="{BB962C8B-B14F-4D97-AF65-F5344CB8AC3E}">
        <p14:creationId xmlns:p14="http://schemas.microsoft.com/office/powerpoint/2010/main" xmlns="" val="5326660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diagramLayout" Target="../diagrams/layout1.xml"/><Relationship Id="rId7" Type="http://schemas.openxmlformats.org/officeDocument/2006/relationships/image" Target="../media/image2.jpe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openxmlformats.org/officeDocument/2006/relationships/image" Target="../media/image3.jpeg"/><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diagramLayout" Target="../diagrams/layout2.xml"/><Relationship Id="rId7" Type="http://schemas.openxmlformats.org/officeDocument/2006/relationships/image" Target="../media/image2.jpe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openxmlformats.org/officeDocument/2006/relationships/image" Target="../media/image3.jpeg"/><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diagramLayout" Target="../diagrams/layout3.xml"/><Relationship Id="rId7" Type="http://schemas.openxmlformats.org/officeDocument/2006/relationships/image" Target="../media/image2.jpeg"/><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openxmlformats.org/officeDocument/2006/relationships/image" Target="../media/image3.jpeg"/><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vmlDrawing" Target="../drawings/vmlDrawing1.vml"/><Relationship Id="rId5" Type="http://schemas.openxmlformats.org/officeDocument/2006/relationships/oleObject" Target="../embeddings/oleObject2.bin"/><Relationship Id="rId4" Type="http://schemas.openxmlformats.org/officeDocument/2006/relationships/oleObject" Target="../embeddings/oleObject1.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3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17.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2B4841D-4109-20CB-B253-8EF7C080604D}"/>
              </a:ext>
            </a:extLst>
          </p:cNvPr>
          <p:cNvSpPr>
            <a:spLocks noGrp="1"/>
          </p:cNvSpPr>
          <p:nvPr>
            <p:ph type="ctrTitle"/>
          </p:nvPr>
        </p:nvSpPr>
        <p:spPr>
          <a:xfrm rot="10800000" flipV="1">
            <a:off x="1010330" y="854440"/>
            <a:ext cx="10343469" cy="6030173"/>
          </a:xfrm>
        </p:spPr>
        <p:txBody>
          <a:bodyPr anchor="b">
            <a:normAutofit fontScale="90000"/>
          </a:bodyPr>
          <a:lstStyle/>
          <a:p>
            <a:pPr algn="l"/>
            <a:r>
              <a:rPr lang="en-US" sz="6600" b="1" dirty="0">
                <a:latin typeface="Georgia" panose="02040502050405020303" pitchFamily="18" charset="0"/>
                <a:cs typeface="Arial" panose="020B0604020202020204" pitchFamily="34" charset="0"/>
              </a:rPr>
              <a:t>Analysis of algorithmic efficiency: </a:t>
            </a:r>
            <a:r>
              <a:rPr lang="en-US" sz="4800" b="1" dirty="0">
                <a:latin typeface="Georgia" panose="02040502050405020303" pitchFamily="18" charset="0"/>
                <a:cs typeface="Arial" panose="020B0604020202020204" pitchFamily="34" charset="0"/>
              </a:rPr>
              <a:t>Asymptotic notations and their properties</a:t>
            </a:r>
            <a:r>
              <a:rPr lang="en-IN" sz="4800" b="1" dirty="0">
                <a:latin typeface="Georgia" panose="02040502050405020303" pitchFamily="18" charset="0"/>
                <a:cs typeface="Arial" panose="020B0604020202020204" pitchFamily="34" charset="0"/>
              </a:rPr>
              <a:t/>
            </a:r>
            <a:br>
              <a:rPr lang="en-IN" sz="4800" b="1" dirty="0">
                <a:latin typeface="Georgia" panose="02040502050405020303" pitchFamily="18" charset="0"/>
                <a:cs typeface="Arial" panose="020B0604020202020204" pitchFamily="34" charset="0"/>
              </a:rPr>
            </a:br>
            <a:r>
              <a:rPr lang="en-IN" sz="4800" b="1" dirty="0">
                <a:latin typeface="Georgia" panose="02040502050405020303" pitchFamily="18" charset="0"/>
                <a:cs typeface="Arial" panose="020B0604020202020204" pitchFamily="34" charset="0"/>
              </a:rPr>
              <a:t/>
            </a:r>
            <a:br>
              <a:rPr lang="en-IN" sz="4800" b="1" dirty="0">
                <a:latin typeface="Georgia" panose="02040502050405020303" pitchFamily="18" charset="0"/>
                <a:cs typeface="Arial" panose="020B0604020202020204" pitchFamily="34" charset="0"/>
              </a:rPr>
            </a:br>
            <a:r>
              <a:rPr lang="en-IN" sz="4800" b="1" dirty="0">
                <a:latin typeface="Georgia" panose="02040502050405020303" pitchFamily="18" charset="0"/>
                <a:cs typeface="Arial" panose="020B0604020202020204" pitchFamily="34" charset="0"/>
              </a:rPr>
              <a:t/>
            </a:r>
            <a:br>
              <a:rPr lang="en-IN" sz="4800" b="1" dirty="0">
                <a:latin typeface="Georgia" panose="02040502050405020303" pitchFamily="18" charset="0"/>
                <a:cs typeface="Arial" panose="020B0604020202020204" pitchFamily="34" charset="0"/>
              </a:rPr>
            </a:br>
            <a:r>
              <a:rPr lang="en-IN" sz="1800" b="1" dirty="0">
                <a:latin typeface="Georgia" panose="02040502050405020303" pitchFamily="18" charset="0"/>
                <a:cs typeface="Arial" panose="020B0604020202020204" pitchFamily="34" charset="0"/>
              </a:rPr>
              <a:t>Session No.:</a:t>
            </a:r>
            <a:r>
              <a:rPr lang="en-US" sz="1800" b="1" dirty="0">
                <a:latin typeface="Georgia" panose="02040502050405020303" pitchFamily="18" charset="0"/>
                <a:cs typeface="Arial" panose="020B0604020202020204" pitchFamily="34" charset="0"/>
              </a:rPr>
              <a:t> </a:t>
            </a:r>
            <a:r>
              <a:rPr lang="en-US" sz="1800" b="1" dirty="0" smtClean="0">
                <a:latin typeface="Georgia" panose="02040502050405020303" pitchFamily="18" charset="0"/>
                <a:cs typeface="Arial" panose="020B0604020202020204" pitchFamily="34" charset="0"/>
              </a:rPr>
              <a:t>3</a:t>
            </a:r>
            <a:r>
              <a:rPr lang="en-IN" sz="1800" b="1" dirty="0">
                <a:latin typeface="Georgia" panose="02040502050405020303" pitchFamily="18" charset="0"/>
                <a:cs typeface="Arial" panose="020B0604020202020204" pitchFamily="34" charset="0"/>
              </a:rPr>
              <a:t/>
            </a:r>
            <a:br>
              <a:rPr lang="en-IN" sz="1800" b="1" dirty="0">
                <a:latin typeface="Georgia" panose="02040502050405020303" pitchFamily="18" charset="0"/>
                <a:cs typeface="Arial" panose="020B0604020202020204" pitchFamily="34" charset="0"/>
              </a:rPr>
            </a:br>
            <a:r>
              <a:rPr lang="en-IN" sz="1800" b="1" dirty="0">
                <a:latin typeface="Georgia" panose="02040502050405020303" pitchFamily="18" charset="0"/>
                <a:cs typeface="Arial" panose="020B0604020202020204" pitchFamily="34" charset="0"/>
              </a:rPr>
              <a:t>Course Name: </a:t>
            </a:r>
            <a:r>
              <a:rPr lang="en-US" sz="1800" b="1" dirty="0">
                <a:latin typeface="Georgia" panose="02040502050405020303" pitchFamily="18" charset="0"/>
                <a:cs typeface="Arial" panose="020B0604020202020204" pitchFamily="34" charset="0"/>
              </a:rPr>
              <a:t>Design and analysis of algorithms</a:t>
            </a:r>
            <a:r>
              <a:rPr lang="en-IN" sz="1800" b="1" dirty="0">
                <a:latin typeface="Georgia" panose="02040502050405020303" pitchFamily="18" charset="0"/>
                <a:cs typeface="Arial" panose="020B0604020202020204" pitchFamily="34" charset="0"/>
              </a:rPr>
              <a:t/>
            </a:r>
            <a:br>
              <a:rPr lang="en-IN" sz="1800" b="1" dirty="0">
                <a:latin typeface="Georgia" panose="02040502050405020303" pitchFamily="18" charset="0"/>
                <a:cs typeface="Arial" panose="020B0604020202020204" pitchFamily="34" charset="0"/>
              </a:rPr>
            </a:br>
            <a:r>
              <a:rPr lang="en-IN" sz="1800" b="1" dirty="0">
                <a:latin typeface="Georgia" panose="02040502050405020303" pitchFamily="18" charset="0"/>
                <a:cs typeface="Arial" panose="020B0604020202020204" pitchFamily="34" charset="0"/>
              </a:rPr>
              <a:t>Course Code:</a:t>
            </a:r>
            <a:r>
              <a:rPr lang="en-US" sz="1800" b="1" dirty="0">
                <a:latin typeface="Georgia" panose="02040502050405020303" pitchFamily="18" charset="0"/>
                <a:cs typeface="Arial" panose="020B0604020202020204" pitchFamily="34" charset="0"/>
              </a:rPr>
              <a:t> R1UC302B</a:t>
            </a:r>
            <a:r>
              <a:rPr lang="en-IN" sz="1800" b="1" dirty="0">
                <a:latin typeface="Georgia" panose="02040502050405020303" pitchFamily="18" charset="0"/>
                <a:cs typeface="Arial" panose="020B0604020202020204" pitchFamily="34" charset="0"/>
              </a:rPr>
              <a:t/>
            </a:r>
            <a:br>
              <a:rPr lang="en-IN" sz="1800" b="1" dirty="0">
                <a:latin typeface="Georgia" panose="02040502050405020303" pitchFamily="18" charset="0"/>
                <a:cs typeface="Arial" panose="020B0604020202020204" pitchFamily="34" charset="0"/>
              </a:rPr>
            </a:br>
            <a:r>
              <a:rPr lang="en-IN" sz="1800" b="1" dirty="0">
                <a:latin typeface="Georgia" panose="02040502050405020303" pitchFamily="18" charset="0"/>
                <a:cs typeface="Arial" panose="020B0604020202020204" pitchFamily="34" charset="0"/>
              </a:rPr>
              <a:t>Instructor Name:</a:t>
            </a:r>
            <a:r>
              <a:rPr lang="en-US" sz="1800" b="1" dirty="0">
                <a:latin typeface="Georgia" panose="02040502050405020303" pitchFamily="18" charset="0"/>
                <a:cs typeface="Arial" panose="020B0604020202020204" pitchFamily="34" charset="0"/>
              </a:rPr>
              <a:t> </a:t>
            </a:r>
            <a:r>
              <a:rPr lang="en-US" sz="1800" b="1" dirty="0" err="1" smtClean="0">
                <a:latin typeface="Georgia" panose="02040502050405020303" pitchFamily="18" charset="0"/>
                <a:cs typeface="Arial" panose="020B0604020202020204" pitchFamily="34" charset="0"/>
              </a:rPr>
              <a:t>Rakesh</a:t>
            </a:r>
            <a:r>
              <a:rPr lang="en-US" sz="1800" b="1" dirty="0" smtClean="0">
                <a:latin typeface="Georgia" panose="02040502050405020303" pitchFamily="18" charset="0"/>
                <a:cs typeface="Arial" panose="020B0604020202020204" pitchFamily="34" charset="0"/>
              </a:rPr>
              <a:t> </a:t>
            </a:r>
            <a:r>
              <a:rPr lang="en-US" sz="1800" b="1" dirty="0" err="1" smtClean="0">
                <a:latin typeface="Georgia" panose="02040502050405020303" pitchFamily="18" charset="0"/>
                <a:cs typeface="Arial" panose="020B0604020202020204" pitchFamily="34" charset="0"/>
              </a:rPr>
              <a:t>Bharati</a:t>
            </a:r>
            <a:r>
              <a:rPr lang="en-IN" sz="1800" b="1" dirty="0">
                <a:latin typeface="Georgia" panose="02040502050405020303" pitchFamily="18" charset="0"/>
                <a:cs typeface="Arial" panose="020B0604020202020204" pitchFamily="34" charset="0"/>
              </a:rPr>
              <a:t/>
            </a:r>
            <a:br>
              <a:rPr lang="en-IN" sz="1800" b="1" dirty="0">
                <a:latin typeface="Georgia" panose="02040502050405020303" pitchFamily="18" charset="0"/>
                <a:cs typeface="Arial" panose="020B0604020202020204" pitchFamily="34" charset="0"/>
              </a:rPr>
            </a:br>
            <a:r>
              <a:rPr lang="en-US" sz="1800" b="1" dirty="0">
                <a:latin typeface="Georgia" panose="02040502050405020303" pitchFamily="18" charset="0"/>
                <a:cs typeface="Arial" panose="020B0604020202020204" pitchFamily="34" charset="0"/>
              </a:rPr>
              <a:t>Duration: 40 min</a:t>
            </a:r>
            <a:br>
              <a:rPr lang="en-US" sz="1800" b="1" dirty="0">
                <a:latin typeface="Georgia" panose="02040502050405020303" pitchFamily="18" charset="0"/>
                <a:cs typeface="Arial" panose="020B0604020202020204" pitchFamily="34" charset="0"/>
              </a:rPr>
            </a:br>
            <a:r>
              <a:rPr lang="en-US" sz="1800" b="1" dirty="0">
                <a:latin typeface="Georgia" panose="02040502050405020303" pitchFamily="18" charset="0"/>
                <a:cs typeface="Arial" panose="020B0604020202020204" pitchFamily="34" charset="0"/>
              </a:rPr>
              <a:t>Date of Conduction of Class: </a:t>
            </a:r>
            <a:br>
              <a:rPr lang="en-US" sz="1800" b="1" dirty="0">
                <a:latin typeface="Georgia" panose="02040502050405020303" pitchFamily="18" charset="0"/>
                <a:cs typeface="Arial" panose="020B0604020202020204" pitchFamily="34" charset="0"/>
              </a:rPr>
            </a:br>
            <a:r>
              <a:rPr lang="en-IN" sz="1800" b="1" dirty="0">
                <a:latin typeface="Georgia" panose="02040502050405020303" pitchFamily="18" charset="0"/>
                <a:cs typeface="Arial" panose="020B0604020202020204" pitchFamily="34" charset="0"/>
              </a:rPr>
              <a:t/>
            </a:r>
            <a:br>
              <a:rPr lang="en-IN" sz="1800" b="1" dirty="0">
                <a:latin typeface="Georgia" panose="02040502050405020303" pitchFamily="18" charset="0"/>
                <a:cs typeface="Arial" panose="020B0604020202020204" pitchFamily="34" charset="0"/>
              </a:rPr>
            </a:br>
            <a:endParaRPr lang="en-IN" sz="4800" b="1" dirty="0">
              <a:latin typeface="Georgia" panose="02040502050405020303" pitchFamily="18" charset="0"/>
              <a:cs typeface="Arial" panose="020B0604020202020204" pitchFamily="34" charset="0"/>
            </a:endParaRPr>
          </a:p>
        </p:txBody>
      </p:sp>
      <p:sp>
        <p:nvSpPr>
          <p:cNvPr id="4" name="Footer Placeholder 3">
            <a:extLst>
              <a:ext uri="{FF2B5EF4-FFF2-40B4-BE49-F238E27FC236}">
                <a16:creationId xmlns:a16="http://schemas.microsoft.com/office/drawing/2014/main" xmlns="" id="{6A2F329F-0D28-AAA9-6271-058B6B36CA1F}"/>
              </a:ext>
            </a:extLst>
          </p:cNvPr>
          <p:cNvSpPr>
            <a:spLocks noGrp="1"/>
          </p:cNvSpPr>
          <p:nvPr>
            <p:ph type="ftr" sz="quarter" idx="11"/>
          </p:nvPr>
        </p:nvSpPr>
        <p:spPr/>
        <p:txBody>
          <a:bodyPr/>
          <a:lstStyle/>
          <a:p>
            <a:r>
              <a:rPr lang="en-IN"/>
              <a:t>Galgotias University</a:t>
            </a:r>
          </a:p>
        </p:txBody>
      </p:sp>
      <p:sp>
        <p:nvSpPr>
          <p:cNvPr id="7" name="Slide Number Placeholder 6">
            <a:extLst>
              <a:ext uri="{FF2B5EF4-FFF2-40B4-BE49-F238E27FC236}">
                <a16:creationId xmlns:a16="http://schemas.microsoft.com/office/drawing/2014/main" xmlns="" id="{4D4B0897-FD56-B45E-C539-435F743AAB4C}"/>
              </a:ext>
            </a:extLst>
          </p:cNvPr>
          <p:cNvSpPr>
            <a:spLocks noGrp="1"/>
          </p:cNvSpPr>
          <p:nvPr>
            <p:ph type="sldNum" sz="quarter" idx="12"/>
          </p:nvPr>
        </p:nvSpPr>
        <p:spPr/>
        <p:txBody>
          <a:bodyPr/>
          <a:lstStyle/>
          <a:p>
            <a:fld id="{26510230-8DD5-4BA5-AB2D-CA30FC08F9D7}" type="slidenum">
              <a:rPr lang="en-IN" smtClean="0"/>
              <a:pPr/>
              <a:t>1</a:t>
            </a:fld>
            <a:endParaRPr lang="en-IN"/>
          </a:p>
        </p:txBody>
      </p:sp>
      <p:pic>
        <p:nvPicPr>
          <p:cNvPr id="10" name="Picture 9" descr="A blue circle with text and words&#10;&#10;Description automatically generated">
            <a:extLst>
              <a:ext uri="{FF2B5EF4-FFF2-40B4-BE49-F238E27FC236}">
                <a16:creationId xmlns:a16="http://schemas.microsoft.com/office/drawing/2014/main" xmlns="" id="{B8F66ABA-C07C-7B4E-0E32-86C3BB04AA96}"/>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0758565" y="176753"/>
            <a:ext cx="1190469" cy="1190469"/>
          </a:xfrm>
          <a:prstGeom prst="rect">
            <a:avLst/>
          </a:prstGeom>
        </p:spPr>
      </p:pic>
      <p:pic>
        <p:nvPicPr>
          <p:cNvPr id="8" name="Picture 7">
            <a:extLst>
              <a:ext uri="{FF2B5EF4-FFF2-40B4-BE49-F238E27FC236}">
                <a16:creationId xmlns:a16="http://schemas.microsoft.com/office/drawing/2014/main" xmlns="" id="{D622C87D-66F3-E0F4-0306-4C9A87A526E9}"/>
              </a:ext>
            </a:extLst>
          </p:cNvPr>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104932" y="114202"/>
            <a:ext cx="3795634" cy="740238"/>
          </a:xfrm>
          <a:prstGeom prst="rect">
            <a:avLst/>
          </a:prstGeom>
        </p:spPr>
      </p:pic>
    </p:spTree>
    <p:extLst>
      <p:ext uri="{BB962C8B-B14F-4D97-AF65-F5344CB8AC3E}">
        <p14:creationId xmlns:p14="http://schemas.microsoft.com/office/powerpoint/2010/main" xmlns="" val="28278989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xmlns="" id="{F5D931AE-6A6D-7D41-F97B-A28423F372CD}"/>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xmlns="" id="{BD8CF5A8-ACAD-D135-0544-20163F2C11CE}"/>
              </a:ext>
            </a:extLst>
          </p:cNvPr>
          <p:cNvSpPr>
            <a:spLocks noGrp="1"/>
          </p:cNvSpPr>
          <p:nvPr>
            <p:ph type="sldNum" sz="quarter" idx="12"/>
          </p:nvPr>
        </p:nvSpPr>
        <p:spPr/>
        <p:txBody>
          <a:bodyPr/>
          <a:lstStyle/>
          <a:p>
            <a:fld id="{26510230-8DD5-4BA5-AB2D-CA30FC08F9D7}" type="slidenum">
              <a:rPr lang="en-IN" smtClean="0"/>
              <a:pPr/>
              <a:t>2</a:t>
            </a:fld>
            <a:endParaRPr lang="en-IN"/>
          </a:p>
        </p:txBody>
      </p:sp>
      <p:pic>
        <p:nvPicPr>
          <p:cNvPr id="7" name="Picture 6" descr="A blue circle with text and words&#10;&#10;Description automatically generated">
            <a:extLst>
              <a:ext uri="{FF2B5EF4-FFF2-40B4-BE49-F238E27FC236}">
                <a16:creationId xmlns:a16="http://schemas.microsoft.com/office/drawing/2014/main" xmlns="" id="{84313814-B282-038A-FB91-58D7A240B8CE}"/>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0758566" y="176754"/>
            <a:ext cx="874732" cy="874732"/>
          </a:xfrm>
          <a:prstGeom prst="rect">
            <a:avLst/>
          </a:prstGeom>
        </p:spPr>
      </p:pic>
      <p:pic>
        <p:nvPicPr>
          <p:cNvPr id="8" name="Picture 7">
            <a:extLst>
              <a:ext uri="{FF2B5EF4-FFF2-40B4-BE49-F238E27FC236}">
                <a16:creationId xmlns:a16="http://schemas.microsoft.com/office/drawing/2014/main" xmlns="" id="{48ED013E-C79F-88E6-C380-BA222F110F19}"/>
              </a:ext>
            </a:extLst>
          </p:cNvPr>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104932" y="114202"/>
            <a:ext cx="3795634" cy="740238"/>
          </a:xfrm>
          <a:prstGeom prst="rect">
            <a:avLst/>
          </a:prstGeom>
        </p:spPr>
      </p:pic>
      <p:sp>
        <p:nvSpPr>
          <p:cNvPr id="9" name="Title 8">
            <a:extLst>
              <a:ext uri="{FF2B5EF4-FFF2-40B4-BE49-F238E27FC236}">
                <a16:creationId xmlns:a16="http://schemas.microsoft.com/office/drawing/2014/main" xmlns="" id="{D1015C66-1226-3F6B-7552-071139831EC5}"/>
              </a:ext>
            </a:extLst>
          </p:cNvPr>
          <p:cNvSpPr>
            <a:spLocks noGrp="1"/>
          </p:cNvSpPr>
          <p:nvPr>
            <p:ph type="title"/>
          </p:nvPr>
        </p:nvSpPr>
        <p:spPr>
          <a:xfrm>
            <a:off x="1117698" y="1928374"/>
            <a:ext cx="10515600" cy="3488970"/>
          </a:xfrm>
        </p:spPr>
        <p:txBody>
          <a:bodyPr>
            <a:normAutofit fontScale="90000"/>
          </a:bodyPr>
          <a:lstStyle/>
          <a:p>
            <a:r>
              <a:rPr lang="en-US" dirty="0"/>
              <a:t>RECAP:</a:t>
            </a:r>
            <a:br>
              <a:rPr lang="en-US" dirty="0"/>
            </a:br>
            <a:r>
              <a:rPr lang="en-US" dirty="0"/>
              <a:t/>
            </a:r>
            <a:br>
              <a:rPr lang="en-US" dirty="0"/>
            </a:br>
            <a:r>
              <a:rPr lang="en-US" dirty="0"/>
              <a:t>An algorithm is a sequence of unambiguous instructions for solving a problem, i.e., for obtaining a required output for any legitimate input in a finite amount of time.</a:t>
            </a:r>
            <a:br>
              <a:rPr lang="en-US" dirty="0"/>
            </a:br>
            <a:r>
              <a:rPr lang="en-US" dirty="0"/>
              <a:t/>
            </a:r>
            <a:br>
              <a:rPr lang="en-US" dirty="0"/>
            </a:br>
            <a:endParaRPr lang="en-US" dirty="0"/>
          </a:p>
        </p:txBody>
      </p:sp>
    </p:spTree>
    <p:extLst>
      <p:ext uri="{BB962C8B-B14F-4D97-AF65-F5344CB8AC3E}">
        <p14:creationId xmlns:p14="http://schemas.microsoft.com/office/powerpoint/2010/main" xmlns="" val="27672147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ADC40F3-E1DD-E82F-3F29-9401CD52B8A1}"/>
              </a:ext>
            </a:extLst>
          </p:cNvPr>
          <p:cNvSpPr>
            <a:spLocks noGrp="1"/>
          </p:cNvSpPr>
          <p:nvPr>
            <p:ph type="title"/>
          </p:nvPr>
        </p:nvSpPr>
        <p:spPr>
          <a:xfrm>
            <a:off x="728011" y="854440"/>
            <a:ext cx="10168589" cy="3088910"/>
          </a:xfrm>
        </p:spPr>
        <p:txBody>
          <a:bodyPr vert="horz" lIns="91440" tIns="45720" rIns="91440" bIns="45720" rtlCol="0" anchor="b">
            <a:normAutofit/>
          </a:bodyPr>
          <a:lstStyle/>
          <a:p>
            <a:r>
              <a:rPr lang="en-US" sz="6600" dirty="0">
                <a:latin typeface="Arial" panose="020B0604020202020204" pitchFamily="34" charset="0"/>
                <a:cs typeface="Arial" panose="020B0604020202020204" pitchFamily="34" charset="0"/>
              </a:rPr>
              <a:t> </a:t>
            </a:r>
            <a:r>
              <a:rPr lang="en-US" dirty="0"/>
              <a:t/>
            </a:r>
            <a:br>
              <a:rPr lang="en-US" dirty="0"/>
            </a:br>
            <a:endParaRPr lang="en-US" dirty="0">
              <a:latin typeface="Cambria" panose="02040503050406030204" pitchFamily="18" charset="0"/>
              <a:ea typeface="Cambria" panose="02040503050406030204" pitchFamily="18" charset="0"/>
            </a:endParaRPr>
          </a:p>
        </p:txBody>
      </p:sp>
      <p:sp>
        <p:nvSpPr>
          <p:cNvPr id="5" name="Footer Placeholder 4">
            <a:extLst>
              <a:ext uri="{FF2B5EF4-FFF2-40B4-BE49-F238E27FC236}">
                <a16:creationId xmlns:a16="http://schemas.microsoft.com/office/drawing/2014/main" xmlns="" id="{291369DC-8D11-0F83-CECC-16C8D86AF623}"/>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xmlns="" id="{D93121A7-5B1D-94E2-DB07-9FE4C43AF361}"/>
              </a:ext>
            </a:extLst>
          </p:cNvPr>
          <p:cNvSpPr>
            <a:spLocks noGrp="1"/>
          </p:cNvSpPr>
          <p:nvPr>
            <p:ph type="sldNum" sz="quarter" idx="12"/>
          </p:nvPr>
        </p:nvSpPr>
        <p:spPr>
          <a:xfrm rot="256764">
            <a:off x="8610600" y="6356350"/>
            <a:ext cx="2743200" cy="365125"/>
          </a:xfrm>
        </p:spPr>
        <p:txBody>
          <a:bodyPr/>
          <a:lstStyle/>
          <a:p>
            <a:fld id="{26510230-8DD5-4BA5-AB2D-CA30FC08F9D7}" type="slidenum">
              <a:rPr lang="en-IN" smtClean="0"/>
              <a:pPr/>
              <a:t>3</a:t>
            </a:fld>
            <a:endParaRPr lang="en-IN"/>
          </a:p>
        </p:txBody>
      </p:sp>
      <p:pic>
        <p:nvPicPr>
          <p:cNvPr id="7" name="Picture 6" descr="A blue circle with text and words&#10;&#10;Description automatically generated">
            <a:extLst>
              <a:ext uri="{FF2B5EF4-FFF2-40B4-BE49-F238E27FC236}">
                <a16:creationId xmlns:a16="http://schemas.microsoft.com/office/drawing/2014/main" xmlns="" id="{19ECFAAD-17D4-0306-3A15-FB8674D1755C}"/>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0758566" y="176754"/>
            <a:ext cx="874732" cy="874732"/>
          </a:xfrm>
          <a:prstGeom prst="rect">
            <a:avLst/>
          </a:prstGeom>
        </p:spPr>
      </p:pic>
      <p:pic>
        <p:nvPicPr>
          <p:cNvPr id="3" name="Picture 2">
            <a:extLst>
              <a:ext uri="{FF2B5EF4-FFF2-40B4-BE49-F238E27FC236}">
                <a16:creationId xmlns:a16="http://schemas.microsoft.com/office/drawing/2014/main" xmlns="" id="{1593B7E2-CC5E-CDA8-4EF8-BDA29B524EE4}"/>
              </a:ext>
            </a:extLst>
          </p:cNvPr>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104932" y="114202"/>
            <a:ext cx="3795634" cy="740238"/>
          </a:xfrm>
          <a:prstGeom prst="rect">
            <a:avLst/>
          </a:prstGeom>
        </p:spPr>
      </p:pic>
      <p:sp>
        <p:nvSpPr>
          <p:cNvPr id="4" name="TextBox 3">
            <a:extLst>
              <a:ext uri="{FF2B5EF4-FFF2-40B4-BE49-F238E27FC236}">
                <a16:creationId xmlns:a16="http://schemas.microsoft.com/office/drawing/2014/main" xmlns="" id="{59F52DD6-B741-D594-DB46-EA415EAFC47F}"/>
              </a:ext>
            </a:extLst>
          </p:cNvPr>
          <p:cNvSpPr txBox="1"/>
          <p:nvPr/>
        </p:nvSpPr>
        <p:spPr>
          <a:xfrm rot="10800000" flipV="1">
            <a:off x="2888160" y="2667275"/>
            <a:ext cx="6601120" cy="1200329"/>
          </a:xfrm>
          <a:prstGeom prst="rect">
            <a:avLst/>
          </a:prstGeom>
          <a:solidFill>
            <a:schemeClr val="tx1"/>
          </a:solidFill>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l"/>
            <a:r>
              <a:rPr lang="en-US" b="1" dirty="0"/>
              <a:t>A Small Activity </a:t>
            </a:r>
          </a:p>
          <a:p>
            <a:pPr algn="l"/>
            <a:r>
              <a:rPr lang="en-US" b="1" dirty="0"/>
              <a:t>G1: Write an algorithm to prepare Maggie.</a:t>
            </a:r>
            <a:br>
              <a:rPr lang="en-US" b="1" dirty="0"/>
            </a:br>
            <a:r>
              <a:rPr lang="en-US" b="1" dirty="0"/>
              <a:t>G2:Write an algorithm to </a:t>
            </a:r>
            <a:r>
              <a:rPr lang="en-US" b="1" dirty="0">
                <a:solidFill>
                  <a:schemeClr val="bg2"/>
                </a:solidFill>
              </a:rPr>
              <a:t>prepare</a:t>
            </a:r>
            <a:r>
              <a:rPr lang="en-US" b="1" dirty="0"/>
              <a:t> Tea.</a:t>
            </a:r>
            <a:br>
              <a:rPr lang="en-US" b="1" dirty="0"/>
            </a:br>
            <a:r>
              <a:rPr lang="en-US" b="1" dirty="0"/>
              <a:t>G3: Write an algorithm to prepare a </a:t>
            </a:r>
            <a:r>
              <a:rPr lang="en-US" b="1" dirty="0" err="1"/>
              <a:t>chapati</a:t>
            </a:r>
            <a:r>
              <a:rPr lang="en-US" b="1" dirty="0"/>
              <a:t>.</a:t>
            </a:r>
          </a:p>
        </p:txBody>
      </p:sp>
      <p:pic>
        <p:nvPicPr>
          <p:cNvPr id="10" name="Picture 9">
            <a:extLst>
              <a:ext uri="{FF2B5EF4-FFF2-40B4-BE49-F238E27FC236}">
                <a16:creationId xmlns:a16="http://schemas.microsoft.com/office/drawing/2014/main" xmlns="" id="{C00ED7FA-F5AD-DB61-473F-AC3BD2154E1B}"/>
              </a:ext>
            </a:extLst>
          </p:cNvPr>
          <p:cNvPicPr>
            <a:picLocks noChangeAspect="1"/>
          </p:cNvPicPr>
          <p:nvPr/>
        </p:nvPicPr>
        <p:blipFill>
          <a:blip r:embed="rId4"/>
          <a:stretch>
            <a:fillRect/>
          </a:stretch>
        </p:blipFill>
        <p:spPr>
          <a:xfrm>
            <a:off x="375840" y="2509440"/>
            <a:ext cx="1839119" cy="1839119"/>
          </a:xfrm>
          <a:prstGeom prst="rect">
            <a:avLst/>
          </a:prstGeom>
        </p:spPr>
      </p:pic>
      <p:pic>
        <p:nvPicPr>
          <p:cNvPr id="16" name="Picture 15">
            <a:extLst>
              <a:ext uri="{FF2B5EF4-FFF2-40B4-BE49-F238E27FC236}">
                <a16:creationId xmlns:a16="http://schemas.microsoft.com/office/drawing/2014/main" xmlns="" id="{0D3E03F3-CEB7-063A-8B5F-8BAE64BC0F97}"/>
              </a:ext>
            </a:extLst>
          </p:cNvPr>
          <p:cNvPicPr>
            <a:picLocks noChangeAspect="1"/>
          </p:cNvPicPr>
          <p:nvPr/>
        </p:nvPicPr>
        <p:blipFill>
          <a:blip r:embed="rId5"/>
          <a:stretch>
            <a:fillRect/>
          </a:stretch>
        </p:blipFill>
        <p:spPr>
          <a:xfrm>
            <a:off x="4683919" y="3896519"/>
            <a:ext cx="2459831" cy="2459831"/>
          </a:xfrm>
          <a:prstGeom prst="rect">
            <a:avLst/>
          </a:prstGeom>
        </p:spPr>
      </p:pic>
      <p:pic>
        <p:nvPicPr>
          <p:cNvPr id="25" name="Picture 24">
            <a:extLst>
              <a:ext uri="{FF2B5EF4-FFF2-40B4-BE49-F238E27FC236}">
                <a16:creationId xmlns:a16="http://schemas.microsoft.com/office/drawing/2014/main" xmlns="" id="{681AF9F4-384A-103F-B454-C152936C2B22}"/>
              </a:ext>
            </a:extLst>
          </p:cNvPr>
          <p:cNvPicPr>
            <a:picLocks noChangeAspect="1"/>
          </p:cNvPicPr>
          <p:nvPr/>
        </p:nvPicPr>
        <p:blipFill>
          <a:blip r:embed="rId6"/>
          <a:stretch>
            <a:fillRect/>
          </a:stretch>
        </p:blipFill>
        <p:spPr>
          <a:xfrm rot="10800000" flipV="1">
            <a:off x="9855754" y="3730491"/>
            <a:ext cx="1663925" cy="2163103"/>
          </a:xfrm>
          <a:prstGeom prst="rect">
            <a:avLst/>
          </a:prstGeom>
        </p:spPr>
      </p:pic>
    </p:spTree>
    <p:extLst>
      <p:ext uri="{BB962C8B-B14F-4D97-AF65-F5344CB8AC3E}">
        <p14:creationId xmlns:p14="http://schemas.microsoft.com/office/powerpoint/2010/main" xmlns="" val="2304652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4583E2C-B972-39A9-23A0-0A144405C28A}"/>
              </a:ext>
            </a:extLst>
          </p:cNvPr>
          <p:cNvSpPr>
            <a:spLocks noGrp="1"/>
          </p:cNvSpPr>
          <p:nvPr>
            <p:ph type="title"/>
          </p:nvPr>
        </p:nvSpPr>
        <p:spPr>
          <a:xfrm>
            <a:off x="418476" y="932741"/>
            <a:ext cx="10515600" cy="1325563"/>
          </a:xfrm>
        </p:spPr>
        <p:txBody>
          <a:bodyPr/>
          <a:lstStyle/>
          <a:p>
            <a:r>
              <a:rPr lang="en-IN" dirty="0"/>
              <a:t>Ask Questions </a:t>
            </a:r>
          </a:p>
        </p:txBody>
      </p:sp>
      <p:graphicFrame>
        <p:nvGraphicFramePr>
          <p:cNvPr id="5" name="Content Placeholder 2">
            <a:extLst>
              <a:ext uri="{FF2B5EF4-FFF2-40B4-BE49-F238E27FC236}">
                <a16:creationId xmlns:a16="http://schemas.microsoft.com/office/drawing/2014/main" xmlns="" id="{52F4C576-15C8-7C09-9DA0-E5729D32FE46}"/>
              </a:ext>
            </a:extLst>
          </p:cNvPr>
          <p:cNvGraphicFramePr>
            <a:graphicFrameLocks noGrp="1"/>
          </p:cNvGraphicFramePr>
          <p:nvPr>
            <p:ph idx="1"/>
            <p:extLst>
              <p:ext uri="{D42A27DB-BD31-4B8C-83A1-F6EECF244321}">
                <p14:modId xmlns:p14="http://schemas.microsoft.com/office/powerpoint/2010/main" xmlns="" val="810393410"/>
              </p:ext>
            </p:extLst>
          </p:nvPr>
        </p:nvGraphicFramePr>
        <p:xfrm>
          <a:off x="1117698" y="1610427"/>
          <a:ext cx="10236102" cy="442604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Footer Placeholder 3">
            <a:extLst>
              <a:ext uri="{FF2B5EF4-FFF2-40B4-BE49-F238E27FC236}">
                <a16:creationId xmlns:a16="http://schemas.microsoft.com/office/drawing/2014/main" xmlns="" id="{1AC84D04-41CA-6E97-EFFB-559B6F6A464E}"/>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xmlns="" id="{152DDEC7-A318-B5ED-6B24-23EF9A30C035}"/>
              </a:ext>
            </a:extLst>
          </p:cNvPr>
          <p:cNvSpPr>
            <a:spLocks noGrp="1"/>
          </p:cNvSpPr>
          <p:nvPr>
            <p:ph type="sldNum" sz="quarter" idx="12"/>
          </p:nvPr>
        </p:nvSpPr>
        <p:spPr/>
        <p:txBody>
          <a:bodyPr/>
          <a:lstStyle/>
          <a:p>
            <a:fld id="{26510230-8DD5-4BA5-AB2D-CA30FC08F9D7}" type="slidenum">
              <a:rPr lang="en-IN" smtClean="0"/>
              <a:pPr/>
              <a:t>4</a:t>
            </a:fld>
            <a:endParaRPr lang="en-IN"/>
          </a:p>
        </p:txBody>
      </p:sp>
      <p:pic>
        <p:nvPicPr>
          <p:cNvPr id="7" name="Picture 6" descr="A blue circle with text and words&#10;&#10;Description automatically generated">
            <a:extLst>
              <a:ext uri="{FF2B5EF4-FFF2-40B4-BE49-F238E27FC236}">
                <a16:creationId xmlns:a16="http://schemas.microsoft.com/office/drawing/2014/main" xmlns="" id="{A15F0BA4-6591-B48C-8EDD-9EEE5C066371}"/>
              </a:ext>
            </a:extLst>
          </p:cNvPr>
          <p:cNvPicPr>
            <a:picLocks noChangeAspect="1"/>
          </p:cNvPicPr>
          <p:nvPr/>
        </p:nvPicPr>
        <p:blipFill>
          <a:blip r:embed="rId6" cstate="print">
            <a:extLst>
              <a:ext uri="{28A0092B-C50C-407E-A947-70E740481C1C}">
                <a14:useLocalDpi xmlns:a14="http://schemas.microsoft.com/office/drawing/2010/main" xmlns="" val="0"/>
              </a:ext>
            </a:extLst>
          </a:blip>
          <a:stretch>
            <a:fillRect/>
          </a:stretch>
        </p:blipFill>
        <p:spPr>
          <a:xfrm>
            <a:off x="10758566" y="176754"/>
            <a:ext cx="874732" cy="874732"/>
          </a:xfrm>
          <a:prstGeom prst="rect">
            <a:avLst/>
          </a:prstGeom>
        </p:spPr>
      </p:pic>
      <p:pic>
        <p:nvPicPr>
          <p:cNvPr id="3" name="Picture 2">
            <a:extLst>
              <a:ext uri="{FF2B5EF4-FFF2-40B4-BE49-F238E27FC236}">
                <a16:creationId xmlns:a16="http://schemas.microsoft.com/office/drawing/2014/main" xmlns="" id="{67406B36-D765-D8A2-99EB-F126932151C9}"/>
              </a:ext>
            </a:extLst>
          </p:cNvPr>
          <p:cNvPicPr>
            <a:picLocks noChangeAspect="1"/>
          </p:cNvPicPr>
          <p:nvPr/>
        </p:nvPicPr>
        <p:blipFill>
          <a:blip r:embed="rId7">
            <a:extLst>
              <a:ext uri="{28A0092B-C50C-407E-A947-70E740481C1C}">
                <a14:useLocalDpi xmlns:a14="http://schemas.microsoft.com/office/drawing/2010/main" xmlns="" val="0"/>
              </a:ext>
            </a:extLst>
          </a:blip>
          <a:stretch>
            <a:fillRect/>
          </a:stretch>
        </p:blipFill>
        <p:spPr>
          <a:xfrm>
            <a:off x="104932" y="114202"/>
            <a:ext cx="3795634" cy="740238"/>
          </a:xfrm>
          <a:prstGeom prst="rect">
            <a:avLst/>
          </a:prstGeom>
        </p:spPr>
      </p:pic>
    </p:spTree>
    <p:extLst>
      <p:ext uri="{BB962C8B-B14F-4D97-AF65-F5344CB8AC3E}">
        <p14:creationId xmlns:p14="http://schemas.microsoft.com/office/powerpoint/2010/main" xmlns="" val="30381964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CC8EF4F-6060-143D-E2D3-D39BCB3ADDA4}"/>
              </a:ext>
            </a:extLst>
          </p:cNvPr>
          <p:cNvSpPr>
            <a:spLocks noGrp="1"/>
          </p:cNvSpPr>
          <p:nvPr>
            <p:ph type="title"/>
          </p:nvPr>
        </p:nvSpPr>
        <p:spPr>
          <a:xfrm>
            <a:off x="558702" y="1102452"/>
            <a:ext cx="10542973" cy="822858"/>
          </a:xfrm>
        </p:spPr>
        <p:txBody>
          <a:bodyPr anchor="ctr">
            <a:normAutofit fontScale="90000"/>
          </a:bodyPr>
          <a:lstStyle/>
          <a:p>
            <a:r>
              <a:rPr lang="en-IN" sz="4000" b="1" dirty="0">
                <a:solidFill>
                  <a:srgbClr val="FFFFFF"/>
                </a:solidFill>
                <a:latin typeface="Arial" panose="020B0604020202020204" pitchFamily="34" charset="0"/>
                <a:cs typeface="Arial" panose="020B0604020202020204" pitchFamily="34" charset="0"/>
              </a:rPr>
              <a:t>At the end of this session students will be able to </a:t>
            </a:r>
          </a:p>
        </p:txBody>
      </p:sp>
      <p:sp>
        <p:nvSpPr>
          <p:cNvPr id="4" name="Footer Placeholder 3">
            <a:extLst>
              <a:ext uri="{FF2B5EF4-FFF2-40B4-BE49-F238E27FC236}">
                <a16:creationId xmlns:a16="http://schemas.microsoft.com/office/drawing/2014/main" xmlns="" id="{9FA7A3F3-F9E0-0ED6-9640-C09E20B4F31D}"/>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xmlns="" id="{712BD711-0225-BB81-E56E-97842AEFBAFF}"/>
              </a:ext>
            </a:extLst>
          </p:cNvPr>
          <p:cNvSpPr>
            <a:spLocks noGrp="1"/>
          </p:cNvSpPr>
          <p:nvPr>
            <p:ph type="sldNum" sz="quarter" idx="12"/>
          </p:nvPr>
        </p:nvSpPr>
        <p:spPr/>
        <p:txBody>
          <a:bodyPr/>
          <a:lstStyle/>
          <a:p>
            <a:fld id="{26510230-8DD5-4BA5-AB2D-CA30FC08F9D7}" type="slidenum">
              <a:rPr lang="en-IN" smtClean="0"/>
              <a:pPr/>
              <a:t>5</a:t>
            </a:fld>
            <a:endParaRPr lang="en-IN"/>
          </a:p>
        </p:txBody>
      </p:sp>
      <p:graphicFrame>
        <p:nvGraphicFramePr>
          <p:cNvPr id="6" name="Title 1">
            <a:extLst>
              <a:ext uri="{FF2B5EF4-FFF2-40B4-BE49-F238E27FC236}">
                <a16:creationId xmlns:a16="http://schemas.microsoft.com/office/drawing/2014/main" xmlns="" id="{FBB5840F-85BE-5580-FDC6-C72FB2C1E292}"/>
              </a:ext>
            </a:extLst>
          </p:cNvPr>
          <p:cNvGraphicFramePr/>
          <p:nvPr>
            <p:extLst>
              <p:ext uri="{D42A27DB-BD31-4B8C-83A1-F6EECF244321}">
                <p14:modId xmlns:p14="http://schemas.microsoft.com/office/powerpoint/2010/main" xmlns="" val="576298315"/>
              </p:ext>
            </p:extLst>
          </p:nvPr>
        </p:nvGraphicFramePr>
        <p:xfrm>
          <a:off x="1001244" y="1793121"/>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Picture 6" descr="A blue circle with text and words&#10;&#10;Description automatically generated">
            <a:extLst>
              <a:ext uri="{FF2B5EF4-FFF2-40B4-BE49-F238E27FC236}">
                <a16:creationId xmlns:a16="http://schemas.microsoft.com/office/drawing/2014/main" xmlns="" id="{6DC91442-66F2-504B-C67F-2CC391B8CAC7}"/>
              </a:ext>
            </a:extLst>
          </p:cNvPr>
          <p:cNvPicPr>
            <a:picLocks noChangeAspect="1"/>
          </p:cNvPicPr>
          <p:nvPr/>
        </p:nvPicPr>
        <p:blipFill>
          <a:blip r:embed="rId6" cstate="print">
            <a:extLst>
              <a:ext uri="{28A0092B-C50C-407E-A947-70E740481C1C}">
                <a14:useLocalDpi xmlns:a14="http://schemas.microsoft.com/office/drawing/2010/main" xmlns="" val="0"/>
              </a:ext>
            </a:extLst>
          </a:blip>
          <a:stretch>
            <a:fillRect/>
          </a:stretch>
        </p:blipFill>
        <p:spPr>
          <a:xfrm>
            <a:off x="10758566" y="176754"/>
            <a:ext cx="874732" cy="874732"/>
          </a:xfrm>
          <a:prstGeom prst="rect">
            <a:avLst/>
          </a:prstGeom>
        </p:spPr>
      </p:pic>
      <p:pic>
        <p:nvPicPr>
          <p:cNvPr id="3" name="Picture 2">
            <a:extLst>
              <a:ext uri="{FF2B5EF4-FFF2-40B4-BE49-F238E27FC236}">
                <a16:creationId xmlns:a16="http://schemas.microsoft.com/office/drawing/2014/main" xmlns="" id="{BCE66B6B-F371-2A0A-CB0C-8E7576D582F1}"/>
              </a:ext>
            </a:extLst>
          </p:cNvPr>
          <p:cNvPicPr>
            <a:picLocks noChangeAspect="1"/>
          </p:cNvPicPr>
          <p:nvPr/>
        </p:nvPicPr>
        <p:blipFill>
          <a:blip r:embed="rId7">
            <a:extLst>
              <a:ext uri="{28A0092B-C50C-407E-A947-70E740481C1C}">
                <a14:useLocalDpi xmlns:a14="http://schemas.microsoft.com/office/drawing/2010/main" xmlns="" val="0"/>
              </a:ext>
            </a:extLst>
          </a:blip>
          <a:stretch>
            <a:fillRect/>
          </a:stretch>
        </p:blipFill>
        <p:spPr>
          <a:xfrm>
            <a:off x="104932" y="114202"/>
            <a:ext cx="3795634" cy="740238"/>
          </a:xfrm>
          <a:prstGeom prst="rect">
            <a:avLst/>
          </a:prstGeom>
        </p:spPr>
      </p:pic>
    </p:spTree>
    <p:extLst>
      <p:ext uri="{BB962C8B-B14F-4D97-AF65-F5344CB8AC3E}">
        <p14:creationId xmlns:p14="http://schemas.microsoft.com/office/powerpoint/2010/main" xmlns="" val="28385916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7A1553B-A216-73BB-FAAB-1FF7D4C33C20}"/>
              </a:ext>
            </a:extLst>
          </p:cNvPr>
          <p:cNvSpPr>
            <a:spLocks noGrp="1"/>
          </p:cNvSpPr>
          <p:nvPr>
            <p:ph type="title"/>
          </p:nvPr>
        </p:nvSpPr>
        <p:spPr>
          <a:xfrm>
            <a:off x="635000" y="640823"/>
            <a:ext cx="3418659" cy="5583148"/>
          </a:xfrm>
        </p:spPr>
        <p:txBody>
          <a:bodyPr anchor="ctr">
            <a:normAutofit/>
          </a:bodyPr>
          <a:lstStyle/>
          <a:p>
            <a:r>
              <a:rPr lang="en-IN" sz="5400" dirty="0"/>
              <a:t>Session Outline</a:t>
            </a:r>
          </a:p>
        </p:txBody>
      </p:sp>
      <p:graphicFrame>
        <p:nvGraphicFramePr>
          <p:cNvPr id="5" name="Content Placeholder 2">
            <a:extLst>
              <a:ext uri="{FF2B5EF4-FFF2-40B4-BE49-F238E27FC236}">
                <a16:creationId xmlns:a16="http://schemas.microsoft.com/office/drawing/2014/main" xmlns="" id="{41A9FE4B-6F20-1C22-6353-F1166E69B9D5}"/>
              </a:ext>
            </a:extLst>
          </p:cNvPr>
          <p:cNvGraphicFramePr>
            <a:graphicFrameLocks noGrp="1"/>
          </p:cNvGraphicFramePr>
          <p:nvPr>
            <p:ph idx="1"/>
            <p:extLst>
              <p:ext uri="{D42A27DB-BD31-4B8C-83A1-F6EECF244321}">
                <p14:modId xmlns:p14="http://schemas.microsoft.com/office/powerpoint/2010/main" xmlns="" val="1561369497"/>
              </p:ext>
            </p:extLst>
          </p:nvPr>
        </p:nvGraphicFramePr>
        <p:xfrm>
          <a:off x="3702845" y="227519"/>
          <a:ext cx="7467414" cy="55831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Footer Placeholder 3">
            <a:extLst>
              <a:ext uri="{FF2B5EF4-FFF2-40B4-BE49-F238E27FC236}">
                <a16:creationId xmlns:a16="http://schemas.microsoft.com/office/drawing/2014/main" xmlns="" id="{BC762DD5-123E-828B-BD74-061BEE1CE009}"/>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xmlns="" id="{9924FF57-302B-97C8-BD3F-550746DA6FE1}"/>
              </a:ext>
            </a:extLst>
          </p:cNvPr>
          <p:cNvSpPr>
            <a:spLocks noGrp="1"/>
          </p:cNvSpPr>
          <p:nvPr>
            <p:ph type="sldNum" sz="quarter" idx="12"/>
          </p:nvPr>
        </p:nvSpPr>
        <p:spPr/>
        <p:txBody>
          <a:bodyPr/>
          <a:lstStyle/>
          <a:p>
            <a:fld id="{26510230-8DD5-4BA5-AB2D-CA30FC08F9D7}" type="slidenum">
              <a:rPr lang="en-IN" smtClean="0"/>
              <a:pPr/>
              <a:t>6</a:t>
            </a:fld>
            <a:endParaRPr lang="en-IN"/>
          </a:p>
        </p:txBody>
      </p:sp>
      <p:pic>
        <p:nvPicPr>
          <p:cNvPr id="7" name="Picture 6" descr="A blue circle with text and words&#10;&#10;Description automatically generated">
            <a:extLst>
              <a:ext uri="{FF2B5EF4-FFF2-40B4-BE49-F238E27FC236}">
                <a16:creationId xmlns:a16="http://schemas.microsoft.com/office/drawing/2014/main" xmlns="" id="{A4DDE187-E81D-B835-E4CD-A2B8788BFA09}"/>
              </a:ext>
            </a:extLst>
          </p:cNvPr>
          <p:cNvPicPr>
            <a:picLocks noChangeAspect="1"/>
          </p:cNvPicPr>
          <p:nvPr/>
        </p:nvPicPr>
        <p:blipFill>
          <a:blip r:embed="rId6" cstate="print">
            <a:extLst>
              <a:ext uri="{28A0092B-C50C-407E-A947-70E740481C1C}">
                <a14:useLocalDpi xmlns:a14="http://schemas.microsoft.com/office/drawing/2010/main" xmlns="" val="0"/>
              </a:ext>
            </a:extLst>
          </a:blip>
          <a:stretch>
            <a:fillRect/>
          </a:stretch>
        </p:blipFill>
        <p:spPr>
          <a:xfrm>
            <a:off x="10758566" y="176754"/>
            <a:ext cx="874732" cy="874732"/>
          </a:xfrm>
          <a:prstGeom prst="rect">
            <a:avLst/>
          </a:prstGeom>
        </p:spPr>
      </p:pic>
      <p:pic>
        <p:nvPicPr>
          <p:cNvPr id="3" name="Picture 2">
            <a:extLst>
              <a:ext uri="{FF2B5EF4-FFF2-40B4-BE49-F238E27FC236}">
                <a16:creationId xmlns:a16="http://schemas.microsoft.com/office/drawing/2014/main" xmlns="" id="{953114F5-F06B-4D82-5258-AB40ED145D39}"/>
              </a:ext>
            </a:extLst>
          </p:cNvPr>
          <p:cNvPicPr>
            <a:picLocks noChangeAspect="1"/>
          </p:cNvPicPr>
          <p:nvPr/>
        </p:nvPicPr>
        <p:blipFill>
          <a:blip r:embed="rId7">
            <a:extLst>
              <a:ext uri="{28A0092B-C50C-407E-A947-70E740481C1C}">
                <a14:useLocalDpi xmlns:a14="http://schemas.microsoft.com/office/drawing/2010/main" xmlns="" val="0"/>
              </a:ext>
            </a:extLst>
          </a:blip>
          <a:stretch>
            <a:fillRect/>
          </a:stretch>
        </p:blipFill>
        <p:spPr>
          <a:xfrm>
            <a:off x="104932" y="114202"/>
            <a:ext cx="3795634" cy="740238"/>
          </a:xfrm>
          <a:prstGeom prst="rect">
            <a:avLst/>
          </a:prstGeom>
        </p:spPr>
      </p:pic>
      <p:sp>
        <p:nvSpPr>
          <p:cNvPr id="8" name="TextBox 7">
            <a:extLst>
              <a:ext uri="{FF2B5EF4-FFF2-40B4-BE49-F238E27FC236}">
                <a16:creationId xmlns:a16="http://schemas.microsoft.com/office/drawing/2014/main" xmlns="" id="{6121F763-F899-FAF0-A37C-18EF262B3C91}"/>
              </a:ext>
            </a:extLst>
          </p:cNvPr>
          <p:cNvSpPr txBox="1"/>
          <p:nvPr/>
        </p:nvSpPr>
        <p:spPr>
          <a:xfrm rot="10800000" flipH="1" flipV="1">
            <a:off x="4260825" y="1228679"/>
            <a:ext cx="6290575" cy="707886"/>
          </a:xfrm>
          <a:prstGeom prst="rect">
            <a:avLst/>
          </a:prstGeom>
          <a:noFill/>
        </p:spPr>
        <p:txBody>
          <a:bodyPr wrap="square" rtlCol="0">
            <a:spAutoFit/>
          </a:bodyPr>
          <a:lstStyle/>
          <a:p>
            <a:pPr algn="l"/>
            <a:r>
              <a:rPr lang="en-US" sz="4000" dirty="0"/>
              <a:t>Learning activity 1</a:t>
            </a:r>
          </a:p>
        </p:txBody>
      </p:sp>
      <p:sp>
        <p:nvSpPr>
          <p:cNvPr id="9" name="TextBox 8">
            <a:extLst>
              <a:ext uri="{FF2B5EF4-FFF2-40B4-BE49-F238E27FC236}">
                <a16:creationId xmlns:a16="http://schemas.microsoft.com/office/drawing/2014/main" xmlns="" id="{B0064169-F3E6-7B0F-C820-DC030461FAB9}"/>
              </a:ext>
            </a:extLst>
          </p:cNvPr>
          <p:cNvSpPr txBox="1"/>
          <p:nvPr/>
        </p:nvSpPr>
        <p:spPr>
          <a:xfrm>
            <a:off x="4269357" y="1995926"/>
            <a:ext cx="7608273" cy="1200329"/>
          </a:xfrm>
          <a:prstGeom prst="rect">
            <a:avLst/>
          </a:prstGeom>
          <a:noFill/>
        </p:spPr>
        <p:txBody>
          <a:bodyPr wrap="square" rtlCol="0">
            <a:spAutoFit/>
          </a:bodyPr>
          <a:lstStyle/>
          <a:p>
            <a:pPr algn="l"/>
            <a:r>
              <a:rPr lang="en-US" sz="3600" dirty="0">
                <a:solidFill>
                  <a:schemeClr val="tx2"/>
                </a:solidFill>
              </a:rPr>
              <a:t>Concept and Definition for Learning Activity 2</a:t>
            </a:r>
            <a:endParaRPr lang="en-US" sz="3600" dirty="0"/>
          </a:p>
        </p:txBody>
      </p:sp>
      <p:sp>
        <p:nvSpPr>
          <p:cNvPr id="10" name="TextBox 9">
            <a:extLst>
              <a:ext uri="{FF2B5EF4-FFF2-40B4-BE49-F238E27FC236}">
                <a16:creationId xmlns:a16="http://schemas.microsoft.com/office/drawing/2014/main" xmlns="" id="{5FD3D3FE-85DA-BB6B-44BF-1D6C0D295914}"/>
              </a:ext>
            </a:extLst>
          </p:cNvPr>
          <p:cNvSpPr txBox="1"/>
          <p:nvPr/>
        </p:nvSpPr>
        <p:spPr>
          <a:xfrm>
            <a:off x="4269357" y="3196255"/>
            <a:ext cx="5610264" cy="707886"/>
          </a:xfrm>
          <a:prstGeom prst="rect">
            <a:avLst/>
          </a:prstGeom>
          <a:noFill/>
        </p:spPr>
        <p:txBody>
          <a:bodyPr wrap="square" rtlCol="0">
            <a:spAutoFit/>
          </a:bodyPr>
          <a:lstStyle/>
          <a:p>
            <a:pPr algn="l"/>
            <a:r>
              <a:rPr lang="en-US" sz="4000" dirty="0"/>
              <a:t>Learning Activity 2</a:t>
            </a:r>
          </a:p>
        </p:txBody>
      </p:sp>
      <p:sp>
        <p:nvSpPr>
          <p:cNvPr id="11" name="TextBox 10">
            <a:extLst>
              <a:ext uri="{FF2B5EF4-FFF2-40B4-BE49-F238E27FC236}">
                <a16:creationId xmlns:a16="http://schemas.microsoft.com/office/drawing/2014/main" xmlns="" id="{0CAD837E-EAD7-64D2-106E-8B63ECE3349F}"/>
              </a:ext>
            </a:extLst>
          </p:cNvPr>
          <p:cNvSpPr txBox="1"/>
          <p:nvPr/>
        </p:nvSpPr>
        <p:spPr>
          <a:xfrm>
            <a:off x="4269357" y="4061283"/>
            <a:ext cx="9157934" cy="707886"/>
          </a:xfrm>
          <a:prstGeom prst="rect">
            <a:avLst/>
          </a:prstGeom>
          <a:noFill/>
        </p:spPr>
        <p:txBody>
          <a:bodyPr wrap="square" rtlCol="0">
            <a:spAutoFit/>
          </a:bodyPr>
          <a:lstStyle/>
          <a:p>
            <a:pPr algn="l"/>
            <a:r>
              <a:rPr lang="en-US" sz="4000" dirty="0"/>
              <a:t>Properties of Asymptotic Notations</a:t>
            </a:r>
          </a:p>
        </p:txBody>
      </p:sp>
      <p:sp>
        <p:nvSpPr>
          <p:cNvPr id="12" name="TextBox 11">
            <a:extLst>
              <a:ext uri="{FF2B5EF4-FFF2-40B4-BE49-F238E27FC236}">
                <a16:creationId xmlns:a16="http://schemas.microsoft.com/office/drawing/2014/main" xmlns="" id="{72C9564F-1EC3-B406-34C0-848B25DA0E6C}"/>
              </a:ext>
            </a:extLst>
          </p:cNvPr>
          <p:cNvSpPr txBox="1"/>
          <p:nvPr/>
        </p:nvSpPr>
        <p:spPr>
          <a:xfrm flipH="1">
            <a:off x="4269356" y="4949590"/>
            <a:ext cx="8684643" cy="646331"/>
          </a:xfrm>
          <a:prstGeom prst="rect">
            <a:avLst/>
          </a:prstGeom>
          <a:noFill/>
        </p:spPr>
        <p:txBody>
          <a:bodyPr wrap="square" rtlCol="0">
            <a:spAutoFit/>
          </a:bodyPr>
          <a:lstStyle/>
          <a:p>
            <a:pPr algn="l"/>
            <a:r>
              <a:rPr lang="en-US" sz="3600" dirty="0"/>
              <a:t>Problem Solving and Hands-On Practice</a:t>
            </a:r>
          </a:p>
        </p:txBody>
      </p:sp>
    </p:spTree>
    <p:extLst>
      <p:ext uri="{BB962C8B-B14F-4D97-AF65-F5344CB8AC3E}">
        <p14:creationId xmlns:p14="http://schemas.microsoft.com/office/powerpoint/2010/main" xmlns="" val="11425593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618E3D3-5416-2940-1D05-671B50B11473}"/>
              </a:ext>
            </a:extLst>
          </p:cNvPr>
          <p:cNvSpPr>
            <a:spLocks noGrp="1"/>
          </p:cNvSpPr>
          <p:nvPr>
            <p:ph type="title"/>
          </p:nvPr>
        </p:nvSpPr>
        <p:spPr>
          <a:xfrm>
            <a:off x="866070" y="1275139"/>
            <a:ext cx="10329862" cy="874733"/>
          </a:xfrm>
        </p:spPr>
        <p:txBody>
          <a:bodyPr vert="horz" lIns="91440" tIns="45720" rIns="91440" bIns="45720" rtlCol="0" anchor="t">
            <a:normAutofit/>
          </a:bodyPr>
          <a:lstStyle/>
          <a:p>
            <a:r>
              <a:rPr lang="en-US" sz="4000" b="1" dirty="0">
                <a:solidFill>
                  <a:schemeClr val="tx2"/>
                </a:solidFill>
              </a:rPr>
              <a:t>Introduction to algorithmic analysis </a:t>
            </a:r>
          </a:p>
        </p:txBody>
      </p:sp>
      <p:sp>
        <p:nvSpPr>
          <p:cNvPr id="6" name="Footer Placeholder 5">
            <a:extLst>
              <a:ext uri="{FF2B5EF4-FFF2-40B4-BE49-F238E27FC236}">
                <a16:creationId xmlns:a16="http://schemas.microsoft.com/office/drawing/2014/main" xmlns="" id="{0AC4C0B8-55BF-7607-C08F-4F93C85CCC8F}"/>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xmlns="" id="{28EC62E8-F0EB-0BD9-2B59-1AA3588B6594}"/>
              </a:ext>
            </a:extLst>
          </p:cNvPr>
          <p:cNvSpPr>
            <a:spLocks noGrp="1"/>
          </p:cNvSpPr>
          <p:nvPr>
            <p:ph type="sldNum" sz="quarter" idx="12"/>
          </p:nvPr>
        </p:nvSpPr>
        <p:spPr/>
        <p:txBody>
          <a:bodyPr/>
          <a:lstStyle/>
          <a:p>
            <a:fld id="{26510230-8DD5-4BA5-AB2D-CA30FC08F9D7}" type="slidenum">
              <a:rPr lang="en-IN" smtClean="0"/>
              <a:pPr/>
              <a:t>7</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xmlns="" id="{79206739-0C22-A2A6-8C67-30EFF62D5B33}"/>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0758566" y="191744"/>
            <a:ext cx="874732" cy="874732"/>
          </a:xfrm>
          <a:prstGeom prst="rect">
            <a:avLst/>
          </a:prstGeom>
        </p:spPr>
      </p:pic>
      <p:pic>
        <p:nvPicPr>
          <p:cNvPr id="3" name="Picture 2">
            <a:extLst>
              <a:ext uri="{FF2B5EF4-FFF2-40B4-BE49-F238E27FC236}">
                <a16:creationId xmlns:a16="http://schemas.microsoft.com/office/drawing/2014/main" xmlns="" id="{37C1D46A-BF2A-20B3-FD02-68B4F4BF6AD2}"/>
              </a:ext>
            </a:extLst>
          </p:cNvPr>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104932" y="114202"/>
            <a:ext cx="3795634" cy="740238"/>
          </a:xfrm>
          <a:prstGeom prst="rect">
            <a:avLst/>
          </a:prstGeom>
        </p:spPr>
      </p:pic>
      <p:sp>
        <p:nvSpPr>
          <p:cNvPr id="4" name="TextBox 3">
            <a:extLst>
              <a:ext uri="{FF2B5EF4-FFF2-40B4-BE49-F238E27FC236}">
                <a16:creationId xmlns:a16="http://schemas.microsoft.com/office/drawing/2014/main" xmlns="" id="{9BDEB629-E71D-FD2D-87CB-1AF40DAEB8BA}"/>
              </a:ext>
            </a:extLst>
          </p:cNvPr>
          <p:cNvSpPr txBox="1"/>
          <p:nvPr/>
        </p:nvSpPr>
        <p:spPr>
          <a:xfrm>
            <a:off x="1278378" y="2358535"/>
            <a:ext cx="9635243" cy="2308324"/>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l"/>
            <a:r>
              <a:rPr lang="en-US" sz="2400" dirty="0"/>
              <a:t>Time efficiency (time complexity): indicates how fast an algorithm runs </a:t>
            </a:r>
          </a:p>
          <a:p>
            <a:pPr algn="l"/>
            <a:r>
              <a:rPr lang="en-US" sz="2400" dirty="0"/>
              <a:t>• Space efficiency (space complexity): refers to the amount of memory units required by the algorithm in addition to the space needed for its input and output </a:t>
            </a:r>
          </a:p>
          <a:p>
            <a:pPr algn="l"/>
            <a:r>
              <a:rPr lang="en-US" sz="2400" dirty="0" smtClean="0"/>
              <a:t>•</a:t>
            </a:r>
            <a:r>
              <a:rPr lang="en-US" sz="2400" dirty="0"/>
              <a:t>The time efficiency of an algorithm is typically as a function of the input size (one or more input parameters).</a:t>
            </a:r>
          </a:p>
        </p:txBody>
      </p:sp>
    </p:spTree>
    <p:extLst>
      <p:ext uri="{BB962C8B-B14F-4D97-AF65-F5344CB8AC3E}">
        <p14:creationId xmlns:p14="http://schemas.microsoft.com/office/powerpoint/2010/main" xmlns="" val="38726184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492A7E7-AB8C-EFF1-D94B-C94B3BDF7059}"/>
              </a:ext>
            </a:extLst>
          </p:cNvPr>
          <p:cNvSpPr>
            <a:spLocks noGrp="1"/>
          </p:cNvSpPr>
          <p:nvPr>
            <p:ph type="title"/>
          </p:nvPr>
        </p:nvSpPr>
        <p:spPr/>
        <p:txBody>
          <a:bodyPr/>
          <a:lstStyle/>
          <a:p>
            <a:r>
              <a:rPr lang="en-US" dirty="0"/>
              <a:t>Time Complexity </a:t>
            </a:r>
          </a:p>
        </p:txBody>
      </p:sp>
      <p:sp>
        <p:nvSpPr>
          <p:cNvPr id="3" name="Content Placeholder 2">
            <a:extLst>
              <a:ext uri="{FF2B5EF4-FFF2-40B4-BE49-F238E27FC236}">
                <a16:creationId xmlns:a16="http://schemas.microsoft.com/office/drawing/2014/main" xmlns="" id="{669DC3DA-3659-4353-CCFB-575D986B40C7}"/>
              </a:ext>
            </a:extLst>
          </p:cNvPr>
          <p:cNvSpPr>
            <a:spLocks noGrp="1"/>
          </p:cNvSpPr>
          <p:nvPr>
            <p:ph idx="1"/>
          </p:nvPr>
        </p:nvSpPr>
        <p:spPr>
          <a:xfrm>
            <a:off x="838200" y="1847850"/>
            <a:ext cx="10515600" cy="4351338"/>
          </a:xfrm>
        </p:spPr>
        <p:txBody>
          <a:bodyPr/>
          <a:lstStyle/>
          <a:p>
            <a:pPr fontAlgn="base"/>
            <a:r>
              <a:rPr lang="en-US" b="0" i="0" dirty="0">
                <a:solidFill>
                  <a:srgbClr val="FFFFFF"/>
                </a:solidFill>
                <a:effectLst/>
                <a:latin typeface="Nunito" panose="02000000000000000000" pitchFamily="2" charset="0"/>
              </a:rPr>
              <a:t>Time complexity of an algorithm can be calculated by </a:t>
            </a:r>
          </a:p>
          <a:p>
            <a:pPr marL="0" indent="0" fontAlgn="base">
              <a:buNone/>
            </a:pPr>
            <a:r>
              <a:rPr lang="en-US" dirty="0"/>
              <a:t>Time complexity of an algorithm can be calculated by using two methods: 
Posteriori </a:t>
            </a:r>
            <a:r>
              <a:rPr lang="en-US" dirty="0" smtClean="0"/>
              <a:t>Analysis(Done after implementation </a:t>
            </a:r>
            <a:r>
              <a:rPr lang="en-US" smtClean="0"/>
              <a:t>of Algorithm)</a:t>
            </a:r>
            <a:r>
              <a:rPr lang="en-US" dirty="0"/>
              <a:t>
Priori </a:t>
            </a:r>
            <a:r>
              <a:rPr lang="en-US" dirty="0" smtClean="0"/>
              <a:t>Analysis(Done </a:t>
            </a:r>
            <a:r>
              <a:rPr lang="en-US" smtClean="0"/>
              <a:t>on Algorithm)</a:t>
            </a:r>
            <a:endParaRPr lang="en-US" dirty="0"/>
          </a:p>
        </p:txBody>
      </p:sp>
      <p:sp>
        <p:nvSpPr>
          <p:cNvPr id="4" name="Footer Placeholder 3">
            <a:extLst>
              <a:ext uri="{FF2B5EF4-FFF2-40B4-BE49-F238E27FC236}">
                <a16:creationId xmlns:a16="http://schemas.microsoft.com/office/drawing/2014/main" xmlns="" id="{5D3F2EB1-105C-5BB9-4915-CA2725B328F5}"/>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xmlns="" id="{075F85AD-E00F-C2C0-CA13-3979DCB5B1EA}"/>
              </a:ext>
            </a:extLst>
          </p:cNvPr>
          <p:cNvSpPr>
            <a:spLocks noGrp="1"/>
          </p:cNvSpPr>
          <p:nvPr>
            <p:ph type="sldNum" sz="quarter" idx="12"/>
          </p:nvPr>
        </p:nvSpPr>
        <p:spPr/>
        <p:txBody>
          <a:bodyPr/>
          <a:lstStyle/>
          <a:p>
            <a:fld id="{26510230-8DD5-4BA5-AB2D-CA30FC08F9D7}" type="slidenum">
              <a:rPr lang="en-IN" smtClean="0"/>
              <a:pPr/>
              <a:t>8</a:t>
            </a:fld>
            <a:endParaRPr lang="en-IN"/>
          </a:p>
        </p:txBody>
      </p:sp>
    </p:spTree>
    <p:extLst>
      <p:ext uri="{BB962C8B-B14F-4D97-AF65-F5344CB8AC3E}">
        <p14:creationId xmlns:p14="http://schemas.microsoft.com/office/powerpoint/2010/main" xmlns="" val="42604623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618E3D3-5416-2940-1D05-671B50B11473}"/>
              </a:ext>
            </a:extLst>
          </p:cNvPr>
          <p:cNvSpPr>
            <a:spLocks noGrp="1"/>
          </p:cNvSpPr>
          <p:nvPr>
            <p:ph type="title"/>
          </p:nvPr>
        </p:nvSpPr>
        <p:spPr>
          <a:xfrm>
            <a:off x="1168311" y="854440"/>
            <a:ext cx="9855377" cy="1426195"/>
          </a:xfrm>
        </p:spPr>
        <p:txBody>
          <a:bodyPr vert="horz" lIns="91440" tIns="45720" rIns="91440" bIns="45720" rtlCol="0" anchor="t">
            <a:normAutofit fontScale="90000"/>
          </a:bodyPr>
          <a:lstStyle/>
          <a:p>
            <a:r>
              <a:rPr lang="en-US" sz="4000" b="1" dirty="0">
                <a:solidFill>
                  <a:schemeClr val="tx2"/>
                </a:solidFill>
              </a:rPr>
              <a:t>Concept and Definition for </a:t>
            </a:r>
            <a:r>
              <a:rPr lang="en-US" sz="4000" b="1" dirty="0" smtClean="0">
                <a:solidFill>
                  <a:schemeClr val="tx2"/>
                </a:solidFill>
              </a:rPr>
              <a:t/>
            </a:r>
            <a:br>
              <a:rPr lang="en-US" sz="4000" b="1" dirty="0" smtClean="0">
                <a:solidFill>
                  <a:schemeClr val="tx2"/>
                </a:solidFill>
              </a:rPr>
            </a:br>
            <a:r>
              <a:rPr lang="en-US" sz="4000" b="1" dirty="0" smtClean="0">
                <a:solidFill>
                  <a:schemeClr val="tx2"/>
                </a:solidFill>
              </a:rPr>
              <a:t>Learning Activity </a:t>
            </a:r>
            <a:r>
              <a:rPr lang="en-US" sz="4000" b="1" dirty="0">
                <a:solidFill>
                  <a:schemeClr val="tx2"/>
                </a:solidFill>
              </a:rPr>
              <a:t>1</a:t>
            </a:r>
            <a:br>
              <a:rPr lang="en-US" sz="4000" b="1" dirty="0">
                <a:solidFill>
                  <a:schemeClr val="tx2"/>
                </a:solidFill>
              </a:rPr>
            </a:br>
            <a:r>
              <a:rPr lang="en-US" sz="4000" b="1" dirty="0">
                <a:solidFill>
                  <a:schemeClr val="tx2"/>
                </a:solidFill>
              </a:rPr>
              <a:t>Asymptotic Notations</a:t>
            </a:r>
          </a:p>
        </p:txBody>
      </p:sp>
      <p:sp>
        <p:nvSpPr>
          <p:cNvPr id="5" name="Footer Placeholder 4">
            <a:extLst>
              <a:ext uri="{FF2B5EF4-FFF2-40B4-BE49-F238E27FC236}">
                <a16:creationId xmlns:a16="http://schemas.microsoft.com/office/drawing/2014/main" xmlns="" id="{2C052BF2-DB06-0F33-BF4F-030AA3F678EC}"/>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xmlns="" id="{5272DA88-D8CC-8A73-7FE5-80FE9C227176}"/>
              </a:ext>
            </a:extLst>
          </p:cNvPr>
          <p:cNvSpPr>
            <a:spLocks noGrp="1"/>
          </p:cNvSpPr>
          <p:nvPr>
            <p:ph type="sldNum" sz="quarter" idx="12"/>
          </p:nvPr>
        </p:nvSpPr>
        <p:spPr/>
        <p:txBody>
          <a:bodyPr/>
          <a:lstStyle/>
          <a:p>
            <a:fld id="{26510230-8DD5-4BA5-AB2D-CA30FC08F9D7}" type="slidenum">
              <a:rPr lang="en-IN" smtClean="0"/>
              <a:pPr/>
              <a:t>9</a:t>
            </a:fld>
            <a:endParaRPr lang="en-IN"/>
          </a:p>
        </p:txBody>
      </p:sp>
      <p:pic>
        <p:nvPicPr>
          <p:cNvPr id="7" name="Picture 6" descr="A blue circle with text and words&#10;&#10;Description automatically generated">
            <a:extLst>
              <a:ext uri="{FF2B5EF4-FFF2-40B4-BE49-F238E27FC236}">
                <a16:creationId xmlns:a16="http://schemas.microsoft.com/office/drawing/2014/main" xmlns="" id="{DE8C5C32-4B1A-2F85-5953-205FDF0CFDB4}"/>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0758566" y="176754"/>
            <a:ext cx="874732" cy="874732"/>
          </a:xfrm>
          <a:prstGeom prst="rect">
            <a:avLst/>
          </a:prstGeom>
        </p:spPr>
      </p:pic>
      <p:pic>
        <p:nvPicPr>
          <p:cNvPr id="3" name="Picture 2">
            <a:extLst>
              <a:ext uri="{FF2B5EF4-FFF2-40B4-BE49-F238E27FC236}">
                <a16:creationId xmlns:a16="http://schemas.microsoft.com/office/drawing/2014/main" xmlns="" id="{E90C4719-7DA0-43DD-C475-A04941375E91}"/>
              </a:ext>
            </a:extLst>
          </p:cNvPr>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104932" y="114202"/>
            <a:ext cx="3795634" cy="740238"/>
          </a:xfrm>
          <a:prstGeom prst="rect">
            <a:avLst/>
          </a:prstGeom>
        </p:spPr>
      </p:pic>
      <p:sp>
        <p:nvSpPr>
          <p:cNvPr id="4" name="TextBox 3">
            <a:extLst>
              <a:ext uri="{FF2B5EF4-FFF2-40B4-BE49-F238E27FC236}">
                <a16:creationId xmlns:a16="http://schemas.microsoft.com/office/drawing/2014/main" xmlns="" id="{A7F19023-F779-FAE6-89EE-E0A32B54D572}"/>
              </a:ext>
            </a:extLst>
          </p:cNvPr>
          <p:cNvSpPr txBox="1"/>
          <p:nvPr/>
        </p:nvSpPr>
        <p:spPr>
          <a:xfrm>
            <a:off x="1168311" y="2684540"/>
            <a:ext cx="9410301" cy="2954655"/>
          </a:xfrm>
          <a:prstGeom prst="rect">
            <a:avLst/>
          </a:prstGeom>
          <a:noFill/>
        </p:spPr>
        <p:txBody>
          <a:bodyPr wrap="square" rtlCol="0">
            <a:spAutoFit/>
          </a:bodyPr>
          <a:lstStyle/>
          <a:p>
            <a:pPr algn="l"/>
            <a:r>
              <a:rPr lang="en-US" sz="2400" dirty="0" smtClean="0"/>
              <a:t>-It is shorthand way of representing running time of an algorithm </a:t>
            </a:r>
          </a:p>
          <a:p>
            <a:pPr algn="l"/>
            <a:r>
              <a:rPr lang="en-US" dirty="0" smtClean="0"/>
              <a:t>- The </a:t>
            </a:r>
            <a:r>
              <a:rPr lang="en-US" dirty="0"/>
              <a:t>main idea is </a:t>
            </a:r>
            <a:r>
              <a:rPr lang="en-US" dirty="0" smtClean="0"/>
              <a:t>to </a:t>
            </a:r>
            <a:r>
              <a:rPr lang="en-US" dirty="0"/>
              <a:t>measure of </a:t>
            </a:r>
            <a:r>
              <a:rPr lang="en-US" dirty="0" smtClean="0"/>
              <a:t>efficiency </a:t>
            </a:r>
            <a:r>
              <a:rPr lang="en-US" dirty="0"/>
              <a:t>of algorithms that doesn’t depend on machines.</a:t>
            </a:r>
          </a:p>
          <a:p>
            <a:pPr algn="l"/>
            <a:endParaRPr lang="en-US" dirty="0"/>
          </a:p>
          <a:p>
            <a:pPr algn="l"/>
            <a:r>
              <a:rPr lang="en-US" dirty="0"/>
              <a:t>There are mainly three asymptotic notations:
</a:t>
            </a:r>
            <a:r>
              <a:rPr lang="en-US" b="1" dirty="0"/>
              <a:t>Big-O Notation (O-notation)
Omega Notation (Ω-notation)
Theta Notation (Θ-notation)</a:t>
            </a:r>
          </a:p>
        </p:txBody>
      </p:sp>
    </p:spTree>
    <p:extLst>
      <p:ext uri="{BB962C8B-B14F-4D97-AF65-F5344CB8AC3E}">
        <p14:creationId xmlns:p14="http://schemas.microsoft.com/office/powerpoint/2010/main" xmlns="" val="24506073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D40BE7E-0C18-BB49-08B1-1EC629A8465D}"/>
              </a:ext>
            </a:extLst>
          </p:cNvPr>
          <p:cNvSpPr>
            <a:spLocks noGrp="1"/>
          </p:cNvSpPr>
          <p:nvPr>
            <p:ph type="title"/>
          </p:nvPr>
        </p:nvSpPr>
        <p:spPr/>
        <p:txBody>
          <a:bodyPr/>
          <a:lstStyle/>
          <a:p>
            <a:r>
              <a:rPr lang="en-US" dirty="0"/>
              <a:t>Big-O Notation (O-notation):</a:t>
            </a:r>
          </a:p>
        </p:txBody>
      </p:sp>
      <p:sp>
        <p:nvSpPr>
          <p:cNvPr id="3" name="Content Placeholder 2">
            <a:extLst>
              <a:ext uri="{FF2B5EF4-FFF2-40B4-BE49-F238E27FC236}">
                <a16:creationId xmlns:a16="http://schemas.microsoft.com/office/drawing/2014/main" xmlns="" id="{BE801C6D-5267-2DEB-5520-515707F52AFA}"/>
              </a:ext>
            </a:extLst>
          </p:cNvPr>
          <p:cNvSpPr>
            <a:spLocks noGrp="1"/>
          </p:cNvSpPr>
          <p:nvPr>
            <p:ph idx="1"/>
          </p:nvPr>
        </p:nvSpPr>
        <p:spPr/>
        <p:txBody>
          <a:bodyPr>
            <a:normAutofit fontScale="92500" lnSpcReduction="10000"/>
          </a:bodyPr>
          <a:lstStyle/>
          <a:p>
            <a:pPr algn="just">
              <a:buFont typeface="Wingdings" pitchFamily="2" charset="2"/>
              <a:buChar char="v"/>
            </a:pPr>
            <a:r>
              <a:rPr lang="en-US" dirty="0"/>
              <a:t>Big-O notation represents the upper bound of the running time of an algorithm. Therefore, it gives the </a:t>
            </a:r>
            <a:r>
              <a:rPr lang="en-US" dirty="0">
                <a:solidFill>
                  <a:srgbClr val="FF0000"/>
                </a:solidFill>
              </a:rPr>
              <a:t>worst-case</a:t>
            </a:r>
            <a:r>
              <a:rPr lang="en-US" dirty="0"/>
              <a:t> complexity of an algorithm.</a:t>
            </a:r>
          </a:p>
          <a:p>
            <a:pPr algn="just">
              <a:buFont typeface="Wingdings" pitchFamily="2" charset="2"/>
              <a:buChar char="v"/>
            </a:pPr>
            <a:r>
              <a:rPr lang="en-US" dirty="0"/>
              <a:t>It is the most widely used notation for Asymptotic analysis.
It specifies the </a:t>
            </a:r>
            <a:r>
              <a:rPr lang="en-US" dirty="0">
                <a:solidFill>
                  <a:srgbClr val="FF0000"/>
                </a:solidFill>
              </a:rPr>
              <a:t>upper bound</a:t>
            </a:r>
            <a:r>
              <a:rPr lang="en-US" dirty="0"/>
              <a:t> of a function.
The maximum time required by an algorithm or the worst-case time complexity.
It returns the highest possible output value(big-O) for a given input.
Big-O(Worst Case) It is defined as the condition that allows an algorithm to complete statement execution in the longest amount of time possible.</a:t>
            </a:r>
          </a:p>
        </p:txBody>
      </p:sp>
      <p:sp>
        <p:nvSpPr>
          <p:cNvPr id="4" name="Footer Placeholder 3">
            <a:extLst>
              <a:ext uri="{FF2B5EF4-FFF2-40B4-BE49-F238E27FC236}">
                <a16:creationId xmlns:a16="http://schemas.microsoft.com/office/drawing/2014/main" xmlns="" id="{EA8529DB-63F3-107D-3FDA-C9245B0F8209}"/>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xmlns="" id="{487EC1EC-8F0A-58C2-5EEA-6BACC6C839F9}"/>
              </a:ext>
            </a:extLst>
          </p:cNvPr>
          <p:cNvSpPr>
            <a:spLocks noGrp="1"/>
          </p:cNvSpPr>
          <p:nvPr>
            <p:ph type="sldNum" sz="quarter" idx="12"/>
          </p:nvPr>
        </p:nvSpPr>
        <p:spPr/>
        <p:txBody>
          <a:bodyPr/>
          <a:lstStyle/>
          <a:p>
            <a:fld id="{26510230-8DD5-4BA5-AB2D-CA30FC08F9D7}" type="slidenum">
              <a:rPr lang="en-IN" smtClean="0"/>
              <a:pPr/>
              <a:t>10</a:t>
            </a:fld>
            <a:endParaRPr lang="en-IN"/>
          </a:p>
        </p:txBody>
      </p:sp>
    </p:spTree>
    <p:extLst>
      <p:ext uri="{BB962C8B-B14F-4D97-AF65-F5344CB8AC3E}">
        <p14:creationId xmlns:p14="http://schemas.microsoft.com/office/powerpoint/2010/main" xmlns="" val="16619930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Text Box 1"/>
          <p:cNvSpPr txBox="1">
            <a:spLocks noChangeArrowheads="1"/>
          </p:cNvSpPr>
          <p:nvPr/>
        </p:nvSpPr>
        <p:spPr bwMode="auto">
          <a:xfrm>
            <a:off x="812800" y="228600"/>
            <a:ext cx="10464800" cy="1143000"/>
          </a:xfrm>
          <a:prstGeom prst="rect">
            <a:avLst/>
          </a:prstGeom>
          <a:noFill/>
          <a:ln w="9525">
            <a:noFill/>
            <a:round/>
            <a:headEnd/>
            <a:tailEnd/>
          </a:ln>
          <a:effectLst/>
        </p:spPr>
        <p:txBody>
          <a:bodyPr lIns="92160" tIns="46080" rIns="92160" bIns="46080" anchor="b"/>
          <a:lstStyle/>
          <a:p>
            <a:pPr algn="ctr">
              <a:spcBef>
                <a:spcPct val="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a:solidFill>
                  <a:srgbClr val="D49FFF"/>
                </a:solidFill>
                <a:latin typeface="Times New Roman" pitchFamily="16" charset="0"/>
                <a:ea typeface="宋体" charset="-122"/>
              </a:rPr>
              <a:t>Growth Rate</a:t>
            </a:r>
          </a:p>
        </p:txBody>
      </p:sp>
      <p:sp>
        <p:nvSpPr>
          <p:cNvPr id="14338" name="Text Box 2"/>
          <p:cNvSpPr txBox="1">
            <a:spLocks noChangeArrowheads="1"/>
          </p:cNvSpPr>
          <p:nvPr/>
        </p:nvSpPr>
        <p:spPr bwMode="auto">
          <a:xfrm>
            <a:off x="812800" y="1676400"/>
            <a:ext cx="10464800" cy="5238750"/>
          </a:xfrm>
          <a:prstGeom prst="rect">
            <a:avLst/>
          </a:prstGeom>
          <a:noFill/>
          <a:ln w="9525">
            <a:noFill/>
            <a:round/>
            <a:headEnd/>
            <a:tailEnd/>
          </a:ln>
          <a:effectLst/>
        </p:spPr>
        <p:txBody>
          <a:bodyPr lIns="92160" tIns="46080" rIns="92160" bIns="46080"/>
          <a:lstStyle/>
          <a:p>
            <a:pPr marL="341313" indent="-341313">
              <a:lnSpc>
                <a:spcPct val="90000"/>
              </a:lnSpc>
              <a:spcBef>
                <a:spcPts val="700"/>
              </a:spcBef>
              <a:buClr>
                <a:srgbClr val="FFCCFF"/>
              </a:buClr>
              <a:buSzPct val="75000"/>
              <a:buFont typeface="Monotype Sorts"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2800" dirty="0">
              <a:ea typeface="宋体" charset="-122"/>
            </a:endParaRPr>
          </a:p>
          <a:p>
            <a:pPr marL="341313" indent="-341313">
              <a:lnSpc>
                <a:spcPct val="90000"/>
              </a:lnSpc>
              <a:spcBef>
                <a:spcPts val="700"/>
              </a:spcBef>
              <a:buClr>
                <a:srgbClr val="FFCCFF"/>
              </a:buClr>
              <a:buSzPct val="75000"/>
              <a:buFont typeface="Monotype Sorts"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2800" dirty="0">
              <a:ea typeface="宋体" charset="-122"/>
            </a:endParaRPr>
          </a:p>
          <a:p>
            <a:pPr marL="341313" indent="-341313">
              <a:lnSpc>
                <a:spcPct val="90000"/>
              </a:lnSpc>
              <a:spcBef>
                <a:spcPts val="700"/>
              </a:spcBef>
              <a:buClr>
                <a:srgbClr val="FFCCFF"/>
              </a:buClr>
              <a:buSzPct val="75000"/>
              <a:buFont typeface="Monotype Sorts"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2800" dirty="0">
              <a:ea typeface="宋体" charset="-122"/>
            </a:endParaRPr>
          </a:p>
          <a:p>
            <a:pPr marL="341313" indent="-341313">
              <a:lnSpc>
                <a:spcPct val="90000"/>
              </a:lnSpc>
              <a:spcBef>
                <a:spcPts val="700"/>
              </a:spcBef>
              <a:buClr>
                <a:srgbClr val="FFCCFF"/>
              </a:buClr>
              <a:buSzPct val="75000"/>
              <a:buFont typeface="Monotype Sorts"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2800" dirty="0">
              <a:ea typeface="宋体" charset="-122"/>
            </a:endParaRPr>
          </a:p>
          <a:p>
            <a:pPr marL="341313" indent="-341313">
              <a:lnSpc>
                <a:spcPct val="90000"/>
              </a:lnSpc>
              <a:spcBef>
                <a:spcPts val="700"/>
              </a:spcBef>
              <a:buClr>
                <a:srgbClr val="FFCCFF"/>
              </a:buClr>
              <a:buSzPct val="75000"/>
              <a:buFont typeface="Monotype Sorts"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2800" dirty="0">
              <a:ea typeface="宋体" charset="-122"/>
            </a:endParaRPr>
          </a:p>
          <a:p>
            <a:pPr marL="341313" indent="-341313">
              <a:lnSpc>
                <a:spcPct val="90000"/>
              </a:lnSpc>
              <a:spcBef>
                <a:spcPts val="700"/>
              </a:spcBef>
              <a:buClr>
                <a:srgbClr val="FFCCFF"/>
              </a:buClr>
              <a:buSzPct val="75000"/>
              <a:buFont typeface="Monotype Sorts"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2800" dirty="0">
              <a:ea typeface="宋体" charset="-122"/>
            </a:endParaRPr>
          </a:p>
          <a:p>
            <a:pPr marL="341313" indent="-341313">
              <a:lnSpc>
                <a:spcPct val="90000"/>
              </a:lnSpc>
              <a:spcBef>
                <a:spcPts val="700"/>
              </a:spcBef>
              <a:buClr>
                <a:srgbClr val="FFCCFF"/>
              </a:buClr>
              <a:buSzPct val="75000"/>
              <a:buFont typeface="Monotype Sorts"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2800" dirty="0">
              <a:ea typeface="宋体" charset="-122"/>
            </a:endParaRPr>
          </a:p>
          <a:p>
            <a:pPr marL="341313" indent="-341313">
              <a:lnSpc>
                <a:spcPct val="90000"/>
              </a:lnSpc>
              <a:spcBef>
                <a:spcPts val="700"/>
              </a:spcBef>
              <a:buClr>
                <a:srgbClr val="FFCCFF"/>
              </a:buClr>
              <a:buSzPct val="75000"/>
              <a:buFont typeface="Monotype Sorts"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2800" dirty="0">
              <a:ea typeface="宋体" charset="-122"/>
            </a:endParaRPr>
          </a:p>
          <a:p>
            <a:pPr marL="341313" indent="-341313">
              <a:lnSpc>
                <a:spcPct val="90000"/>
              </a:lnSpc>
              <a:spcBef>
                <a:spcPts val="550"/>
              </a:spcBef>
              <a:buClr>
                <a:srgbClr val="FFCCFF"/>
              </a:buClr>
              <a:buSzPct val="75000"/>
              <a:buFont typeface="Monotype Sort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200" b="1" dirty="0">
                <a:ea typeface="宋体" charset="-122"/>
              </a:rPr>
              <a:t>The idea is to establish a relative order among functions for large n</a:t>
            </a:r>
          </a:p>
          <a:p>
            <a:pPr marL="341313" indent="-341313">
              <a:lnSpc>
                <a:spcPct val="90000"/>
              </a:lnSpc>
              <a:spcBef>
                <a:spcPts val="550"/>
              </a:spcBef>
              <a:buClr>
                <a:srgbClr val="FFCCFF"/>
              </a:buClr>
              <a:buSzPct val="75000"/>
              <a:buFont typeface="Monotype Sort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200" b="1" dirty="0">
                <a:latin typeface="Symbol" pitchFamily="16" charset="2"/>
                <a:ea typeface="宋体" charset="-122"/>
              </a:rPr>
              <a:t></a:t>
            </a:r>
            <a:r>
              <a:rPr lang="en-US" sz="2200" b="1" dirty="0">
                <a:ea typeface="宋体" charset="-122"/>
              </a:rPr>
              <a:t> c , n</a:t>
            </a:r>
            <a:r>
              <a:rPr lang="en-US" sz="2200" b="1" baseline="-25000" dirty="0">
                <a:ea typeface="宋体" charset="-122"/>
              </a:rPr>
              <a:t>0 </a:t>
            </a:r>
            <a:r>
              <a:rPr lang="en-US" sz="2200" b="1" dirty="0">
                <a:ea typeface="宋体" charset="-122"/>
              </a:rPr>
              <a:t>&gt; 0 such that  f(N) </a:t>
            </a:r>
            <a:r>
              <a:rPr lang="en-US" sz="2200" b="1" dirty="0">
                <a:latin typeface="Symbol" pitchFamily="16" charset="2"/>
                <a:ea typeface="宋体" charset="-122"/>
              </a:rPr>
              <a:t></a:t>
            </a:r>
            <a:r>
              <a:rPr lang="en-US" sz="2200" b="1" dirty="0">
                <a:ea typeface="宋体" charset="-122"/>
              </a:rPr>
              <a:t> c g(N) when N </a:t>
            </a:r>
            <a:r>
              <a:rPr lang="en-US" sz="2200" b="1" dirty="0">
                <a:latin typeface="Symbol" pitchFamily="16" charset="2"/>
                <a:ea typeface="宋体" charset="-122"/>
              </a:rPr>
              <a:t></a:t>
            </a:r>
            <a:r>
              <a:rPr lang="en-US" sz="2200" b="1" dirty="0">
                <a:ea typeface="宋体" charset="-122"/>
              </a:rPr>
              <a:t> n</a:t>
            </a:r>
            <a:r>
              <a:rPr lang="en-US" sz="2200" b="1" baseline="-25000" dirty="0">
                <a:ea typeface="宋体" charset="-122"/>
              </a:rPr>
              <a:t>0</a:t>
            </a:r>
          </a:p>
          <a:p>
            <a:pPr marL="341313" indent="-341313">
              <a:lnSpc>
                <a:spcPct val="90000"/>
              </a:lnSpc>
              <a:spcBef>
                <a:spcPts val="550"/>
              </a:spcBef>
              <a:buClr>
                <a:srgbClr val="FFCCFF"/>
              </a:buClr>
              <a:buSzPct val="75000"/>
              <a:buFont typeface="Monotype Sort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200" b="1" dirty="0">
                <a:ea typeface="宋体" charset="-122"/>
              </a:rPr>
              <a:t>f(N) grows no faster than g(N) for “large” N</a:t>
            </a:r>
          </a:p>
        </p:txBody>
      </p:sp>
      <p:pic>
        <p:nvPicPr>
          <p:cNvPr id="14339" name="Picture 3"/>
          <p:cNvPicPr>
            <a:picLocks noChangeAspect="1" noChangeArrowheads="1"/>
          </p:cNvPicPr>
          <p:nvPr/>
        </p:nvPicPr>
        <p:blipFill>
          <a:blip r:embed="rId3"/>
          <a:srcRect/>
          <a:stretch>
            <a:fillRect/>
          </a:stretch>
        </p:blipFill>
        <p:spPr bwMode="auto">
          <a:xfrm>
            <a:off x="3759200" y="1295403"/>
            <a:ext cx="5486400" cy="4011613"/>
          </a:xfrm>
          <a:prstGeom prst="rect">
            <a:avLst/>
          </a:prstGeom>
          <a:noFill/>
          <a:ln w="9525">
            <a:noFill/>
            <a:round/>
            <a:headEnd/>
            <a:tailEnd/>
          </a:ln>
          <a:effectLst/>
        </p:spPr>
      </p:pic>
    </p:spTree>
  </p:cSld>
  <p:clrMapOvr>
    <a:masterClrMapping/>
  </p:clrMapOvr>
  <p:transition spd="med"/>
  <p:timing>
    <p:tnLst>
      <p:par>
        <p:cTn id="1" dur="indefinite" restart="never" nodeType="tmRoot">
          <p:childTnLst>
            <p:seq concurrent="1" nextAc="seek">
              <p:cTn id="2" dur="indefinite" nodeType="mainSeq">
                <p:childTnLst>
                  <p:par>
                    <p:cTn id="3" fill="hold" nodeType="clickEffect">
                      <p:stCondLst>
                        <p:cond delay="indefinite"/>
                      </p:stCondLst>
                      <p:childTnLst>
                        <p:par>
                          <p:cTn id="4" fill="hold" nodeType="clickEffect">
                            <p:stCondLst>
                              <p:cond delay="0"/>
                            </p:stCondLst>
                            <p:childTnLst>
                              <p:par>
                                <p:cTn id="5" presetID="1" presetClass="entr" fill="hold" nodeType="clickEffect">
                                  <p:stCondLst>
                                    <p:cond delay="0"/>
                                  </p:stCondLst>
                                  <p:childTnLst>
                                    <p:set>
                                      <p:cBhvr additive="repl">
                                        <p:cTn id="6" dur="1" fill="hold">
                                          <p:stCondLst>
                                            <p:cond delay="0"/>
                                          </p:stCondLst>
                                        </p:cTn>
                                        <p:tgtEl>
                                          <p:spTgt spid="14338">
                                            <p:txEl>
                                              <p:pRg st="9" end="9"/>
                                            </p:txEl>
                                          </p:spTgt>
                                        </p:tgtEl>
                                        <p:attrNameLst>
                                          <p:attrName>style.visibility</p:attrName>
                                        </p:attrNameLst>
                                      </p:cBhvr>
                                      <p:to>
                                        <p:strVal val="visible"/>
                                      </p:to>
                                    </p:set>
                                  </p:childTnLst>
                                </p:cTn>
                              </p:par>
                            </p:childTnLst>
                          </p:cTn>
                        </p:par>
                      </p:childTnLst>
                    </p:cTn>
                  </p:par>
                  <p:par>
                    <p:cTn id="7" fill="hold" nodeType="clickEffect">
                      <p:stCondLst>
                        <p:cond delay="indefinite"/>
                      </p:stCondLst>
                      <p:childTnLst>
                        <p:par>
                          <p:cTn id="8" fill="hold" nodeType="clickEffect">
                            <p:stCondLst>
                              <p:cond delay="0"/>
                            </p:stCondLst>
                            <p:childTnLst>
                              <p:par>
                                <p:cTn id="9" presetID="1" presetClass="entr" fill="hold" nodeType="clickEffect">
                                  <p:stCondLst>
                                    <p:cond delay="0"/>
                                  </p:stCondLst>
                                  <p:childTnLst>
                                    <p:set>
                                      <p:cBhvr additive="repl">
                                        <p:cTn id="10" dur="1" fill="hold">
                                          <p:stCondLst>
                                            <p:cond delay="0"/>
                                          </p:stCondLst>
                                        </p:cTn>
                                        <p:tgtEl>
                                          <p:spTgt spid="1433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ext Box 1"/>
          <p:cNvSpPr txBox="1">
            <a:spLocks noChangeArrowheads="1"/>
          </p:cNvSpPr>
          <p:nvPr/>
        </p:nvSpPr>
        <p:spPr bwMode="auto">
          <a:xfrm>
            <a:off x="812800" y="228600"/>
            <a:ext cx="10464800" cy="1143000"/>
          </a:xfrm>
          <a:prstGeom prst="rect">
            <a:avLst/>
          </a:prstGeom>
          <a:noFill/>
          <a:ln w="9525">
            <a:noFill/>
            <a:round/>
            <a:headEnd/>
            <a:tailEnd/>
          </a:ln>
          <a:effectLst/>
        </p:spPr>
        <p:txBody>
          <a:bodyPr lIns="92160" tIns="46080" rIns="92160" bIns="46080" anchor="b"/>
          <a:lstStyle/>
          <a:p>
            <a:pPr algn="ctr">
              <a:spcBef>
                <a:spcPct val="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a:solidFill>
                  <a:srgbClr val="D49FFF"/>
                </a:solidFill>
                <a:latin typeface="Times New Roman" pitchFamily="16" charset="0"/>
                <a:ea typeface="宋体" charset="-122"/>
              </a:rPr>
              <a:t>Asymptotic notation: Big-Oh</a:t>
            </a:r>
          </a:p>
        </p:txBody>
      </p:sp>
      <p:sp>
        <p:nvSpPr>
          <p:cNvPr id="15362" name="Text Box 2"/>
          <p:cNvSpPr txBox="1">
            <a:spLocks noChangeArrowheads="1"/>
          </p:cNvSpPr>
          <p:nvPr/>
        </p:nvSpPr>
        <p:spPr bwMode="auto">
          <a:xfrm>
            <a:off x="812800" y="1676400"/>
            <a:ext cx="10464800" cy="4800600"/>
          </a:xfrm>
          <a:prstGeom prst="rect">
            <a:avLst/>
          </a:prstGeom>
          <a:noFill/>
          <a:ln w="9525">
            <a:noFill/>
            <a:round/>
            <a:headEnd/>
            <a:tailEnd/>
          </a:ln>
          <a:effectLst/>
        </p:spPr>
        <p:txBody>
          <a:bodyPr lIns="92160" tIns="46080" rIns="92160" bIns="46080"/>
          <a:lstStyle/>
          <a:p>
            <a:pPr marL="341313" indent="-341313">
              <a:spcBef>
                <a:spcPts val="700"/>
              </a:spcBef>
              <a:buClr>
                <a:srgbClr val="FFCCFF"/>
              </a:buClr>
              <a:buSzPct val="75000"/>
              <a:buFont typeface="Monotype Sort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800" b="1" dirty="0">
                <a:ea typeface="宋体" charset="-122"/>
              </a:rPr>
              <a:t>f(N) = O(g(N))</a:t>
            </a:r>
          </a:p>
          <a:p>
            <a:pPr marL="341313" indent="-341313">
              <a:spcBef>
                <a:spcPts val="700"/>
              </a:spcBef>
              <a:buClr>
                <a:srgbClr val="FFCCFF"/>
              </a:buClr>
              <a:buSzPct val="75000"/>
              <a:buFont typeface="Monotype Sort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800" b="1" dirty="0">
                <a:ea typeface="宋体" charset="-122"/>
              </a:rPr>
              <a:t>There are positive constants c and n</a:t>
            </a:r>
            <a:r>
              <a:rPr lang="en-US" sz="2800" b="1" baseline="-25000" dirty="0">
                <a:ea typeface="宋体" charset="-122"/>
              </a:rPr>
              <a:t>0</a:t>
            </a:r>
            <a:r>
              <a:rPr lang="en-US" sz="2800" b="1" dirty="0">
                <a:ea typeface="宋体" charset="-122"/>
              </a:rPr>
              <a:t> such that </a:t>
            </a:r>
          </a:p>
          <a:p>
            <a:pPr marL="341313" indent="-341313">
              <a:spcBef>
                <a:spcPts val="700"/>
              </a:spcBef>
              <a:buClrTx/>
              <a:buSzPct val="75000"/>
              <a:buFontTx/>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800" b="1" dirty="0">
                <a:ea typeface="宋体" charset="-122"/>
              </a:rPr>
              <a:t>                f(N) </a:t>
            </a:r>
            <a:r>
              <a:rPr lang="en-US" sz="2800" b="1" dirty="0">
                <a:latin typeface="Symbol" pitchFamily="16" charset="2"/>
                <a:ea typeface="宋体" charset="-122"/>
              </a:rPr>
              <a:t></a:t>
            </a:r>
            <a:r>
              <a:rPr lang="en-US" sz="2800" b="1" dirty="0">
                <a:ea typeface="宋体" charset="-122"/>
              </a:rPr>
              <a:t> c g(N) when N </a:t>
            </a:r>
            <a:r>
              <a:rPr lang="en-US" sz="2800" b="1" dirty="0">
                <a:latin typeface="Symbol" pitchFamily="16" charset="2"/>
                <a:ea typeface="宋体" charset="-122"/>
              </a:rPr>
              <a:t></a:t>
            </a:r>
            <a:r>
              <a:rPr lang="en-US" sz="2800" b="1" dirty="0">
                <a:ea typeface="宋体" charset="-122"/>
              </a:rPr>
              <a:t> n</a:t>
            </a:r>
            <a:r>
              <a:rPr lang="en-US" sz="2800" b="1" baseline="-25000" dirty="0">
                <a:ea typeface="宋体" charset="-122"/>
              </a:rPr>
              <a:t>0</a:t>
            </a:r>
          </a:p>
          <a:p>
            <a:pPr marL="341313" indent="-341313">
              <a:spcBef>
                <a:spcPts val="700"/>
              </a:spcBef>
              <a:buClrTx/>
              <a:buSzPct val="75000"/>
              <a:buFontTx/>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2800" b="1" baseline="-25000" dirty="0">
              <a:ea typeface="宋体" charset="-122"/>
            </a:endParaRPr>
          </a:p>
          <a:p>
            <a:pPr marL="341313" indent="-341313">
              <a:spcBef>
                <a:spcPts val="700"/>
              </a:spcBef>
              <a:buClr>
                <a:srgbClr val="FFCCFF"/>
              </a:buClr>
              <a:buSzPct val="75000"/>
              <a:buFont typeface="Monotype Sort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800" b="1" dirty="0">
                <a:ea typeface="宋体" charset="-122"/>
              </a:rPr>
              <a:t>The growth rate of f(N) is </a:t>
            </a:r>
            <a:r>
              <a:rPr lang="en-US" sz="2800" b="1" i="1" dirty="0">
                <a:ea typeface="宋体" charset="-122"/>
              </a:rPr>
              <a:t>less than or equal to</a:t>
            </a:r>
            <a:r>
              <a:rPr lang="en-US" sz="2800" b="1" dirty="0">
                <a:ea typeface="宋体" charset="-122"/>
              </a:rPr>
              <a:t> the growth rate of g(N)</a:t>
            </a:r>
          </a:p>
          <a:p>
            <a:pPr marL="341313" indent="-341313">
              <a:spcBef>
                <a:spcPts val="700"/>
              </a:spcBef>
              <a:buClr>
                <a:srgbClr val="FFCCFF"/>
              </a:buClr>
              <a:buSzPct val="75000"/>
              <a:buFont typeface="Monotype Sort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800" b="1" dirty="0">
                <a:ea typeface="宋体" charset="-122"/>
              </a:rPr>
              <a:t>g(N) is an upper bound on f(N)</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ext Box 1"/>
          <p:cNvSpPr txBox="1">
            <a:spLocks noChangeArrowheads="1"/>
          </p:cNvSpPr>
          <p:nvPr/>
        </p:nvSpPr>
        <p:spPr bwMode="auto">
          <a:xfrm>
            <a:off x="812800" y="228600"/>
            <a:ext cx="10464800" cy="1143000"/>
          </a:xfrm>
          <a:prstGeom prst="rect">
            <a:avLst/>
          </a:prstGeom>
          <a:noFill/>
          <a:ln w="9525">
            <a:noFill/>
            <a:round/>
            <a:headEnd/>
            <a:tailEnd/>
          </a:ln>
          <a:effectLst/>
        </p:spPr>
        <p:txBody>
          <a:bodyPr lIns="92160" tIns="46080" rIns="92160" bIns="46080" anchor="b"/>
          <a:lstStyle/>
          <a:p>
            <a:pPr algn="ctr">
              <a:spcBef>
                <a:spcPct val="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a:solidFill>
                  <a:srgbClr val="D49FFF"/>
                </a:solidFill>
                <a:latin typeface="Times New Roman" pitchFamily="16" charset="0"/>
                <a:ea typeface="宋体" charset="-122"/>
              </a:rPr>
              <a:t>Big-Oh: example</a:t>
            </a:r>
          </a:p>
        </p:txBody>
      </p:sp>
      <p:sp>
        <p:nvSpPr>
          <p:cNvPr id="16386" name="Text Box 2"/>
          <p:cNvSpPr txBox="1">
            <a:spLocks noChangeArrowheads="1"/>
          </p:cNvSpPr>
          <p:nvPr/>
        </p:nvSpPr>
        <p:spPr bwMode="auto">
          <a:xfrm>
            <a:off x="812800" y="1676400"/>
            <a:ext cx="10464800" cy="4800600"/>
          </a:xfrm>
          <a:prstGeom prst="rect">
            <a:avLst/>
          </a:prstGeom>
          <a:noFill/>
          <a:ln w="9525">
            <a:noFill/>
            <a:round/>
            <a:headEnd/>
            <a:tailEnd/>
          </a:ln>
          <a:effectLst/>
        </p:spPr>
        <p:txBody>
          <a:bodyPr lIns="92160" tIns="46080" rIns="92160" bIns="46080"/>
          <a:lstStyle/>
          <a:p>
            <a:pPr marL="341313" indent="-341313">
              <a:spcBef>
                <a:spcPts val="700"/>
              </a:spcBef>
              <a:buClr>
                <a:srgbClr val="FFCCFF"/>
              </a:buClr>
              <a:buSzPct val="75000"/>
              <a:buFont typeface="Monotype Sort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800" b="1" dirty="0">
                <a:ea typeface="宋体" charset="-122"/>
              </a:rPr>
              <a:t>Let f(N) = 2N</a:t>
            </a:r>
            <a:r>
              <a:rPr lang="en-US" sz="2800" b="1" baseline="30000" dirty="0">
                <a:ea typeface="宋体" charset="-122"/>
              </a:rPr>
              <a:t>2</a:t>
            </a:r>
            <a:r>
              <a:rPr lang="en-US" sz="2800" b="1" dirty="0">
                <a:ea typeface="宋体" charset="-122"/>
              </a:rPr>
              <a:t>.  Then</a:t>
            </a:r>
          </a:p>
          <a:p>
            <a:pPr marL="741363" lvl="1" indent="-284163">
              <a:spcBef>
                <a:spcPts val="600"/>
              </a:spcBef>
              <a:buClr>
                <a:srgbClr val="FFCCFF"/>
              </a:buClr>
              <a:buSzPct val="80000"/>
              <a:buFont typeface="Monotype Sort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400" b="1" dirty="0">
                <a:ea typeface="宋体" charset="-122"/>
              </a:rPr>
              <a:t>f(N) = O(N</a:t>
            </a:r>
            <a:r>
              <a:rPr lang="en-US" sz="2400" b="1" baseline="30000" dirty="0">
                <a:ea typeface="宋体" charset="-122"/>
              </a:rPr>
              <a:t>4</a:t>
            </a:r>
            <a:r>
              <a:rPr lang="en-US" sz="2400" b="1" dirty="0">
                <a:ea typeface="宋体" charset="-122"/>
              </a:rPr>
              <a:t>)</a:t>
            </a:r>
          </a:p>
          <a:p>
            <a:pPr marL="741363" lvl="1" indent="-284163">
              <a:spcBef>
                <a:spcPts val="600"/>
              </a:spcBef>
              <a:buClr>
                <a:srgbClr val="FFCCFF"/>
              </a:buClr>
              <a:buSzPct val="80000"/>
              <a:buFont typeface="Monotype Sort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400" b="1" dirty="0">
                <a:ea typeface="宋体" charset="-122"/>
              </a:rPr>
              <a:t>f(N) = O(N</a:t>
            </a:r>
            <a:r>
              <a:rPr lang="en-US" sz="2400" b="1" baseline="30000" dirty="0">
                <a:ea typeface="宋体" charset="-122"/>
              </a:rPr>
              <a:t>3</a:t>
            </a:r>
            <a:r>
              <a:rPr lang="en-US" sz="2400" b="1" dirty="0">
                <a:ea typeface="宋体" charset="-122"/>
              </a:rPr>
              <a:t>)</a:t>
            </a:r>
          </a:p>
          <a:p>
            <a:pPr marL="741363" lvl="1" indent="-284163">
              <a:spcBef>
                <a:spcPts val="600"/>
              </a:spcBef>
              <a:buClr>
                <a:srgbClr val="FFCCFF"/>
              </a:buClr>
              <a:buSzPct val="80000"/>
              <a:buFont typeface="Monotype Sort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400" b="1" dirty="0">
                <a:ea typeface="宋体" charset="-122"/>
              </a:rPr>
              <a:t>f(N) = O(N</a:t>
            </a:r>
            <a:r>
              <a:rPr lang="en-US" sz="2400" b="1" baseline="30000" dirty="0">
                <a:ea typeface="宋体" charset="-122"/>
              </a:rPr>
              <a:t>2</a:t>
            </a:r>
            <a:r>
              <a:rPr lang="en-US" sz="2400" b="1" dirty="0">
                <a:ea typeface="宋体" charset="-122"/>
              </a:rPr>
              <a:t>) (best answer, asymptotically tight)</a:t>
            </a:r>
          </a:p>
          <a:p>
            <a:pPr marL="741363" lvl="1" indent="-284163">
              <a:spcBef>
                <a:spcPts val="600"/>
              </a:spcBef>
              <a:buClr>
                <a:srgbClr val="FFCCFF"/>
              </a:buClr>
              <a:buSzPct val="80000"/>
              <a:buFont typeface="Monotype Sorts"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2400" b="1" dirty="0">
              <a:ea typeface="宋体" charset="-122"/>
            </a:endParaRPr>
          </a:p>
          <a:p>
            <a:pPr marL="341313" indent="-341313">
              <a:spcBef>
                <a:spcPts val="700"/>
              </a:spcBef>
              <a:buClr>
                <a:srgbClr val="FFCCFF"/>
              </a:buClr>
              <a:buSzPct val="75000"/>
              <a:buFont typeface="Monotype Sort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400" b="1" dirty="0">
                <a:ea typeface="宋体" charset="-122"/>
              </a:rPr>
              <a:t>O(N</a:t>
            </a:r>
            <a:r>
              <a:rPr lang="en-US" sz="2400" b="1" baseline="30000" dirty="0">
                <a:ea typeface="宋体" charset="-122"/>
              </a:rPr>
              <a:t>2</a:t>
            </a:r>
            <a:r>
              <a:rPr lang="en-US" sz="2400" b="1" dirty="0">
                <a:ea typeface="宋体" charset="-122"/>
              </a:rPr>
              <a:t>): reads “order N-squared” or “Big-Oh N-squared”</a:t>
            </a:r>
            <a:r>
              <a:rPr lang="en-US" sz="2800" b="1" dirty="0">
                <a:ea typeface="宋体" charset="-122"/>
              </a:rPr>
              <a:t> </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ext Box 1"/>
          <p:cNvSpPr txBox="1">
            <a:spLocks noChangeArrowheads="1"/>
          </p:cNvSpPr>
          <p:nvPr/>
        </p:nvSpPr>
        <p:spPr bwMode="auto">
          <a:xfrm>
            <a:off x="812800" y="228600"/>
            <a:ext cx="10464800" cy="1143000"/>
          </a:xfrm>
          <a:prstGeom prst="rect">
            <a:avLst/>
          </a:prstGeom>
          <a:noFill/>
          <a:ln w="9525">
            <a:noFill/>
            <a:round/>
            <a:headEnd/>
            <a:tailEnd/>
          </a:ln>
          <a:effectLst/>
        </p:spPr>
        <p:txBody>
          <a:bodyPr lIns="92160" tIns="46080" rIns="92160" bIns="46080" anchor="b"/>
          <a:lstStyle/>
          <a:p>
            <a:pPr algn="ctr">
              <a:spcBef>
                <a:spcPct val="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a:solidFill>
                  <a:srgbClr val="D49FFF"/>
                </a:solidFill>
                <a:latin typeface="Times New Roman" pitchFamily="16" charset="0"/>
                <a:ea typeface="宋体" charset="-122"/>
              </a:rPr>
              <a:t>Big Oh: more examples</a:t>
            </a:r>
          </a:p>
        </p:txBody>
      </p:sp>
      <p:sp>
        <p:nvSpPr>
          <p:cNvPr id="17410" name="Text Box 2"/>
          <p:cNvSpPr txBox="1">
            <a:spLocks noChangeArrowheads="1"/>
          </p:cNvSpPr>
          <p:nvPr/>
        </p:nvSpPr>
        <p:spPr bwMode="auto">
          <a:xfrm>
            <a:off x="812800" y="1676400"/>
            <a:ext cx="10464800" cy="5226050"/>
          </a:xfrm>
          <a:prstGeom prst="rect">
            <a:avLst/>
          </a:prstGeom>
          <a:noFill/>
          <a:ln w="9525">
            <a:noFill/>
            <a:round/>
            <a:headEnd/>
            <a:tailEnd/>
          </a:ln>
          <a:effectLst/>
        </p:spPr>
        <p:txBody>
          <a:bodyPr lIns="92160" tIns="46080" rIns="92160" bIns="46080"/>
          <a:lstStyle/>
          <a:p>
            <a:pPr marL="341313" indent="-341313">
              <a:buClr>
                <a:srgbClr val="FFCCFF"/>
              </a:buClr>
              <a:buSzPct val="75000"/>
              <a:buFont typeface="Monotype Sort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b="1" dirty="0">
                <a:ea typeface="宋体" charset="-122"/>
              </a:rPr>
              <a:t>N</a:t>
            </a:r>
            <a:r>
              <a:rPr lang="en-US" b="1" baseline="30000" dirty="0">
                <a:ea typeface="宋体" charset="-122"/>
              </a:rPr>
              <a:t>2</a:t>
            </a:r>
            <a:r>
              <a:rPr lang="en-US" b="1" dirty="0">
                <a:ea typeface="宋体" charset="-122"/>
              </a:rPr>
              <a:t> / 2 – 3N = O(N</a:t>
            </a:r>
            <a:r>
              <a:rPr lang="en-US" b="1" baseline="30000" dirty="0">
                <a:ea typeface="宋体" charset="-122"/>
              </a:rPr>
              <a:t>2</a:t>
            </a:r>
            <a:r>
              <a:rPr lang="en-US" b="1" dirty="0">
                <a:ea typeface="宋体" charset="-122"/>
              </a:rPr>
              <a:t>)</a:t>
            </a:r>
          </a:p>
          <a:p>
            <a:pPr marL="341313" indent="-341313">
              <a:buClr>
                <a:srgbClr val="FFCCFF"/>
              </a:buClr>
              <a:buSzPct val="75000"/>
              <a:buFont typeface="Monotype Sort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b="1" dirty="0">
                <a:ea typeface="宋体" charset="-122"/>
              </a:rPr>
              <a:t>1 + 4N = O(N)</a:t>
            </a:r>
          </a:p>
          <a:p>
            <a:pPr marL="341313" indent="-341313">
              <a:buClr>
                <a:srgbClr val="FFCCFF"/>
              </a:buClr>
              <a:buSzPct val="75000"/>
              <a:buFont typeface="Monotype Sort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b="1" dirty="0">
                <a:ea typeface="宋体" charset="-122"/>
              </a:rPr>
              <a:t>7N</a:t>
            </a:r>
            <a:r>
              <a:rPr lang="en-US" b="1" baseline="30000" dirty="0">
                <a:ea typeface="宋体" charset="-122"/>
              </a:rPr>
              <a:t>2</a:t>
            </a:r>
            <a:r>
              <a:rPr lang="en-US" b="1" dirty="0">
                <a:ea typeface="宋体" charset="-122"/>
              </a:rPr>
              <a:t> + 10N + 3 = O(N</a:t>
            </a:r>
            <a:r>
              <a:rPr lang="en-US" b="1" baseline="30000" dirty="0">
                <a:ea typeface="宋体" charset="-122"/>
              </a:rPr>
              <a:t>2</a:t>
            </a:r>
            <a:r>
              <a:rPr lang="en-US" b="1" dirty="0">
                <a:ea typeface="宋体" charset="-122"/>
              </a:rPr>
              <a:t>) = O(N</a:t>
            </a:r>
            <a:r>
              <a:rPr lang="en-US" b="1" baseline="30000" dirty="0">
                <a:ea typeface="宋体" charset="-122"/>
              </a:rPr>
              <a:t>3</a:t>
            </a:r>
            <a:r>
              <a:rPr lang="en-US" b="1" dirty="0">
                <a:ea typeface="宋体" charset="-122"/>
              </a:rPr>
              <a:t>)</a:t>
            </a:r>
          </a:p>
          <a:p>
            <a:pPr marL="341313" indent="-341313">
              <a:buClr>
                <a:srgbClr val="FFCCFF"/>
              </a:buClr>
              <a:buSzPct val="75000"/>
              <a:buFont typeface="Monotype Sort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b="1" dirty="0">
                <a:ea typeface="宋体" charset="-122"/>
              </a:rPr>
              <a:t>log</a:t>
            </a:r>
            <a:r>
              <a:rPr lang="en-US" b="1" baseline="-25000" dirty="0">
                <a:ea typeface="宋体" charset="-122"/>
              </a:rPr>
              <a:t>10</a:t>
            </a:r>
            <a:r>
              <a:rPr lang="en-US" b="1" dirty="0">
                <a:ea typeface="宋体" charset="-122"/>
              </a:rPr>
              <a:t> N = log</a:t>
            </a:r>
            <a:r>
              <a:rPr lang="en-US" b="1" baseline="-25000" dirty="0">
                <a:ea typeface="宋体" charset="-122"/>
              </a:rPr>
              <a:t>2</a:t>
            </a:r>
            <a:r>
              <a:rPr lang="en-US" b="1" dirty="0">
                <a:ea typeface="宋体" charset="-122"/>
              </a:rPr>
              <a:t> N / log</a:t>
            </a:r>
            <a:r>
              <a:rPr lang="en-US" b="1" baseline="-25000" dirty="0">
                <a:ea typeface="宋体" charset="-122"/>
              </a:rPr>
              <a:t>2</a:t>
            </a:r>
            <a:r>
              <a:rPr lang="en-US" b="1" dirty="0">
                <a:ea typeface="宋体" charset="-122"/>
              </a:rPr>
              <a:t> 10 = O(log</a:t>
            </a:r>
            <a:r>
              <a:rPr lang="en-US" b="1" baseline="-25000" dirty="0">
                <a:ea typeface="宋体" charset="-122"/>
              </a:rPr>
              <a:t>2</a:t>
            </a:r>
            <a:r>
              <a:rPr lang="en-US" b="1" dirty="0">
                <a:ea typeface="宋体" charset="-122"/>
              </a:rPr>
              <a:t> N) = O(log N)</a:t>
            </a:r>
          </a:p>
          <a:p>
            <a:pPr marL="341313" indent="-341313">
              <a:buClr>
                <a:srgbClr val="FFCCFF"/>
              </a:buClr>
              <a:buSzPct val="75000"/>
              <a:buFont typeface="Monotype Sort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b="1" dirty="0">
                <a:ea typeface="宋体" charset="-122"/>
              </a:rPr>
              <a:t>sin N = O(1);  10 = O(1), 10</a:t>
            </a:r>
            <a:r>
              <a:rPr lang="en-US" b="1" baseline="30000" dirty="0">
                <a:ea typeface="宋体" charset="-122"/>
              </a:rPr>
              <a:t>10</a:t>
            </a:r>
            <a:r>
              <a:rPr lang="en-US" b="1" dirty="0">
                <a:ea typeface="宋体" charset="-122"/>
              </a:rPr>
              <a:t> = O(1)</a:t>
            </a:r>
          </a:p>
          <a:p>
            <a:pPr marL="341313" indent="-341313">
              <a:buClr>
                <a:srgbClr val="FFCCFF"/>
              </a:buClr>
              <a:buSzPct val="75000"/>
              <a:buFont typeface="Monotype Sort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b="1" dirty="0">
                <a:ea typeface="宋体" charset="-122"/>
              </a:rPr>
              <a:t> </a:t>
            </a:r>
          </a:p>
          <a:p>
            <a:pPr marL="341313" indent="-341313">
              <a:buClr>
                <a:srgbClr val="FFCCFF"/>
              </a:buClr>
              <a:buSzPct val="75000"/>
              <a:buFont typeface="Monotype Sorts"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b="1" dirty="0">
              <a:ea typeface="宋体" charset="-122"/>
            </a:endParaRPr>
          </a:p>
          <a:p>
            <a:pPr marL="341313" indent="-341313">
              <a:buClr>
                <a:srgbClr val="FFCCFF"/>
              </a:buClr>
              <a:buSzPct val="75000"/>
              <a:buFont typeface="Monotype Sorts"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b="1" dirty="0">
              <a:ea typeface="宋体" charset="-122"/>
            </a:endParaRPr>
          </a:p>
          <a:p>
            <a:pPr marL="341313" indent="-341313">
              <a:buClr>
                <a:srgbClr val="FFCCFF"/>
              </a:buClr>
              <a:buSzPct val="75000"/>
              <a:buFont typeface="Monotype Sorts"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b="1" dirty="0">
              <a:ea typeface="宋体" charset="-122"/>
            </a:endParaRPr>
          </a:p>
          <a:p>
            <a:pPr marL="341313" indent="-341313">
              <a:buClr>
                <a:srgbClr val="FFCCFF"/>
              </a:buClr>
              <a:buSzPct val="75000"/>
              <a:buFont typeface="Monotype Sort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b="1" dirty="0">
                <a:ea typeface="宋体" charset="-122"/>
              </a:rPr>
              <a:t>log N + N = O(N)</a:t>
            </a:r>
          </a:p>
          <a:p>
            <a:pPr marL="341313" indent="-341313">
              <a:buClr>
                <a:srgbClr val="FFCCFF"/>
              </a:buClr>
              <a:buSzPct val="75000"/>
              <a:buFont typeface="Monotype Sort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b="1" dirty="0" err="1">
                <a:ea typeface="宋体" charset="-122"/>
              </a:rPr>
              <a:t>log</a:t>
            </a:r>
            <a:r>
              <a:rPr lang="en-US" b="1" baseline="30000" dirty="0" err="1">
                <a:ea typeface="宋体" charset="-122"/>
              </a:rPr>
              <a:t>k</a:t>
            </a:r>
            <a:r>
              <a:rPr lang="en-US" b="1" dirty="0">
                <a:ea typeface="宋体" charset="-122"/>
              </a:rPr>
              <a:t> N = O(N) for any constant k</a:t>
            </a:r>
          </a:p>
          <a:p>
            <a:pPr marL="341313" indent="-341313">
              <a:buClr>
                <a:srgbClr val="FFCCFF"/>
              </a:buClr>
              <a:buSzPct val="75000"/>
              <a:buFont typeface="Monotype Sort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b="1" dirty="0">
                <a:ea typeface="宋体" charset="-122"/>
              </a:rPr>
              <a:t>N = O(2</a:t>
            </a:r>
            <a:r>
              <a:rPr lang="en-US" b="1" baseline="30000" dirty="0">
                <a:ea typeface="宋体" charset="-122"/>
              </a:rPr>
              <a:t>N</a:t>
            </a:r>
            <a:r>
              <a:rPr lang="en-US" b="1" dirty="0">
                <a:ea typeface="宋体" charset="-122"/>
              </a:rPr>
              <a:t>),   but  2</a:t>
            </a:r>
            <a:r>
              <a:rPr lang="en-US" b="1" baseline="30000" dirty="0">
                <a:ea typeface="宋体" charset="-122"/>
              </a:rPr>
              <a:t>N</a:t>
            </a:r>
            <a:r>
              <a:rPr lang="en-US" b="1" dirty="0">
                <a:ea typeface="宋体" charset="-122"/>
              </a:rPr>
              <a:t> is not O(N)</a:t>
            </a:r>
          </a:p>
          <a:p>
            <a:pPr marL="341313" indent="-341313">
              <a:buClr>
                <a:srgbClr val="FFCCFF"/>
              </a:buClr>
              <a:buSzPct val="75000"/>
              <a:buFont typeface="Monotype Sort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b="1" dirty="0">
                <a:ea typeface="宋体" charset="-122"/>
              </a:rPr>
              <a:t>2</a:t>
            </a:r>
            <a:r>
              <a:rPr lang="en-US" b="1" baseline="30000" dirty="0">
                <a:ea typeface="宋体" charset="-122"/>
              </a:rPr>
              <a:t>10N</a:t>
            </a:r>
            <a:r>
              <a:rPr lang="en-US" b="1" dirty="0">
                <a:ea typeface="宋体" charset="-122"/>
              </a:rPr>
              <a:t> is not O(2</a:t>
            </a:r>
            <a:r>
              <a:rPr lang="en-US" b="1" baseline="30000" dirty="0">
                <a:ea typeface="宋体" charset="-122"/>
              </a:rPr>
              <a:t>N</a:t>
            </a:r>
            <a:r>
              <a:rPr lang="en-US" b="1" dirty="0">
                <a:ea typeface="宋体" charset="-122"/>
              </a:rPr>
              <a:t>)</a:t>
            </a:r>
          </a:p>
          <a:p>
            <a:pPr marL="341313" indent="-341313">
              <a:buClr>
                <a:srgbClr val="FFCCFF"/>
              </a:buClr>
              <a:buSzPct val="75000"/>
              <a:buFont typeface="Monotype Sorts"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dirty="0">
              <a:ea typeface="宋体" charset="-122"/>
            </a:endParaRPr>
          </a:p>
        </p:txBody>
      </p:sp>
      <p:grpSp>
        <p:nvGrpSpPr>
          <p:cNvPr id="2" name="Group 3"/>
          <p:cNvGrpSpPr>
            <a:grpSpLocks/>
          </p:cNvGrpSpPr>
          <p:nvPr/>
        </p:nvGrpSpPr>
        <p:grpSpPr bwMode="auto">
          <a:xfrm>
            <a:off x="1930401" y="4191001"/>
            <a:ext cx="4976284" cy="701675"/>
            <a:chOff x="912" y="2640"/>
            <a:chExt cx="2351" cy="442"/>
          </a:xfrm>
        </p:grpSpPr>
        <p:graphicFrame>
          <p:nvGraphicFramePr>
            <p:cNvPr id="17412" name="Object 4"/>
            <p:cNvGraphicFramePr>
              <a:graphicFrameLocks noChangeAspect="1"/>
            </p:cNvGraphicFramePr>
            <p:nvPr/>
          </p:nvGraphicFramePr>
          <p:xfrm>
            <a:off x="912" y="2640"/>
            <a:ext cx="2351" cy="442"/>
          </p:xfrm>
          <a:graphic>
            <a:graphicData uri="http://schemas.openxmlformats.org/presentationml/2006/ole">
              <p:oleObj spid="_x0000_s2051" r:id="rId4" imgW="2044800" imgH="369000" progId="Equation.3">
                <p:embed/>
              </p:oleObj>
            </a:graphicData>
          </a:graphic>
        </p:graphicFrame>
        <p:sp>
          <p:nvSpPr>
            <p:cNvPr id="17413" name="Text Box 5"/>
            <p:cNvSpPr txBox="1">
              <a:spLocks noChangeArrowheads="1"/>
            </p:cNvSpPr>
            <p:nvPr/>
          </p:nvSpPr>
          <p:spPr bwMode="auto">
            <a:xfrm>
              <a:off x="912" y="2640"/>
              <a:ext cx="2351" cy="442"/>
            </a:xfrm>
            <a:prstGeom prst="rect">
              <a:avLst/>
            </a:prstGeom>
            <a:noFill/>
            <a:ln w="9525">
              <a:noFill/>
              <a:round/>
              <a:headEnd/>
              <a:tailEnd/>
            </a:ln>
            <a:effectLst/>
          </p:spPr>
          <p:txBody>
            <a:bodyPr wrap="none" anchor="ctr"/>
            <a:lstStyle/>
            <a:p>
              <a:endParaRPr lang="en-US"/>
            </a:p>
          </p:txBody>
        </p:sp>
      </p:grpSp>
      <p:grpSp>
        <p:nvGrpSpPr>
          <p:cNvPr id="3" name="Group 6"/>
          <p:cNvGrpSpPr>
            <a:grpSpLocks/>
          </p:cNvGrpSpPr>
          <p:nvPr/>
        </p:nvGrpSpPr>
        <p:grpSpPr bwMode="auto">
          <a:xfrm>
            <a:off x="1930401" y="3581401"/>
            <a:ext cx="4383617" cy="650875"/>
            <a:chOff x="912" y="2256"/>
            <a:chExt cx="2071" cy="410"/>
          </a:xfrm>
        </p:grpSpPr>
        <p:graphicFrame>
          <p:nvGraphicFramePr>
            <p:cNvPr id="17415" name="Object 7"/>
            <p:cNvGraphicFramePr>
              <a:graphicFrameLocks noChangeAspect="1"/>
            </p:cNvGraphicFramePr>
            <p:nvPr/>
          </p:nvGraphicFramePr>
          <p:xfrm>
            <a:off x="912" y="2256"/>
            <a:ext cx="2071" cy="410"/>
          </p:xfrm>
          <a:graphic>
            <a:graphicData uri="http://schemas.openxmlformats.org/presentationml/2006/ole">
              <p:oleObj spid="_x0000_s2050" r:id="rId5" imgW="1943280" imgH="369000" progId="Equation.3">
                <p:embed/>
              </p:oleObj>
            </a:graphicData>
          </a:graphic>
        </p:graphicFrame>
        <p:sp>
          <p:nvSpPr>
            <p:cNvPr id="17416" name="Text Box 8"/>
            <p:cNvSpPr txBox="1">
              <a:spLocks noChangeArrowheads="1"/>
            </p:cNvSpPr>
            <p:nvPr/>
          </p:nvSpPr>
          <p:spPr bwMode="auto">
            <a:xfrm>
              <a:off x="912" y="2256"/>
              <a:ext cx="2071" cy="410"/>
            </a:xfrm>
            <a:prstGeom prst="rect">
              <a:avLst/>
            </a:prstGeom>
            <a:noFill/>
            <a:ln w="9525">
              <a:noFill/>
              <a:round/>
              <a:headEnd/>
              <a:tailEnd/>
            </a:ln>
            <a:effectLst/>
          </p:spPr>
          <p:txBody>
            <a:bodyPr wrap="none" anchor="ctr"/>
            <a:lstStyle/>
            <a:p>
              <a:endParaRPr lang="en-US"/>
            </a:p>
          </p:txBody>
        </p:sp>
      </p:grpSp>
    </p:spTree>
  </p:cSld>
  <p:clrMapOvr>
    <a:masterClrMapping/>
  </p:clrMapOvr>
  <p:transition spd="med"/>
  <p:timing>
    <p:tnLst>
      <p:par>
        <p:cTn id="1" dur="indefinite" restart="never" nodeType="tmRoot">
          <p:childTnLst>
            <p:seq concurrent="1" nextAc="seek">
              <p:cTn id="2" dur="indefinite" nodeType="mainSeq">
                <p:childTnLst>
                  <p:par>
                    <p:cTn id="3" fill="hold" nodeType="clickEffect">
                      <p:stCondLst>
                        <p:cond delay="indefinite"/>
                      </p:stCondLst>
                      <p:childTnLst>
                        <p:par>
                          <p:cTn id="4" fill="hold" nodeType="clickEffect">
                            <p:stCondLst>
                              <p:cond delay="0"/>
                            </p:stCondLst>
                            <p:childTnLst>
                              <p:par>
                                <p:cTn id="5" presetID="1" presetClass="entr" fill="hold" nodeType="clickEffect">
                                  <p:stCondLst>
                                    <p:cond delay="0"/>
                                  </p:stCondLst>
                                  <p:childTnLst>
                                    <p:set>
                                      <p:cBhvr additive="repl">
                                        <p:cTn id="6" dur="1" fill="hold">
                                          <p:stCondLst>
                                            <p:cond delay="0"/>
                                          </p:stCondLst>
                                        </p:cTn>
                                        <p:tgtEl>
                                          <p:spTgt spid="17410">
                                            <p:txEl>
                                              <p:pRg st="0" end="0"/>
                                            </p:txEl>
                                          </p:spTgt>
                                        </p:tgtEl>
                                        <p:attrNameLst>
                                          <p:attrName>style.visibility</p:attrName>
                                        </p:attrNameLst>
                                      </p:cBhvr>
                                      <p:to>
                                        <p:strVal val="visible"/>
                                      </p:to>
                                    </p:set>
                                  </p:childTnLst>
                                </p:cTn>
                              </p:par>
                            </p:childTnLst>
                          </p:cTn>
                        </p:par>
                      </p:childTnLst>
                    </p:cTn>
                  </p:par>
                  <p:par>
                    <p:cTn id="7" fill="hold" nodeType="clickEffect">
                      <p:stCondLst>
                        <p:cond delay="indefinite"/>
                      </p:stCondLst>
                      <p:childTnLst>
                        <p:par>
                          <p:cTn id="8" fill="hold" nodeType="clickEffect">
                            <p:stCondLst>
                              <p:cond delay="0"/>
                            </p:stCondLst>
                            <p:childTnLst>
                              <p:par>
                                <p:cTn id="9" presetID="1" presetClass="entr" fill="hold" nodeType="clickEffect">
                                  <p:stCondLst>
                                    <p:cond delay="0"/>
                                  </p:stCondLst>
                                  <p:childTnLst>
                                    <p:set>
                                      <p:cBhvr additive="repl">
                                        <p:cTn id="10" dur="1" fill="hold">
                                          <p:stCondLst>
                                            <p:cond delay="0"/>
                                          </p:stCondLst>
                                        </p:cTn>
                                        <p:tgtEl>
                                          <p:spTgt spid="17410">
                                            <p:txEl>
                                              <p:pRg st="1" end="1"/>
                                            </p:txEl>
                                          </p:spTgt>
                                        </p:tgtEl>
                                        <p:attrNameLst>
                                          <p:attrName>style.visibility</p:attrName>
                                        </p:attrNameLst>
                                      </p:cBhvr>
                                      <p:to>
                                        <p:strVal val="visible"/>
                                      </p:to>
                                    </p:set>
                                  </p:childTnLst>
                                </p:cTn>
                              </p:par>
                            </p:childTnLst>
                          </p:cTn>
                        </p:par>
                      </p:childTnLst>
                    </p:cTn>
                  </p:par>
                  <p:par>
                    <p:cTn id="11" fill="hold" nodeType="clickEffect">
                      <p:stCondLst>
                        <p:cond delay="indefinite"/>
                      </p:stCondLst>
                      <p:childTnLst>
                        <p:par>
                          <p:cTn id="12" fill="hold" nodeType="clickEffect">
                            <p:stCondLst>
                              <p:cond delay="0"/>
                            </p:stCondLst>
                            <p:childTnLst>
                              <p:par>
                                <p:cTn id="13" presetID="1" presetClass="entr" fill="hold" nodeType="clickEffect">
                                  <p:stCondLst>
                                    <p:cond delay="0"/>
                                  </p:stCondLst>
                                  <p:childTnLst>
                                    <p:set>
                                      <p:cBhvr additive="repl">
                                        <p:cTn id="14" dur="1" fill="hold">
                                          <p:stCondLst>
                                            <p:cond delay="0"/>
                                          </p:stCondLst>
                                        </p:cTn>
                                        <p:tgtEl>
                                          <p:spTgt spid="17410">
                                            <p:txEl>
                                              <p:pRg st="2" end="2"/>
                                            </p:txEl>
                                          </p:spTgt>
                                        </p:tgtEl>
                                        <p:attrNameLst>
                                          <p:attrName>style.visibility</p:attrName>
                                        </p:attrNameLst>
                                      </p:cBhvr>
                                      <p:to>
                                        <p:strVal val="visible"/>
                                      </p:to>
                                    </p:set>
                                  </p:childTnLst>
                                </p:cTn>
                              </p:par>
                            </p:childTnLst>
                          </p:cTn>
                        </p:par>
                      </p:childTnLst>
                    </p:cTn>
                  </p:par>
                  <p:par>
                    <p:cTn id="15" fill="hold" nodeType="clickEffect">
                      <p:stCondLst>
                        <p:cond delay="indefinite"/>
                      </p:stCondLst>
                      <p:childTnLst>
                        <p:par>
                          <p:cTn id="16" fill="hold" nodeType="clickEffect">
                            <p:stCondLst>
                              <p:cond delay="0"/>
                            </p:stCondLst>
                            <p:childTnLst>
                              <p:par>
                                <p:cTn id="17" presetID="1" presetClass="entr" fill="hold" nodeType="clickEffect">
                                  <p:stCondLst>
                                    <p:cond delay="0"/>
                                  </p:stCondLst>
                                  <p:childTnLst>
                                    <p:set>
                                      <p:cBhvr additive="repl">
                                        <p:cTn id="18" dur="1" fill="hold">
                                          <p:stCondLst>
                                            <p:cond delay="0"/>
                                          </p:stCondLst>
                                        </p:cTn>
                                        <p:tgtEl>
                                          <p:spTgt spid="17410">
                                            <p:txEl>
                                              <p:pRg st="3" end="3"/>
                                            </p:txEl>
                                          </p:spTgt>
                                        </p:tgtEl>
                                        <p:attrNameLst>
                                          <p:attrName>style.visibility</p:attrName>
                                        </p:attrNameLst>
                                      </p:cBhvr>
                                      <p:to>
                                        <p:strVal val="visible"/>
                                      </p:to>
                                    </p:set>
                                  </p:childTnLst>
                                </p:cTn>
                              </p:par>
                            </p:childTnLst>
                          </p:cTn>
                        </p:par>
                      </p:childTnLst>
                    </p:cTn>
                  </p:par>
                  <p:par>
                    <p:cTn id="19" fill="hold" nodeType="clickEffect">
                      <p:stCondLst>
                        <p:cond delay="indefinite"/>
                      </p:stCondLst>
                      <p:childTnLst>
                        <p:par>
                          <p:cTn id="20" fill="hold" nodeType="clickEffect">
                            <p:stCondLst>
                              <p:cond delay="0"/>
                            </p:stCondLst>
                            <p:childTnLst>
                              <p:par>
                                <p:cTn id="21" presetID="1" presetClass="entr" fill="hold" nodeType="clickEffect">
                                  <p:stCondLst>
                                    <p:cond delay="0"/>
                                  </p:stCondLst>
                                  <p:childTnLst>
                                    <p:set>
                                      <p:cBhvr additive="repl">
                                        <p:cTn id="22" dur="1" fill="hold">
                                          <p:stCondLst>
                                            <p:cond delay="0"/>
                                          </p:stCondLst>
                                        </p:cTn>
                                        <p:tgtEl>
                                          <p:spTgt spid="17410">
                                            <p:txEl>
                                              <p:pRg st="4" end="4"/>
                                            </p:txEl>
                                          </p:spTgt>
                                        </p:tgtEl>
                                        <p:attrNameLst>
                                          <p:attrName>style.visibility</p:attrName>
                                        </p:attrNameLst>
                                      </p:cBhvr>
                                      <p:to>
                                        <p:strVal val="visible"/>
                                      </p:to>
                                    </p:set>
                                  </p:childTnLst>
                                </p:cTn>
                              </p:par>
                            </p:childTnLst>
                          </p:cTn>
                        </p:par>
                      </p:childTnLst>
                    </p:cTn>
                  </p:par>
                  <p:par>
                    <p:cTn id="23" fill="hold" nodeType="clickEffect">
                      <p:stCondLst>
                        <p:cond delay="indefinite"/>
                      </p:stCondLst>
                      <p:childTnLst>
                        <p:par>
                          <p:cTn id="24" fill="hold" nodeType="clickEffect">
                            <p:stCondLst>
                              <p:cond delay="0"/>
                            </p:stCondLst>
                            <p:childTnLst>
                              <p:par>
                                <p:cTn id="25" presetID="1" presetClass="entr" fill="hold" nodeType="clickEffect">
                                  <p:stCondLst>
                                    <p:cond delay="0"/>
                                  </p:stCondLst>
                                  <p:childTnLst>
                                    <p:set>
                                      <p:cBhvr additive="repl">
                                        <p:cTn id="26" dur="1" fill="hold">
                                          <p:stCondLst>
                                            <p:cond delay="0"/>
                                          </p:stCondLst>
                                        </p:cTn>
                                        <p:tgtEl>
                                          <p:spTgt spid="17410">
                                            <p:txEl>
                                              <p:pRg st="5" end="5"/>
                                            </p:txEl>
                                          </p:spTgt>
                                        </p:tgtEl>
                                        <p:attrNameLst>
                                          <p:attrName>style.visibility</p:attrName>
                                        </p:attrNameLst>
                                      </p:cBhvr>
                                      <p:to>
                                        <p:strVal val="visible"/>
                                      </p:to>
                                    </p:set>
                                  </p:childTnLst>
                                </p:cTn>
                              </p:par>
                            </p:childTnLst>
                          </p:cTn>
                        </p:par>
                      </p:childTnLst>
                    </p:cTn>
                  </p:par>
                  <p:par>
                    <p:cTn id="27" fill="hold" nodeType="clickEffect">
                      <p:stCondLst>
                        <p:cond delay="indefinite"/>
                      </p:stCondLst>
                      <p:childTnLst>
                        <p:par>
                          <p:cTn id="28" fill="hold" nodeType="clickEffect">
                            <p:stCondLst>
                              <p:cond delay="0"/>
                            </p:stCondLst>
                            <p:childTnLst>
                              <p:par>
                                <p:cTn id="29" presetID="1" presetClass="entr" fill="hold" nodeType="clickEffect">
                                  <p:stCondLst>
                                    <p:cond delay="0"/>
                                  </p:stCondLst>
                                  <p:childTnLst>
                                    <p:set>
                                      <p:cBhvr additive="repl">
                                        <p:cTn id="30" dur="1" fill="hold">
                                          <p:stCondLst>
                                            <p:cond delay="0"/>
                                          </p:stCondLst>
                                        </p:cTn>
                                        <p:tgtEl>
                                          <p:spTgt spid="3"/>
                                        </p:tgtEl>
                                        <p:attrNameLst>
                                          <p:attrName>style.visibility</p:attrName>
                                        </p:attrNameLst>
                                      </p:cBhvr>
                                      <p:to>
                                        <p:strVal val="visible"/>
                                      </p:to>
                                    </p:set>
                                  </p:childTnLst>
                                </p:cTn>
                              </p:par>
                            </p:childTnLst>
                          </p:cTn>
                        </p:par>
                      </p:childTnLst>
                    </p:cTn>
                  </p:par>
                  <p:par>
                    <p:cTn id="31" fill="hold" nodeType="clickEffect">
                      <p:stCondLst>
                        <p:cond delay="indefinite"/>
                      </p:stCondLst>
                      <p:childTnLst>
                        <p:par>
                          <p:cTn id="32" fill="hold" nodeType="clickEffect">
                            <p:stCondLst>
                              <p:cond delay="0"/>
                            </p:stCondLst>
                            <p:childTnLst>
                              <p:par>
                                <p:cTn id="33" presetID="1" presetClass="entr" fill="hold" nodeType="clickEffect">
                                  <p:stCondLst>
                                    <p:cond delay="0"/>
                                  </p:stCondLst>
                                  <p:childTnLst>
                                    <p:set>
                                      <p:cBhvr additive="repl">
                                        <p:cTn id="34" dur="1" fill="hold">
                                          <p:stCondLst>
                                            <p:cond delay="0"/>
                                          </p:stCondLst>
                                        </p:cTn>
                                        <p:tgtEl>
                                          <p:spTgt spid="2"/>
                                        </p:tgtEl>
                                        <p:attrNameLst>
                                          <p:attrName>style.visibility</p:attrName>
                                        </p:attrNameLst>
                                      </p:cBhvr>
                                      <p:to>
                                        <p:strVal val="visible"/>
                                      </p:to>
                                    </p:set>
                                  </p:childTnLst>
                                </p:cTn>
                              </p:par>
                            </p:childTnLst>
                          </p:cTn>
                        </p:par>
                      </p:childTnLst>
                    </p:cTn>
                  </p:par>
                  <p:par>
                    <p:cTn id="35" fill="hold" nodeType="clickEffect">
                      <p:stCondLst>
                        <p:cond delay="indefinite"/>
                      </p:stCondLst>
                      <p:childTnLst>
                        <p:par>
                          <p:cTn id="36" fill="hold" nodeType="clickEffect">
                            <p:stCondLst>
                              <p:cond delay="0"/>
                            </p:stCondLst>
                            <p:childTnLst>
                              <p:par>
                                <p:cTn id="37" presetID="1" presetClass="entr" fill="hold" nodeType="clickEffect">
                                  <p:stCondLst>
                                    <p:cond delay="0"/>
                                  </p:stCondLst>
                                  <p:childTnLst>
                                    <p:set>
                                      <p:cBhvr additive="repl">
                                        <p:cTn id="38" dur="1" fill="hold">
                                          <p:stCondLst>
                                            <p:cond delay="0"/>
                                          </p:stCondLst>
                                        </p:cTn>
                                        <p:tgtEl>
                                          <p:spTgt spid="17410">
                                            <p:txEl>
                                              <p:pRg st="9" end="9"/>
                                            </p:txEl>
                                          </p:spTgt>
                                        </p:tgtEl>
                                        <p:attrNameLst>
                                          <p:attrName>style.visibility</p:attrName>
                                        </p:attrNameLst>
                                      </p:cBhvr>
                                      <p:to>
                                        <p:strVal val="visible"/>
                                      </p:to>
                                    </p:set>
                                  </p:childTnLst>
                                </p:cTn>
                              </p:par>
                            </p:childTnLst>
                          </p:cTn>
                        </p:par>
                      </p:childTnLst>
                    </p:cTn>
                  </p:par>
                  <p:par>
                    <p:cTn id="39" fill="hold" nodeType="clickEffect">
                      <p:stCondLst>
                        <p:cond delay="indefinite"/>
                      </p:stCondLst>
                      <p:childTnLst>
                        <p:par>
                          <p:cTn id="40" fill="hold" nodeType="clickEffect">
                            <p:stCondLst>
                              <p:cond delay="0"/>
                            </p:stCondLst>
                            <p:childTnLst>
                              <p:par>
                                <p:cTn id="41" presetID="1" presetClass="entr" fill="hold" nodeType="clickEffect">
                                  <p:stCondLst>
                                    <p:cond delay="0"/>
                                  </p:stCondLst>
                                  <p:childTnLst>
                                    <p:set>
                                      <p:cBhvr additive="repl">
                                        <p:cTn id="42" dur="1" fill="hold">
                                          <p:stCondLst>
                                            <p:cond delay="0"/>
                                          </p:stCondLst>
                                        </p:cTn>
                                        <p:tgtEl>
                                          <p:spTgt spid="17410">
                                            <p:txEl>
                                              <p:pRg st="10" end="10"/>
                                            </p:txEl>
                                          </p:spTgt>
                                        </p:tgtEl>
                                        <p:attrNameLst>
                                          <p:attrName>style.visibility</p:attrName>
                                        </p:attrNameLst>
                                      </p:cBhvr>
                                      <p:to>
                                        <p:strVal val="visible"/>
                                      </p:to>
                                    </p:set>
                                  </p:childTnLst>
                                </p:cTn>
                              </p:par>
                            </p:childTnLst>
                          </p:cTn>
                        </p:par>
                      </p:childTnLst>
                    </p:cTn>
                  </p:par>
                  <p:par>
                    <p:cTn id="43" fill="hold" nodeType="clickEffect">
                      <p:stCondLst>
                        <p:cond delay="indefinite"/>
                      </p:stCondLst>
                      <p:childTnLst>
                        <p:par>
                          <p:cTn id="44" fill="hold" nodeType="clickEffect">
                            <p:stCondLst>
                              <p:cond delay="0"/>
                            </p:stCondLst>
                            <p:childTnLst>
                              <p:par>
                                <p:cTn id="45" presetID="1" presetClass="entr" fill="hold" nodeType="clickEffect">
                                  <p:stCondLst>
                                    <p:cond delay="0"/>
                                  </p:stCondLst>
                                  <p:childTnLst>
                                    <p:set>
                                      <p:cBhvr additive="repl">
                                        <p:cTn id="46" dur="1" fill="hold">
                                          <p:stCondLst>
                                            <p:cond delay="0"/>
                                          </p:stCondLst>
                                        </p:cTn>
                                        <p:tgtEl>
                                          <p:spTgt spid="17410">
                                            <p:txEl>
                                              <p:pRg st="11" end="11"/>
                                            </p:txEl>
                                          </p:spTgt>
                                        </p:tgtEl>
                                        <p:attrNameLst>
                                          <p:attrName>style.visibility</p:attrName>
                                        </p:attrNameLst>
                                      </p:cBhvr>
                                      <p:to>
                                        <p:strVal val="visible"/>
                                      </p:to>
                                    </p:set>
                                  </p:childTnLst>
                                </p:cTn>
                              </p:par>
                            </p:childTnLst>
                          </p:cTn>
                        </p:par>
                      </p:childTnLst>
                    </p:cTn>
                  </p:par>
                  <p:par>
                    <p:cTn id="47" fill="hold" nodeType="clickEffect">
                      <p:stCondLst>
                        <p:cond delay="indefinite"/>
                      </p:stCondLst>
                      <p:childTnLst>
                        <p:par>
                          <p:cTn id="48" fill="hold" nodeType="clickEffect">
                            <p:stCondLst>
                              <p:cond delay="0"/>
                            </p:stCondLst>
                            <p:childTnLst>
                              <p:par>
                                <p:cTn id="49" presetID="1" presetClass="entr" fill="hold" nodeType="clickEffect">
                                  <p:stCondLst>
                                    <p:cond delay="0"/>
                                  </p:stCondLst>
                                  <p:childTnLst>
                                    <p:set>
                                      <p:cBhvr additive="repl">
                                        <p:cTn id="50" dur="1" fill="hold">
                                          <p:stCondLst>
                                            <p:cond delay="0"/>
                                          </p:stCondLst>
                                        </p:cTn>
                                        <p:tgtEl>
                                          <p:spTgt spid="17410">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39BC49B-D721-013C-71F2-46CE4A24E1B3}"/>
              </a:ext>
            </a:extLst>
          </p:cNvPr>
          <p:cNvSpPr>
            <a:spLocks noGrp="1"/>
          </p:cNvSpPr>
          <p:nvPr>
            <p:ph type="title"/>
          </p:nvPr>
        </p:nvSpPr>
        <p:spPr/>
        <p:txBody>
          <a:bodyPr/>
          <a:lstStyle/>
          <a:p>
            <a:r>
              <a:rPr lang="en-US" dirty="0"/>
              <a:t>Omega Notation (Ω-Notation):</a:t>
            </a:r>
          </a:p>
        </p:txBody>
      </p:sp>
      <p:sp>
        <p:nvSpPr>
          <p:cNvPr id="3" name="Content Placeholder 2">
            <a:extLst>
              <a:ext uri="{FF2B5EF4-FFF2-40B4-BE49-F238E27FC236}">
                <a16:creationId xmlns:a16="http://schemas.microsoft.com/office/drawing/2014/main" xmlns="" id="{68D90611-796F-E257-D555-E260508FFD2D}"/>
              </a:ext>
            </a:extLst>
          </p:cNvPr>
          <p:cNvSpPr>
            <a:spLocks noGrp="1"/>
          </p:cNvSpPr>
          <p:nvPr>
            <p:ph idx="1"/>
          </p:nvPr>
        </p:nvSpPr>
        <p:spPr/>
        <p:txBody>
          <a:bodyPr>
            <a:normAutofit/>
          </a:bodyPr>
          <a:lstStyle/>
          <a:p>
            <a:pPr marL="0" indent="0" algn="just">
              <a:buNone/>
            </a:pPr>
            <a:r>
              <a:rPr lang="en-US" dirty="0"/>
              <a:t>
Omega notation represents the lower bound of the running time of an algorithm. Thus, it provides the </a:t>
            </a:r>
            <a:r>
              <a:rPr lang="en-US" dirty="0">
                <a:solidFill>
                  <a:srgbClr val="FF0000"/>
                </a:solidFill>
              </a:rPr>
              <a:t>best case complexity</a:t>
            </a:r>
            <a:r>
              <a:rPr lang="en-US" dirty="0"/>
              <a:t> of an algorithm.
The execution time serves as a lower bound on the algorithm’s time complexity.
It is defined as the condition that allows an algorithm to complete statement execution in the shortest amount of time.</a:t>
            </a:r>
          </a:p>
        </p:txBody>
      </p:sp>
      <p:sp>
        <p:nvSpPr>
          <p:cNvPr id="4" name="Footer Placeholder 3">
            <a:extLst>
              <a:ext uri="{FF2B5EF4-FFF2-40B4-BE49-F238E27FC236}">
                <a16:creationId xmlns:a16="http://schemas.microsoft.com/office/drawing/2014/main" xmlns="" id="{D64A3F35-E5EE-123D-729F-A1A51E185C23}"/>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xmlns="" id="{CA72798B-359C-728B-5A84-5F9EED56EAAE}"/>
              </a:ext>
            </a:extLst>
          </p:cNvPr>
          <p:cNvSpPr>
            <a:spLocks noGrp="1"/>
          </p:cNvSpPr>
          <p:nvPr>
            <p:ph type="sldNum" sz="quarter" idx="12"/>
          </p:nvPr>
        </p:nvSpPr>
        <p:spPr/>
        <p:txBody>
          <a:bodyPr/>
          <a:lstStyle/>
          <a:p>
            <a:fld id="{26510230-8DD5-4BA5-AB2D-CA30FC08F9D7}" type="slidenum">
              <a:rPr lang="en-IN" smtClean="0"/>
              <a:pPr/>
              <a:t>15</a:t>
            </a:fld>
            <a:endParaRPr lang="en-IN"/>
          </a:p>
        </p:txBody>
      </p:sp>
    </p:spTree>
    <p:extLst>
      <p:ext uri="{BB962C8B-B14F-4D97-AF65-F5344CB8AC3E}">
        <p14:creationId xmlns:p14="http://schemas.microsoft.com/office/powerpoint/2010/main" xmlns="" val="275915884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ext Box 1"/>
          <p:cNvSpPr txBox="1">
            <a:spLocks noChangeArrowheads="1"/>
          </p:cNvSpPr>
          <p:nvPr/>
        </p:nvSpPr>
        <p:spPr bwMode="auto">
          <a:xfrm>
            <a:off x="812800" y="228600"/>
            <a:ext cx="10464800" cy="1143000"/>
          </a:xfrm>
          <a:prstGeom prst="rect">
            <a:avLst/>
          </a:prstGeom>
          <a:noFill/>
          <a:ln w="9525">
            <a:noFill/>
            <a:round/>
            <a:headEnd/>
            <a:tailEnd/>
          </a:ln>
          <a:effectLst/>
        </p:spPr>
        <p:txBody>
          <a:bodyPr lIns="92160" tIns="46080" rIns="92160" bIns="46080" anchor="b"/>
          <a:lstStyle/>
          <a:p>
            <a:pPr algn="ctr">
              <a:spcBef>
                <a:spcPct val="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a:solidFill>
                  <a:srgbClr val="D49FFF"/>
                </a:solidFill>
                <a:latin typeface="Times New Roman" pitchFamily="16" charset="0"/>
                <a:ea typeface="宋体" charset="-122"/>
              </a:rPr>
              <a:t>Big-Omega</a:t>
            </a:r>
          </a:p>
        </p:txBody>
      </p:sp>
      <p:sp>
        <p:nvSpPr>
          <p:cNvPr id="18434" name="Text Box 2"/>
          <p:cNvSpPr txBox="1">
            <a:spLocks noChangeArrowheads="1"/>
          </p:cNvSpPr>
          <p:nvPr/>
        </p:nvSpPr>
        <p:spPr bwMode="auto">
          <a:xfrm>
            <a:off x="812800" y="1676400"/>
            <a:ext cx="10464800" cy="5113338"/>
          </a:xfrm>
          <a:prstGeom prst="rect">
            <a:avLst/>
          </a:prstGeom>
          <a:noFill/>
          <a:ln w="9525">
            <a:noFill/>
            <a:round/>
            <a:headEnd/>
            <a:tailEnd/>
          </a:ln>
          <a:effectLst/>
        </p:spPr>
        <p:txBody>
          <a:bodyPr lIns="92160" tIns="46080" rIns="92160" bIns="46080"/>
          <a:lstStyle/>
          <a:p>
            <a:pPr marL="341313" indent="-341313">
              <a:spcBef>
                <a:spcPts val="700"/>
              </a:spcBef>
              <a:buClr>
                <a:srgbClr val="FFCCFF"/>
              </a:buClr>
              <a:buSzPct val="75000"/>
              <a:buFont typeface="Monotype Sorts"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2800" b="1" dirty="0">
              <a:ea typeface="宋体" charset="-122"/>
            </a:endParaRPr>
          </a:p>
          <a:p>
            <a:pPr marL="341313" indent="-341313">
              <a:spcBef>
                <a:spcPts val="700"/>
              </a:spcBef>
              <a:buClr>
                <a:srgbClr val="FFCCFF"/>
              </a:buClr>
              <a:buSzPct val="75000"/>
              <a:buFont typeface="Monotype Sorts"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2800" b="1" dirty="0">
              <a:ea typeface="宋体" charset="-122"/>
            </a:endParaRPr>
          </a:p>
          <a:p>
            <a:pPr marL="341313" indent="-341313">
              <a:spcBef>
                <a:spcPts val="700"/>
              </a:spcBef>
              <a:buClr>
                <a:srgbClr val="FFCCFF"/>
              </a:buClr>
              <a:buSzPct val="75000"/>
              <a:buFont typeface="Monotype Sorts"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2800" b="1" dirty="0">
              <a:ea typeface="宋体" charset="-122"/>
            </a:endParaRPr>
          </a:p>
          <a:p>
            <a:pPr marL="341313" indent="-341313">
              <a:spcBef>
                <a:spcPts val="700"/>
              </a:spcBef>
              <a:buClr>
                <a:srgbClr val="FFCCFF"/>
              </a:buClr>
              <a:buSzPct val="75000"/>
              <a:buFont typeface="Monotype Sorts"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2800" b="1" dirty="0">
              <a:ea typeface="宋体" charset="-122"/>
            </a:endParaRPr>
          </a:p>
          <a:p>
            <a:pPr marL="341313" indent="-341313">
              <a:spcBef>
                <a:spcPts val="700"/>
              </a:spcBef>
              <a:buClr>
                <a:srgbClr val="FFCCFF"/>
              </a:buClr>
              <a:buSzPct val="75000"/>
              <a:buFont typeface="Monotype Sorts"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2800" b="1" dirty="0">
              <a:ea typeface="宋体" charset="-122"/>
            </a:endParaRPr>
          </a:p>
          <a:p>
            <a:pPr marL="341313" indent="-341313">
              <a:spcBef>
                <a:spcPts val="700"/>
              </a:spcBef>
              <a:buClr>
                <a:srgbClr val="FFCCFF"/>
              </a:buClr>
              <a:buSzPct val="75000"/>
              <a:buFont typeface="Monotype Sorts"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2800" b="1" dirty="0">
              <a:ea typeface="宋体" charset="-122"/>
            </a:endParaRPr>
          </a:p>
          <a:p>
            <a:pPr marL="341313" indent="-341313">
              <a:spcBef>
                <a:spcPts val="700"/>
              </a:spcBef>
              <a:buClr>
                <a:srgbClr val="FFCCFF"/>
              </a:buClr>
              <a:buSzPct val="75000"/>
              <a:buFont typeface="Monotype Sorts"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2800" b="1" dirty="0">
              <a:ea typeface="宋体" charset="-122"/>
            </a:endParaRPr>
          </a:p>
          <a:p>
            <a:pPr marL="341313" indent="-341313">
              <a:spcBef>
                <a:spcPts val="550"/>
              </a:spcBef>
              <a:buClr>
                <a:srgbClr val="FFCCFF"/>
              </a:buClr>
              <a:buSzPct val="75000"/>
              <a:buFont typeface="Monotype Sort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800" b="1" dirty="0">
                <a:ea typeface="宋体" charset="-122"/>
              </a:rPr>
              <a:t> </a:t>
            </a:r>
            <a:r>
              <a:rPr lang="en-US" sz="2600" b="1" dirty="0">
                <a:latin typeface="Symbol" pitchFamily="16" charset="2"/>
                <a:ea typeface="宋体" charset="-122"/>
              </a:rPr>
              <a:t></a:t>
            </a:r>
            <a:r>
              <a:rPr lang="en-US" sz="2600" b="1" dirty="0">
                <a:ea typeface="宋体" charset="-122"/>
              </a:rPr>
              <a:t> c , n</a:t>
            </a:r>
            <a:r>
              <a:rPr lang="en-US" sz="2600" b="1" baseline="-25000" dirty="0">
                <a:ea typeface="宋体" charset="-122"/>
              </a:rPr>
              <a:t>0 </a:t>
            </a:r>
            <a:r>
              <a:rPr lang="en-US" sz="2600" b="1" dirty="0">
                <a:ea typeface="宋体" charset="-122"/>
              </a:rPr>
              <a:t>&gt; 0 such that </a:t>
            </a:r>
            <a:r>
              <a:rPr lang="en-US" sz="2200" b="1" dirty="0">
                <a:ea typeface="宋体" charset="-122"/>
              </a:rPr>
              <a:t>f(N) </a:t>
            </a:r>
            <a:r>
              <a:rPr lang="en-US" sz="2200" b="1" dirty="0">
                <a:latin typeface="Symbol" pitchFamily="16" charset="2"/>
                <a:ea typeface="宋体" charset="-122"/>
              </a:rPr>
              <a:t></a:t>
            </a:r>
            <a:r>
              <a:rPr lang="en-US" sz="2200" b="1" dirty="0">
                <a:ea typeface="宋体" charset="-122"/>
              </a:rPr>
              <a:t> c g(N) when N </a:t>
            </a:r>
            <a:r>
              <a:rPr lang="en-US" sz="2200" b="1" dirty="0">
                <a:latin typeface="Symbol" pitchFamily="16" charset="2"/>
                <a:ea typeface="宋体" charset="-122"/>
              </a:rPr>
              <a:t></a:t>
            </a:r>
            <a:r>
              <a:rPr lang="en-US" sz="2200" b="1" dirty="0">
                <a:ea typeface="宋体" charset="-122"/>
              </a:rPr>
              <a:t> n</a:t>
            </a:r>
            <a:r>
              <a:rPr lang="en-US" sz="2200" b="1" baseline="-25000" dirty="0">
                <a:ea typeface="宋体" charset="-122"/>
              </a:rPr>
              <a:t>0</a:t>
            </a:r>
          </a:p>
          <a:p>
            <a:pPr marL="341313" indent="-341313">
              <a:spcBef>
                <a:spcPts val="650"/>
              </a:spcBef>
              <a:buClr>
                <a:srgbClr val="FFCCFF"/>
              </a:buClr>
              <a:buSzPct val="75000"/>
              <a:buFont typeface="Monotype Sort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600" b="1" dirty="0">
                <a:ea typeface="宋体" charset="-122"/>
              </a:rPr>
              <a:t> f(N) grows no slower than g(N) for “large” N</a:t>
            </a:r>
          </a:p>
          <a:p>
            <a:pPr marL="341313" indent="-341313">
              <a:spcBef>
                <a:spcPts val="650"/>
              </a:spcBef>
              <a:buClr>
                <a:srgbClr val="FFCCFF"/>
              </a:buClr>
              <a:buSzPct val="75000"/>
              <a:buFont typeface="Monotype Sorts"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2600" b="1" dirty="0">
              <a:ea typeface="宋体" charset="-122"/>
            </a:endParaRPr>
          </a:p>
        </p:txBody>
      </p:sp>
      <p:pic>
        <p:nvPicPr>
          <p:cNvPr id="18435" name="Picture 3"/>
          <p:cNvPicPr>
            <a:picLocks noChangeAspect="1" noChangeArrowheads="1"/>
          </p:cNvPicPr>
          <p:nvPr/>
        </p:nvPicPr>
        <p:blipFill>
          <a:blip r:embed="rId3"/>
          <a:srcRect/>
          <a:stretch>
            <a:fillRect/>
          </a:stretch>
        </p:blipFill>
        <p:spPr bwMode="auto">
          <a:xfrm>
            <a:off x="3454400" y="1676400"/>
            <a:ext cx="4972051" cy="3519488"/>
          </a:xfrm>
          <a:prstGeom prst="rect">
            <a:avLst/>
          </a:prstGeom>
          <a:noFill/>
          <a:ln w="9525">
            <a:noFill/>
            <a:round/>
            <a:headEnd/>
            <a:tailEnd/>
          </a:ln>
          <a:effectLst/>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ext Box 1"/>
          <p:cNvSpPr txBox="1">
            <a:spLocks noChangeArrowheads="1"/>
          </p:cNvSpPr>
          <p:nvPr/>
        </p:nvSpPr>
        <p:spPr bwMode="auto">
          <a:xfrm>
            <a:off x="812800" y="228600"/>
            <a:ext cx="10464800" cy="1143000"/>
          </a:xfrm>
          <a:prstGeom prst="rect">
            <a:avLst/>
          </a:prstGeom>
          <a:noFill/>
          <a:ln w="9525">
            <a:noFill/>
            <a:round/>
            <a:headEnd/>
            <a:tailEnd/>
          </a:ln>
          <a:effectLst/>
        </p:spPr>
        <p:txBody>
          <a:bodyPr lIns="92160" tIns="46080" rIns="92160" bIns="46080" anchor="b"/>
          <a:lstStyle/>
          <a:p>
            <a:pPr algn="ctr">
              <a:spcBef>
                <a:spcPct val="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a:solidFill>
                  <a:srgbClr val="D49FFF"/>
                </a:solidFill>
                <a:latin typeface="Times New Roman" pitchFamily="16" charset="0"/>
                <a:ea typeface="宋体" charset="-122"/>
              </a:rPr>
              <a:t>Big-Omega</a:t>
            </a:r>
          </a:p>
        </p:txBody>
      </p:sp>
      <p:sp>
        <p:nvSpPr>
          <p:cNvPr id="19458" name="Text Box 2"/>
          <p:cNvSpPr txBox="1">
            <a:spLocks noChangeArrowheads="1"/>
          </p:cNvSpPr>
          <p:nvPr/>
        </p:nvSpPr>
        <p:spPr bwMode="auto">
          <a:xfrm>
            <a:off x="812800" y="1676400"/>
            <a:ext cx="10464800" cy="4800600"/>
          </a:xfrm>
          <a:prstGeom prst="rect">
            <a:avLst/>
          </a:prstGeom>
          <a:noFill/>
          <a:ln w="9525">
            <a:noFill/>
            <a:round/>
            <a:headEnd/>
            <a:tailEnd/>
          </a:ln>
          <a:effectLst/>
        </p:spPr>
        <p:txBody>
          <a:bodyPr lIns="92160" tIns="46080" rIns="92160" bIns="46080"/>
          <a:lstStyle/>
          <a:p>
            <a:pPr marL="342900" indent="-341313">
              <a:spcBef>
                <a:spcPts val="700"/>
              </a:spcBef>
              <a:buClrTx/>
              <a:buSzPct val="75000"/>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endParaRPr lang="en-US" sz="2800" b="1" dirty="0">
              <a:ea typeface="宋体" charset="-122"/>
            </a:endParaRPr>
          </a:p>
          <a:p>
            <a:pPr marL="342900" indent="-341313">
              <a:spcBef>
                <a:spcPts val="700"/>
              </a:spcBef>
              <a:buClr>
                <a:srgbClr val="FFCCFF"/>
              </a:buClr>
              <a:buSzPct val="75000"/>
              <a:buFont typeface="Monotype Sorts" charset="2"/>
              <a:buChar cha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2800" b="1" dirty="0">
                <a:ea typeface="宋体" charset="-122"/>
              </a:rPr>
              <a:t>f(N) = </a:t>
            </a:r>
            <a:r>
              <a:rPr lang="en-US" sz="2800" b="1" dirty="0">
                <a:latin typeface="Symbol" pitchFamily="16" charset="2"/>
                <a:ea typeface="宋体" charset="-122"/>
              </a:rPr>
              <a:t></a:t>
            </a:r>
            <a:r>
              <a:rPr lang="en-US" sz="2800" b="1" dirty="0">
                <a:ea typeface="宋体" charset="-122"/>
              </a:rPr>
              <a:t>(g(N))</a:t>
            </a:r>
          </a:p>
          <a:p>
            <a:pPr marL="342900" indent="-341313">
              <a:spcBef>
                <a:spcPts val="700"/>
              </a:spcBef>
              <a:buClr>
                <a:srgbClr val="FFCCFF"/>
              </a:buClr>
              <a:buSzPct val="75000"/>
              <a:buFont typeface="Monotype Sorts" charset="2"/>
              <a:buChar cha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2800" b="1" dirty="0">
                <a:ea typeface="宋体" charset="-122"/>
              </a:rPr>
              <a:t>There are positive constants c and n</a:t>
            </a:r>
            <a:r>
              <a:rPr lang="en-US" sz="2800" b="1" baseline="-25000" dirty="0">
                <a:ea typeface="宋体" charset="-122"/>
              </a:rPr>
              <a:t>0</a:t>
            </a:r>
            <a:r>
              <a:rPr lang="en-US" sz="2800" b="1" dirty="0">
                <a:ea typeface="宋体" charset="-122"/>
              </a:rPr>
              <a:t> such that </a:t>
            </a:r>
          </a:p>
          <a:p>
            <a:pPr marL="342900" indent="-341313">
              <a:spcBef>
                <a:spcPts val="700"/>
              </a:spcBef>
              <a:buClrTx/>
              <a:buSzPct val="75000"/>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2800" b="1" dirty="0">
                <a:ea typeface="宋体" charset="-122"/>
              </a:rPr>
              <a:t>              f(N) </a:t>
            </a:r>
            <a:r>
              <a:rPr lang="en-US" sz="2800" b="1" dirty="0">
                <a:latin typeface="Symbol" pitchFamily="16" charset="2"/>
                <a:ea typeface="宋体" charset="-122"/>
              </a:rPr>
              <a:t></a:t>
            </a:r>
            <a:r>
              <a:rPr lang="en-US" sz="2800" b="1" dirty="0">
                <a:ea typeface="宋体" charset="-122"/>
              </a:rPr>
              <a:t> c g(N) when N </a:t>
            </a:r>
            <a:r>
              <a:rPr lang="en-US" sz="2800" b="1" dirty="0">
                <a:latin typeface="Symbol" pitchFamily="16" charset="2"/>
                <a:ea typeface="宋体" charset="-122"/>
              </a:rPr>
              <a:t></a:t>
            </a:r>
            <a:r>
              <a:rPr lang="en-US" sz="2800" b="1" dirty="0">
                <a:ea typeface="宋体" charset="-122"/>
              </a:rPr>
              <a:t> n</a:t>
            </a:r>
            <a:r>
              <a:rPr lang="en-US" sz="2800" b="1" baseline="-25000" dirty="0">
                <a:ea typeface="宋体" charset="-122"/>
              </a:rPr>
              <a:t>0</a:t>
            </a:r>
          </a:p>
          <a:p>
            <a:pPr marL="342900" indent="-341313">
              <a:spcBef>
                <a:spcPts val="700"/>
              </a:spcBef>
              <a:buClrTx/>
              <a:buSzPct val="75000"/>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endParaRPr lang="en-US" sz="2800" b="1" baseline="-25000" dirty="0">
              <a:ea typeface="宋体" charset="-122"/>
            </a:endParaRPr>
          </a:p>
          <a:p>
            <a:pPr marL="342900" indent="-341313">
              <a:spcBef>
                <a:spcPts val="700"/>
              </a:spcBef>
              <a:buClr>
                <a:srgbClr val="FFCCFF"/>
              </a:buClr>
              <a:buSzPct val="75000"/>
              <a:buFont typeface="Monotype Sorts" charset="2"/>
              <a:buChar cha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2800" b="1" dirty="0">
                <a:ea typeface="宋体" charset="-122"/>
              </a:rPr>
              <a:t>The growth rate of f(N) is </a:t>
            </a:r>
            <a:r>
              <a:rPr lang="en-US" sz="2800" b="1" i="1" dirty="0">
                <a:ea typeface="宋体" charset="-122"/>
              </a:rPr>
              <a:t>greater than or equal to</a:t>
            </a:r>
            <a:r>
              <a:rPr lang="en-US" sz="2800" b="1" dirty="0">
                <a:ea typeface="宋体" charset="-122"/>
              </a:rPr>
              <a:t>  the growth rate of g(N).</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ext Box 1"/>
          <p:cNvSpPr txBox="1">
            <a:spLocks noChangeArrowheads="1"/>
          </p:cNvSpPr>
          <p:nvPr/>
        </p:nvSpPr>
        <p:spPr bwMode="auto">
          <a:xfrm>
            <a:off x="812800" y="228600"/>
            <a:ext cx="10464800" cy="1143000"/>
          </a:xfrm>
          <a:prstGeom prst="rect">
            <a:avLst/>
          </a:prstGeom>
          <a:noFill/>
          <a:ln w="9525">
            <a:noFill/>
            <a:round/>
            <a:headEnd/>
            <a:tailEnd/>
          </a:ln>
          <a:effectLst/>
        </p:spPr>
        <p:txBody>
          <a:bodyPr lIns="92160" tIns="46080" rIns="92160" bIns="46080" anchor="b"/>
          <a:lstStyle/>
          <a:p>
            <a:pPr algn="ctr">
              <a:spcBef>
                <a:spcPct val="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a:solidFill>
                  <a:srgbClr val="D49FFF"/>
                </a:solidFill>
                <a:latin typeface="Times New Roman" pitchFamily="16" charset="0"/>
                <a:ea typeface="宋体" charset="-122"/>
              </a:rPr>
              <a:t>Big-Omega: examples</a:t>
            </a:r>
          </a:p>
        </p:txBody>
      </p:sp>
      <p:sp>
        <p:nvSpPr>
          <p:cNvPr id="20482" name="Text Box 2"/>
          <p:cNvSpPr txBox="1">
            <a:spLocks noChangeArrowheads="1"/>
          </p:cNvSpPr>
          <p:nvPr/>
        </p:nvSpPr>
        <p:spPr bwMode="auto">
          <a:xfrm>
            <a:off x="812800" y="1676400"/>
            <a:ext cx="10464800" cy="4800600"/>
          </a:xfrm>
          <a:prstGeom prst="rect">
            <a:avLst/>
          </a:prstGeom>
          <a:noFill/>
          <a:ln w="9525">
            <a:noFill/>
            <a:round/>
            <a:headEnd/>
            <a:tailEnd/>
          </a:ln>
          <a:effectLst/>
        </p:spPr>
        <p:txBody>
          <a:bodyPr lIns="92160" tIns="46080" rIns="92160" bIns="46080"/>
          <a:lstStyle/>
          <a:p>
            <a:pPr marL="341313" indent="-341313">
              <a:spcBef>
                <a:spcPts val="700"/>
              </a:spcBef>
              <a:buClr>
                <a:srgbClr val="FFCCFF"/>
              </a:buClr>
              <a:buSzPct val="75000"/>
              <a:buFont typeface="Monotype Sort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800" b="1" dirty="0">
                <a:ea typeface="宋体" charset="-122"/>
              </a:rPr>
              <a:t>Let f(N) = 2N</a:t>
            </a:r>
            <a:r>
              <a:rPr lang="en-US" sz="2800" b="1" baseline="30000" dirty="0">
                <a:ea typeface="宋体" charset="-122"/>
              </a:rPr>
              <a:t>2</a:t>
            </a:r>
            <a:r>
              <a:rPr lang="en-US" sz="2800" b="1" dirty="0">
                <a:ea typeface="宋体" charset="-122"/>
              </a:rPr>
              <a:t>.  Then</a:t>
            </a:r>
          </a:p>
          <a:p>
            <a:pPr marL="741363" lvl="1" indent="-284163">
              <a:spcBef>
                <a:spcPts val="600"/>
              </a:spcBef>
              <a:buClr>
                <a:srgbClr val="FFCCFF"/>
              </a:buClr>
              <a:buSzPct val="80000"/>
              <a:buFont typeface="Monotype Sort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400" b="1" dirty="0">
                <a:ea typeface="宋体" charset="-122"/>
              </a:rPr>
              <a:t>f(N) = </a:t>
            </a:r>
            <a:r>
              <a:rPr lang="en-US" sz="2400" b="1" dirty="0">
                <a:latin typeface="Symbol" pitchFamily="16" charset="2"/>
                <a:ea typeface="宋体" charset="-122"/>
              </a:rPr>
              <a:t></a:t>
            </a:r>
            <a:r>
              <a:rPr lang="en-US" sz="2400" b="1" dirty="0">
                <a:ea typeface="宋体" charset="-122"/>
              </a:rPr>
              <a:t>(N)</a:t>
            </a:r>
          </a:p>
          <a:p>
            <a:pPr marL="741363" lvl="1" indent="-284163">
              <a:spcBef>
                <a:spcPts val="600"/>
              </a:spcBef>
              <a:buClr>
                <a:srgbClr val="FFCCFF"/>
              </a:buClr>
              <a:buSzPct val="80000"/>
              <a:buFont typeface="Monotype Sort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400" b="1" dirty="0">
                <a:ea typeface="宋体" charset="-122"/>
              </a:rPr>
              <a:t>f(N) = </a:t>
            </a:r>
            <a:r>
              <a:rPr lang="en-US" sz="2400" b="1" dirty="0">
                <a:latin typeface="Symbol" pitchFamily="16" charset="2"/>
                <a:ea typeface="宋体" charset="-122"/>
              </a:rPr>
              <a:t></a:t>
            </a:r>
            <a:r>
              <a:rPr lang="en-US" sz="2400" b="1" dirty="0">
                <a:ea typeface="宋体" charset="-122"/>
              </a:rPr>
              <a:t>(N</a:t>
            </a:r>
            <a:r>
              <a:rPr lang="en-US" sz="2400" b="1" baseline="30000" dirty="0">
                <a:ea typeface="宋体" charset="-122"/>
              </a:rPr>
              <a:t>2</a:t>
            </a:r>
            <a:r>
              <a:rPr lang="en-US" sz="2400" b="1" dirty="0">
                <a:ea typeface="宋体" charset="-122"/>
              </a:rPr>
              <a:t>)      (best answer)</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E233F72-968F-8D26-F005-7295D402BCD4}"/>
              </a:ext>
            </a:extLst>
          </p:cNvPr>
          <p:cNvSpPr>
            <a:spLocks noGrp="1"/>
          </p:cNvSpPr>
          <p:nvPr>
            <p:ph type="title"/>
          </p:nvPr>
        </p:nvSpPr>
        <p:spPr/>
        <p:txBody>
          <a:bodyPr/>
          <a:lstStyle/>
          <a:p>
            <a:r>
              <a:rPr lang="en-US" dirty="0"/>
              <a:t>Theta Notation (Θ-Notation):</a:t>
            </a:r>
          </a:p>
        </p:txBody>
      </p:sp>
      <p:sp>
        <p:nvSpPr>
          <p:cNvPr id="3" name="Content Placeholder 2">
            <a:extLst>
              <a:ext uri="{FF2B5EF4-FFF2-40B4-BE49-F238E27FC236}">
                <a16:creationId xmlns:a16="http://schemas.microsoft.com/office/drawing/2014/main" xmlns="" id="{6C43152C-58F2-C3AB-B51F-0AA1BB757FBB}"/>
              </a:ext>
            </a:extLst>
          </p:cNvPr>
          <p:cNvSpPr>
            <a:spLocks noGrp="1"/>
          </p:cNvSpPr>
          <p:nvPr>
            <p:ph idx="1"/>
          </p:nvPr>
        </p:nvSpPr>
        <p:spPr/>
        <p:txBody>
          <a:bodyPr/>
          <a:lstStyle/>
          <a:p>
            <a:pPr algn="just">
              <a:buFont typeface="Wingdings" pitchFamily="2" charset="2"/>
              <a:buChar char="v"/>
            </a:pPr>
            <a:r>
              <a:rPr lang="en-US" dirty="0"/>
              <a:t>Theta notation encloses the function from above and below. Since it represents the upper and the lower bound of the running time of an algorithm, it is used for analyzing the </a:t>
            </a:r>
            <a:r>
              <a:rPr lang="en-US" dirty="0">
                <a:solidFill>
                  <a:srgbClr val="FF0000"/>
                </a:solidFill>
              </a:rPr>
              <a:t>average-case</a:t>
            </a:r>
            <a:r>
              <a:rPr lang="en-US" dirty="0"/>
              <a:t> complexity of an algorithm.
Theta (Average Case) You add the running times for each possible input combination and take the average in the average case.</a:t>
            </a:r>
          </a:p>
        </p:txBody>
      </p:sp>
      <p:sp>
        <p:nvSpPr>
          <p:cNvPr id="4" name="Footer Placeholder 3">
            <a:extLst>
              <a:ext uri="{FF2B5EF4-FFF2-40B4-BE49-F238E27FC236}">
                <a16:creationId xmlns:a16="http://schemas.microsoft.com/office/drawing/2014/main" xmlns="" id="{0D8AA4FA-C178-32E8-E43B-8FD4E36CA50D}"/>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xmlns="" id="{57669EAF-7882-4AB7-EA19-D836ED8BFDEF}"/>
              </a:ext>
            </a:extLst>
          </p:cNvPr>
          <p:cNvSpPr>
            <a:spLocks noGrp="1"/>
          </p:cNvSpPr>
          <p:nvPr>
            <p:ph type="sldNum" sz="quarter" idx="12"/>
          </p:nvPr>
        </p:nvSpPr>
        <p:spPr/>
        <p:txBody>
          <a:bodyPr/>
          <a:lstStyle/>
          <a:p>
            <a:fld id="{26510230-8DD5-4BA5-AB2D-CA30FC08F9D7}" type="slidenum">
              <a:rPr lang="en-IN" smtClean="0"/>
              <a:pPr/>
              <a:t>19</a:t>
            </a:fld>
            <a:endParaRPr lang="en-IN"/>
          </a:p>
        </p:txBody>
      </p:sp>
    </p:spTree>
    <p:extLst>
      <p:ext uri="{BB962C8B-B14F-4D97-AF65-F5344CB8AC3E}">
        <p14:creationId xmlns:p14="http://schemas.microsoft.com/office/powerpoint/2010/main" xmlns="" val="136877156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ext Box 1"/>
          <p:cNvSpPr txBox="1">
            <a:spLocks noChangeArrowheads="1"/>
          </p:cNvSpPr>
          <p:nvPr/>
        </p:nvSpPr>
        <p:spPr bwMode="auto">
          <a:xfrm>
            <a:off x="812800" y="228600"/>
            <a:ext cx="10464800" cy="1143000"/>
          </a:xfrm>
          <a:prstGeom prst="rect">
            <a:avLst/>
          </a:prstGeom>
          <a:noFill/>
          <a:ln w="9525">
            <a:noFill/>
            <a:round/>
            <a:headEnd/>
            <a:tailEnd/>
          </a:ln>
          <a:effectLst/>
        </p:spPr>
        <p:txBody>
          <a:bodyPr lIns="92160" tIns="46080" rIns="92160" bIns="46080" anchor="b"/>
          <a:lstStyle/>
          <a:p>
            <a:pPr algn="ctr">
              <a:spcBef>
                <a:spcPct val="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a:solidFill>
                  <a:srgbClr val="D49FFF"/>
                </a:solidFill>
                <a:latin typeface="Times New Roman" pitchFamily="16" charset="0"/>
                <a:ea typeface="宋体" charset="-122"/>
              </a:rPr>
              <a:t>f(N) = </a:t>
            </a:r>
            <a:r>
              <a:rPr lang="en-US" sz="4400">
                <a:solidFill>
                  <a:srgbClr val="D49FFF"/>
                </a:solidFill>
                <a:latin typeface="Symbol" pitchFamily="16" charset="2"/>
                <a:ea typeface="宋体" charset="-122"/>
              </a:rPr>
              <a:t></a:t>
            </a:r>
            <a:r>
              <a:rPr lang="en-US" sz="4400">
                <a:solidFill>
                  <a:srgbClr val="D49FFF"/>
                </a:solidFill>
                <a:latin typeface="Times New Roman" pitchFamily="16" charset="0"/>
                <a:ea typeface="宋体" charset="-122"/>
              </a:rPr>
              <a:t>(g(N))</a:t>
            </a:r>
          </a:p>
        </p:txBody>
      </p:sp>
      <p:sp>
        <p:nvSpPr>
          <p:cNvPr id="21506" name="Text Box 2"/>
          <p:cNvSpPr txBox="1">
            <a:spLocks noChangeArrowheads="1"/>
          </p:cNvSpPr>
          <p:nvPr/>
        </p:nvSpPr>
        <p:spPr bwMode="auto">
          <a:xfrm>
            <a:off x="812800" y="1676400"/>
            <a:ext cx="10464800" cy="4800600"/>
          </a:xfrm>
          <a:prstGeom prst="rect">
            <a:avLst/>
          </a:prstGeom>
          <a:noFill/>
          <a:ln w="9525">
            <a:noFill/>
            <a:round/>
            <a:headEnd/>
            <a:tailEnd/>
          </a:ln>
          <a:effectLst/>
        </p:spPr>
        <p:txBody>
          <a:bodyPr lIns="92160" tIns="46080" rIns="92160" bIns="46080"/>
          <a:lstStyle/>
          <a:p>
            <a:pPr marL="341313" indent="-341313">
              <a:lnSpc>
                <a:spcPct val="90000"/>
              </a:lnSpc>
              <a:spcBef>
                <a:spcPts val="700"/>
              </a:spcBef>
              <a:buClr>
                <a:srgbClr val="FFCCFF"/>
              </a:buClr>
              <a:buSzPct val="75000"/>
              <a:buFont typeface="Monotype Sorts"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2800" b="1" dirty="0">
              <a:ea typeface="宋体" charset="-122"/>
            </a:endParaRPr>
          </a:p>
          <a:p>
            <a:pPr marL="341313" indent="-341313">
              <a:lnSpc>
                <a:spcPct val="90000"/>
              </a:lnSpc>
              <a:spcBef>
                <a:spcPts val="700"/>
              </a:spcBef>
              <a:buClr>
                <a:srgbClr val="FFCCFF"/>
              </a:buClr>
              <a:buSzPct val="75000"/>
              <a:buFont typeface="Monotype Sorts"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2800" b="1" dirty="0">
              <a:ea typeface="宋体" charset="-122"/>
            </a:endParaRPr>
          </a:p>
          <a:p>
            <a:pPr marL="341313" indent="-341313">
              <a:lnSpc>
                <a:spcPct val="90000"/>
              </a:lnSpc>
              <a:spcBef>
                <a:spcPts val="700"/>
              </a:spcBef>
              <a:buClr>
                <a:srgbClr val="FFCCFF"/>
              </a:buClr>
              <a:buSzPct val="75000"/>
              <a:buFont typeface="Monotype Sorts"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2800" b="1" dirty="0">
              <a:ea typeface="宋体" charset="-122"/>
            </a:endParaRPr>
          </a:p>
          <a:p>
            <a:pPr marL="341313" indent="-341313">
              <a:lnSpc>
                <a:spcPct val="90000"/>
              </a:lnSpc>
              <a:spcBef>
                <a:spcPts val="700"/>
              </a:spcBef>
              <a:buClr>
                <a:srgbClr val="FFCCFF"/>
              </a:buClr>
              <a:buSzPct val="75000"/>
              <a:buFont typeface="Monotype Sorts"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2800" b="1" dirty="0">
              <a:ea typeface="宋体" charset="-122"/>
            </a:endParaRPr>
          </a:p>
          <a:p>
            <a:pPr marL="341313" indent="-341313">
              <a:lnSpc>
                <a:spcPct val="90000"/>
              </a:lnSpc>
              <a:spcBef>
                <a:spcPts val="700"/>
              </a:spcBef>
              <a:buClr>
                <a:srgbClr val="FFCCFF"/>
              </a:buClr>
              <a:buSzPct val="75000"/>
              <a:buFont typeface="Monotype Sorts"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2800" b="1" dirty="0">
              <a:ea typeface="宋体" charset="-122"/>
            </a:endParaRPr>
          </a:p>
          <a:p>
            <a:pPr marL="341313" indent="-341313">
              <a:lnSpc>
                <a:spcPct val="90000"/>
              </a:lnSpc>
              <a:spcBef>
                <a:spcPts val="700"/>
              </a:spcBef>
              <a:buClr>
                <a:srgbClr val="FFCCFF"/>
              </a:buClr>
              <a:buSzPct val="75000"/>
              <a:buFont typeface="Monotype Sorts"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2800" b="1" dirty="0">
              <a:ea typeface="宋体" charset="-122"/>
            </a:endParaRPr>
          </a:p>
          <a:p>
            <a:pPr marL="341313" indent="-341313">
              <a:lnSpc>
                <a:spcPct val="90000"/>
              </a:lnSpc>
              <a:spcBef>
                <a:spcPts val="700"/>
              </a:spcBef>
              <a:buClr>
                <a:srgbClr val="FFCCFF"/>
              </a:buClr>
              <a:buSzPct val="75000"/>
              <a:buFont typeface="Monotype Sorts"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2800" b="1" dirty="0">
              <a:ea typeface="宋体" charset="-122"/>
            </a:endParaRPr>
          </a:p>
          <a:p>
            <a:pPr marL="341313" indent="-341313">
              <a:lnSpc>
                <a:spcPct val="90000"/>
              </a:lnSpc>
              <a:spcBef>
                <a:spcPts val="700"/>
              </a:spcBef>
              <a:buClr>
                <a:srgbClr val="FFCCFF"/>
              </a:buClr>
              <a:buSzPct val="75000"/>
              <a:buFont typeface="Monotype Sorts"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2800" b="1" dirty="0">
              <a:ea typeface="宋体" charset="-122"/>
            </a:endParaRPr>
          </a:p>
          <a:p>
            <a:pPr marL="341313" indent="-341313">
              <a:lnSpc>
                <a:spcPct val="90000"/>
              </a:lnSpc>
              <a:spcBef>
                <a:spcPts val="600"/>
              </a:spcBef>
              <a:buClr>
                <a:srgbClr val="FFCCFF"/>
              </a:buClr>
              <a:buSzPct val="75000"/>
              <a:buFont typeface="Monotype Sort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400" b="1" dirty="0">
                <a:ea typeface="宋体" charset="-122"/>
              </a:rPr>
              <a:t>the growth rate of f(N) </a:t>
            </a:r>
            <a:r>
              <a:rPr lang="en-US" sz="2400" b="1" i="1" dirty="0">
                <a:ea typeface="宋体" charset="-122"/>
              </a:rPr>
              <a:t>is the same as </a:t>
            </a:r>
            <a:r>
              <a:rPr lang="en-US" sz="2400" b="1" dirty="0">
                <a:ea typeface="宋体" charset="-122"/>
              </a:rPr>
              <a:t>the growth rate of g(N)</a:t>
            </a:r>
          </a:p>
        </p:txBody>
      </p:sp>
      <p:pic>
        <p:nvPicPr>
          <p:cNvPr id="21507" name="Picture 3"/>
          <p:cNvPicPr>
            <a:picLocks noChangeAspect="1" noChangeArrowheads="1"/>
          </p:cNvPicPr>
          <p:nvPr/>
        </p:nvPicPr>
        <p:blipFill>
          <a:blip r:embed="rId3"/>
          <a:srcRect/>
          <a:stretch>
            <a:fillRect/>
          </a:stretch>
        </p:blipFill>
        <p:spPr bwMode="auto">
          <a:xfrm>
            <a:off x="3454400" y="1752600"/>
            <a:ext cx="5283200" cy="3608388"/>
          </a:xfrm>
          <a:prstGeom prst="rect">
            <a:avLst/>
          </a:prstGeom>
          <a:noFill/>
          <a:ln w="9525">
            <a:noFill/>
            <a:round/>
            <a:headEnd/>
            <a:tailEnd/>
          </a:ln>
          <a:effectLst/>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ext Box 1"/>
          <p:cNvSpPr txBox="1">
            <a:spLocks noChangeArrowheads="1"/>
          </p:cNvSpPr>
          <p:nvPr/>
        </p:nvSpPr>
        <p:spPr bwMode="auto">
          <a:xfrm>
            <a:off x="812800" y="228600"/>
            <a:ext cx="10464800" cy="1143000"/>
          </a:xfrm>
          <a:prstGeom prst="rect">
            <a:avLst/>
          </a:prstGeom>
          <a:noFill/>
          <a:ln w="9525">
            <a:noFill/>
            <a:round/>
            <a:headEnd/>
            <a:tailEnd/>
          </a:ln>
          <a:effectLst/>
        </p:spPr>
        <p:txBody>
          <a:bodyPr lIns="92160" tIns="46080" rIns="92160" bIns="46080" anchor="b"/>
          <a:lstStyle/>
          <a:p>
            <a:pPr algn="ctr">
              <a:spcBef>
                <a:spcPct val="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a:solidFill>
                  <a:srgbClr val="D49FFF"/>
                </a:solidFill>
                <a:latin typeface="Times New Roman" pitchFamily="16" charset="0"/>
                <a:ea typeface="宋体" charset="-122"/>
              </a:rPr>
              <a:t>Big-Theta</a:t>
            </a:r>
          </a:p>
        </p:txBody>
      </p:sp>
      <p:sp>
        <p:nvSpPr>
          <p:cNvPr id="22530" name="Text Box 2"/>
          <p:cNvSpPr txBox="1">
            <a:spLocks noChangeArrowheads="1"/>
          </p:cNvSpPr>
          <p:nvPr/>
        </p:nvSpPr>
        <p:spPr bwMode="auto">
          <a:xfrm>
            <a:off x="812800" y="1676400"/>
            <a:ext cx="10464800" cy="4800600"/>
          </a:xfrm>
          <a:prstGeom prst="rect">
            <a:avLst/>
          </a:prstGeom>
          <a:noFill/>
          <a:ln w="9525">
            <a:noFill/>
            <a:round/>
            <a:headEnd/>
            <a:tailEnd/>
          </a:ln>
          <a:effectLst/>
        </p:spPr>
        <p:txBody>
          <a:bodyPr lIns="92160" tIns="46080" rIns="92160" bIns="46080"/>
          <a:lstStyle/>
          <a:p>
            <a:pPr marL="341313" indent="-341313">
              <a:lnSpc>
                <a:spcPct val="90000"/>
              </a:lnSpc>
              <a:spcBef>
                <a:spcPts val="700"/>
              </a:spcBef>
              <a:buClr>
                <a:srgbClr val="FFCCFF"/>
              </a:buClr>
              <a:buSzPct val="75000"/>
              <a:buFont typeface="Monotype Sorts"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2800" b="1" dirty="0">
              <a:ea typeface="宋体" charset="-122"/>
            </a:endParaRPr>
          </a:p>
          <a:p>
            <a:pPr marL="341313" indent="-341313">
              <a:lnSpc>
                <a:spcPct val="90000"/>
              </a:lnSpc>
              <a:spcBef>
                <a:spcPts val="700"/>
              </a:spcBef>
              <a:buClr>
                <a:srgbClr val="FFCCFF"/>
              </a:buClr>
              <a:buSzPct val="75000"/>
              <a:buFont typeface="Monotype Sort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800" b="1" dirty="0">
                <a:ea typeface="宋体" charset="-122"/>
              </a:rPr>
              <a:t>f(N) = </a:t>
            </a:r>
            <a:r>
              <a:rPr lang="en-US" sz="2800" b="1" dirty="0">
                <a:latin typeface="Symbol" pitchFamily="16" charset="2"/>
                <a:ea typeface="宋体" charset="-122"/>
              </a:rPr>
              <a:t></a:t>
            </a:r>
            <a:r>
              <a:rPr lang="en-US" sz="2800" b="1" dirty="0">
                <a:ea typeface="宋体" charset="-122"/>
              </a:rPr>
              <a:t>(g(N))   </a:t>
            </a:r>
            <a:r>
              <a:rPr lang="en-US" sz="2800" b="1" dirty="0" err="1">
                <a:ea typeface="宋体" charset="-122"/>
              </a:rPr>
              <a:t>iff</a:t>
            </a:r>
            <a:r>
              <a:rPr lang="en-US" sz="2800" b="1" dirty="0">
                <a:ea typeface="宋体" charset="-122"/>
              </a:rPr>
              <a:t> </a:t>
            </a:r>
          </a:p>
          <a:p>
            <a:pPr marL="341313" indent="-341313">
              <a:lnSpc>
                <a:spcPct val="90000"/>
              </a:lnSpc>
              <a:spcBef>
                <a:spcPts val="700"/>
              </a:spcBef>
              <a:buClrTx/>
              <a:buSzPct val="75000"/>
              <a:buFontTx/>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800" b="1" dirty="0">
                <a:ea typeface="宋体" charset="-122"/>
              </a:rPr>
              <a:t>    f(N) = O(g(N)) and f(N) = </a:t>
            </a:r>
            <a:r>
              <a:rPr lang="en-US" sz="2800" b="1" dirty="0">
                <a:latin typeface="Symbol" pitchFamily="16" charset="2"/>
                <a:ea typeface="宋体" charset="-122"/>
              </a:rPr>
              <a:t></a:t>
            </a:r>
            <a:r>
              <a:rPr lang="en-US" sz="2800" b="1" dirty="0">
                <a:ea typeface="宋体" charset="-122"/>
              </a:rPr>
              <a:t>(g(N))</a:t>
            </a:r>
          </a:p>
          <a:p>
            <a:pPr marL="341313" indent="-341313">
              <a:lnSpc>
                <a:spcPct val="90000"/>
              </a:lnSpc>
              <a:spcBef>
                <a:spcPts val="700"/>
              </a:spcBef>
              <a:buClr>
                <a:srgbClr val="FFCCFF"/>
              </a:buClr>
              <a:buSzPct val="75000"/>
              <a:buFont typeface="Monotype Sort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800" b="1" dirty="0">
                <a:ea typeface="宋体" charset="-122"/>
              </a:rPr>
              <a:t>The growth rate of f(N) </a:t>
            </a:r>
            <a:r>
              <a:rPr lang="en-US" sz="2800" b="1" i="1" dirty="0">
                <a:ea typeface="宋体" charset="-122"/>
              </a:rPr>
              <a:t>equals</a:t>
            </a:r>
            <a:r>
              <a:rPr lang="en-US" sz="2800" b="1" dirty="0">
                <a:ea typeface="宋体" charset="-122"/>
              </a:rPr>
              <a:t> the growth rate of g(N)</a:t>
            </a:r>
          </a:p>
          <a:p>
            <a:pPr marL="341313" indent="-341313">
              <a:lnSpc>
                <a:spcPct val="90000"/>
              </a:lnSpc>
              <a:spcBef>
                <a:spcPts val="700"/>
              </a:spcBef>
              <a:buClr>
                <a:srgbClr val="FFCCFF"/>
              </a:buClr>
              <a:buSzPct val="75000"/>
              <a:buFont typeface="Monotype Sort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800" b="1" dirty="0">
                <a:ea typeface="宋体" charset="-122"/>
              </a:rPr>
              <a:t>Example: Let  f(N)=N</a:t>
            </a:r>
            <a:r>
              <a:rPr lang="en-US" sz="2800" b="1" baseline="30000" dirty="0">
                <a:ea typeface="宋体" charset="-122"/>
              </a:rPr>
              <a:t>2</a:t>
            </a:r>
            <a:r>
              <a:rPr lang="en-US" sz="2800" b="1" dirty="0">
                <a:ea typeface="宋体" charset="-122"/>
              </a:rPr>
              <a:t> ,  g(N)=2N</a:t>
            </a:r>
            <a:r>
              <a:rPr lang="en-US" sz="2800" b="1" baseline="30000" dirty="0">
                <a:ea typeface="宋体" charset="-122"/>
              </a:rPr>
              <a:t>2</a:t>
            </a:r>
          </a:p>
          <a:p>
            <a:pPr marL="741363" lvl="1" indent="-284163">
              <a:lnSpc>
                <a:spcPct val="90000"/>
              </a:lnSpc>
              <a:spcBef>
                <a:spcPts val="600"/>
              </a:spcBef>
              <a:buClr>
                <a:srgbClr val="FFCCFF"/>
              </a:buClr>
              <a:buSzPct val="80000"/>
              <a:buFont typeface="Monotype Sort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400" b="1" dirty="0">
                <a:ea typeface="宋体" charset="-122"/>
              </a:rPr>
              <a:t>Since f(N) = O(g(N)) and f(N) = </a:t>
            </a:r>
            <a:r>
              <a:rPr lang="en-US" sz="2400" b="1" dirty="0">
                <a:latin typeface="Symbol" pitchFamily="16" charset="2"/>
                <a:ea typeface="宋体" charset="-122"/>
              </a:rPr>
              <a:t></a:t>
            </a:r>
            <a:r>
              <a:rPr lang="en-US" sz="2400" b="1" dirty="0">
                <a:ea typeface="宋体" charset="-122"/>
              </a:rPr>
              <a:t>(g(N)), </a:t>
            </a:r>
          </a:p>
          <a:p>
            <a:pPr marL="741363" lvl="1" indent="-284163">
              <a:lnSpc>
                <a:spcPct val="90000"/>
              </a:lnSpc>
              <a:spcBef>
                <a:spcPts val="600"/>
              </a:spcBef>
              <a:buClrTx/>
              <a:buSzPct val="80000"/>
              <a:buFontTx/>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400" b="1" dirty="0">
                <a:ea typeface="宋体" charset="-122"/>
              </a:rPr>
              <a:t>   thus f(N) = </a:t>
            </a:r>
            <a:r>
              <a:rPr lang="en-US" sz="2400" b="1" dirty="0">
                <a:latin typeface="Symbol" pitchFamily="16" charset="2"/>
                <a:ea typeface="宋体" charset="-122"/>
              </a:rPr>
              <a:t></a:t>
            </a:r>
            <a:r>
              <a:rPr lang="en-US" sz="2400" b="1" dirty="0">
                <a:ea typeface="宋体" charset="-122"/>
              </a:rPr>
              <a:t>(g(N)).</a:t>
            </a:r>
          </a:p>
          <a:p>
            <a:pPr marL="341313" indent="-341313">
              <a:lnSpc>
                <a:spcPct val="90000"/>
              </a:lnSpc>
              <a:spcBef>
                <a:spcPts val="700"/>
              </a:spcBef>
              <a:buClr>
                <a:srgbClr val="FFCCFF"/>
              </a:buClr>
              <a:buSzPct val="75000"/>
              <a:buFont typeface="Monotype Sort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800" b="1" dirty="0">
                <a:ea typeface="宋体" charset="-122"/>
              </a:rPr>
              <a:t>Big-Theta means the bound is the tightest possible. </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Effect">
                      <p:stCondLst>
                        <p:cond delay="indefinite"/>
                      </p:stCondLst>
                      <p:childTnLst>
                        <p:par>
                          <p:cTn id="4" fill="hold" nodeType="clickEffect">
                            <p:stCondLst>
                              <p:cond delay="0"/>
                            </p:stCondLst>
                            <p:childTnLst>
                              <p:par>
                                <p:cTn id="5" presetID="1" presetClass="entr" fill="hold" nodeType="clickEffect">
                                  <p:stCondLst>
                                    <p:cond delay="0"/>
                                  </p:stCondLst>
                                  <p:childTnLst>
                                    <p:set>
                                      <p:cBhvr additive="repl">
                                        <p:cTn id="6" dur="1" fill="hold">
                                          <p:stCondLst>
                                            <p:cond delay="0"/>
                                          </p:stCondLst>
                                        </p:cTn>
                                        <p:tgtEl>
                                          <p:spTgt spid="22530">
                                            <p:txEl>
                                              <p:pRg st="1" end="1"/>
                                            </p:txEl>
                                          </p:spTgt>
                                        </p:tgtEl>
                                        <p:attrNameLst>
                                          <p:attrName>style.visibility</p:attrName>
                                        </p:attrNameLst>
                                      </p:cBhvr>
                                      <p:to>
                                        <p:strVal val="visible"/>
                                      </p:to>
                                    </p:set>
                                  </p:childTnLst>
                                </p:cTn>
                              </p:par>
                              <p:par>
                                <p:cTn id="7" presetID="1" presetClass="entr" fill="hold" nodeType="withEffect">
                                  <p:stCondLst>
                                    <p:cond delay="0"/>
                                  </p:stCondLst>
                                  <p:childTnLst>
                                    <p:set>
                                      <p:cBhvr additive="repl">
                                        <p:cTn id="8" dur="1" fill="hold">
                                          <p:stCondLst>
                                            <p:cond delay="0"/>
                                          </p:stCondLst>
                                        </p:cTn>
                                        <p:tgtEl>
                                          <p:spTgt spid="22530">
                                            <p:txEl>
                                              <p:pRg st="2" end="2"/>
                                            </p:txEl>
                                          </p:spTgt>
                                        </p:tgtEl>
                                        <p:attrNameLst>
                                          <p:attrName>style.visibility</p:attrName>
                                        </p:attrNameLst>
                                      </p:cBhvr>
                                      <p:to>
                                        <p:strVal val="visible"/>
                                      </p:to>
                                    </p:set>
                                  </p:childTnLst>
                                </p:cTn>
                              </p:par>
                            </p:childTnLst>
                          </p:cTn>
                        </p:par>
                      </p:childTnLst>
                    </p:cTn>
                  </p:par>
                  <p:par>
                    <p:cTn id="9" fill="hold" nodeType="clickEffect">
                      <p:stCondLst>
                        <p:cond delay="indefinite"/>
                      </p:stCondLst>
                      <p:childTnLst>
                        <p:par>
                          <p:cTn id="10" fill="hold" nodeType="clickEffect">
                            <p:stCondLst>
                              <p:cond delay="0"/>
                            </p:stCondLst>
                            <p:childTnLst>
                              <p:par>
                                <p:cTn id="11" presetID="1" presetClass="entr" fill="hold" nodeType="clickEffect">
                                  <p:stCondLst>
                                    <p:cond delay="0"/>
                                  </p:stCondLst>
                                  <p:childTnLst>
                                    <p:set>
                                      <p:cBhvr additive="repl">
                                        <p:cTn id="12" dur="1" fill="hold">
                                          <p:stCondLst>
                                            <p:cond delay="0"/>
                                          </p:stCondLst>
                                        </p:cTn>
                                        <p:tgtEl>
                                          <p:spTgt spid="22530">
                                            <p:txEl>
                                              <p:pRg st="3" end="3"/>
                                            </p:txEl>
                                          </p:spTgt>
                                        </p:tgtEl>
                                        <p:attrNameLst>
                                          <p:attrName>style.visibility</p:attrName>
                                        </p:attrNameLst>
                                      </p:cBhvr>
                                      <p:to>
                                        <p:strVal val="visible"/>
                                      </p:to>
                                    </p:set>
                                  </p:childTnLst>
                                </p:cTn>
                              </p:par>
                            </p:childTnLst>
                          </p:cTn>
                        </p:par>
                      </p:childTnLst>
                    </p:cTn>
                  </p:par>
                  <p:par>
                    <p:cTn id="13" fill="hold" nodeType="clickEffect">
                      <p:stCondLst>
                        <p:cond delay="indefinite"/>
                      </p:stCondLst>
                      <p:childTnLst>
                        <p:par>
                          <p:cTn id="14" fill="hold" nodeType="clickEffect">
                            <p:stCondLst>
                              <p:cond delay="0"/>
                            </p:stCondLst>
                            <p:childTnLst>
                              <p:par>
                                <p:cTn id="15" presetID="1" presetClass="entr" fill="hold" nodeType="clickEffect">
                                  <p:stCondLst>
                                    <p:cond delay="0"/>
                                  </p:stCondLst>
                                  <p:childTnLst>
                                    <p:set>
                                      <p:cBhvr additive="repl">
                                        <p:cTn id="16" dur="1" fill="hold">
                                          <p:stCondLst>
                                            <p:cond delay="0"/>
                                          </p:stCondLst>
                                        </p:cTn>
                                        <p:tgtEl>
                                          <p:spTgt spid="22530">
                                            <p:txEl>
                                              <p:pRg st="7" end="7"/>
                                            </p:txEl>
                                          </p:spTgt>
                                        </p:tgtEl>
                                        <p:attrNameLst>
                                          <p:attrName>style.visibility</p:attrName>
                                        </p:attrNameLst>
                                      </p:cBhvr>
                                      <p:to>
                                        <p:strVal val="visible"/>
                                      </p:to>
                                    </p:set>
                                  </p:childTnLst>
                                </p:cTn>
                              </p:par>
                            </p:childTnLst>
                          </p:cTn>
                        </p:par>
                      </p:childTnLst>
                    </p:cTn>
                  </p:par>
                  <p:par>
                    <p:cTn id="17" fill="hold" nodeType="clickEffect">
                      <p:stCondLst>
                        <p:cond delay="indefinite"/>
                      </p:stCondLst>
                      <p:childTnLst>
                        <p:par>
                          <p:cTn id="18" fill="hold" nodeType="clickEffect">
                            <p:stCondLst>
                              <p:cond delay="0"/>
                            </p:stCondLst>
                            <p:childTnLst>
                              <p:par>
                                <p:cTn id="19" presetID="1" presetClass="entr" fill="hold" nodeType="clickEffect">
                                  <p:stCondLst>
                                    <p:cond delay="0"/>
                                  </p:stCondLst>
                                  <p:childTnLst>
                                    <p:set>
                                      <p:cBhvr additive="repl">
                                        <p:cTn id="20" dur="1" fill="hold">
                                          <p:stCondLst>
                                            <p:cond delay="0"/>
                                          </p:stCondLst>
                                        </p:cTn>
                                        <p:tgtEl>
                                          <p:spTgt spid="22530">
                                            <p:txEl>
                                              <p:pRg st="4" end="4"/>
                                            </p:txEl>
                                          </p:spTgt>
                                        </p:tgtEl>
                                        <p:attrNameLst>
                                          <p:attrName>style.visibility</p:attrName>
                                        </p:attrNameLst>
                                      </p:cBhvr>
                                      <p:to>
                                        <p:strVal val="visible"/>
                                      </p:to>
                                    </p:set>
                                  </p:childTnLst>
                                </p:cTn>
                              </p:par>
                            </p:childTnLst>
                          </p:cTn>
                        </p:par>
                      </p:childTnLst>
                    </p:cTn>
                  </p:par>
                  <p:par>
                    <p:cTn id="21" fill="hold" nodeType="clickEffect">
                      <p:stCondLst>
                        <p:cond delay="indefinite"/>
                      </p:stCondLst>
                      <p:childTnLst>
                        <p:par>
                          <p:cTn id="22" fill="hold" nodeType="clickEffect">
                            <p:stCondLst>
                              <p:cond delay="0"/>
                            </p:stCondLst>
                            <p:childTnLst>
                              <p:par>
                                <p:cTn id="23" presetID="1" presetClass="entr" fill="hold" nodeType="clickEffect">
                                  <p:stCondLst>
                                    <p:cond delay="0"/>
                                  </p:stCondLst>
                                  <p:childTnLst>
                                    <p:set>
                                      <p:cBhvr additive="repl">
                                        <p:cTn id="24" dur="1" fill="hold">
                                          <p:stCondLst>
                                            <p:cond delay="0"/>
                                          </p:stCondLst>
                                        </p:cTn>
                                        <p:tgtEl>
                                          <p:spTgt spid="22530">
                                            <p:txEl>
                                              <p:pRg st="5" end="5"/>
                                            </p:txEl>
                                          </p:spTgt>
                                        </p:tgtEl>
                                        <p:attrNameLst>
                                          <p:attrName>style.visibility</p:attrName>
                                        </p:attrNameLst>
                                      </p:cBhvr>
                                      <p:to>
                                        <p:strVal val="visible"/>
                                      </p:to>
                                    </p:set>
                                  </p:childTnLst>
                                </p:cTn>
                              </p:par>
                            </p:childTnLst>
                          </p:cTn>
                        </p:par>
                      </p:childTnLst>
                    </p:cTn>
                  </p:par>
                  <p:par>
                    <p:cTn id="25" fill="hold" nodeType="clickEffect">
                      <p:stCondLst>
                        <p:cond delay="indefinite"/>
                      </p:stCondLst>
                      <p:childTnLst>
                        <p:par>
                          <p:cTn id="26" fill="hold" nodeType="clickEffect">
                            <p:stCondLst>
                              <p:cond delay="0"/>
                            </p:stCondLst>
                            <p:childTnLst>
                              <p:par>
                                <p:cTn id="27" presetID="1" presetClass="entr" fill="hold" nodeType="clickEffect">
                                  <p:stCondLst>
                                    <p:cond delay="0"/>
                                  </p:stCondLst>
                                  <p:childTnLst>
                                    <p:set>
                                      <p:cBhvr additive="repl">
                                        <p:cTn id="28" dur="1" fill="hold">
                                          <p:stCondLst>
                                            <p:cond delay="0"/>
                                          </p:stCondLst>
                                        </p:cTn>
                                        <p:tgtEl>
                                          <p:spTgt spid="2253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ext Box 1"/>
          <p:cNvSpPr txBox="1">
            <a:spLocks noChangeArrowheads="1"/>
          </p:cNvSpPr>
          <p:nvPr/>
        </p:nvSpPr>
        <p:spPr bwMode="auto">
          <a:xfrm>
            <a:off x="812800" y="228600"/>
            <a:ext cx="10464800" cy="1143000"/>
          </a:xfrm>
          <a:prstGeom prst="rect">
            <a:avLst/>
          </a:prstGeom>
          <a:noFill/>
          <a:ln w="9525">
            <a:noFill/>
            <a:round/>
            <a:headEnd/>
            <a:tailEnd/>
          </a:ln>
          <a:effectLst/>
        </p:spPr>
        <p:txBody>
          <a:bodyPr lIns="92160" tIns="46080" rIns="92160" bIns="46080" anchor="b"/>
          <a:lstStyle/>
          <a:p>
            <a:pPr algn="ctr">
              <a:spcBef>
                <a:spcPct val="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a:solidFill>
                  <a:srgbClr val="D49FFF"/>
                </a:solidFill>
                <a:latin typeface="Times New Roman" pitchFamily="16" charset="0"/>
                <a:ea typeface="宋体" charset="-122"/>
              </a:rPr>
              <a:t>Some rules</a:t>
            </a:r>
          </a:p>
        </p:txBody>
      </p:sp>
      <p:sp>
        <p:nvSpPr>
          <p:cNvPr id="23554" name="Text Box 2"/>
          <p:cNvSpPr txBox="1">
            <a:spLocks noChangeArrowheads="1"/>
          </p:cNvSpPr>
          <p:nvPr/>
        </p:nvSpPr>
        <p:spPr bwMode="auto">
          <a:xfrm>
            <a:off x="812800" y="1676400"/>
            <a:ext cx="10464800" cy="4800600"/>
          </a:xfrm>
          <a:prstGeom prst="rect">
            <a:avLst/>
          </a:prstGeom>
          <a:noFill/>
          <a:ln w="9525">
            <a:noFill/>
            <a:round/>
            <a:headEnd/>
            <a:tailEnd/>
          </a:ln>
          <a:effectLst/>
        </p:spPr>
        <p:txBody>
          <a:bodyPr lIns="92160" tIns="46080" rIns="92160" bIns="46080"/>
          <a:lstStyle/>
          <a:p>
            <a:pPr marL="741363" lvl="1" indent="-284163">
              <a:spcBef>
                <a:spcPts val="600"/>
              </a:spcBef>
              <a:buClr>
                <a:srgbClr val="FFCCFF"/>
              </a:buClr>
              <a:buSzPct val="80000"/>
              <a:buFont typeface="Monotype Sorts"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2400" b="1" dirty="0">
              <a:ea typeface="宋体" charset="-122"/>
            </a:endParaRPr>
          </a:p>
          <a:p>
            <a:pPr marL="341313" indent="-341313">
              <a:spcBef>
                <a:spcPts val="700"/>
              </a:spcBef>
              <a:buClr>
                <a:srgbClr val="FFCCFF"/>
              </a:buClr>
              <a:buSzPct val="75000"/>
              <a:buFont typeface="Monotype Sort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800" b="1" dirty="0">
                <a:ea typeface="宋体" charset="-122"/>
              </a:rPr>
              <a:t>If T(N) is a polynomial of degree k, then </a:t>
            </a:r>
          </a:p>
          <a:p>
            <a:pPr marL="341313" indent="-341313">
              <a:spcBef>
                <a:spcPts val="700"/>
              </a:spcBef>
              <a:buClrTx/>
              <a:buSzPct val="75000"/>
              <a:buFontTx/>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800" b="1" dirty="0">
                <a:ea typeface="宋体" charset="-122"/>
              </a:rPr>
              <a:t>    T(N) = </a:t>
            </a:r>
            <a:r>
              <a:rPr lang="en-US" sz="2800" b="1" dirty="0">
                <a:latin typeface="Symbol" pitchFamily="16" charset="2"/>
                <a:ea typeface="宋体" charset="-122"/>
              </a:rPr>
              <a:t></a:t>
            </a:r>
            <a:r>
              <a:rPr lang="en-US" sz="2800" b="1" dirty="0">
                <a:ea typeface="宋体" charset="-122"/>
              </a:rPr>
              <a:t>(</a:t>
            </a:r>
            <a:r>
              <a:rPr lang="en-US" sz="2800" b="1" dirty="0" err="1">
                <a:ea typeface="宋体" charset="-122"/>
              </a:rPr>
              <a:t>N</a:t>
            </a:r>
            <a:r>
              <a:rPr lang="en-US" sz="2800" b="1" baseline="30000" dirty="0" err="1">
                <a:ea typeface="宋体" charset="-122"/>
              </a:rPr>
              <a:t>k</a:t>
            </a:r>
            <a:r>
              <a:rPr lang="en-US" sz="2800" b="1" dirty="0">
                <a:ea typeface="宋体" charset="-122"/>
              </a:rPr>
              <a:t>).</a:t>
            </a:r>
          </a:p>
          <a:p>
            <a:pPr marL="341313" indent="-341313">
              <a:spcBef>
                <a:spcPts val="700"/>
              </a:spcBef>
              <a:buClr>
                <a:srgbClr val="FFCCFF"/>
              </a:buClr>
              <a:buSzPct val="75000"/>
              <a:buFont typeface="Monotype Sorts"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2800" b="1" dirty="0">
              <a:ea typeface="宋体" charset="-122"/>
            </a:endParaRPr>
          </a:p>
          <a:p>
            <a:pPr marL="341313" indent="-341313">
              <a:spcBef>
                <a:spcPts val="700"/>
              </a:spcBef>
              <a:buClr>
                <a:srgbClr val="FFCCFF"/>
              </a:buClr>
              <a:buSzPct val="75000"/>
              <a:buFont typeface="Monotype Sort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800" b="1" dirty="0">
                <a:ea typeface="宋体" charset="-122"/>
              </a:rPr>
              <a:t>For logarithmic functions,</a:t>
            </a:r>
          </a:p>
          <a:p>
            <a:pPr marL="741363" lvl="1" indent="-284163">
              <a:spcBef>
                <a:spcPts val="600"/>
              </a:spcBef>
              <a:buClrTx/>
              <a:buSzPct val="80000"/>
              <a:buFontTx/>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400" b="1" dirty="0">
                <a:ea typeface="宋体" charset="-122"/>
              </a:rPr>
              <a:t>T(</a:t>
            </a:r>
            <a:r>
              <a:rPr lang="en-US" sz="2400" b="1" dirty="0" err="1">
                <a:ea typeface="宋体" charset="-122"/>
              </a:rPr>
              <a:t>log</a:t>
            </a:r>
            <a:r>
              <a:rPr lang="en-US" sz="2400" b="1" baseline="-25000" dirty="0" err="1">
                <a:ea typeface="宋体" charset="-122"/>
              </a:rPr>
              <a:t>m</a:t>
            </a:r>
            <a:r>
              <a:rPr lang="en-US" sz="2400" b="1" dirty="0">
                <a:ea typeface="宋体" charset="-122"/>
              </a:rPr>
              <a:t> N) = </a:t>
            </a:r>
            <a:r>
              <a:rPr lang="en-US" sz="2400" b="1" dirty="0">
                <a:latin typeface="Symbol" pitchFamily="16" charset="2"/>
                <a:ea typeface="宋体" charset="-122"/>
              </a:rPr>
              <a:t></a:t>
            </a:r>
            <a:r>
              <a:rPr lang="en-US" sz="2400" b="1" dirty="0">
                <a:ea typeface="宋体" charset="-122"/>
              </a:rPr>
              <a:t>(log N).</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ext Box 1"/>
          <p:cNvSpPr txBox="1">
            <a:spLocks noChangeArrowheads="1"/>
          </p:cNvSpPr>
          <p:nvPr/>
        </p:nvSpPr>
        <p:spPr bwMode="auto">
          <a:xfrm>
            <a:off x="812800" y="228600"/>
            <a:ext cx="10464800" cy="1143000"/>
          </a:xfrm>
          <a:prstGeom prst="rect">
            <a:avLst/>
          </a:prstGeom>
          <a:noFill/>
          <a:ln w="9525">
            <a:noFill/>
            <a:round/>
            <a:headEnd/>
            <a:tailEnd/>
          </a:ln>
          <a:effectLst/>
        </p:spPr>
        <p:txBody>
          <a:bodyPr lIns="92160" tIns="46080" rIns="92160" bIns="46080" anchor="b"/>
          <a:lstStyle/>
          <a:p>
            <a:pPr algn="ctr">
              <a:spcBef>
                <a:spcPct val="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a:solidFill>
                  <a:srgbClr val="D49FFF"/>
                </a:solidFill>
                <a:latin typeface="Times New Roman" pitchFamily="16" charset="0"/>
                <a:ea typeface="宋体" charset="-122"/>
              </a:rPr>
              <a:t>Growth rates …</a:t>
            </a:r>
          </a:p>
        </p:txBody>
      </p:sp>
      <p:sp>
        <p:nvSpPr>
          <p:cNvPr id="25602" name="Text Box 2"/>
          <p:cNvSpPr txBox="1">
            <a:spLocks noChangeArrowheads="1"/>
          </p:cNvSpPr>
          <p:nvPr/>
        </p:nvSpPr>
        <p:spPr bwMode="auto">
          <a:xfrm>
            <a:off x="812800" y="1676400"/>
            <a:ext cx="10464800" cy="4800600"/>
          </a:xfrm>
          <a:prstGeom prst="rect">
            <a:avLst/>
          </a:prstGeom>
          <a:noFill/>
          <a:ln w="9525">
            <a:noFill/>
            <a:round/>
            <a:headEnd/>
            <a:tailEnd/>
          </a:ln>
          <a:effectLst/>
        </p:spPr>
        <p:txBody>
          <a:bodyPr lIns="92160" tIns="46080" rIns="92160" bIns="46080"/>
          <a:lstStyle/>
          <a:p>
            <a:pPr marL="341313" indent="-341313">
              <a:spcBef>
                <a:spcPts val="700"/>
              </a:spcBef>
              <a:buClr>
                <a:srgbClr val="FFCCFF"/>
              </a:buClr>
              <a:buSzPct val="75000"/>
              <a:buFont typeface="Monotype Sort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800" b="1" dirty="0">
                <a:ea typeface="宋体" charset="-122"/>
              </a:rPr>
              <a:t>Doubling the input size </a:t>
            </a:r>
          </a:p>
          <a:p>
            <a:pPr marL="741363" lvl="1" indent="-284163">
              <a:spcBef>
                <a:spcPts val="600"/>
              </a:spcBef>
              <a:buClr>
                <a:srgbClr val="FFCCFF"/>
              </a:buClr>
              <a:buSzPct val="80000"/>
              <a:buFont typeface="Monotype Sort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400" b="1" dirty="0">
                <a:ea typeface="宋体" charset="-122"/>
              </a:rPr>
              <a:t>f(N) = c         </a:t>
            </a:r>
            <a:r>
              <a:rPr lang="en-US" sz="2400" b="1" dirty="0">
                <a:latin typeface="Symbol" pitchFamily="16" charset="2"/>
                <a:ea typeface="宋体" charset="-122"/>
              </a:rPr>
              <a:t></a:t>
            </a:r>
            <a:r>
              <a:rPr lang="en-US" sz="2400" b="1" dirty="0">
                <a:ea typeface="宋体" charset="-122"/>
              </a:rPr>
              <a:t> f(2N) = f(N) = c</a:t>
            </a:r>
          </a:p>
          <a:p>
            <a:pPr marL="741363" lvl="1" indent="-284163">
              <a:spcBef>
                <a:spcPts val="600"/>
              </a:spcBef>
              <a:buClr>
                <a:srgbClr val="FFCCFF"/>
              </a:buClr>
              <a:buSzPct val="80000"/>
              <a:buFont typeface="Monotype Sort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400" b="1" dirty="0">
                <a:ea typeface="宋体" charset="-122"/>
              </a:rPr>
              <a:t>f(N) = log N  </a:t>
            </a:r>
            <a:r>
              <a:rPr lang="en-US" sz="2400" b="1" dirty="0">
                <a:latin typeface="Symbol" pitchFamily="16" charset="2"/>
                <a:ea typeface="宋体" charset="-122"/>
              </a:rPr>
              <a:t></a:t>
            </a:r>
            <a:r>
              <a:rPr lang="en-US" sz="2400" b="1" dirty="0">
                <a:ea typeface="宋体" charset="-122"/>
              </a:rPr>
              <a:t> f(2N) = f(N) + log 2</a:t>
            </a:r>
          </a:p>
          <a:p>
            <a:pPr marL="741363" lvl="1" indent="-284163">
              <a:spcBef>
                <a:spcPts val="600"/>
              </a:spcBef>
              <a:buClr>
                <a:srgbClr val="FFCCFF"/>
              </a:buClr>
              <a:buSzPct val="80000"/>
              <a:buFont typeface="Monotype Sort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400" b="1" dirty="0">
                <a:ea typeface="宋体" charset="-122"/>
              </a:rPr>
              <a:t>f(N) = N        </a:t>
            </a:r>
            <a:r>
              <a:rPr lang="en-US" sz="2400" b="1" dirty="0">
                <a:latin typeface="Symbol" pitchFamily="16" charset="2"/>
                <a:ea typeface="宋体" charset="-122"/>
              </a:rPr>
              <a:t></a:t>
            </a:r>
            <a:r>
              <a:rPr lang="en-US" sz="2400" b="1" dirty="0">
                <a:ea typeface="宋体" charset="-122"/>
              </a:rPr>
              <a:t> f(2N) = 2 f(N) </a:t>
            </a:r>
          </a:p>
          <a:p>
            <a:pPr marL="741363" lvl="1" indent="-284163">
              <a:spcBef>
                <a:spcPts val="600"/>
              </a:spcBef>
              <a:buClr>
                <a:srgbClr val="FFCCFF"/>
              </a:buClr>
              <a:buSzPct val="80000"/>
              <a:buFont typeface="Monotype Sort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400" b="1" dirty="0">
                <a:ea typeface="宋体" charset="-122"/>
              </a:rPr>
              <a:t>f(N) = N</a:t>
            </a:r>
            <a:r>
              <a:rPr lang="en-US" sz="2400" b="1" baseline="30000" dirty="0">
                <a:ea typeface="宋体" charset="-122"/>
              </a:rPr>
              <a:t>2</a:t>
            </a:r>
            <a:r>
              <a:rPr lang="en-US" sz="2400" b="1" dirty="0">
                <a:ea typeface="宋体" charset="-122"/>
              </a:rPr>
              <a:t>       </a:t>
            </a:r>
            <a:r>
              <a:rPr lang="en-US" sz="2400" b="1" dirty="0">
                <a:latin typeface="Symbol" pitchFamily="16" charset="2"/>
                <a:ea typeface="宋体" charset="-122"/>
              </a:rPr>
              <a:t></a:t>
            </a:r>
            <a:r>
              <a:rPr lang="en-US" sz="2400" b="1" dirty="0">
                <a:ea typeface="宋体" charset="-122"/>
              </a:rPr>
              <a:t> f(2N) = 4 f(N) </a:t>
            </a:r>
          </a:p>
          <a:p>
            <a:pPr marL="741363" lvl="1" indent="-284163">
              <a:spcBef>
                <a:spcPts val="600"/>
              </a:spcBef>
              <a:buClr>
                <a:srgbClr val="FFCCFF"/>
              </a:buClr>
              <a:buSzPct val="80000"/>
              <a:buFont typeface="Monotype Sort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400" b="1" dirty="0">
                <a:ea typeface="宋体" charset="-122"/>
              </a:rPr>
              <a:t>f(N) = N</a:t>
            </a:r>
            <a:r>
              <a:rPr lang="en-US" sz="2400" b="1" baseline="30000" dirty="0">
                <a:ea typeface="宋体" charset="-122"/>
              </a:rPr>
              <a:t>3</a:t>
            </a:r>
            <a:r>
              <a:rPr lang="en-US" sz="2400" b="1" dirty="0">
                <a:ea typeface="宋体" charset="-122"/>
              </a:rPr>
              <a:t>       </a:t>
            </a:r>
            <a:r>
              <a:rPr lang="en-US" sz="2400" b="1" dirty="0">
                <a:latin typeface="Symbol" pitchFamily="16" charset="2"/>
                <a:ea typeface="宋体" charset="-122"/>
              </a:rPr>
              <a:t></a:t>
            </a:r>
            <a:r>
              <a:rPr lang="en-US" sz="2400" b="1" dirty="0">
                <a:ea typeface="宋体" charset="-122"/>
              </a:rPr>
              <a:t> f(2N) = 8 f(N) </a:t>
            </a:r>
          </a:p>
          <a:p>
            <a:pPr marL="741363" lvl="1" indent="-284163">
              <a:spcBef>
                <a:spcPts val="600"/>
              </a:spcBef>
              <a:buClr>
                <a:srgbClr val="FFCCFF"/>
              </a:buClr>
              <a:buSzPct val="80000"/>
              <a:buFont typeface="Monotype Sort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400" b="1" dirty="0">
                <a:ea typeface="宋体" charset="-122"/>
              </a:rPr>
              <a:t>f(N) = 2</a:t>
            </a:r>
            <a:r>
              <a:rPr lang="en-US" sz="2400" b="1" baseline="30000" dirty="0">
                <a:ea typeface="宋体" charset="-122"/>
              </a:rPr>
              <a:t>N</a:t>
            </a:r>
            <a:r>
              <a:rPr lang="en-US" sz="2400" b="1" dirty="0">
                <a:ea typeface="宋体" charset="-122"/>
              </a:rPr>
              <a:t>       </a:t>
            </a:r>
            <a:r>
              <a:rPr lang="en-US" sz="2400" b="1" dirty="0">
                <a:latin typeface="Symbol" pitchFamily="16" charset="2"/>
                <a:ea typeface="宋体" charset="-122"/>
              </a:rPr>
              <a:t></a:t>
            </a:r>
            <a:r>
              <a:rPr lang="en-US" sz="2400" b="1" dirty="0">
                <a:ea typeface="宋体" charset="-122"/>
              </a:rPr>
              <a:t> f(2N) = f</a:t>
            </a:r>
            <a:r>
              <a:rPr lang="en-US" sz="2400" b="1" baseline="30000" dirty="0">
                <a:ea typeface="宋体" charset="-122"/>
              </a:rPr>
              <a:t>2</a:t>
            </a:r>
            <a:r>
              <a:rPr lang="en-US" sz="2400" b="1" dirty="0">
                <a:ea typeface="宋体" charset="-122"/>
              </a:rPr>
              <a:t>(N) </a:t>
            </a:r>
          </a:p>
          <a:p>
            <a:pPr marL="341313" indent="-341313">
              <a:spcBef>
                <a:spcPts val="700"/>
              </a:spcBef>
              <a:buClr>
                <a:srgbClr val="FFCCFF"/>
              </a:buClr>
              <a:buSzPct val="75000"/>
              <a:buFont typeface="Monotype Sort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800" b="1" dirty="0">
                <a:ea typeface="宋体" charset="-122"/>
              </a:rPr>
              <a:t>Advantages of algorithm analysis </a:t>
            </a:r>
          </a:p>
          <a:p>
            <a:pPr marL="741363" lvl="1" indent="-284163">
              <a:spcBef>
                <a:spcPts val="600"/>
              </a:spcBef>
              <a:buClr>
                <a:srgbClr val="FFCCFF"/>
              </a:buClr>
              <a:buSzPct val="80000"/>
              <a:buFont typeface="Monotype Sort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400" b="1" dirty="0">
                <a:ea typeface="宋体" charset="-122"/>
              </a:rPr>
              <a:t>To eliminate bad algorithms early</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Effect">
                      <p:stCondLst>
                        <p:cond delay="indefinite"/>
                      </p:stCondLst>
                      <p:childTnLst>
                        <p:par>
                          <p:cTn id="4" fill="hold" nodeType="clickEffect">
                            <p:stCondLst>
                              <p:cond delay="0"/>
                            </p:stCondLst>
                            <p:childTnLst>
                              <p:par>
                                <p:cTn id="5" presetID="1" presetClass="entr" fill="hold" nodeType="clickEffect">
                                  <p:stCondLst>
                                    <p:cond delay="0"/>
                                  </p:stCondLst>
                                  <p:childTnLst>
                                    <p:set>
                                      <p:cBhvr additive="repl">
                                        <p:cTn id="6" dur="1" fill="hold">
                                          <p:stCondLst>
                                            <p:cond delay="0"/>
                                          </p:stCondLst>
                                        </p:cTn>
                                        <p:tgtEl>
                                          <p:spTgt spid="25602">
                                            <p:txEl>
                                              <p:pRg st="7" end="7"/>
                                            </p:txEl>
                                          </p:spTgt>
                                        </p:tgtEl>
                                        <p:attrNameLst>
                                          <p:attrName>style.visibility</p:attrName>
                                        </p:attrNameLst>
                                      </p:cBhvr>
                                      <p:to>
                                        <p:strVal val="visible"/>
                                      </p:to>
                                    </p:set>
                                  </p:childTnLst>
                                </p:cTn>
                              </p:par>
                              <p:par>
                                <p:cTn id="7" presetID="1" presetClass="entr" fill="hold" nodeType="withEffect">
                                  <p:stCondLst>
                                    <p:cond delay="0"/>
                                  </p:stCondLst>
                                  <p:childTnLst>
                                    <p:set>
                                      <p:cBhvr additive="repl">
                                        <p:cTn id="8" dur="1" fill="hold">
                                          <p:stCondLst>
                                            <p:cond delay="0"/>
                                          </p:stCondLst>
                                        </p:cTn>
                                        <p:tgtEl>
                                          <p:spTgt spid="2560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3"/>
          <p:cNvSpPr>
            <a:spLocks noGrp="1"/>
          </p:cNvSpPr>
          <p:nvPr>
            <p:ph type="ftr" sz="quarter" idx="10"/>
          </p:nvPr>
        </p:nvSpPr>
        <p:spPr/>
        <p:txBody>
          <a:bodyPr/>
          <a:lstStyle/>
          <a:p>
            <a:r>
              <a:rPr lang="en-US"/>
              <a:t>Comp 122</a:t>
            </a:r>
          </a:p>
        </p:txBody>
      </p:sp>
      <p:sp>
        <p:nvSpPr>
          <p:cNvPr id="315394" name="Rectangle 2"/>
          <p:cNvSpPr>
            <a:spLocks noGrp="1" noChangeArrowheads="1"/>
          </p:cNvSpPr>
          <p:nvPr>
            <p:ph type="title"/>
          </p:nvPr>
        </p:nvSpPr>
        <p:spPr/>
        <p:txBody>
          <a:bodyPr/>
          <a:lstStyle/>
          <a:p>
            <a:r>
              <a:rPr lang="en-US" i="1" dirty="0" smtClean="0">
                <a:sym typeface="Symbol" pitchFamily="18" charset="2"/>
              </a:rPr>
              <a:t>o</a:t>
            </a:r>
            <a:r>
              <a:rPr lang="en-US" dirty="0" smtClean="0">
                <a:sym typeface="Symbol" pitchFamily="18" charset="2"/>
              </a:rPr>
              <a:t>-notation:</a:t>
            </a:r>
            <a:endParaRPr lang="en-US" dirty="0"/>
          </a:p>
        </p:txBody>
      </p:sp>
      <p:sp>
        <p:nvSpPr>
          <p:cNvPr id="315395" name="Rectangle 3"/>
          <p:cNvSpPr>
            <a:spLocks noGrp="1" noChangeArrowheads="1"/>
          </p:cNvSpPr>
          <p:nvPr>
            <p:ph type="body" idx="1"/>
          </p:nvPr>
        </p:nvSpPr>
        <p:spPr>
          <a:xfrm>
            <a:off x="442384" y="2879726"/>
            <a:ext cx="10642600" cy="3590925"/>
          </a:xfrm>
        </p:spPr>
        <p:txBody>
          <a:bodyPr/>
          <a:lstStyle/>
          <a:p>
            <a:pPr>
              <a:lnSpc>
                <a:spcPct val="90000"/>
              </a:lnSpc>
              <a:spcBef>
                <a:spcPct val="0"/>
              </a:spcBef>
              <a:spcAft>
                <a:spcPct val="20000"/>
              </a:spcAft>
              <a:buFont typeface="Wingdings" pitchFamily="2" charset="2"/>
              <a:buNone/>
            </a:pPr>
            <a:r>
              <a:rPr lang="en-US" sz="2800" i="1" dirty="0"/>
              <a:t> f</a:t>
            </a:r>
            <a:r>
              <a:rPr lang="en-US" sz="2800" dirty="0"/>
              <a:t>(</a:t>
            </a:r>
            <a:r>
              <a:rPr lang="en-US" sz="2800" i="1" dirty="0"/>
              <a:t>n</a:t>
            </a:r>
            <a:r>
              <a:rPr lang="en-US" sz="2800" dirty="0"/>
              <a:t>) becomes insignificant relative to </a:t>
            </a:r>
            <a:r>
              <a:rPr lang="en-US" sz="2800" i="1" dirty="0"/>
              <a:t>g</a:t>
            </a:r>
            <a:r>
              <a:rPr lang="en-US" sz="2800" dirty="0"/>
              <a:t>(</a:t>
            </a:r>
            <a:r>
              <a:rPr lang="en-US" sz="2800" i="1" dirty="0"/>
              <a:t>n</a:t>
            </a:r>
            <a:r>
              <a:rPr lang="en-US" sz="2800" dirty="0"/>
              <a:t>)</a:t>
            </a:r>
            <a:r>
              <a:rPr lang="en-US" sz="2800" i="1" dirty="0"/>
              <a:t> </a:t>
            </a:r>
            <a:r>
              <a:rPr lang="en-US" sz="2800" dirty="0"/>
              <a:t>as </a:t>
            </a:r>
            <a:r>
              <a:rPr lang="en-US" sz="2800" i="1" dirty="0"/>
              <a:t>n </a:t>
            </a:r>
            <a:r>
              <a:rPr lang="en-US" sz="2800" dirty="0"/>
              <a:t>approaches infinity:</a:t>
            </a:r>
          </a:p>
          <a:p>
            <a:pPr>
              <a:lnSpc>
                <a:spcPct val="90000"/>
              </a:lnSpc>
              <a:spcBef>
                <a:spcPct val="0"/>
              </a:spcBef>
              <a:spcAft>
                <a:spcPct val="20000"/>
              </a:spcAft>
              <a:buFont typeface="Wingdings" pitchFamily="2" charset="2"/>
              <a:buNone/>
            </a:pPr>
            <a:r>
              <a:rPr lang="en-US" sz="3100" dirty="0"/>
              <a:t>			  </a:t>
            </a:r>
            <a:r>
              <a:rPr lang="en-US" sz="3100" i="1" dirty="0" err="1">
                <a:solidFill>
                  <a:srgbClr val="FF3300"/>
                </a:solidFill>
              </a:rPr>
              <a:t>lim</a:t>
            </a:r>
            <a:r>
              <a:rPr lang="en-US" sz="3100" i="1" dirty="0">
                <a:solidFill>
                  <a:srgbClr val="FF3300"/>
                </a:solidFill>
              </a:rPr>
              <a:t> </a:t>
            </a:r>
            <a:r>
              <a:rPr lang="en-US" sz="3100" dirty="0">
                <a:solidFill>
                  <a:srgbClr val="FF3300"/>
                </a:solidFill>
                <a:sym typeface="Symbol" pitchFamily="18" charset="2"/>
              </a:rPr>
              <a:t>[</a:t>
            </a:r>
            <a:r>
              <a:rPr lang="en-US" sz="3100" i="1" dirty="0">
                <a:solidFill>
                  <a:srgbClr val="FF3300"/>
                </a:solidFill>
              </a:rPr>
              <a:t>f</a:t>
            </a:r>
            <a:r>
              <a:rPr lang="en-US" sz="3100" dirty="0">
                <a:solidFill>
                  <a:srgbClr val="FF3300"/>
                </a:solidFill>
              </a:rPr>
              <a:t>(</a:t>
            </a:r>
            <a:r>
              <a:rPr lang="en-US" sz="3100" i="1" dirty="0">
                <a:solidFill>
                  <a:srgbClr val="FF3300"/>
                </a:solidFill>
              </a:rPr>
              <a:t>n</a:t>
            </a:r>
            <a:r>
              <a:rPr lang="en-US" sz="3100" dirty="0">
                <a:solidFill>
                  <a:srgbClr val="FF3300"/>
                </a:solidFill>
              </a:rPr>
              <a:t>) / </a:t>
            </a:r>
            <a:r>
              <a:rPr lang="en-US" sz="3100" i="1" dirty="0">
                <a:solidFill>
                  <a:srgbClr val="FF3300"/>
                </a:solidFill>
              </a:rPr>
              <a:t>g</a:t>
            </a:r>
            <a:r>
              <a:rPr lang="en-US" sz="3100" dirty="0">
                <a:solidFill>
                  <a:srgbClr val="FF3300"/>
                </a:solidFill>
              </a:rPr>
              <a:t>(</a:t>
            </a:r>
            <a:r>
              <a:rPr lang="en-US" sz="3100" i="1" dirty="0">
                <a:solidFill>
                  <a:srgbClr val="FF3300"/>
                </a:solidFill>
              </a:rPr>
              <a:t>n</a:t>
            </a:r>
            <a:r>
              <a:rPr lang="en-US" sz="3100" dirty="0">
                <a:solidFill>
                  <a:srgbClr val="FF3300"/>
                </a:solidFill>
              </a:rPr>
              <a:t>)] = 0</a:t>
            </a:r>
          </a:p>
          <a:p>
            <a:pPr>
              <a:lnSpc>
                <a:spcPct val="90000"/>
              </a:lnSpc>
              <a:spcBef>
                <a:spcPct val="0"/>
              </a:spcBef>
              <a:buFont typeface="Wingdings" pitchFamily="2" charset="2"/>
              <a:buNone/>
            </a:pPr>
            <a:r>
              <a:rPr lang="en-US" sz="3100" dirty="0">
                <a:solidFill>
                  <a:srgbClr val="3DDE2C"/>
                </a:solidFill>
              </a:rPr>
              <a:t>                     </a:t>
            </a:r>
            <a:r>
              <a:rPr lang="en-US" sz="3100" i="1" baseline="60000" dirty="0">
                <a:solidFill>
                  <a:srgbClr val="FF3300"/>
                </a:solidFill>
              </a:rPr>
              <a:t>n</a:t>
            </a:r>
            <a:r>
              <a:rPr lang="en-US" sz="3100" i="1" baseline="60000" dirty="0">
                <a:solidFill>
                  <a:srgbClr val="FF3300"/>
                </a:solidFill>
                <a:sym typeface="Symbol" pitchFamily="18" charset="2"/>
              </a:rPr>
              <a:t></a:t>
            </a:r>
            <a:r>
              <a:rPr lang="en-US" sz="3100" i="1" dirty="0">
                <a:solidFill>
                  <a:srgbClr val="FF3300"/>
                </a:solidFill>
              </a:rPr>
              <a:t> </a:t>
            </a:r>
            <a:endParaRPr lang="en-US" sz="3100" dirty="0">
              <a:solidFill>
                <a:srgbClr val="FF3300"/>
              </a:solidFill>
            </a:endParaRPr>
          </a:p>
          <a:p>
            <a:pPr>
              <a:lnSpc>
                <a:spcPct val="90000"/>
              </a:lnSpc>
              <a:spcBef>
                <a:spcPct val="0"/>
              </a:spcBef>
              <a:spcAft>
                <a:spcPct val="20000"/>
              </a:spcAft>
              <a:buFont typeface="Wingdings" pitchFamily="2" charset="2"/>
              <a:buNone/>
            </a:pPr>
            <a:r>
              <a:rPr lang="en-US" sz="2800" i="1" dirty="0"/>
              <a:t>g</a:t>
            </a:r>
            <a:r>
              <a:rPr lang="en-US" sz="2800" dirty="0"/>
              <a:t>(</a:t>
            </a:r>
            <a:r>
              <a:rPr lang="en-US" sz="2800" i="1" dirty="0"/>
              <a:t>n</a:t>
            </a:r>
            <a:r>
              <a:rPr lang="en-US" sz="2800" dirty="0"/>
              <a:t>) is an</a:t>
            </a:r>
            <a:r>
              <a:rPr lang="en-US" sz="2800" i="1" dirty="0">
                <a:solidFill>
                  <a:srgbClr val="3DDE2C"/>
                </a:solidFill>
              </a:rPr>
              <a:t> </a:t>
            </a:r>
            <a:r>
              <a:rPr lang="en-US" sz="2800" b="1" i="1" dirty="0">
                <a:solidFill>
                  <a:srgbClr val="CC0000"/>
                </a:solidFill>
              </a:rPr>
              <a:t>upper bound</a:t>
            </a:r>
            <a:r>
              <a:rPr lang="en-US" sz="2800" dirty="0"/>
              <a:t> for </a:t>
            </a:r>
            <a:r>
              <a:rPr lang="en-US" sz="2800" i="1" dirty="0"/>
              <a:t>f</a:t>
            </a:r>
            <a:r>
              <a:rPr lang="en-US" sz="2800" dirty="0"/>
              <a:t>(</a:t>
            </a:r>
            <a:r>
              <a:rPr lang="en-US" sz="2800" i="1" dirty="0"/>
              <a:t>n</a:t>
            </a:r>
            <a:r>
              <a:rPr lang="en-US" sz="2800" dirty="0"/>
              <a:t>)</a:t>
            </a:r>
            <a:r>
              <a:rPr lang="en-US" sz="2800" i="1" dirty="0"/>
              <a:t> </a:t>
            </a:r>
            <a:r>
              <a:rPr lang="en-US" sz="2800" dirty="0"/>
              <a:t>that is not asymptotically tight</a:t>
            </a:r>
            <a:r>
              <a:rPr lang="en-US" sz="2800" dirty="0" smtClean="0"/>
              <a:t>.</a:t>
            </a:r>
            <a:endParaRPr lang="en-US" sz="2800" dirty="0"/>
          </a:p>
        </p:txBody>
      </p:sp>
      <p:sp>
        <p:nvSpPr>
          <p:cNvPr id="315414" name="Text Box 22"/>
          <p:cNvSpPr txBox="1">
            <a:spLocks noChangeArrowheads="1"/>
          </p:cNvSpPr>
          <p:nvPr/>
        </p:nvSpPr>
        <p:spPr bwMode="auto">
          <a:xfrm>
            <a:off x="645584" y="849313"/>
            <a:ext cx="184731" cy="369332"/>
          </a:xfrm>
          <a:prstGeom prst="rect">
            <a:avLst/>
          </a:prstGeom>
          <a:noFill/>
          <a:ln w="12700">
            <a:noFill/>
            <a:miter lim="800000"/>
            <a:headEnd type="none" w="sm" len="sm"/>
            <a:tailEnd type="none" w="sm" len="sm"/>
          </a:ln>
          <a:effectLst/>
        </p:spPr>
        <p:txBody>
          <a:bodyPr wrap="none">
            <a:spAutoFit/>
          </a:bodyPr>
          <a:lstStyle/>
          <a:p>
            <a:endParaRPr lang="en-US"/>
          </a:p>
        </p:txBody>
      </p:sp>
      <p:sp>
        <p:nvSpPr>
          <p:cNvPr id="315415" name="Text Box 23"/>
          <p:cNvSpPr txBox="1">
            <a:spLocks noChangeArrowheads="1"/>
          </p:cNvSpPr>
          <p:nvPr/>
        </p:nvSpPr>
        <p:spPr bwMode="auto">
          <a:xfrm>
            <a:off x="342993" y="1893957"/>
            <a:ext cx="10642600" cy="927100"/>
          </a:xfrm>
          <a:prstGeom prst="rect">
            <a:avLst/>
          </a:prstGeom>
          <a:solidFill>
            <a:srgbClr val="CCECFF"/>
          </a:solidFill>
          <a:ln w="12700">
            <a:solidFill>
              <a:schemeClr val="tx1"/>
            </a:solidFill>
            <a:miter lim="800000"/>
            <a:headEnd type="none" w="sm" len="sm"/>
            <a:tailEnd type="none" w="sm" len="sm"/>
          </a:ln>
          <a:effectLst/>
        </p:spPr>
        <p:txBody>
          <a:bodyPr>
            <a:spAutoFit/>
          </a:bodyPr>
          <a:lstStyle/>
          <a:p>
            <a:pPr>
              <a:lnSpc>
                <a:spcPct val="90000"/>
              </a:lnSpc>
              <a:spcAft>
                <a:spcPct val="20000"/>
              </a:spcAft>
              <a:buFont typeface="Wingdings" pitchFamily="2" charset="2"/>
              <a:buNone/>
            </a:pPr>
            <a:r>
              <a:rPr lang="en-US" sz="3000" b="1" i="1" dirty="0">
                <a:solidFill>
                  <a:schemeClr val="accent1"/>
                </a:solidFill>
                <a:sym typeface="Symbol" pitchFamily="18" charset="2"/>
              </a:rPr>
              <a:t>o</a:t>
            </a:r>
            <a:r>
              <a:rPr lang="en-US" sz="3000" b="1" dirty="0">
                <a:solidFill>
                  <a:schemeClr val="accent1"/>
                </a:solidFill>
              </a:rPr>
              <a:t>(</a:t>
            </a:r>
            <a:r>
              <a:rPr lang="en-US" sz="3000" b="1" i="1" dirty="0">
                <a:solidFill>
                  <a:schemeClr val="accent1"/>
                </a:solidFill>
              </a:rPr>
              <a:t>g</a:t>
            </a:r>
            <a:r>
              <a:rPr lang="en-US" sz="3000" b="1" dirty="0">
                <a:solidFill>
                  <a:schemeClr val="accent1"/>
                </a:solidFill>
              </a:rPr>
              <a:t>(</a:t>
            </a:r>
            <a:r>
              <a:rPr lang="en-US" sz="3000" b="1" i="1" dirty="0">
                <a:solidFill>
                  <a:schemeClr val="accent1"/>
                </a:solidFill>
              </a:rPr>
              <a:t>n</a:t>
            </a:r>
            <a:r>
              <a:rPr lang="en-US" sz="3000" b="1" dirty="0">
                <a:solidFill>
                  <a:schemeClr val="accent1"/>
                </a:solidFill>
              </a:rPr>
              <a:t>))</a:t>
            </a:r>
            <a:r>
              <a:rPr lang="en-US" sz="3000" dirty="0">
                <a:solidFill>
                  <a:schemeClr val="hlink"/>
                </a:solidFill>
              </a:rPr>
              <a:t> = {</a:t>
            </a:r>
            <a:r>
              <a:rPr lang="en-US" sz="3000" i="1" dirty="0">
                <a:solidFill>
                  <a:schemeClr val="hlink"/>
                </a:solidFill>
              </a:rPr>
              <a:t>f</a:t>
            </a:r>
            <a:r>
              <a:rPr lang="en-US" sz="3000" dirty="0">
                <a:solidFill>
                  <a:schemeClr val="hlink"/>
                </a:solidFill>
              </a:rPr>
              <a:t>(</a:t>
            </a:r>
            <a:r>
              <a:rPr lang="en-US" sz="3000" i="1" dirty="0">
                <a:solidFill>
                  <a:schemeClr val="hlink"/>
                </a:solidFill>
              </a:rPr>
              <a:t>n</a:t>
            </a:r>
            <a:r>
              <a:rPr lang="en-US" sz="3000" dirty="0">
                <a:solidFill>
                  <a:schemeClr val="hlink"/>
                </a:solidFill>
              </a:rPr>
              <a:t>): </a:t>
            </a:r>
            <a:r>
              <a:rPr lang="en-US" sz="3000" b="1" dirty="0">
                <a:solidFill>
                  <a:srgbClr val="FF3300"/>
                </a:solidFill>
                <a:sym typeface="Symbol" pitchFamily="18" charset="2"/>
              </a:rPr>
              <a:t></a:t>
            </a:r>
            <a:r>
              <a:rPr lang="en-US" sz="3000" dirty="0">
                <a:solidFill>
                  <a:schemeClr val="hlink"/>
                </a:solidFill>
                <a:sym typeface="Symbol" pitchFamily="18" charset="2"/>
              </a:rPr>
              <a:t> </a:t>
            </a:r>
            <a:r>
              <a:rPr lang="en-US" sz="3000" b="1" i="1" dirty="0">
                <a:solidFill>
                  <a:srgbClr val="CC0000"/>
                </a:solidFill>
              </a:rPr>
              <a:t>c</a:t>
            </a:r>
            <a:r>
              <a:rPr lang="en-US" sz="3000" b="1" dirty="0">
                <a:solidFill>
                  <a:srgbClr val="CC0000"/>
                </a:solidFill>
              </a:rPr>
              <a:t> &gt; 0</a:t>
            </a:r>
            <a:r>
              <a:rPr lang="en-US" sz="3000" dirty="0">
                <a:solidFill>
                  <a:schemeClr val="hlink"/>
                </a:solidFill>
              </a:rPr>
              <a:t>, </a:t>
            </a:r>
            <a:r>
              <a:rPr lang="en-US" sz="3000" b="1" dirty="0">
                <a:solidFill>
                  <a:srgbClr val="FF3300"/>
                </a:solidFill>
                <a:sym typeface="Symbol" pitchFamily="18" charset="2"/>
              </a:rPr>
              <a:t></a:t>
            </a:r>
            <a:r>
              <a:rPr lang="en-US" sz="3000" dirty="0">
                <a:solidFill>
                  <a:schemeClr val="hlink"/>
                </a:solidFill>
              </a:rPr>
              <a:t> </a:t>
            </a:r>
            <a:r>
              <a:rPr lang="en-US" sz="3000" b="1" i="1" dirty="0">
                <a:solidFill>
                  <a:srgbClr val="CC0000"/>
                </a:solidFill>
              </a:rPr>
              <a:t>n</a:t>
            </a:r>
            <a:r>
              <a:rPr lang="en-US" sz="3000" b="1" baseline="-25000" dirty="0">
                <a:solidFill>
                  <a:srgbClr val="CC0000"/>
                </a:solidFill>
              </a:rPr>
              <a:t>0</a:t>
            </a:r>
            <a:r>
              <a:rPr lang="en-US" sz="3000" b="1" dirty="0">
                <a:solidFill>
                  <a:srgbClr val="CC0000"/>
                </a:solidFill>
              </a:rPr>
              <a:t> &gt; 0</a:t>
            </a:r>
            <a:r>
              <a:rPr lang="en-US" sz="3000" dirty="0">
                <a:solidFill>
                  <a:schemeClr val="hlink"/>
                </a:solidFill>
              </a:rPr>
              <a:t> such that </a:t>
            </a:r>
            <a:br>
              <a:rPr lang="en-US" sz="3000" dirty="0">
                <a:solidFill>
                  <a:schemeClr val="hlink"/>
                </a:solidFill>
              </a:rPr>
            </a:br>
            <a:r>
              <a:rPr lang="en-US" sz="3000" dirty="0">
                <a:solidFill>
                  <a:schemeClr val="hlink"/>
                </a:solidFill>
              </a:rPr>
              <a:t>		</a:t>
            </a:r>
            <a:r>
              <a:rPr lang="en-US" sz="3000" b="1" dirty="0">
                <a:solidFill>
                  <a:srgbClr val="FF3300"/>
                </a:solidFill>
                <a:sym typeface="Symbol" pitchFamily="18" charset="2"/>
              </a:rPr>
              <a:t></a:t>
            </a:r>
            <a:r>
              <a:rPr lang="en-US" sz="3000" dirty="0">
                <a:solidFill>
                  <a:schemeClr val="hlink"/>
                </a:solidFill>
              </a:rPr>
              <a:t> </a:t>
            </a:r>
            <a:r>
              <a:rPr lang="en-US" sz="3000" i="1" dirty="0">
                <a:solidFill>
                  <a:schemeClr val="hlink"/>
                </a:solidFill>
              </a:rPr>
              <a:t>n </a:t>
            </a:r>
            <a:r>
              <a:rPr lang="en-US" sz="3000" dirty="0">
                <a:solidFill>
                  <a:schemeClr val="hlink"/>
                </a:solidFill>
                <a:sym typeface="Symbol" pitchFamily="18" charset="2"/>
              </a:rPr>
              <a:t></a:t>
            </a:r>
            <a:r>
              <a:rPr lang="en-US" sz="3000" i="1" baseline="-25000" dirty="0">
                <a:solidFill>
                  <a:schemeClr val="hlink"/>
                </a:solidFill>
              </a:rPr>
              <a:t>  </a:t>
            </a:r>
            <a:r>
              <a:rPr lang="en-US" sz="3000" i="1" dirty="0">
                <a:solidFill>
                  <a:schemeClr val="hlink"/>
                </a:solidFill>
              </a:rPr>
              <a:t>n</a:t>
            </a:r>
            <a:r>
              <a:rPr lang="en-US" sz="3000" baseline="-25000" dirty="0">
                <a:solidFill>
                  <a:schemeClr val="hlink"/>
                </a:solidFill>
              </a:rPr>
              <a:t>0</a:t>
            </a:r>
            <a:r>
              <a:rPr lang="en-US" sz="3000" i="1" dirty="0">
                <a:solidFill>
                  <a:schemeClr val="hlink"/>
                </a:solidFill>
              </a:rPr>
              <a:t>, </a:t>
            </a:r>
            <a:r>
              <a:rPr lang="en-US" sz="2600" dirty="0">
                <a:solidFill>
                  <a:schemeClr val="hlink"/>
                </a:solidFill>
              </a:rPr>
              <a:t>we have</a:t>
            </a:r>
            <a:r>
              <a:rPr lang="en-US" sz="3000" i="1" baseline="-25000" dirty="0">
                <a:solidFill>
                  <a:schemeClr val="hlink"/>
                </a:solidFill>
              </a:rPr>
              <a:t> </a:t>
            </a:r>
            <a:r>
              <a:rPr lang="en-US" sz="3000" dirty="0">
                <a:solidFill>
                  <a:schemeClr val="hlink"/>
                </a:solidFill>
              </a:rPr>
              <a:t>0 </a:t>
            </a:r>
            <a:r>
              <a:rPr lang="en-US" sz="3000" dirty="0">
                <a:solidFill>
                  <a:schemeClr val="hlink"/>
                </a:solidFill>
                <a:sym typeface="Symbol" pitchFamily="18" charset="2"/>
              </a:rPr>
              <a:t></a:t>
            </a:r>
            <a:r>
              <a:rPr lang="en-US" sz="3000" dirty="0">
                <a:solidFill>
                  <a:schemeClr val="hlink"/>
                </a:solidFill>
              </a:rPr>
              <a:t>  </a:t>
            </a:r>
            <a:r>
              <a:rPr lang="en-US" sz="3000" i="1" dirty="0">
                <a:solidFill>
                  <a:schemeClr val="hlink"/>
                </a:solidFill>
              </a:rPr>
              <a:t>f</a:t>
            </a:r>
            <a:r>
              <a:rPr lang="en-US" sz="3000" dirty="0">
                <a:solidFill>
                  <a:schemeClr val="hlink"/>
                </a:solidFill>
              </a:rPr>
              <a:t>(</a:t>
            </a:r>
            <a:r>
              <a:rPr lang="en-US" sz="3000" i="1" dirty="0">
                <a:solidFill>
                  <a:schemeClr val="hlink"/>
                </a:solidFill>
              </a:rPr>
              <a:t>n</a:t>
            </a:r>
            <a:r>
              <a:rPr lang="en-US" sz="3000" dirty="0">
                <a:solidFill>
                  <a:schemeClr val="hlink"/>
                </a:solidFill>
              </a:rPr>
              <a:t>)</a:t>
            </a:r>
            <a:r>
              <a:rPr lang="en-US" sz="3000" i="1" dirty="0">
                <a:solidFill>
                  <a:schemeClr val="hlink"/>
                </a:solidFill>
              </a:rPr>
              <a:t> </a:t>
            </a:r>
            <a:r>
              <a:rPr lang="en-US" sz="3000" dirty="0">
                <a:solidFill>
                  <a:schemeClr val="hlink"/>
                </a:solidFill>
                <a:sym typeface="Symbol" pitchFamily="18" charset="2"/>
              </a:rPr>
              <a:t>&lt;</a:t>
            </a:r>
            <a:r>
              <a:rPr lang="en-US" sz="3000" dirty="0">
                <a:solidFill>
                  <a:schemeClr val="hlink"/>
                </a:solidFill>
              </a:rPr>
              <a:t> </a:t>
            </a:r>
            <a:r>
              <a:rPr lang="en-US" sz="3000" i="1" dirty="0">
                <a:solidFill>
                  <a:schemeClr val="hlink"/>
                </a:solidFill>
              </a:rPr>
              <a:t>cg</a:t>
            </a:r>
            <a:r>
              <a:rPr lang="en-US" sz="3000" dirty="0">
                <a:solidFill>
                  <a:schemeClr val="hlink"/>
                </a:solidFill>
              </a:rPr>
              <a:t>(</a:t>
            </a:r>
            <a:r>
              <a:rPr lang="en-US" sz="3000" i="1" dirty="0">
                <a:solidFill>
                  <a:schemeClr val="hlink"/>
                </a:solidFill>
              </a:rPr>
              <a:t>n</a:t>
            </a:r>
            <a:r>
              <a:rPr lang="en-US" sz="3000" dirty="0">
                <a:solidFill>
                  <a:schemeClr val="hlink"/>
                </a:solidFill>
              </a:rPr>
              <a:t>)}.</a:t>
            </a:r>
          </a:p>
        </p:txBody>
      </p:sp>
      <p:sp>
        <p:nvSpPr>
          <p:cNvPr id="315416" name="Text Box 24"/>
          <p:cNvSpPr txBox="1">
            <a:spLocks noChangeArrowheads="1"/>
          </p:cNvSpPr>
          <p:nvPr/>
        </p:nvSpPr>
        <p:spPr bwMode="auto">
          <a:xfrm>
            <a:off x="3402221" y="1232453"/>
            <a:ext cx="7401385" cy="584775"/>
          </a:xfrm>
          <a:prstGeom prst="rect">
            <a:avLst/>
          </a:prstGeom>
          <a:noFill/>
          <a:ln w="12700">
            <a:noFill/>
            <a:miter lim="800000"/>
            <a:headEnd type="none" w="sm" len="sm"/>
            <a:tailEnd type="none" w="sm" len="sm"/>
          </a:ln>
          <a:effectLst/>
        </p:spPr>
        <p:txBody>
          <a:bodyPr wrap="square">
            <a:spAutoFit/>
          </a:bodyPr>
          <a:lstStyle/>
          <a:p>
            <a:r>
              <a:rPr lang="en-US" sz="3200" dirty="0"/>
              <a:t>For a given function </a:t>
            </a:r>
            <a:r>
              <a:rPr lang="en-US" sz="3200" i="1" dirty="0"/>
              <a:t>g</a:t>
            </a:r>
            <a:r>
              <a:rPr lang="en-US" sz="3200" dirty="0"/>
              <a:t>(</a:t>
            </a:r>
            <a:r>
              <a:rPr lang="en-US" sz="3200" i="1" dirty="0"/>
              <a:t>n</a:t>
            </a:r>
            <a:r>
              <a:rPr lang="en-US" sz="3200" dirty="0"/>
              <a:t>), the set little-</a:t>
            </a:r>
            <a:r>
              <a:rPr lang="en-US" sz="3200" i="1" dirty="0"/>
              <a:t>o</a:t>
            </a:r>
            <a:r>
              <a:rPr lang="en-US" sz="3200" dirty="0"/>
              <a:t>:</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3"/>
          <p:cNvSpPr>
            <a:spLocks noGrp="1"/>
          </p:cNvSpPr>
          <p:nvPr>
            <p:ph type="ftr" sz="quarter" idx="10"/>
          </p:nvPr>
        </p:nvSpPr>
        <p:spPr/>
        <p:txBody>
          <a:bodyPr/>
          <a:lstStyle/>
          <a:p>
            <a:r>
              <a:rPr lang="en-US"/>
              <a:t>Comp 122</a:t>
            </a:r>
          </a:p>
        </p:txBody>
      </p:sp>
      <p:sp>
        <p:nvSpPr>
          <p:cNvPr id="446471" name="Text Box 1031"/>
          <p:cNvSpPr txBox="1">
            <a:spLocks noChangeArrowheads="1"/>
          </p:cNvSpPr>
          <p:nvPr/>
        </p:nvSpPr>
        <p:spPr bwMode="auto">
          <a:xfrm>
            <a:off x="462262" y="1983408"/>
            <a:ext cx="10642600" cy="1119188"/>
          </a:xfrm>
          <a:prstGeom prst="rect">
            <a:avLst/>
          </a:prstGeom>
          <a:solidFill>
            <a:srgbClr val="CCECFF"/>
          </a:solidFill>
          <a:ln w="12700">
            <a:solidFill>
              <a:schemeClr val="tx1"/>
            </a:solidFill>
            <a:miter lim="800000"/>
            <a:headEnd type="none" w="sm" len="sm"/>
            <a:tailEnd type="none" w="sm" len="sm"/>
          </a:ln>
          <a:effectLst/>
        </p:spPr>
        <p:txBody>
          <a:bodyPr>
            <a:spAutoFit/>
          </a:bodyPr>
          <a:lstStyle/>
          <a:p>
            <a:pPr>
              <a:lnSpc>
                <a:spcPct val="90000"/>
              </a:lnSpc>
              <a:spcAft>
                <a:spcPct val="20000"/>
              </a:spcAft>
              <a:buFont typeface="Wingdings" pitchFamily="2" charset="2"/>
              <a:buNone/>
            </a:pPr>
            <a:r>
              <a:rPr lang="en-US" sz="4400" i="1" dirty="0">
                <a:solidFill>
                  <a:schemeClr val="accent1"/>
                </a:solidFill>
                <a:latin typeface="Symbol" pitchFamily="18" charset="2"/>
                <a:sym typeface="Symbol" pitchFamily="18" charset="2"/>
              </a:rPr>
              <a:t>w</a:t>
            </a:r>
            <a:r>
              <a:rPr lang="en-US" sz="3000" b="1" dirty="0">
                <a:solidFill>
                  <a:schemeClr val="accent1"/>
                </a:solidFill>
              </a:rPr>
              <a:t>(</a:t>
            </a:r>
            <a:r>
              <a:rPr lang="en-US" sz="3000" b="1" i="1" dirty="0">
                <a:solidFill>
                  <a:schemeClr val="accent1"/>
                </a:solidFill>
              </a:rPr>
              <a:t>g</a:t>
            </a:r>
            <a:r>
              <a:rPr lang="en-US" sz="3000" b="1" dirty="0">
                <a:solidFill>
                  <a:schemeClr val="accent1"/>
                </a:solidFill>
              </a:rPr>
              <a:t>(</a:t>
            </a:r>
            <a:r>
              <a:rPr lang="en-US" sz="3000" b="1" i="1" dirty="0">
                <a:solidFill>
                  <a:schemeClr val="accent1"/>
                </a:solidFill>
              </a:rPr>
              <a:t>n</a:t>
            </a:r>
            <a:r>
              <a:rPr lang="en-US" sz="3000" b="1" dirty="0">
                <a:solidFill>
                  <a:schemeClr val="accent1"/>
                </a:solidFill>
              </a:rPr>
              <a:t>))</a:t>
            </a:r>
            <a:r>
              <a:rPr lang="en-US" sz="3000" dirty="0">
                <a:solidFill>
                  <a:schemeClr val="hlink"/>
                </a:solidFill>
              </a:rPr>
              <a:t> = {</a:t>
            </a:r>
            <a:r>
              <a:rPr lang="en-US" sz="3000" i="1" dirty="0">
                <a:solidFill>
                  <a:schemeClr val="hlink"/>
                </a:solidFill>
              </a:rPr>
              <a:t>f</a:t>
            </a:r>
            <a:r>
              <a:rPr lang="en-US" sz="3000" dirty="0">
                <a:solidFill>
                  <a:schemeClr val="hlink"/>
                </a:solidFill>
              </a:rPr>
              <a:t>(</a:t>
            </a:r>
            <a:r>
              <a:rPr lang="en-US" sz="3000" i="1" dirty="0">
                <a:solidFill>
                  <a:schemeClr val="hlink"/>
                </a:solidFill>
              </a:rPr>
              <a:t>n</a:t>
            </a:r>
            <a:r>
              <a:rPr lang="en-US" sz="3000" dirty="0">
                <a:solidFill>
                  <a:schemeClr val="hlink"/>
                </a:solidFill>
              </a:rPr>
              <a:t>): </a:t>
            </a:r>
            <a:r>
              <a:rPr lang="en-US" sz="3000" b="1" dirty="0">
                <a:solidFill>
                  <a:srgbClr val="FF3300"/>
                </a:solidFill>
                <a:sym typeface="Symbol" pitchFamily="18" charset="2"/>
              </a:rPr>
              <a:t></a:t>
            </a:r>
            <a:r>
              <a:rPr lang="en-US" sz="3000" dirty="0">
                <a:solidFill>
                  <a:schemeClr val="hlink"/>
                </a:solidFill>
                <a:sym typeface="Symbol" pitchFamily="18" charset="2"/>
              </a:rPr>
              <a:t> </a:t>
            </a:r>
            <a:r>
              <a:rPr lang="en-US" sz="3000" b="1" i="1" dirty="0">
                <a:solidFill>
                  <a:srgbClr val="CC0000"/>
                </a:solidFill>
              </a:rPr>
              <a:t>c</a:t>
            </a:r>
            <a:r>
              <a:rPr lang="en-US" sz="3000" b="1" dirty="0">
                <a:solidFill>
                  <a:srgbClr val="CC0000"/>
                </a:solidFill>
              </a:rPr>
              <a:t> &gt; 0</a:t>
            </a:r>
            <a:r>
              <a:rPr lang="en-US" sz="3000" dirty="0">
                <a:solidFill>
                  <a:schemeClr val="hlink"/>
                </a:solidFill>
              </a:rPr>
              <a:t>, </a:t>
            </a:r>
            <a:r>
              <a:rPr lang="en-US" sz="3000" b="1" dirty="0">
                <a:solidFill>
                  <a:srgbClr val="FF3300"/>
                </a:solidFill>
                <a:sym typeface="Symbol" pitchFamily="18" charset="2"/>
              </a:rPr>
              <a:t></a:t>
            </a:r>
            <a:r>
              <a:rPr lang="en-US" sz="3000" dirty="0">
                <a:solidFill>
                  <a:schemeClr val="hlink"/>
                </a:solidFill>
              </a:rPr>
              <a:t> </a:t>
            </a:r>
            <a:r>
              <a:rPr lang="en-US" sz="3000" b="1" i="1" dirty="0">
                <a:solidFill>
                  <a:srgbClr val="CC0000"/>
                </a:solidFill>
              </a:rPr>
              <a:t>n</a:t>
            </a:r>
            <a:r>
              <a:rPr lang="en-US" sz="3000" b="1" baseline="-25000" dirty="0">
                <a:solidFill>
                  <a:srgbClr val="CC0000"/>
                </a:solidFill>
              </a:rPr>
              <a:t>0</a:t>
            </a:r>
            <a:r>
              <a:rPr lang="en-US" sz="3000" b="1" dirty="0">
                <a:solidFill>
                  <a:srgbClr val="CC0000"/>
                </a:solidFill>
              </a:rPr>
              <a:t> &gt; 0</a:t>
            </a:r>
            <a:r>
              <a:rPr lang="en-US" sz="3000" dirty="0">
                <a:solidFill>
                  <a:schemeClr val="hlink"/>
                </a:solidFill>
              </a:rPr>
              <a:t> such that </a:t>
            </a:r>
            <a:br>
              <a:rPr lang="en-US" sz="3000" dirty="0">
                <a:solidFill>
                  <a:schemeClr val="hlink"/>
                </a:solidFill>
              </a:rPr>
            </a:br>
            <a:r>
              <a:rPr lang="en-US" sz="3000" dirty="0">
                <a:solidFill>
                  <a:schemeClr val="hlink"/>
                </a:solidFill>
              </a:rPr>
              <a:t>		</a:t>
            </a:r>
            <a:r>
              <a:rPr lang="en-US" sz="3000" b="1" dirty="0">
                <a:solidFill>
                  <a:srgbClr val="FF3300"/>
                </a:solidFill>
                <a:sym typeface="Symbol" pitchFamily="18" charset="2"/>
              </a:rPr>
              <a:t></a:t>
            </a:r>
            <a:r>
              <a:rPr lang="en-US" sz="3000" dirty="0">
                <a:solidFill>
                  <a:schemeClr val="hlink"/>
                </a:solidFill>
              </a:rPr>
              <a:t> </a:t>
            </a:r>
            <a:r>
              <a:rPr lang="en-US" sz="3000" i="1" dirty="0">
                <a:solidFill>
                  <a:schemeClr val="hlink"/>
                </a:solidFill>
              </a:rPr>
              <a:t>n </a:t>
            </a:r>
            <a:r>
              <a:rPr lang="en-US" sz="3000" dirty="0">
                <a:solidFill>
                  <a:schemeClr val="hlink"/>
                </a:solidFill>
                <a:sym typeface="Symbol" pitchFamily="18" charset="2"/>
              </a:rPr>
              <a:t></a:t>
            </a:r>
            <a:r>
              <a:rPr lang="en-US" sz="3000" i="1" baseline="-25000" dirty="0">
                <a:solidFill>
                  <a:schemeClr val="hlink"/>
                </a:solidFill>
              </a:rPr>
              <a:t>  </a:t>
            </a:r>
            <a:r>
              <a:rPr lang="en-US" sz="3000" i="1" dirty="0">
                <a:solidFill>
                  <a:schemeClr val="hlink"/>
                </a:solidFill>
              </a:rPr>
              <a:t>n</a:t>
            </a:r>
            <a:r>
              <a:rPr lang="en-US" sz="3000" baseline="-25000" dirty="0">
                <a:solidFill>
                  <a:schemeClr val="hlink"/>
                </a:solidFill>
              </a:rPr>
              <a:t>0</a:t>
            </a:r>
            <a:r>
              <a:rPr lang="en-US" sz="3000" i="1" dirty="0">
                <a:solidFill>
                  <a:schemeClr val="hlink"/>
                </a:solidFill>
              </a:rPr>
              <a:t>, </a:t>
            </a:r>
            <a:r>
              <a:rPr lang="en-US" sz="2600" dirty="0">
                <a:solidFill>
                  <a:schemeClr val="hlink"/>
                </a:solidFill>
              </a:rPr>
              <a:t>we have</a:t>
            </a:r>
            <a:r>
              <a:rPr lang="en-US" sz="3000" i="1" baseline="-25000" dirty="0">
                <a:solidFill>
                  <a:schemeClr val="hlink"/>
                </a:solidFill>
              </a:rPr>
              <a:t> </a:t>
            </a:r>
            <a:r>
              <a:rPr lang="en-US" sz="3000" dirty="0">
                <a:solidFill>
                  <a:schemeClr val="hlink"/>
                </a:solidFill>
              </a:rPr>
              <a:t>0 </a:t>
            </a:r>
            <a:r>
              <a:rPr lang="en-US" sz="3000" dirty="0">
                <a:solidFill>
                  <a:schemeClr val="hlink"/>
                </a:solidFill>
                <a:sym typeface="Symbol" pitchFamily="18" charset="2"/>
              </a:rPr>
              <a:t></a:t>
            </a:r>
            <a:r>
              <a:rPr lang="en-US" sz="3000" dirty="0">
                <a:solidFill>
                  <a:schemeClr val="hlink"/>
                </a:solidFill>
              </a:rPr>
              <a:t> </a:t>
            </a:r>
            <a:r>
              <a:rPr lang="en-US" sz="3000" i="1" dirty="0">
                <a:solidFill>
                  <a:schemeClr val="hlink"/>
                </a:solidFill>
              </a:rPr>
              <a:t>cg</a:t>
            </a:r>
            <a:r>
              <a:rPr lang="en-US" sz="3000" dirty="0">
                <a:solidFill>
                  <a:schemeClr val="hlink"/>
                </a:solidFill>
              </a:rPr>
              <a:t>(</a:t>
            </a:r>
            <a:r>
              <a:rPr lang="en-US" sz="3000" i="1" dirty="0">
                <a:solidFill>
                  <a:schemeClr val="hlink"/>
                </a:solidFill>
              </a:rPr>
              <a:t>n</a:t>
            </a:r>
            <a:r>
              <a:rPr lang="en-US" sz="3000" dirty="0">
                <a:solidFill>
                  <a:schemeClr val="hlink"/>
                </a:solidFill>
              </a:rPr>
              <a:t>) </a:t>
            </a:r>
            <a:r>
              <a:rPr lang="en-US" sz="3000" dirty="0">
                <a:solidFill>
                  <a:schemeClr val="hlink"/>
                </a:solidFill>
                <a:sym typeface="Symbol" pitchFamily="18" charset="2"/>
              </a:rPr>
              <a:t>&lt; </a:t>
            </a:r>
            <a:r>
              <a:rPr lang="en-US" sz="3000" dirty="0">
                <a:solidFill>
                  <a:schemeClr val="hlink"/>
                </a:solidFill>
              </a:rPr>
              <a:t> </a:t>
            </a:r>
            <a:r>
              <a:rPr lang="en-US" sz="3000" i="1" dirty="0">
                <a:solidFill>
                  <a:schemeClr val="hlink"/>
                </a:solidFill>
              </a:rPr>
              <a:t>f</a:t>
            </a:r>
            <a:r>
              <a:rPr lang="en-US" sz="3000" dirty="0">
                <a:solidFill>
                  <a:schemeClr val="hlink"/>
                </a:solidFill>
              </a:rPr>
              <a:t>(</a:t>
            </a:r>
            <a:r>
              <a:rPr lang="en-US" sz="3000" i="1" dirty="0">
                <a:solidFill>
                  <a:schemeClr val="hlink"/>
                </a:solidFill>
              </a:rPr>
              <a:t>n</a:t>
            </a:r>
            <a:r>
              <a:rPr lang="en-US" sz="3000" dirty="0">
                <a:solidFill>
                  <a:schemeClr val="hlink"/>
                </a:solidFill>
              </a:rPr>
              <a:t>)}.</a:t>
            </a:r>
          </a:p>
        </p:txBody>
      </p:sp>
      <p:sp>
        <p:nvSpPr>
          <p:cNvPr id="446466" name="Rectangle 1026"/>
          <p:cNvSpPr>
            <a:spLocks noGrp="1" noChangeArrowheads="1"/>
          </p:cNvSpPr>
          <p:nvPr>
            <p:ph type="title"/>
          </p:nvPr>
        </p:nvSpPr>
        <p:spPr/>
        <p:txBody>
          <a:bodyPr/>
          <a:lstStyle/>
          <a:p>
            <a:r>
              <a:rPr lang="en-US" i="1">
                <a:latin typeface="Symbol" pitchFamily="18" charset="2"/>
                <a:sym typeface="Symbol" pitchFamily="18" charset="2"/>
              </a:rPr>
              <a:t>w</a:t>
            </a:r>
            <a:r>
              <a:rPr lang="en-US" i="1">
                <a:sym typeface="Symbol" pitchFamily="18" charset="2"/>
              </a:rPr>
              <a:t> </a:t>
            </a:r>
            <a:r>
              <a:rPr lang="en-US">
                <a:sym typeface="Symbol" pitchFamily="18" charset="2"/>
              </a:rPr>
              <a:t>-notation</a:t>
            </a:r>
          </a:p>
        </p:txBody>
      </p:sp>
      <p:sp>
        <p:nvSpPr>
          <p:cNvPr id="446467" name="Rectangle 1027"/>
          <p:cNvSpPr>
            <a:spLocks noGrp="1" noChangeArrowheads="1"/>
          </p:cNvSpPr>
          <p:nvPr>
            <p:ph type="body" idx="1"/>
          </p:nvPr>
        </p:nvSpPr>
        <p:spPr>
          <a:xfrm>
            <a:off x="372810" y="3396560"/>
            <a:ext cx="10642600" cy="3308350"/>
          </a:xfrm>
        </p:spPr>
        <p:txBody>
          <a:bodyPr/>
          <a:lstStyle/>
          <a:p>
            <a:pPr>
              <a:spcBef>
                <a:spcPct val="0"/>
              </a:spcBef>
              <a:buFontTx/>
              <a:buNone/>
            </a:pPr>
            <a:r>
              <a:rPr lang="en-US" sz="2800" i="1" dirty="0"/>
              <a:t>f</a:t>
            </a:r>
            <a:r>
              <a:rPr lang="en-US" sz="2800" dirty="0"/>
              <a:t>(</a:t>
            </a:r>
            <a:r>
              <a:rPr lang="en-US" sz="2800" i="1" dirty="0"/>
              <a:t>n</a:t>
            </a:r>
            <a:r>
              <a:rPr lang="en-US" sz="2800" dirty="0"/>
              <a:t>) becomes arbitrarily large  relative to </a:t>
            </a:r>
            <a:r>
              <a:rPr lang="en-US" sz="2800" i="1" dirty="0"/>
              <a:t>g</a:t>
            </a:r>
            <a:r>
              <a:rPr lang="en-US" sz="2800" dirty="0"/>
              <a:t>(</a:t>
            </a:r>
            <a:r>
              <a:rPr lang="en-US" sz="2800" i="1" dirty="0"/>
              <a:t>n</a:t>
            </a:r>
            <a:r>
              <a:rPr lang="en-US" sz="2800" dirty="0"/>
              <a:t>)</a:t>
            </a:r>
            <a:r>
              <a:rPr lang="en-US" sz="2800" i="1" dirty="0"/>
              <a:t> </a:t>
            </a:r>
            <a:r>
              <a:rPr lang="en-US" sz="2800" dirty="0"/>
              <a:t>as </a:t>
            </a:r>
            <a:r>
              <a:rPr lang="en-US" sz="2800" i="1" dirty="0"/>
              <a:t>n </a:t>
            </a:r>
            <a:r>
              <a:rPr lang="en-US" sz="2800" dirty="0"/>
              <a:t>approaches infinity:</a:t>
            </a:r>
          </a:p>
          <a:p>
            <a:pPr>
              <a:spcBef>
                <a:spcPct val="0"/>
              </a:spcBef>
              <a:buFontTx/>
              <a:buNone/>
            </a:pPr>
            <a:r>
              <a:rPr lang="en-US" sz="3400" i="1" dirty="0">
                <a:solidFill>
                  <a:srgbClr val="FF3300"/>
                </a:solidFill>
              </a:rPr>
              <a:t>				</a:t>
            </a:r>
            <a:r>
              <a:rPr lang="en-US" sz="3400" i="1" dirty="0" err="1">
                <a:solidFill>
                  <a:srgbClr val="FF3300"/>
                </a:solidFill>
              </a:rPr>
              <a:t>lim</a:t>
            </a:r>
            <a:r>
              <a:rPr lang="en-US" sz="3400" i="1" dirty="0">
                <a:solidFill>
                  <a:srgbClr val="FF3300"/>
                </a:solidFill>
              </a:rPr>
              <a:t> </a:t>
            </a:r>
            <a:r>
              <a:rPr lang="en-US" sz="3400" dirty="0">
                <a:solidFill>
                  <a:srgbClr val="FF3300"/>
                </a:solidFill>
                <a:sym typeface="Symbol" pitchFamily="18" charset="2"/>
              </a:rPr>
              <a:t>[</a:t>
            </a:r>
            <a:r>
              <a:rPr lang="en-US" sz="3400" i="1" dirty="0">
                <a:solidFill>
                  <a:srgbClr val="FF3300"/>
                </a:solidFill>
              </a:rPr>
              <a:t>f</a:t>
            </a:r>
            <a:r>
              <a:rPr lang="en-US" sz="3400" dirty="0">
                <a:solidFill>
                  <a:srgbClr val="FF3300"/>
                </a:solidFill>
              </a:rPr>
              <a:t>(</a:t>
            </a:r>
            <a:r>
              <a:rPr lang="en-US" sz="3400" i="1" dirty="0">
                <a:solidFill>
                  <a:srgbClr val="FF3300"/>
                </a:solidFill>
              </a:rPr>
              <a:t>n</a:t>
            </a:r>
            <a:r>
              <a:rPr lang="en-US" sz="3400" dirty="0">
                <a:solidFill>
                  <a:srgbClr val="FF3300"/>
                </a:solidFill>
              </a:rPr>
              <a:t>) / </a:t>
            </a:r>
            <a:r>
              <a:rPr lang="en-US" sz="3400" i="1" dirty="0">
                <a:solidFill>
                  <a:srgbClr val="FF3300"/>
                </a:solidFill>
              </a:rPr>
              <a:t>g</a:t>
            </a:r>
            <a:r>
              <a:rPr lang="en-US" sz="3400" dirty="0">
                <a:solidFill>
                  <a:srgbClr val="FF3300"/>
                </a:solidFill>
              </a:rPr>
              <a:t>(</a:t>
            </a:r>
            <a:r>
              <a:rPr lang="en-US" sz="3400" i="1" dirty="0">
                <a:solidFill>
                  <a:srgbClr val="FF3300"/>
                </a:solidFill>
              </a:rPr>
              <a:t>n</a:t>
            </a:r>
            <a:r>
              <a:rPr lang="en-US" sz="3400" dirty="0">
                <a:solidFill>
                  <a:srgbClr val="FF3300"/>
                </a:solidFill>
              </a:rPr>
              <a:t>)] = </a:t>
            </a:r>
            <a:r>
              <a:rPr lang="en-US" sz="3400" dirty="0">
                <a:solidFill>
                  <a:srgbClr val="FF3300"/>
                </a:solidFill>
                <a:sym typeface="Symbol" pitchFamily="18" charset="2"/>
              </a:rPr>
              <a:t>.</a:t>
            </a:r>
            <a:endParaRPr lang="en-US" sz="3400" dirty="0">
              <a:solidFill>
                <a:srgbClr val="FF3300"/>
              </a:solidFill>
            </a:endParaRPr>
          </a:p>
          <a:p>
            <a:pPr>
              <a:spcBef>
                <a:spcPct val="0"/>
              </a:spcBef>
              <a:buFont typeface="Wingdings" pitchFamily="2" charset="2"/>
              <a:buNone/>
            </a:pPr>
            <a:r>
              <a:rPr lang="en-US" sz="3400" dirty="0">
                <a:solidFill>
                  <a:srgbClr val="3DDE2C"/>
                </a:solidFill>
              </a:rPr>
              <a:t>                         </a:t>
            </a:r>
            <a:r>
              <a:rPr lang="en-US" sz="3400" i="1" baseline="60000" dirty="0">
                <a:solidFill>
                  <a:srgbClr val="FF3300"/>
                </a:solidFill>
              </a:rPr>
              <a:t>n</a:t>
            </a:r>
            <a:r>
              <a:rPr lang="en-US" sz="3400" i="1" baseline="60000" dirty="0">
                <a:solidFill>
                  <a:srgbClr val="FF3300"/>
                </a:solidFill>
                <a:sym typeface="Symbol" pitchFamily="18" charset="2"/>
              </a:rPr>
              <a:t></a:t>
            </a:r>
            <a:r>
              <a:rPr lang="en-US" sz="3400" i="1" dirty="0">
                <a:solidFill>
                  <a:srgbClr val="FF3300"/>
                </a:solidFill>
              </a:rPr>
              <a:t> </a:t>
            </a:r>
            <a:endParaRPr lang="en-US" sz="3400" dirty="0">
              <a:solidFill>
                <a:srgbClr val="FF3300"/>
              </a:solidFill>
            </a:endParaRPr>
          </a:p>
          <a:p>
            <a:pPr>
              <a:spcBef>
                <a:spcPct val="0"/>
              </a:spcBef>
              <a:spcAft>
                <a:spcPct val="20000"/>
              </a:spcAft>
              <a:buFont typeface="Wingdings" pitchFamily="2" charset="2"/>
              <a:buNone/>
            </a:pPr>
            <a:r>
              <a:rPr lang="en-US" sz="2800" i="1" dirty="0"/>
              <a:t>g</a:t>
            </a:r>
            <a:r>
              <a:rPr lang="en-US" sz="2800" dirty="0"/>
              <a:t>(</a:t>
            </a:r>
            <a:r>
              <a:rPr lang="en-US" sz="2800" i="1" dirty="0"/>
              <a:t>n</a:t>
            </a:r>
            <a:r>
              <a:rPr lang="en-US" sz="2800" dirty="0"/>
              <a:t>) is a</a:t>
            </a:r>
            <a:r>
              <a:rPr lang="en-US" sz="2800" i="1" dirty="0">
                <a:solidFill>
                  <a:srgbClr val="3DDE2C"/>
                </a:solidFill>
              </a:rPr>
              <a:t> </a:t>
            </a:r>
            <a:r>
              <a:rPr lang="en-US" sz="2800" b="1" i="1" dirty="0">
                <a:solidFill>
                  <a:srgbClr val="CC0000"/>
                </a:solidFill>
              </a:rPr>
              <a:t>lower bound</a:t>
            </a:r>
            <a:r>
              <a:rPr lang="en-US" sz="2800" dirty="0"/>
              <a:t> for </a:t>
            </a:r>
            <a:r>
              <a:rPr lang="en-US" sz="2800" i="1" dirty="0"/>
              <a:t>f</a:t>
            </a:r>
            <a:r>
              <a:rPr lang="en-US" sz="2800" dirty="0"/>
              <a:t>(</a:t>
            </a:r>
            <a:r>
              <a:rPr lang="en-US" sz="2800" i="1" dirty="0"/>
              <a:t>n</a:t>
            </a:r>
            <a:r>
              <a:rPr lang="en-US" sz="2800" dirty="0"/>
              <a:t>)</a:t>
            </a:r>
            <a:r>
              <a:rPr lang="en-US" sz="2800" i="1" dirty="0"/>
              <a:t> </a:t>
            </a:r>
            <a:r>
              <a:rPr lang="en-US" sz="2800" dirty="0"/>
              <a:t>that is not asymptotically tight.</a:t>
            </a:r>
          </a:p>
        </p:txBody>
      </p:sp>
      <p:sp>
        <p:nvSpPr>
          <p:cNvPr id="446468" name="Text Box 1028"/>
          <p:cNvSpPr txBox="1">
            <a:spLocks noChangeArrowheads="1"/>
          </p:cNvSpPr>
          <p:nvPr/>
        </p:nvSpPr>
        <p:spPr bwMode="auto">
          <a:xfrm>
            <a:off x="645584" y="849313"/>
            <a:ext cx="184731" cy="369332"/>
          </a:xfrm>
          <a:prstGeom prst="rect">
            <a:avLst/>
          </a:prstGeom>
          <a:noFill/>
          <a:ln w="12700">
            <a:noFill/>
            <a:miter lim="800000"/>
            <a:headEnd type="none" w="sm" len="sm"/>
            <a:tailEnd type="none" w="sm" len="sm"/>
          </a:ln>
          <a:effectLst/>
        </p:spPr>
        <p:txBody>
          <a:bodyPr wrap="none">
            <a:spAutoFit/>
          </a:bodyPr>
          <a:lstStyle/>
          <a:p>
            <a:endParaRPr lang="en-US"/>
          </a:p>
        </p:txBody>
      </p:sp>
      <p:sp>
        <p:nvSpPr>
          <p:cNvPr id="446470" name="Text Box 1030"/>
          <p:cNvSpPr txBox="1">
            <a:spLocks noChangeArrowheads="1"/>
          </p:cNvSpPr>
          <p:nvPr/>
        </p:nvSpPr>
        <p:spPr bwMode="auto">
          <a:xfrm>
            <a:off x="758412" y="1285807"/>
            <a:ext cx="8425705" cy="584775"/>
          </a:xfrm>
          <a:prstGeom prst="rect">
            <a:avLst/>
          </a:prstGeom>
          <a:noFill/>
          <a:ln w="12700">
            <a:noFill/>
            <a:miter lim="800000"/>
            <a:headEnd type="none" w="sm" len="sm"/>
            <a:tailEnd type="none" w="sm" len="sm"/>
          </a:ln>
          <a:effectLst/>
        </p:spPr>
        <p:txBody>
          <a:bodyPr wrap="none">
            <a:spAutoFit/>
          </a:bodyPr>
          <a:lstStyle/>
          <a:p>
            <a:r>
              <a:rPr lang="en-US" sz="3200" dirty="0"/>
              <a:t>For a given function </a:t>
            </a:r>
            <a:r>
              <a:rPr lang="en-US" sz="3200" i="1" dirty="0"/>
              <a:t>g</a:t>
            </a:r>
            <a:r>
              <a:rPr lang="en-US" sz="3200" dirty="0"/>
              <a:t>(</a:t>
            </a:r>
            <a:r>
              <a:rPr lang="en-US" sz="3200" i="1" dirty="0"/>
              <a:t>n</a:t>
            </a:r>
            <a:r>
              <a:rPr lang="en-US" sz="3200" dirty="0"/>
              <a:t>), the set little-omega:</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IN" smtClean="0"/>
              <a:t>Galgotias University</a:t>
            </a:r>
            <a:endParaRPr lang="en-IN"/>
          </a:p>
        </p:txBody>
      </p:sp>
      <p:sp>
        <p:nvSpPr>
          <p:cNvPr id="5" name="Slide Number Placeholder 4"/>
          <p:cNvSpPr>
            <a:spLocks noGrp="1"/>
          </p:cNvSpPr>
          <p:nvPr>
            <p:ph type="sldNum" sz="quarter" idx="12"/>
          </p:nvPr>
        </p:nvSpPr>
        <p:spPr/>
        <p:txBody>
          <a:bodyPr/>
          <a:lstStyle/>
          <a:p>
            <a:fld id="{26510230-8DD5-4BA5-AB2D-CA30FC08F9D7}" type="slidenum">
              <a:rPr lang="en-IN" smtClean="0"/>
              <a:pPr/>
              <a:t>26</a:t>
            </a:fld>
            <a:endParaRPr lang="en-IN"/>
          </a:p>
        </p:txBody>
      </p:sp>
      <p:pic>
        <p:nvPicPr>
          <p:cNvPr id="33794" name="Picture 2"/>
          <p:cNvPicPr>
            <a:picLocks noGrp="1" noChangeAspect="1" noChangeArrowheads="1"/>
          </p:cNvPicPr>
          <p:nvPr>
            <p:ph idx="1"/>
          </p:nvPr>
        </p:nvPicPr>
        <p:blipFill>
          <a:blip r:embed="rId2"/>
          <a:srcRect/>
          <a:stretch>
            <a:fillRect/>
          </a:stretch>
        </p:blipFill>
        <p:spPr bwMode="auto">
          <a:xfrm>
            <a:off x="626165" y="357809"/>
            <a:ext cx="10396331" cy="6301408"/>
          </a:xfrm>
          <a:prstGeom prst="rect">
            <a:avLst/>
          </a:prstGeom>
          <a:noFill/>
          <a:ln w="9525">
            <a:noFill/>
            <a:miter lim="800000"/>
            <a:headEnd/>
            <a:tailEnd/>
          </a:ln>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992D490-ABDC-45CE-4871-9039F88154D8}"/>
              </a:ext>
            </a:extLst>
          </p:cNvPr>
          <p:cNvSpPr>
            <a:spLocks noGrp="1"/>
          </p:cNvSpPr>
          <p:nvPr>
            <p:ph type="title"/>
          </p:nvPr>
        </p:nvSpPr>
        <p:spPr>
          <a:xfrm>
            <a:off x="428399" y="1051486"/>
            <a:ext cx="4646904" cy="1024649"/>
          </a:xfrm>
        </p:spPr>
        <p:txBody>
          <a:bodyPr anchor="ctr">
            <a:normAutofit/>
          </a:bodyPr>
          <a:lstStyle/>
          <a:p>
            <a:r>
              <a:rPr lang="en-IN" sz="4000" dirty="0">
                <a:latin typeface="Georgia" panose="02040502050405020303" pitchFamily="18" charset="0"/>
              </a:rPr>
              <a:t>Learning Activity 2</a:t>
            </a:r>
          </a:p>
        </p:txBody>
      </p:sp>
      <p:sp>
        <p:nvSpPr>
          <p:cNvPr id="3" name="Content Placeholder 2">
            <a:extLst>
              <a:ext uri="{FF2B5EF4-FFF2-40B4-BE49-F238E27FC236}">
                <a16:creationId xmlns:a16="http://schemas.microsoft.com/office/drawing/2014/main" xmlns="" id="{2747E881-D400-0EA2-D713-1475048FC3A3}"/>
              </a:ext>
            </a:extLst>
          </p:cNvPr>
          <p:cNvSpPr>
            <a:spLocks noGrp="1"/>
          </p:cNvSpPr>
          <p:nvPr>
            <p:ph idx="1"/>
          </p:nvPr>
        </p:nvSpPr>
        <p:spPr>
          <a:xfrm>
            <a:off x="686898" y="2743201"/>
            <a:ext cx="5417542" cy="3613149"/>
          </a:xfrm>
        </p:spPr>
        <p:txBody>
          <a:bodyPr anchor="ctr">
            <a:normAutofit/>
          </a:bodyPr>
          <a:lstStyle/>
          <a:p>
            <a:pPr marL="0" indent="0">
              <a:buNone/>
            </a:pPr>
            <a:r>
              <a:rPr lang="en-US" sz="2000" b="1" dirty="0"/>
              <a:t>Group1: Bubble sort</a:t>
            </a:r>
          </a:p>
          <a:p>
            <a:pPr marL="0" indent="0">
              <a:buNone/>
            </a:pPr>
            <a:r>
              <a:rPr lang="en-US" sz="2000" b="1" dirty="0"/>
              <a:t>Group 2: Selection sort</a:t>
            </a:r>
          </a:p>
          <a:p>
            <a:pPr marL="0" indent="0">
              <a:buNone/>
            </a:pPr>
            <a:r>
              <a:rPr lang="en-US" sz="2000" b="1" dirty="0"/>
              <a:t>Group 3: Quick Sort</a:t>
            </a:r>
            <a:endParaRPr lang="en-IN" sz="2000" b="1" dirty="0"/>
          </a:p>
          <a:p>
            <a:pPr marL="0" indent="0">
              <a:buNone/>
            </a:pPr>
            <a:r>
              <a:rPr lang="en-US" sz="2000" b="1" dirty="0"/>
              <a:t>Take 3-4 minutes of your time and </a:t>
            </a:r>
            <a:r>
              <a:rPr lang="en-US" sz="2000" b="1" dirty="0" err="1"/>
              <a:t>analyse</a:t>
            </a:r>
            <a:r>
              <a:rPr lang="en-US" sz="2000" b="1" dirty="0"/>
              <a:t> the best and worst time complexity of these sorting algorithms.</a:t>
            </a:r>
            <a:endParaRPr lang="en-IN" sz="2000" b="1" dirty="0"/>
          </a:p>
        </p:txBody>
      </p:sp>
      <p:sp>
        <p:nvSpPr>
          <p:cNvPr id="15" name="Footer Placeholder 14">
            <a:extLst>
              <a:ext uri="{FF2B5EF4-FFF2-40B4-BE49-F238E27FC236}">
                <a16:creationId xmlns:a16="http://schemas.microsoft.com/office/drawing/2014/main" xmlns="" id="{23840C26-7FEF-7DEE-1FE6-C2FC8B409D1C}"/>
              </a:ext>
            </a:extLst>
          </p:cNvPr>
          <p:cNvSpPr>
            <a:spLocks noGrp="1"/>
          </p:cNvSpPr>
          <p:nvPr>
            <p:ph type="ftr" sz="quarter" idx="11"/>
          </p:nvPr>
        </p:nvSpPr>
        <p:spPr/>
        <p:txBody>
          <a:bodyPr/>
          <a:lstStyle/>
          <a:p>
            <a:r>
              <a:rPr lang="en-IN"/>
              <a:t>Galgotias University</a:t>
            </a:r>
          </a:p>
        </p:txBody>
      </p:sp>
      <p:sp>
        <p:nvSpPr>
          <p:cNvPr id="16" name="Slide Number Placeholder 15">
            <a:extLst>
              <a:ext uri="{FF2B5EF4-FFF2-40B4-BE49-F238E27FC236}">
                <a16:creationId xmlns:a16="http://schemas.microsoft.com/office/drawing/2014/main" xmlns="" id="{8213A1C2-456F-1608-85D6-8CE28AB4C040}"/>
              </a:ext>
            </a:extLst>
          </p:cNvPr>
          <p:cNvSpPr>
            <a:spLocks noGrp="1"/>
          </p:cNvSpPr>
          <p:nvPr>
            <p:ph type="sldNum" sz="quarter" idx="12"/>
          </p:nvPr>
        </p:nvSpPr>
        <p:spPr/>
        <p:txBody>
          <a:bodyPr/>
          <a:lstStyle/>
          <a:p>
            <a:fld id="{26510230-8DD5-4BA5-AB2D-CA30FC08F9D7}" type="slidenum">
              <a:rPr lang="en-IN" smtClean="0"/>
              <a:pPr/>
              <a:t>27</a:t>
            </a:fld>
            <a:endParaRPr lang="en-IN"/>
          </a:p>
        </p:txBody>
      </p:sp>
      <p:pic>
        <p:nvPicPr>
          <p:cNvPr id="17" name="Picture 16" descr="A blue circle with text and words&#10;&#10;Description automatically generated">
            <a:extLst>
              <a:ext uri="{FF2B5EF4-FFF2-40B4-BE49-F238E27FC236}">
                <a16:creationId xmlns:a16="http://schemas.microsoft.com/office/drawing/2014/main" xmlns="" id="{657EADCA-AAF4-A0F1-EC18-583A4169E1DA}"/>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0758566" y="176754"/>
            <a:ext cx="874732" cy="874732"/>
          </a:xfrm>
          <a:prstGeom prst="rect">
            <a:avLst/>
          </a:prstGeom>
        </p:spPr>
      </p:pic>
      <p:pic>
        <p:nvPicPr>
          <p:cNvPr id="4" name="Picture 3">
            <a:extLst>
              <a:ext uri="{FF2B5EF4-FFF2-40B4-BE49-F238E27FC236}">
                <a16:creationId xmlns:a16="http://schemas.microsoft.com/office/drawing/2014/main" xmlns="" id="{A74611B9-0745-E418-1A83-F8B0764E0CD4}"/>
              </a:ext>
            </a:extLst>
          </p:cNvPr>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104932" y="114202"/>
            <a:ext cx="3795634" cy="740238"/>
          </a:xfrm>
          <a:prstGeom prst="rect">
            <a:avLst/>
          </a:prstGeom>
        </p:spPr>
      </p:pic>
    </p:spTree>
    <p:extLst>
      <p:ext uri="{BB962C8B-B14F-4D97-AF65-F5344CB8AC3E}">
        <p14:creationId xmlns:p14="http://schemas.microsoft.com/office/powerpoint/2010/main" xmlns="" val="9100514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618E3D3-5416-2940-1D05-671B50B11473}"/>
              </a:ext>
            </a:extLst>
          </p:cNvPr>
          <p:cNvSpPr>
            <a:spLocks noGrp="1"/>
          </p:cNvSpPr>
          <p:nvPr>
            <p:ph type="title"/>
          </p:nvPr>
        </p:nvSpPr>
        <p:spPr>
          <a:xfrm>
            <a:off x="347472" y="1604859"/>
            <a:ext cx="6081903" cy="1133580"/>
          </a:xfrm>
        </p:spPr>
        <p:txBody>
          <a:bodyPr vert="horz" lIns="91440" tIns="45720" rIns="91440" bIns="45720" rtlCol="0" anchor="t">
            <a:normAutofit fontScale="90000"/>
          </a:bodyPr>
          <a:lstStyle/>
          <a:p>
            <a:r>
              <a:rPr lang="en-US" sz="4000" b="1" dirty="0">
                <a:solidFill>
                  <a:schemeClr val="tx2"/>
                </a:solidFill>
              </a:rPr>
              <a:t>Reflection-</a:t>
            </a:r>
            <a:br>
              <a:rPr lang="en-US" sz="4000" b="1" dirty="0">
                <a:solidFill>
                  <a:schemeClr val="tx2"/>
                </a:solidFill>
              </a:rPr>
            </a:br>
            <a:r>
              <a:rPr lang="en-US" sz="4000" b="1" dirty="0">
                <a:solidFill>
                  <a:schemeClr val="tx2"/>
                </a:solidFill>
              </a:rPr>
              <a:t>Learning Activity 2</a:t>
            </a:r>
          </a:p>
        </p:txBody>
      </p:sp>
      <p:sp>
        <p:nvSpPr>
          <p:cNvPr id="3" name="Footer Placeholder 2">
            <a:extLst>
              <a:ext uri="{FF2B5EF4-FFF2-40B4-BE49-F238E27FC236}">
                <a16:creationId xmlns:a16="http://schemas.microsoft.com/office/drawing/2014/main" xmlns="" id="{F78519F1-0B89-4EB4-3D62-C751E0DF0DAB}"/>
              </a:ext>
            </a:extLst>
          </p:cNvPr>
          <p:cNvSpPr>
            <a:spLocks noGrp="1"/>
          </p:cNvSpPr>
          <p:nvPr>
            <p:ph type="ftr" sz="quarter" idx="11"/>
          </p:nvPr>
        </p:nvSpPr>
        <p:spPr/>
        <p:txBody>
          <a:bodyPr/>
          <a:lstStyle/>
          <a:p>
            <a:r>
              <a:rPr lang="en-IN"/>
              <a:t>Galgotias University</a:t>
            </a:r>
          </a:p>
        </p:txBody>
      </p:sp>
      <p:sp>
        <p:nvSpPr>
          <p:cNvPr id="4" name="Slide Number Placeholder 3">
            <a:extLst>
              <a:ext uri="{FF2B5EF4-FFF2-40B4-BE49-F238E27FC236}">
                <a16:creationId xmlns:a16="http://schemas.microsoft.com/office/drawing/2014/main" xmlns="" id="{A771400C-45D1-B069-5B91-2105997511BD}"/>
              </a:ext>
            </a:extLst>
          </p:cNvPr>
          <p:cNvSpPr>
            <a:spLocks noGrp="1"/>
          </p:cNvSpPr>
          <p:nvPr>
            <p:ph type="sldNum" sz="quarter" idx="12"/>
          </p:nvPr>
        </p:nvSpPr>
        <p:spPr/>
        <p:txBody>
          <a:bodyPr/>
          <a:lstStyle/>
          <a:p>
            <a:fld id="{26510230-8DD5-4BA5-AB2D-CA30FC08F9D7}" type="slidenum">
              <a:rPr lang="en-IN" smtClean="0"/>
              <a:pPr/>
              <a:t>28</a:t>
            </a:fld>
            <a:endParaRPr lang="en-IN"/>
          </a:p>
        </p:txBody>
      </p:sp>
      <p:pic>
        <p:nvPicPr>
          <p:cNvPr id="5" name="Picture 4" descr="A blue circle with text and words&#10;&#10;Description automatically generated">
            <a:extLst>
              <a:ext uri="{FF2B5EF4-FFF2-40B4-BE49-F238E27FC236}">
                <a16:creationId xmlns:a16="http://schemas.microsoft.com/office/drawing/2014/main" xmlns="" id="{F48BF935-342D-FA5C-7B89-95045B1C2507}"/>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0758566" y="176754"/>
            <a:ext cx="874732" cy="874732"/>
          </a:xfrm>
          <a:prstGeom prst="rect">
            <a:avLst/>
          </a:prstGeom>
        </p:spPr>
      </p:pic>
      <p:pic>
        <p:nvPicPr>
          <p:cNvPr id="7" name="Picture 6">
            <a:extLst>
              <a:ext uri="{FF2B5EF4-FFF2-40B4-BE49-F238E27FC236}">
                <a16:creationId xmlns:a16="http://schemas.microsoft.com/office/drawing/2014/main" xmlns="" id="{14238D36-1846-81B8-E6AE-7D08FB6FD520}"/>
              </a:ext>
            </a:extLst>
          </p:cNvPr>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104932" y="114202"/>
            <a:ext cx="3795634" cy="740238"/>
          </a:xfrm>
          <a:prstGeom prst="rect">
            <a:avLst/>
          </a:prstGeom>
        </p:spPr>
      </p:pic>
      <p:sp>
        <p:nvSpPr>
          <p:cNvPr id="6" name="TextBox 5">
            <a:extLst>
              <a:ext uri="{FF2B5EF4-FFF2-40B4-BE49-F238E27FC236}">
                <a16:creationId xmlns:a16="http://schemas.microsoft.com/office/drawing/2014/main" xmlns="" id="{A697B79F-7EB0-FE24-CF00-6C648C05EC7A}"/>
              </a:ext>
            </a:extLst>
          </p:cNvPr>
          <p:cNvSpPr txBox="1"/>
          <p:nvPr/>
        </p:nvSpPr>
        <p:spPr>
          <a:xfrm>
            <a:off x="1361884" y="3437259"/>
            <a:ext cx="8620316" cy="1815882"/>
          </a:xfrm>
          <a:prstGeom prst="rect">
            <a:avLst/>
          </a:prstGeom>
          <a:noFill/>
        </p:spPr>
        <p:txBody>
          <a:bodyPr wrap="square" rtlCol="0">
            <a:spAutoFit/>
          </a:bodyPr>
          <a:lstStyle/>
          <a:p>
            <a:pPr algn="l"/>
            <a:r>
              <a:rPr lang="en-US" sz="2800" b="1" dirty="0"/>
              <a:t>What will happen if the input size vary in all the algorithms?</a:t>
            </a:r>
          </a:p>
          <a:p>
            <a:pPr algn="l"/>
            <a:r>
              <a:rPr lang="en-US" sz="2800" b="1" dirty="0"/>
              <a:t>Does the time complexity also depends on the input size?</a:t>
            </a:r>
          </a:p>
        </p:txBody>
      </p:sp>
    </p:spTree>
    <p:extLst>
      <p:ext uri="{BB962C8B-B14F-4D97-AF65-F5344CB8AC3E}">
        <p14:creationId xmlns:p14="http://schemas.microsoft.com/office/powerpoint/2010/main" xmlns="" val="14206710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441D35C-E211-02FF-CF1A-091F4F40D1CF}"/>
              </a:ext>
            </a:extLst>
          </p:cNvPr>
          <p:cNvSpPr>
            <a:spLocks noGrp="1"/>
          </p:cNvSpPr>
          <p:nvPr>
            <p:ph type="title"/>
          </p:nvPr>
        </p:nvSpPr>
        <p:spPr/>
        <p:txBody>
          <a:bodyPr/>
          <a:lstStyle/>
          <a:p>
            <a:r>
              <a:rPr lang="en-US" dirty="0"/>
              <a:t>Properties of Asymptotic Notations: </a:t>
            </a:r>
          </a:p>
        </p:txBody>
      </p:sp>
      <p:sp>
        <p:nvSpPr>
          <p:cNvPr id="3" name="Content Placeholder 2">
            <a:extLst>
              <a:ext uri="{FF2B5EF4-FFF2-40B4-BE49-F238E27FC236}">
                <a16:creationId xmlns:a16="http://schemas.microsoft.com/office/drawing/2014/main" xmlns="" id="{0E6CCD19-74CA-7B2D-BC75-C8903D4D2809}"/>
              </a:ext>
            </a:extLst>
          </p:cNvPr>
          <p:cNvSpPr>
            <a:spLocks noGrp="1"/>
          </p:cNvSpPr>
          <p:nvPr>
            <p:ph idx="1"/>
          </p:nvPr>
        </p:nvSpPr>
        <p:spPr>
          <a:xfrm>
            <a:off x="838200" y="1847850"/>
            <a:ext cx="10515600" cy="4351338"/>
          </a:xfrm>
        </p:spPr>
        <p:txBody>
          <a:bodyPr>
            <a:normAutofit fontScale="92500" lnSpcReduction="10000"/>
          </a:bodyPr>
          <a:lstStyle/>
          <a:p>
            <a:pPr marL="0" indent="0">
              <a:buNone/>
            </a:pPr>
            <a:r>
              <a:rPr lang="en-US" dirty="0"/>
              <a:t>General Properties:</a:t>
            </a:r>
          </a:p>
          <a:p>
            <a:pPr marL="0" indent="0">
              <a:buNone/>
            </a:pPr>
            <a:r>
              <a:rPr lang="en-US" dirty="0"/>
              <a:t>If f(n) is O(g(n)) then a*f(n) Is also O(g(n)), where a is a constant.</a:t>
            </a:r>
          </a:p>
          <a:p>
            <a:pPr marL="0" indent="0">
              <a:buNone/>
            </a:pPr>
            <a:endParaRPr lang="en-US" dirty="0"/>
          </a:p>
          <a:p>
            <a:pPr marL="0" indent="0">
              <a:buNone/>
            </a:pPr>
            <a:r>
              <a:rPr lang="en-US" dirty="0"/>
              <a:t>Transitive Properties:
If f(n) is O(g(n)) and g(n) is O(h(n)) then f(n) = O(h(n))</a:t>
            </a:r>
          </a:p>
          <a:p>
            <a:pPr marL="0" indent="0">
              <a:buNone/>
            </a:pPr>
            <a:endParaRPr lang="en-US" dirty="0"/>
          </a:p>
          <a:p>
            <a:pPr marL="0" indent="0">
              <a:buNone/>
            </a:pPr>
            <a:r>
              <a:rPr lang="en-US" dirty="0"/>
              <a:t>Reflexive Properties: 
Reflexive properties are always easy to understand after transitive.
If f(n) is given then f(n) is O(f(n)). Since MAXIMUM VALUE OF f(n) will be f(n) ITSELF!</a:t>
            </a:r>
          </a:p>
          <a:p>
            <a:pPr marL="0" indent="0">
              <a:buNone/>
            </a:pPr>
            <a:endParaRPr lang="en-US" dirty="0"/>
          </a:p>
          <a:p>
            <a:pPr marL="0" indent="0">
              <a:buNone/>
            </a:pPr>
            <a:endParaRPr lang="en-US" dirty="0"/>
          </a:p>
        </p:txBody>
      </p:sp>
      <p:sp>
        <p:nvSpPr>
          <p:cNvPr id="4" name="Footer Placeholder 3">
            <a:extLst>
              <a:ext uri="{FF2B5EF4-FFF2-40B4-BE49-F238E27FC236}">
                <a16:creationId xmlns:a16="http://schemas.microsoft.com/office/drawing/2014/main" xmlns="" id="{1F2BEAB0-212A-35F2-DDC6-0518E24EF544}"/>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xmlns="" id="{4B702122-0213-92FE-B602-6D8E07ED3DE7}"/>
              </a:ext>
            </a:extLst>
          </p:cNvPr>
          <p:cNvSpPr>
            <a:spLocks noGrp="1"/>
          </p:cNvSpPr>
          <p:nvPr>
            <p:ph type="sldNum" sz="quarter" idx="12"/>
          </p:nvPr>
        </p:nvSpPr>
        <p:spPr/>
        <p:txBody>
          <a:bodyPr/>
          <a:lstStyle/>
          <a:p>
            <a:fld id="{26510230-8DD5-4BA5-AB2D-CA30FC08F9D7}" type="slidenum">
              <a:rPr lang="en-IN" smtClean="0"/>
              <a:pPr/>
              <a:t>29</a:t>
            </a:fld>
            <a:endParaRPr lang="en-IN"/>
          </a:p>
        </p:txBody>
      </p:sp>
    </p:spTree>
    <p:extLst>
      <p:ext uri="{BB962C8B-B14F-4D97-AF65-F5344CB8AC3E}">
        <p14:creationId xmlns:p14="http://schemas.microsoft.com/office/powerpoint/2010/main" xmlns="" val="12805072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8F8B9F3-C450-E10E-561B-C19BD9147559}"/>
              </a:ext>
            </a:extLst>
          </p:cNvPr>
          <p:cNvSpPr>
            <a:spLocks noGrp="1"/>
          </p:cNvSpPr>
          <p:nvPr>
            <p:ph type="title"/>
          </p:nvPr>
        </p:nvSpPr>
        <p:spPr/>
        <p:txBody>
          <a:bodyPr/>
          <a:lstStyle/>
          <a:p>
            <a:r>
              <a:rPr lang="en-US" dirty="0"/>
              <a:t>Properties of Asymptotic Notations: </a:t>
            </a:r>
          </a:p>
        </p:txBody>
      </p:sp>
      <p:sp>
        <p:nvSpPr>
          <p:cNvPr id="3" name="Content Placeholder 2">
            <a:extLst>
              <a:ext uri="{FF2B5EF4-FFF2-40B4-BE49-F238E27FC236}">
                <a16:creationId xmlns:a16="http://schemas.microsoft.com/office/drawing/2014/main" xmlns="" id="{B7285BB6-9753-F918-565E-9FAFDA632B49}"/>
              </a:ext>
            </a:extLst>
          </p:cNvPr>
          <p:cNvSpPr>
            <a:spLocks noGrp="1"/>
          </p:cNvSpPr>
          <p:nvPr>
            <p:ph idx="1"/>
          </p:nvPr>
        </p:nvSpPr>
        <p:spPr/>
        <p:txBody>
          <a:bodyPr/>
          <a:lstStyle/>
          <a:p>
            <a:pPr marL="0" indent="0">
              <a:buNone/>
            </a:pPr>
            <a:r>
              <a:rPr lang="en-US" dirty="0"/>
              <a:t>Symmetric Properties: 
If f(n) is Θ(g(n)) then g(n) is Θ(f(n))</a:t>
            </a:r>
          </a:p>
          <a:p>
            <a:pPr marL="0" indent="0">
              <a:buNone/>
            </a:pPr>
            <a:endParaRPr lang="en-US" dirty="0"/>
          </a:p>
          <a:p>
            <a:pPr marL="0" indent="0">
              <a:buNone/>
            </a:pPr>
            <a:r>
              <a:rPr lang="en-US" dirty="0"/>
              <a:t>Transpose Symmetric Properties:
If f(n) is O(g(n)) then g(n) is Ω (f(n))</a:t>
            </a:r>
          </a:p>
        </p:txBody>
      </p:sp>
      <p:sp>
        <p:nvSpPr>
          <p:cNvPr id="4" name="Footer Placeholder 3">
            <a:extLst>
              <a:ext uri="{FF2B5EF4-FFF2-40B4-BE49-F238E27FC236}">
                <a16:creationId xmlns:a16="http://schemas.microsoft.com/office/drawing/2014/main" xmlns="" id="{9673A667-E4E1-89E1-7357-A42E8BD872A4}"/>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xmlns="" id="{B76A6D66-0FE5-2A74-EFDE-ADB5B2385F47}"/>
              </a:ext>
            </a:extLst>
          </p:cNvPr>
          <p:cNvSpPr>
            <a:spLocks noGrp="1"/>
          </p:cNvSpPr>
          <p:nvPr>
            <p:ph type="sldNum" sz="quarter" idx="12"/>
          </p:nvPr>
        </p:nvSpPr>
        <p:spPr/>
        <p:txBody>
          <a:bodyPr/>
          <a:lstStyle/>
          <a:p>
            <a:fld id="{26510230-8DD5-4BA5-AB2D-CA30FC08F9D7}" type="slidenum">
              <a:rPr lang="en-IN" smtClean="0"/>
              <a:pPr/>
              <a:t>30</a:t>
            </a:fld>
            <a:endParaRPr lang="en-IN"/>
          </a:p>
        </p:txBody>
      </p:sp>
    </p:spTree>
    <p:extLst>
      <p:ext uri="{BB962C8B-B14F-4D97-AF65-F5344CB8AC3E}">
        <p14:creationId xmlns:p14="http://schemas.microsoft.com/office/powerpoint/2010/main" xmlns="" val="24361923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FD3268D-99D9-84C0-463F-03636BB664F4}"/>
              </a:ext>
            </a:extLst>
          </p:cNvPr>
          <p:cNvSpPr>
            <a:spLocks noGrp="1"/>
          </p:cNvSpPr>
          <p:nvPr>
            <p:ph type="title"/>
          </p:nvPr>
        </p:nvSpPr>
        <p:spPr>
          <a:xfrm>
            <a:off x="838200" y="365124"/>
            <a:ext cx="10515600" cy="1325563"/>
          </a:xfrm>
        </p:spPr>
        <p:txBody>
          <a:bodyPr/>
          <a:lstStyle/>
          <a:p>
            <a:r>
              <a:rPr lang="en-US" dirty="0"/>
              <a:t>Problem Solving and Hands-On Practice</a:t>
            </a:r>
          </a:p>
        </p:txBody>
      </p:sp>
      <p:sp>
        <p:nvSpPr>
          <p:cNvPr id="3" name="Content Placeholder 2">
            <a:extLst>
              <a:ext uri="{FF2B5EF4-FFF2-40B4-BE49-F238E27FC236}">
                <a16:creationId xmlns:a16="http://schemas.microsoft.com/office/drawing/2014/main" xmlns="" id="{876E5585-81A0-DF0B-0B06-4BD2EFCF99BC}"/>
              </a:ext>
            </a:extLst>
          </p:cNvPr>
          <p:cNvSpPr>
            <a:spLocks noGrp="1"/>
          </p:cNvSpPr>
          <p:nvPr>
            <p:ph idx="1"/>
          </p:nvPr>
        </p:nvSpPr>
        <p:spPr/>
        <p:txBody>
          <a:bodyPr/>
          <a:lstStyle/>
          <a:p>
            <a:pPr marL="0" indent="0">
              <a:buNone/>
            </a:pPr>
            <a:r>
              <a:rPr lang="en-US" dirty="0"/>
              <a:t>Take this 5 minutes quiz for better understanding</a:t>
            </a:r>
          </a:p>
          <a:p>
            <a:pPr marL="0" indent="0">
              <a:buNone/>
            </a:pPr>
            <a:endParaRPr lang="en-US" dirty="0"/>
          </a:p>
        </p:txBody>
      </p:sp>
      <p:sp>
        <p:nvSpPr>
          <p:cNvPr id="4" name="Footer Placeholder 3">
            <a:extLst>
              <a:ext uri="{FF2B5EF4-FFF2-40B4-BE49-F238E27FC236}">
                <a16:creationId xmlns:a16="http://schemas.microsoft.com/office/drawing/2014/main" xmlns="" id="{A59A8881-07CD-180F-5443-82008BD2FCEF}"/>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xmlns="" id="{475205EB-06ED-748D-3575-E344D16148E6}"/>
              </a:ext>
            </a:extLst>
          </p:cNvPr>
          <p:cNvSpPr>
            <a:spLocks noGrp="1"/>
          </p:cNvSpPr>
          <p:nvPr>
            <p:ph type="sldNum" sz="quarter" idx="12"/>
          </p:nvPr>
        </p:nvSpPr>
        <p:spPr/>
        <p:txBody>
          <a:bodyPr/>
          <a:lstStyle/>
          <a:p>
            <a:fld id="{26510230-8DD5-4BA5-AB2D-CA30FC08F9D7}" type="slidenum">
              <a:rPr lang="en-IN" smtClean="0"/>
              <a:pPr/>
              <a:t>31</a:t>
            </a:fld>
            <a:endParaRPr lang="en-IN"/>
          </a:p>
        </p:txBody>
      </p:sp>
      <p:pic>
        <p:nvPicPr>
          <p:cNvPr id="6" name="Picture 5">
            <a:extLst>
              <a:ext uri="{FF2B5EF4-FFF2-40B4-BE49-F238E27FC236}">
                <a16:creationId xmlns:a16="http://schemas.microsoft.com/office/drawing/2014/main" xmlns="" id="{72C6C0C6-D61F-B55E-6DBC-D3D394029716}"/>
              </a:ext>
            </a:extLst>
          </p:cNvPr>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1419325" y="2832026"/>
            <a:ext cx="3261496" cy="3121100"/>
          </a:xfrm>
          <a:prstGeom prst="rect">
            <a:avLst/>
          </a:prstGeom>
        </p:spPr>
      </p:pic>
      <p:sp>
        <p:nvSpPr>
          <p:cNvPr id="7" name="TextBox 6">
            <a:extLst>
              <a:ext uri="{FF2B5EF4-FFF2-40B4-BE49-F238E27FC236}">
                <a16:creationId xmlns:a16="http://schemas.microsoft.com/office/drawing/2014/main" xmlns="" id="{F98ED431-95BD-E216-BFB2-98B932F1808E}"/>
              </a:ext>
            </a:extLst>
          </p:cNvPr>
          <p:cNvSpPr txBox="1"/>
          <p:nvPr/>
        </p:nvSpPr>
        <p:spPr>
          <a:xfrm>
            <a:off x="5596921" y="3008093"/>
            <a:ext cx="7325139" cy="646331"/>
          </a:xfrm>
          <a:prstGeom prst="rect">
            <a:avLst/>
          </a:prstGeom>
          <a:noFill/>
        </p:spPr>
        <p:txBody>
          <a:bodyPr wrap="square" rtlCol="0">
            <a:spAutoFit/>
          </a:bodyPr>
          <a:lstStyle/>
          <a:p>
            <a:pPr algn="l"/>
            <a:r>
              <a:rPr lang="en-US" dirty="0"/>
              <a:t>Participation Link –</a:t>
            </a:r>
          </a:p>
          <a:p>
            <a:pPr algn="l"/>
            <a:r>
              <a:rPr lang="en-US" dirty="0"/>
              <a:t> https://app.wooclap.com/PAALXO?from=instruction-slide</a:t>
            </a:r>
          </a:p>
        </p:txBody>
      </p:sp>
      <p:sp>
        <p:nvSpPr>
          <p:cNvPr id="8" name="TextBox 7">
            <a:extLst>
              <a:ext uri="{FF2B5EF4-FFF2-40B4-BE49-F238E27FC236}">
                <a16:creationId xmlns:a16="http://schemas.microsoft.com/office/drawing/2014/main" xmlns="" id="{E9E8B251-CBE7-0A65-AE93-8DB3D32D8F82}"/>
              </a:ext>
            </a:extLst>
          </p:cNvPr>
          <p:cNvSpPr txBox="1"/>
          <p:nvPr/>
        </p:nvSpPr>
        <p:spPr>
          <a:xfrm>
            <a:off x="5336381" y="2514600"/>
            <a:ext cx="1828800" cy="1828800"/>
          </a:xfrm>
          <a:prstGeom prst="rect">
            <a:avLst/>
          </a:prstGeom>
          <a:noFill/>
        </p:spPr>
        <p:txBody>
          <a:bodyPr wrap="square" rtlCol="0">
            <a:spAutoFit/>
          </a:bodyPr>
          <a:lstStyle/>
          <a:p>
            <a:pPr algn="l"/>
            <a:endParaRPr lang="en-US" dirty="0"/>
          </a:p>
        </p:txBody>
      </p:sp>
      <p:sp>
        <p:nvSpPr>
          <p:cNvPr id="9" name="TextBox 8">
            <a:extLst>
              <a:ext uri="{FF2B5EF4-FFF2-40B4-BE49-F238E27FC236}">
                <a16:creationId xmlns:a16="http://schemas.microsoft.com/office/drawing/2014/main" xmlns="" id="{99C0E24A-8E6F-04E8-1CDF-54533EF02706}"/>
              </a:ext>
            </a:extLst>
          </p:cNvPr>
          <p:cNvSpPr txBox="1"/>
          <p:nvPr/>
        </p:nvSpPr>
        <p:spPr>
          <a:xfrm>
            <a:off x="5743575" y="4478337"/>
            <a:ext cx="3864769" cy="646331"/>
          </a:xfrm>
          <a:prstGeom prst="rect">
            <a:avLst/>
          </a:prstGeom>
          <a:noFill/>
        </p:spPr>
        <p:txBody>
          <a:bodyPr wrap="square" rtlCol="0">
            <a:spAutoFit/>
          </a:bodyPr>
          <a:lstStyle/>
          <a:p>
            <a:pPr algn="l"/>
            <a:r>
              <a:rPr lang="en-US" dirty="0"/>
              <a:t>You can also join using woo lap code - PAALXO</a:t>
            </a:r>
          </a:p>
        </p:txBody>
      </p:sp>
    </p:spTree>
    <p:extLst>
      <p:ext uri="{BB962C8B-B14F-4D97-AF65-F5344CB8AC3E}">
        <p14:creationId xmlns:p14="http://schemas.microsoft.com/office/powerpoint/2010/main" xmlns="" val="20224339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3FC14F6-7B57-DCCF-E6C1-F00D5A0C0026}"/>
              </a:ext>
            </a:extLst>
          </p:cNvPr>
          <p:cNvSpPr>
            <a:spLocks noGrp="1"/>
          </p:cNvSpPr>
          <p:nvPr>
            <p:ph type="title"/>
          </p:nvPr>
        </p:nvSpPr>
        <p:spPr>
          <a:xfrm>
            <a:off x="838200" y="854440"/>
            <a:ext cx="10515600" cy="629586"/>
          </a:xfrm>
        </p:spPr>
        <p:txBody>
          <a:bodyPr>
            <a:normAutofit fontScale="90000"/>
          </a:bodyPr>
          <a:lstStyle/>
          <a:p>
            <a:r>
              <a:rPr lang="en-IN" sz="4400" dirty="0"/>
              <a:t>Summary</a:t>
            </a:r>
            <a:endParaRPr lang="en-IN" dirty="0"/>
          </a:p>
        </p:txBody>
      </p:sp>
      <p:sp>
        <p:nvSpPr>
          <p:cNvPr id="3" name="Footer Placeholder 2">
            <a:extLst>
              <a:ext uri="{FF2B5EF4-FFF2-40B4-BE49-F238E27FC236}">
                <a16:creationId xmlns:a16="http://schemas.microsoft.com/office/drawing/2014/main" xmlns="" id="{5AB91CCA-1BE5-F500-6FE3-9286107B8310}"/>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xmlns="" id="{738DC841-660F-050E-F1D5-7EDF89E46187}"/>
              </a:ext>
            </a:extLst>
          </p:cNvPr>
          <p:cNvSpPr>
            <a:spLocks noGrp="1"/>
          </p:cNvSpPr>
          <p:nvPr>
            <p:ph type="sldNum" sz="quarter" idx="12"/>
          </p:nvPr>
        </p:nvSpPr>
        <p:spPr/>
        <p:txBody>
          <a:bodyPr/>
          <a:lstStyle/>
          <a:p>
            <a:fld id="{26510230-8DD5-4BA5-AB2D-CA30FC08F9D7}" type="slidenum">
              <a:rPr lang="en-IN" smtClean="0"/>
              <a:pPr/>
              <a:t>32</a:t>
            </a:fld>
            <a:endParaRPr lang="en-IN"/>
          </a:p>
        </p:txBody>
      </p:sp>
      <p:pic>
        <p:nvPicPr>
          <p:cNvPr id="7" name="Picture 6" descr="A blue circle with text and words&#10;&#10;Description automatically generated">
            <a:extLst>
              <a:ext uri="{FF2B5EF4-FFF2-40B4-BE49-F238E27FC236}">
                <a16:creationId xmlns:a16="http://schemas.microsoft.com/office/drawing/2014/main" xmlns="" id="{C48F32E8-1C2C-DDC5-5A63-CE0734EE2B26}"/>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0758566" y="176754"/>
            <a:ext cx="874732" cy="874732"/>
          </a:xfrm>
          <a:prstGeom prst="rect">
            <a:avLst/>
          </a:prstGeom>
        </p:spPr>
      </p:pic>
      <p:pic>
        <p:nvPicPr>
          <p:cNvPr id="8" name="Picture 7">
            <a:extLst>
              <a:ext uri="{FF2B5EF4-FFF2-40B4-BE49-F238E27FC236}">
                <a16:creationId xmlns:a16="http://schemas.microsoft.com/office/drawing/2014/main" xmlns="" id="{A200A3D7-8C56-079A-BFFF-58D27E7ED984}"/>
              </a:ext>
            </a:extLst>
          </p:cNvPr>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104932" y="114202"/>
            <a:ext cx="3795634" cy="740238"/>
          </a:xfrm>
          <a:prstGeom prst="rect">
            <a:avLst/>
          </a:prstGeom>
        </p:spPr>
      </p:pic>
      <p:pic>
        <p:nvPicPr>
          <p:cNvPr id="10" name="Picture 9">
            <a:extLst>
              <a:ext uri="{FF2B5EF4-FFF2-40B4-BE49-F238E27FC236}">
                <a16:creationId xmlns:a16="http://schemas.microsoft.com/office/drawing/2014/main" xmlns="" id="{9AFEF056-7E8E-850E-828F-C174C48C8103}"/>
              </a:ext>
            </a:extLst>
          </p:cNvPr>
          <p:cNvPicPr>
            <a:picLocks noChangeAspect="1"/>
          </p:cNvPicPr>
          <p:nvPr/>
        </p:nvPicPr>
        <p:blipFill>
          <a:blip r:embed="rId4"/>
          <a:stretch>
            <a:fillRect/>
          </a:stretch>
        </p:blipFill>
        <p:spPr>
          <a:xfrm>
            <a:off x="2535023" y="1833563"/>
            <a:ext cx="6704227" cy="4327544"/>
          </a:xfrm>
          <a:prstGeom prst="rect">
            <a:avLst/>
          </a:prstGeom>
        </p:spPr>
      </p:pic>
    </p:spTree>
    <p:extLst>
      <p:ext uri="{BB962C8B-B14F-4D97-AF65-F5344CB8AC3E}">
        <p14:creationId xmlns:p14="http://schemas.microsoft.com/office/powerpoint/2010/main" xmlns="" val="13113287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BDE995B-751B-0A32-5A21-E7C3B8B54B6B}"/>
              </a:ext>
            </a:extLst>
          </p:cNvPr>
          <p:cNvSpPr>
            <a:spLocks noGrp="1"/>
          </p:cNvSpPr>
          <p:nvPr>
            <p:ph type="title"/>
          </p:nvPr>
        </p:nvSpPr>
        <p:spPr>
          <a:xfrm>
            <a:off x="901762" y="1198963"/>
            <a:ext cx="9818849" cy="1918741"/>
          </a:xfrm>
        </p:spPr>
        <p:txBody>
          <a:bodyPr>
            <a:noAutofit/>
          </a:bodyPr>
          <a:lstStyle/>
          <a:p>
            <a:r>
              <a:rPr lang="en-US" sz="5400" dirty="0">
                <a:latin typeface="Georgia" panose="02040502050405020303" pitchFamily="18" charset="0"/>
              </a:rPr>
              <a:t>Discussion on the post session activities</a:t>
            </a:r>
            <a:r>
              <a:rPr lang="en-US" sz="2800" dirty="0">
                <a:latin typeface="Georgia" panose="02040502050405020303" pitchFamily="18" charset="0"/>
              </a:rPr>
              <a:t/>
            </a:r>
            <a:br>
              <a:rPr lang="en-US" sz="2800" dirty="0">
                <a:latin typeface="Georgia" panose="02040502050405020303" pitchFamily="18" charset="0"/>
              </a:rPr>
            </a:br>
            <a:r>
              <a:rPr lang="en-US" sz="2800" dirty="0">
                <a:latin typeface="Georgia" panose="02040502050405020303" pitchFamily="18" charset="0"/>
              </a:rPr>
              <a:t/>
            </a:r>
            <a:br>
              <a:rPr lang="en-US" sz="2800" dirty="0">
                <a:latin typeface="Georgia" panose="02040502050405020303" pitchFamily="18" charset="0"/>
              </a:rPr>
            </a:br>
            <a:endParaRPr lang="en-IN" sz="2800" dirty="0">
              <a:latin typeface="Georgia" panose="02040502050405020303" pitchFamily="18" charset="0"/>
            </a:endParaRPr>
          </a:p>
        </p:txBody>
      </p:sp>
      <p:sp>
        <p:nvSpPr>
          <p:cNvPr id="5" name="Footer Placeholder 4">
            <a:extLst>
              <a:ext uri="{FF2B5EF4-FFF2-40B4-BE49-F238E27FC236}">
                <a16:creationId xmlns:a16="http://schemas.microsoft.com/office/drawing/2014/main" xmlns="" id="{F1040086-9969-C241-AB60-108D142D9E10}"/>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xmlns="" id="{1EF65707-3814-3027-565A-48A3BE9C3CE3}"/>
              </a:ext>
            </a:extLst>
          </p:cNvPr>
          <p:cNvSpPr>
            <a:spLocks noGrp="1"/>
          </p:cNvSpPr>
          <p:nvPr>
            <p:ph type="sldNum" sz="quarter" idx="12"/>
          </p:nvPr>
        </p:nvSpPr>
        <p:spPr/>
        <p:txBody>
          <a:bodyPr/>
          <a:lstStyle/>
          <a:p>
            <a:fld id="{26510230-8DD5-4BA5-AB2D-CA30FC08F9D7}" type="slidenum">
              <a:rPr lang="en-IN" smtClean="0"/>
              <a:pPr/>
              <a:t>33</a:t>
            </a:fld>
            <a:endParaRPr lang="en-IN"/>
          </a:p>
        </p:txBody>
      </p:sp>
      <p:pic>
        <p:nvPicPr>
          <p:cNvPr id="7" name="Picture 6" descr="A blue circle with text and words&#10;&#10;Description automatically generated">
            <a:extLst>
              <a:ext uri="{FF2B5EF4-FFF2-40B4-BE49-F238E27FC236}">
                <a16:creationId xmlns:a16="http://schemas.microsoft.com/office/drawing/2014/main" xmlns="" id="{C592EB9A-7F96-10B0-43BD-B1F95C6FBE36}"/>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0758566" y="176754"/>
            <a:ext cx="874732" cy="874732"/>
          </a:xfrm>
          <a:prstGeom prst="rect">
            <a:avLst/>
          </a:prstGeom>
        </p:spPr>
      </p:pic>
      <p:pic>
        <p:nvPicPr>
          <p:cNvPr id="3" name="Picture 2">
            <a:extLst>
              <a:ext uri="{FF2B5EF4-FFF2-40B4-BE49-F238E27FC236}">
                <a16:creationId xmlns:a16="http://schemas.microsoft.com/office/drawing/2014/main" xmlns="" id="{A01523D9-5DDB-3527-A0E3-5779C8EBF3EC}"/>
              </a:ext>
            </a:extLst>
          </p:cNvPr>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104932" y="114202"/>
            <a:ext cx="3795634" cy="740238"/>
          </a:xfrm>
          <a:prstGeom prst="rect">
            <a:avLst/>
          </a:prstGeom>
        </p:spPr>
      </p:pic>
      <p:sp>
        <p:nvSpPr>
          <p:cNvPr id="4" name="TextBox 3">
            <a:extLst>
              <a:ext uri="{FF2B5EF4-FFF2-40B4-BE49-F238E27FC236}">
                <a16:creationId xmlns:a16="http://schemas.microsoft.com/office/drawing/2014/main" xmlns="" id="{34CF97FE-1AC9-C787-9CA5-7CE1957D911B}"/>
              </a:ext>
            </a:extLst>
          </p:cNvPr>
          <p:cNvSpPr txBox="1"/>
          <p:nvPr/>
        </p:nvSpPr>
        <p:spPr>
          <a:xfrm>
            <a:off x="4186316" y="3462227"/>
            <a:ext cx="4600497" cy="646331"/>
          </a:xfrm>
          <a:prstGeom prst="rect">
            <a:avLst/>
          </a:prstGeom>
          <a:noFill/>
        </p:spPr>
        <p:txBody>
          <a:bodyPr wrap="square" rtlCol="0">
            <a:spAutoFit/>
          </a:bodyPr>
          <a:lstStyle/>
          <a:p>
            <a:pPr algn="l"/>
            <a:r>
              <a:rPr lang="en-US" sz="3600" b="1" dirty="0"/>
              <a:t>Ask your doubts </a:t>
            </a:r>
          </a:p>
        </p:txBody>
      </p:sp>
    </p:spTree>
    <p:extLst>
      <p:ext uri="{BB962C8B-B14F-4D97-AF65-F5344CB8AC3E}">
        <p14:creationId xmlns:p14="http://schemas.microsoft.com/office/powerpoint/2010/main" xmlns="" val="3982718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BDE995B-751B-0A32-5A21-E7C3B8B54B6B}"/>
              </a:ext>
            </a:extLst>
          </p:cNvPr>
          <p:cNvSpPr>
            <a:spLocks noGrp="1"/>
          </p:cNvSpPr>
          <p:nvPr>
            <p:ph type="title"/>
          </p:nvPr>
        </p:nvSpPr>
        <p:spPr>
          <a:xfrm>
            <a:off x="683655" y="1213803"/>
            <a:ext cx="9818849" cy="1588957"/>
          </a:xfrm>
        </p:spPr>
        <p:txBody>
          <a:bodyPr>
            <a:noAutofit/>
          </a:bodyPr>
          <a:lstStyle/>
          <a:p>
            <a:r>
              <a:rPr lang="en-IN" sz="5400" dirty="0">
                <a:latin typeface="Georgia" panose="02040502050405020303" pitchFamily="18" charset="0"/>
              </a:rPr>
              <a:t>Information about the next lesson</a:t>
            </a:r>
            <a:endParaRPr lang="en-IN" sz="2000" dirty="0">
              <a:latin typeface="Georgia" panose="02040502050405020303" pitchFamily="18" charset="0"/>
            </a:endParaRPr>
          </a:p>
        </p:txBody>
      </p:sp>
      <p:sp>
        <p:nvSpPr>
          <p:cNvPr id="5" name="Footer Placeholder 4">
            <a:extLst>
              <a:ext uri="{FF2B5EF4-FFF2-40B4-BE49-F238E27FC236}">
                <a16:creationId xmlns:a16="http://schemas.microsoft.com/office/drawing/2014/main" xmlns="" id="{F1040086-9969-C241-AB60-108D142D9E10}"/>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xmlns="" id="{1EF65707-3814-3027-565A-48A3BE9C3CE3}"/>
              </a:ext>
            </a:extLst>
          </p:cNvPr>
          <p:cNvSpPr>
            <a:spLocks noGrp="1"/>
          </p:cNvSpPr>
          <p:nvPr>
            <p:ph type="sldNum" sz="quarter" idx="12"/>
          </p:nvPr>
        </p:nvSpPr>
        <p:spPr/>
        <p:txBody>
          <a:bodyPr/>
          <a:lstStyle/>
          <a:p>
            <a:fld id="{26510230-8DD5-4BA5-AB2D-CA30FC08F9D7}" type="slidenum">
              <a:rPr lang="en-IN" smtClean="0"/>
              <a:pPr/>
              <a:t>34</a:t>
            </a:fld>
            <a:endParaRPr lang="en-IN"/>
          </a:p>
        </p:txBody>
      </p:sp>
      <p:pic>
        <p:nvPicPr>
          <p:cNvPr id="7" name="Picture 6" descr="A blue circle with text and words&#10;&#10;Description automatically generated">
            <a:extLst>
              <a:ext uri="{FF2B5EF4-FFF2-40B4-BE49-F238E27FC236}">
                <a16:creationId xmlns:a16="http://schemas.microsoft.com/office/drawing/2014/main" xmlns="" id="{C592EB9A-7F96-10B0-43BD-B1F95C6FBE36}"/>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0758566" y="176754"/>
            <a:ext cx="874732" cy="874732"/>
          </a:xfrm>
          <a:prstGeom prst="rect">
            <a:avLst/>
          </a:prstGeom>
        </p:spPr>
      </p:pic>
      <p:pic>
        <p:nvPicPr>
          <p:cNvPr id="3" name="Picture 2">
            <a:extLst>
              <a:ext uri="{FF2B5EF4-FFF2-40B4-BE49-F238E27FC236}">
                <a16:creationId xmlns:a16="http://schemas.microsoft.com/office/drawing/2014/main" xmlns="" id="{5D834257-EC96-D536-3BBD-72E7CFA642C8}"/>
              </a:ext>
            </a:extLst>
          </p:cNvPr>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104932" y="114202"/>
            <a:ext cx="3795634" cy="740238"/>
          </a:xfrm>
          <a:prstGeom prst="rect">
            <a:avLst/>
          </a:prstGeom>
        </p:spPr>
      </p:pic>
      <p:sp>
        <p:nvSpPr>
          <p:cNvPr id="4" name="TextBox 3">
            <a:extLst>
              <a:ext uri="{FF2B5EF4-FFF2-40B4-BE49-F238E27FC236}">
                <a16:creationId xmlns:a16="http://schemas.microsoft.com/office/drawing/2014/main" xmlns="" id="{8C15AA61-6A71-07DA-F2B0-05EA3F3AF0A4}"/>
              </a:ext>
            </a:extLst>
          </p:cNvPr>
          <p:cNvSpPr txBox="1"/>
          <p:nvPr/>
        </p:nvSpPr>
        <p:spPr>
          <a:xfrm>
            <a:off x="5181600" y="2514600"/>
            <a:ext cx="1828800" cy="1828800"/>
          </a:xfrm>
          <a:prstGeom prst="rect">
            <a:avLst/>
          </a:prstGeom>
          <a:noFill/>
        </p:spPr>
        <p:txBody>
          <a:bodyPr wrap="square" rtlCol="0">
            <a:spAutoFit/>
          </a:bodyPr>
          <a:lstStyle/>
          <a:p>
            <a:pPr algn="l"/>
            <a:endParaRPr lang="en-US" dirty="0"/>
          </a:p>
        </p:txBody>
      </p:sp>
      <p:sp>
        <p:nvSpPr>
          <p:cNvPr id="8" name="TextBox 7">
            <a:extLst>
              <a:ext uri="{FF2B5EF4-FFF2-40B4-BE49-F238E27FC236}">
                <a16:creationId xmlns:a16="http://schemas.microsoft.com/office/drawing/2014/main" xmlns="" id="{4B27C0F6-8D45-8D2E-763C-2A7ACA44C2E0}"/>
              </a:ext>
            </a:extLst>
          </p:cNvPr>
          <p:cNvSpPr txBox="1"/>
          <p:nvPr/>
        </p:nvSpPr>
        <p:spPr>
          <a:xfrm>
            <a:off x="2456259" y="3884810"/>
            <a:ext cx="8155781" cy="584775"/>
          </a:xfrm>
          <a:prstGeom prst="rect">
            <a:avLst/>
          </a:prstGeom>
          <a:noFill/>
        </p:spPr>
        <p:txBody>
          <a:bodyPr wrap="square" rtlCol="0">
            <a:spAutoFit/>
          </a:bodyPr>
          <a:lstStyle/>
          <a:p>
            <a:pPr algn="l"/>
            <a:r>
              <a:rPr lang="en-US" sz="3200" dirty="0"/>
              <a:t>Analysis Framework and Empirical Analysis</a:t>
            </a:r>
          </a:p>
        </p:txBody>
      </p:sp>
    </p:spTree>
    <p:extLst>
      <p:ext uri="{BB962C8B-B14F-4D97-AF65-F5344CB8AC3E}">
        <p14:creationId xmlns:p14="http://schemas.microsoft.com/office/powerpoint/2010/main" xmlns="" val="5042243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F6F593-41A2-5797-581D-24AD95F1C7D0}"/>
              </a:ext>
            </a:extLst>
          </p:cNvPr>
          <p:cNvSpPr>
            <a:spLocks noGrp="1"/>
          </p:cNvSpPr>
          <p:nvPr>
            <p:ph type="title"/>
          </p:nvPr>
        </p:nvSpPr>
        <p:spPr>
          <a:xfrm>
            <a:off x="554910" y="1237863"/>
            <a:ext cx="5029122" cy="740238"/>
          </a:xfrm>
        </p:spPr>
        <p:txBody>
          <a:bodyPr vert="horz" lIns="91440" tIns="45720" rIns="91440" bIns="45720" rtlCol="0" anchor="t">
            <a:normAutofit fontScale="90000"/>
          </a:bodyPr>
          <a:lstStyle/>
          <a:p>
            <a:pPr algn="ctr"/>
            <a:r>
              <a:rPr lang="en-US" sz="4000" b="1" kern="1200" dirty="0">
                <a:solidFill>
                  <a:schemeClr val="tx2"/>
                </a:solidFill>
                <a:latin typeface="+mj-lt"/>
                <a:ea typeface="+mj-ea"/>
                <a:cs typeface="+mj-cs"/>
              </a:rPr>
              <a:t>Review and Reflection from students</a:t>
            </a:r>
          </a:p>
        </p:txBody>
      </p:sp>
      <p:sp>
        <p:nvSpPr>
          <p:cNvPr id="5" name="Footer Placeholder 4">
            <a:extLst>
              <a:ext uri="{FF2B5EF4-FFF2-40B4-BE49-F238E27FC236}">
                <a16:creationId xmlns:a16="http://schemas.microsoft.com/office/drawing/2014/main" xmlns="" id="{58FB49D5-5A14-2BEC-3499-D6864FF742DC}"/>
              </a:ext>
            </a:extLst>
          </p:cNvPr>
          <p:cNvSpPr>
            <a:spLocks noGrp="1"/>
          </p:cNvSpPr>
          <p:nvPr>
            <p:ph type="ftr" sz="quarter" idx="11"/>
          </p:nvPr>
        </p:nvSpPr>
        <p:spPr/>
        <p:txBody>
          <a:bodyPr/>
          <a:lstStyle/>
          <a:p>
            <a:r>
              <a:rPr lang="en-IN"/>
              <a:t>Galgotias University</a:t>
            </a:r>
          </a:p>
        </p:txBody>
      </p:sp>
      <p:sp>
        <p:nvSpPr>
          <p:cNvPr id="7" name="Slide Number Placeholder 6">
            <a:extLst>
              <a:ext uri="{FF2B5EF4-FFF2-40B4-BE49-F238E27FC236}">
                <a16:creationId xmlns:a16="http://schemas.microsoft.com/office/drawing/2014/main" xmlns="" id="{B506AAFE-4113-97E4-34C4-18F6BEDEAE3B}"/>
              </a:ext>
            </a:extLst>
          </p:cNvPr>
          <p:cNvSpPr>
            <a:spLocks noGrp="1"/>
          </p:cNvSpPr>
          <p:nvPr>
            <p:ph type="sldNum" sz="quarter" idx="12"/>
          </p:nvPr>
        </p:nvSpPr>
        <p:spPr/>
        <p:txBody>
          <a:bodyPr/>
          <a:lstStyle/>
          <a:p>
            <a:fld id="{26510230-8DD5-4BA5-AB2D-CA30FC08F9D7}" type="slidenum">
              <a:rPr lang="en-IN" smtClean="0"/>
              <a:pPr/>
              <a:t>35</a:t>
            </a:fld>
            <a:endParaRPr lang="en-IN"/>
          </a:p>
        </p:txBody>
      </p:sp>
      <p:pic>
        <p:nvPicPr>
          <p:cNvPr id="8" name="Picture 7" descr="A blue circle with text and words&#10;&#10;Description automatically generated">
            <a:extLst>
              <a:ext uri="{FF2B5EF4-FFF2-40B4-BE49-F238E27FC236}">
                <a16:creationId xmlns:a16="http://schemas.microsoft.com/office/drawing/2014/main" xmlns="" id="{2D872DDF-4447-626A-EA2D-F25500CB53BE}"/>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0758566" y="176754"/>
            <a:ext cx="874732" cy="874732"/>
          </a:xfrm>
          <a:prstGeom prst="rect">
            <a:avLst/>
          </a:prstGeom>
        </p:spPr>
      </p:pic>
      <p:pic>
        <p:nvPicPr>
          <p:cNvPr id="3" name="Picture 2">
            <a:extLst>
              <a:ext uri="{FF2B5EF4-FFF2-40B4-BE49-F238E27FC236}">
                <a16:creationId xmlns:a16="http://schemas.microsoft.com/office/drawing/2014/main" xmlns="" id="{BDEA843D-98A8-0F4E-0617-582CE9651D10}"/>
              </a:ext>
            </a:extLst>
          </p:cNvPr>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104932" y="114202"/>
            <a:ext cx="3795634" cy="740238"/>
          </a:xfrm>
          <a:prstGeom prst="rect">
            <a:avLst/>
          </a:prstGeom>
        </p:spPr>
      </p:pic>
      <p:pic>
        <p:nvPicPr>
          <p:cNvPr id="11" name="Picture 10">
            <a:extLst>
              <a:ext uri="{FF2B5EF4-FFF2-40B4-BE49-F238E27FC236}">
                <a16:creationId xmlns:a16="http://schemas.microsoft.com/office/drawing/2014/main" xmlns="" id="{0504D031-5546-981F-3883-19CA3D93C9CB}"/>
              </a:ext>
            </a:extLst>
          </p:cNvPr>
          <p:cNvPicPr>
            <a:picLocks noChangeAspect="1"/>
          </p:cNvPicPr>
          <p:nvPr/>
        </p:nvPicPr>
        <p:blipFill>
          <a:blip r:embed="rId4">
            <a:extLst>
              <a:ext uri="{28A0092B-C50C-407E-A947-70E740481C1C}">
                <a14:useLocalDpi xmlns:a14="http://schemas.microsoft.com/office/drawing/2010/main" xmlns="" val="0"/>
              </a:ext>
            </a:extLst>
          </a:blip>
          <a:stretch>
            <a:fillRect/>
          </a:stretch>
        </p:blipFill>
        <p:spPr>
          <a:xfrm>
            <a:off x="7835873" y="2145471"/>
            <a:ext cx="3110028" cy="3116893"/>
          </a:xfrm>
          <a:prstGeom prst="rect">
            <a:avLst/>
          </a:prstGeom>
        </p:spPr>
      </p:pic>
      <p:sp>
        <p:nvSpPr>
          <p:cNvPr id="12" name="TextBox 11">
            <a:extLst>
              <a:ext uri="{FF2B5EF4-FFF2-40B4-BE49-F238E27FC236}">
                <a16:creationId xmlns:a16="http://schemas.microsoft.com/office/drawing/2014/main" xmlns="" id="{B6C26B75-8894-08D4-F382-88861336424C}"/>
              </a:ext>
            </a:extLst>
          </p:cNvPr>
          <p:cNvSpPr txBox="1"/>
          <p:nvPr/>
        </p:nvSpPr>
        <p:spPr>
          <a:xfrm>
            <a:off x="776735" y="3239457"/>
            <a:ext cx="7309169" cy="830997"/>
          </a:xfrm>
          <a:prstGeom prst="rect">
            <a:avLst/>
          </a:prstGeom>
          <a:noFill/>
        </p:spPr>
        <p:txBody>
          <a:bodyPr wrap="square" rtlCol="0">
            <a:spAutoFit/>
          </a:bodyPr>
          <a:lstStyle/>
          <a:p>
            <a:pPr algn="l"/>
            <a:r>
              <a:rPr lang="en-US" sz="2400" dirty="0"/>
              <a:t>Provide your feedback on analysis of algorithms </a:t>
            </a:r>
            <a:r>
              <a:rPr lang="en-US" sz="2400" dirty="0" err="1"/>
              <a:t>effeciency</a:t>
            </a:r>
            <a:r>
              <a:rPr lang="en-US" sz="2400" dirty="0"/>
              <a:t> session.</a:t>
            </a:r>
          </a:p>
        </p:txBody>
      </p:sp>
    </p:spTree>
    <p:extLst>
      <p:ext uri="{BB962C8B-B14F-4D97-AF65-F5344CB8AC3E}">
        <p14:creationId xmlns:p14="http://schemas.microsoft.com/office/powerpoint/2010/main" xmlns="" val="5716389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xmlns=""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xmlns=""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1965</TotalTime>
  <Words>1241</Words>
  <Application>Microsoft Office PowerPoint</Application>
  <PresentationFormat>Custom</PresentationFormat>
  <Paragraphs>242</Paragraphs>
  <Slides>35</Slides>
  <Notes>13</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35</vt:i4>
      </vt:variant>
    </vt:vector>
  </HeadingPairs>
  <TitlesOfParts>
    <vt:vector size="37" baseType="lpstr">
      <vt:lpstr>Office Theme</vt:lpstr>
      <vt:lpstr>Microsoft Equation 3.0</vt:lpstr>
      <vt:lpstr>Analysis of algorithmic efficiency: Asymptotic notations and their properties   Session No.: 3 Course Name: Design and analysis of algorithms Course Code: R1UC302B Instructor Name: Rakesh Bharati Duration: 40 min Date of Conduction of Class:   </vt:lpstr>
      <vt:lpstr>RECAP:  An algorithm is a sequence of unambiguous instructions for solving a problem, i.e., for obtaining a required output for any legitimate input in a finite amount of time.  </vt:lpstr>
      <vt:lpstr>  </vt:lpstr>
      <vt:lpstr>Ask Questions </vt:lpstr>
      <vt:lpstr>At the end of this session students will be able to </vt:lpstr>
      <vt:lpstr>Session Outline</vt:lpstr>
      <vt:lpstr>Introduction to algorithmic analysis </vt:lpstr>
      <vt:lpstr>Time Complexity </vt:lpstr>
      <vt:lpstr>Concept and Definition for  Learning Activity 1 Asymptotic Notations</vt:lpstr>
      <vt:lpstr>Big-O Notation (O-notation):</vt:lpstr>
      <vt:lpstr>Slide 11</vt:lpstr>
      <vt:lpstr>Slide 12</vt:lpstr>
      <vt:lpstr>Slide 13</vt:lpstr>
      <vt:lpstr>Slide 14</vt:lpstr>
      <vt:lpstr>Omega Notation (Ω-Notation):</vt:lpstr>
      <vt:lpstr>Slide 16</vt:lpstr>
      <vt:lpstr>Slide 17</vt:lpstr>
      <vt:lpstr>Slide 18</vt:lpstr>
      <vt:lpstr>Theta Notation (Θ-Notation):</vt:lpstr>
      <vt:lpstr>Slide 20</vt:lpstr>
      <vt:lpstr>Slide 21</vt:lpstr>
      <vt:lpstr>Slide 22</vt:lpstr>
      <vt:lpstr>Slide 23</vt:lpstr>
      <vt:lpstr>o-notation:</vt:lpstr>
      <vt:lpstr>w -notation</vt:lpstr>
      <vt:lpstr>Slide 26</vt:lpstr>
      <vt:lpstr>Learning Activity 2</vt:lpstr>
      <vt:lpstr>Reflection- Learning Activity 2</vt:lpstr>
      <vt:lpstr>Properties of Asymptotic Notations: </vt:lpstr>
      <vt:lpstr>Properties of Asymptotic Notations: </vt:lpstr>
      <vt:lpstr>Problem Solving and Hands-On Practice</vt:lpstr>
      <vt:lpstr>Summary</vt:lpstr>
      <vt:lpstr>Discussion on the post session activities  </vt:lpstr>
      <vt:lpstr>Information about the next lesson</vt:lpstr>
      <vt:lpstr>Review and Reflection from students</vt:lpstr>
    </vt:vector>
  </TitlesOfParts>
  <Company>Hewlett-Packard Company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Session Title    Session No.: Course Name:  Course Code: Instructor Name: Duration: Date of Conduction of Class:  </dc:title>
  <dc:creator>Deepak Gupta</dc:creator>
  <cp:lastModifiedBy>lenovo</cp:lastModifiedBy>
  <cp:revision>67</cp:revision>
  <dcterms:created xsi:type="dcterms:W3CDTF">2024-08-22T06:33:55Z</dcterms:created>
  <dcterms:modified xsi:type="dcterms:W3CDTF">2025-03-20T04:54:16Z</dcterms:modified>
</cp:coreProperties>
</file>