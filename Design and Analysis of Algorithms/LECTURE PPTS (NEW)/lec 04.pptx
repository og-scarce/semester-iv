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embeddedFontLst>
    <p:embeddedFont>
      <p:font typeface="Cambria" panose="02040503050406030204" pitchFamily="18" charset="0"/>
      <p:regular r:id="rId29"/>
      <p:bold r:id="rId30"/>
      <p:italic r:id="rId31"/>
      <p:boldItalic r:id="rId32"/>
    </p:embeddedFont>
    <p:embeddedFont>
      <p:font typeface="Georgia" panose="02040502050405020303" pitchFamily="18" charset="0"/>
      <p:regular r:id="rId33"/>
      <p:bold r:id="rId34"/>
      <p:italic r:id="rId35"/>
      <p:boldItalic r:id="rId36"/>
    </p:embeddedFont>
    <p:embeddedFont>
      <p:font typeface="Play"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gZQrJzbcp2IN6JAcNjZ0g1hf0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6"/>
          <p:cNvSpPr>
            <a:spLocks noGrp="1"/>
          </p:cNvSpPr>
          <p:nvPr>
            <p:ph type="pic" idx="2"/>
          </p:nvPr>
        </p:nvSpPr>
        <p:spPr>
          <a:xfrm>
            <a:off x="5183188" y="987425"/>
            <a:ext cx="6172200" cy="4873625"/>
          </a:xfrm>
          <a:prstGeom prst="rect">
            <a:avLst/>
          </a:prstGeom>
          <a:noFill/>
          <a:ln>
            <a:noFill/>
          </a:ln>
        </p:spPr>
      </p:sp>
      <p:sp>
        <p:nvSpPr>
          <p:cNvPr id="68" name="Google Shape;68;p3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image" Target="../media/image1.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2.jp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flipH="1">
            <a:off x="1010329" y="854441"/>
            <a:ext cx="10343469" cy="2848880"/>
          </a:xfrm>
          <a:prstGeom prst="rect">
            <a:avLst/>
          </a:prstGeom>
          <a:noFill/>
          <a:ln>
            <a:noFill/>
          </a:ln>
        </p:spPr>
        <p:txBody>
          <a:bodyPr spcFirstLastPara="1" wrap="square" lIns="91425" tIns="45700" rIns="91425" bIns="45700" anchor="b" anchorCtr="0">
            <a:normAutofit/>
          </a:bodyPr>
          <a:lstStyle/>
          <a:p>
            <a:pPr marL="0" lvl="0" indent="0" rtl="0">
              <a:lnSpc>
                <a:spcPct val="90000"/>
              </a:lnSpc>
              <a:spcBef>
                <a:spcPts val="0"/>
              </a:spcBef>
              <a:spcAft>
                <a:spcPts val="0"/>
              </a:spcAft>
              <a:buClr>
                <a:schemeClr val="dk1"/>
              </a:buClr>
              <a:buSzPct val="100000"/>
              <a:buFont typeface="Georgia"/>
              <a:buNone/>
            </a:pPr>
            <a:r>
              <a:rPr lang="en-US" sz="5400" b="1" dirty="0">
                <a:latin typeface="Georgia"/>
                <a:ea typeface="Georgia"/>
                <a:cs typeface="Georgia"/>
                <a:sym typeface="Georgia"/>
              </a:rPr>
              <a:t>Analysis of algorithmic efficiency: </a:t>
            </a:r>
            <a:r>
              <a:rPr lang="en-US" sz="4000" b="1" dirty="0">
                <a:latin typeface="Georgia"/>
                <a:ea typeface="Georgia"/>
                <a:cs typeface="Georgia"/>
                <a:sym typeface="Georgia"/>
              </a:rPr>
              <a:t>Asymptotic notations and their properties</a:t>
            </a:r>
            <a:br>
              <a:rPr lang="en-US" sz="1800" b="1" dirty="0">
                <a:latin typeface="Georgia"/>
                <a:ea typeface="Georgia"/>
                <a:cs typeface="Georgia"/>
                <a:sym typeface="Georgia"/>
              </a:rPr>
            </a:br>
            <a:endParaRPr sz="4800" b="1" dirty="0">
              <a:latin typeface="Georgia"/>
              <a:ea typeface="Georgia"/>
              <a:cs typeface="Georgia"/>
              <a:sym typeface="Georgia"/>
            </a:endParaRPr>
          </a:p>
        </p:txBody>
      </p:sp>
      <p:sp>
        <p:nvSpPr>
          <p:cNvPr id="89" name="Google Shape;8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90" name="Google Shape;9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91" name="Google Shape;91;p1" descr="A blue circle with text and words&#10;&#10;Description automatically generated"/>
          <p:cNvPicPr preferRelativeResize="0"/>
          <p:nvPr/>
        </p:nvPicPr>
        <p:blipFill rotWithShape="1">
          <a:blip r:embed="rId3">
            <a:alphaModFix/>
          </a:blip>
          <a:srcRect/>
          <a:stretch/>
        </p:blipFill>
        <p:spPr>
          <a:xfrm>
            <a:off x="10758565" y="176753"/>
            <a:ext cx="1190469" cy="1190469"/>
          </a:xfrm>
          <a:prstGeom prst="rect">
            <a:avLst/>
          </a:prstGeom>
          <a:noFill/>
          <a:ln>
            <a:noFill/>
          </a:ln>
        </p:spPr>
      </p:pic>
      <p:pic>
        <p:nvPicPr>
          <p:cNvPr id="92" name="Google Shape;92;p1"/>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 name="TextBox 2">
            <a:extLst>
              <a:ext uri="{FF2B5EF4-FFF2-40B4-BE49-F238E27FC236}">
                <a16:creationId xmlns:a16="http://schemas.microsoft.com/office/drawing/2014/main" id="{D5F0BD6C-9129-724D-24D3-A41B95D59106}"/>
              </a:ext>
            </a:extLst>
          </p:cNvPr>
          <p:cNvSpPr txBox="1"/>
          <p:nvPr/>
        </p:nvSpPr>
        <p:spPr>
          <a:xfrm>
            <a:off x="1200150" y="4000381"/>
            <a:ext cx="6094476" cy="1600438"/>
          </a:xfrm>
          <a:prstGeom prst="rect">
            <a:avLst/>
          </a:prstGeom>
          <a:noFill/>
        </p:spPr>
        <p:txBody>
          <a:bodyPr wrap="square">
            <a:spAutoFit/>
          </a:bodyPr>
          <a:lstStyle/>
          <a:p>
            <a:r>
              <a:rPr lang="en-US" sz="1400" b="1" dirty="0">
                <a:latin typeface="Georgia"/>
                <a:ea typeface="Georgia"/>
                <a:cs typeface="Georgia"/>
                <a:sym typeface="Georgia"/>
              </a:rPr>
              <a:t>Session No.: 4</a:t>
            </a:r>
            <a:br>
              <a:rPr lang="en-US" sz="1400" b="1" dirty="0">
                <a:latin typeface="Georgia"/>
                <a:ea typeface="Georgia"/>
                <a:cs typeface="Georgia"/>
                <a:sym typeface="Georgia"/>
              </a:rPr>
            </a:br>
            <a:r>
              <a:rPr lang="en-US" sz="1400" b="1" dirty="0">
                <a:latin typeface="Georgia"/>
                <a:ea typeface="Georgia"/>
                <a:cs typeface="Georgia"/>
                <a:sym typeface="Georgia"/>
              </a:rPr>
              <a:t>Course Name: Design and analysis of algorithms</a:t>
            </a:r>
            <a:br>
              <a:rPr lang="en-US" sz="1400" b="1" dirty="0">
                <a:latin typeface="Georgia"/>
                <a:ea typeface="Georgia"/>
                <a:cs typeface="Georgia"/>
                <a:sym typeface="Georgia"/>
              </a:rPr>
            </a:br>
            <a:r>
              <a:rPr lang="en-US" sz="1400" b="1" dirty="0">
                <a:latin typeface="Georgia"/>
                <a:ea typeface="Georgia"/>
                <a:cs typeface="Georgia"/>
                <a:sym typeface="Georgia"/>
              </a:rPr>
              <a:t>Course Code: R1UC302B</a:t>
            </a:r>
            <a:br>
              <a:rPr lang="en-US" sz="1400" b="1" dirty="0">
                <a:latin typeface="Georgia"/>
                <a:ea typeface="Georgia"/>
                <a:cs typeface="Georgia"/>
                <a:sym typeface="Georgia"/>
              </a:rPr>
            </a:br>
            <a:r>
              <a:rPr lang="en-US" sz="1400" b="1" dirty="0">
                <a:latin typeface="Georgia"/>
                <a:ea typeface="Georgia"/>
                <a:cs typeface="Georgia"/>
                <a:sym typeface="Georgia"/>
              </a:rPr>
              <a:t>Instructor Name: </a:t>
            </a:r>
            <a:r>
              <a:rPr lang="en-US" b="1" dirty="0">
                <a:latin typeface="Georgia"/>
                <a:ea typeface="Georgia"/>
                <a:cs typeface="Georgia"/>
                <a:sym typeface="Georgia"/>
              </a:rPr>
              <a:t>Rakesh Bharati</a:t>
            </a:r>
            <a:br>
              <a:rPr lang="en-US" sz="1400" b="1" dirty="0">
                <a:latin typeface="Georgia"/>
                <a:ea typeface="Georgia"/>
                <a:cs typeface="Georgia"/>
                <a:sym typeface="Georgia"/>
              </a:rPr>
            </a:br>
            <a:r>
              <a:rPr lang="en-US" sz="1400" b="1" dirty="0">
                <a:latin typeface="Georgia"/>
                <a:ea typeface="Georgia"/>
                <a:cs typeface="Georgia"/>
                <a:sym typeface="Georgia"/>
              </a:rPr>
              <a:t>Duration: 50 min</a:t>
            </a:r>
            <a:br>
              <a:rPr lang="en-US" sz="1400" b="1" dirty="0">
                <a:latin typeface="Georgia"/>
                <a:ea typeface="Georgia"/>
                <a:cs typeface="Georgia"/>
                <a:sym typeface="Georgia"/>
              </a:rPr>
            </a:br>
            <a:r>
              <a:rPr lang="en-US" sz="1400" b="1" dirty="0">
                <a:latin typeface="Georgia"/>
                <a:ea typeface="Georgia"/>
                <a:cs typeface="Georgia"/>
                <a:sym typeface="Georgia"/>
              </a:rPr>
              <a:t>Date of Conduction of Class: 28/02/2025</a:t>
            </a:r>
            <a:br>
              <a:rPr lang="en-US" sz="1400" b="1" dirty="0">
                <a:latin typeface="Georgia"/>
                <a:ea typeface="Georgia"/>
                <a:cs typeface="Georgia"/>
                <a:sym typeface="Georgia"/>
              </a:rPr>
            </a:b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99" name="Google Shape;99;p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00" name="Google Shape;100;p2"/>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01" name="Google Shape;101;p2"/>
          <p:cNvSpPr txBox="1">
            <a:spLocks noGrp="1"/>
          </p:cNvSpPr>
          <p:nvPr>
            <p:ph type="title"/>
          </p:nvPr>
        </p:nvSpPr>
        <p:spPr>
          <a:xfrm>
            <a:off x="1117698" y="1928374"/>
            <a:ext cx="10515600" cy="3488970"/>
          </a:xfrm>
          <a:prstGeom prst="rect">
            <a:avLst/>
          </a:prstGeom>
          <a:noFill/>
          <a:ln>
            <a:noFill/>
          </a:ln>
        </p:spPr>
        <p:txBody>
          <a:bodyPr spcFirstLastPara="1" wrap="square" lIns="91425" tIns="45700" rIns="91425" bIns="45700" anchor="ctr" anchorCtr="0">
            <a:normAutofit fontScale="90000"/>
          </a:bodyPr>
          <a:lstStyle/>
          <a:p>
            <a:pPr marL="0" lvl="0" indent="0" algn="just" rtl="0">
              <a:lnSpc>
                <a:spcPct val="90000"/>
              </a:lnSpc>
              <a:spcBef>
                <a:spcPts val="0"/>
              </a:spcBef>
              <a:spcAft>
                <a:spcPts val="0"/>
              </a:spcAft>
              <a:buClr>
                <a:schemeClr val="dk1"/>
              </a:buClr>
              <a:buSzPct val="100000"/>
              <a:buFont typeface="Play"/>
              <a:buNone/>
            </a:pPr>
            <a:r>
              <a:rPr lang="en-US" dirty="0"/>
              <a:t>RECAP:</a:t>
            </a:r>
            <a:br>
              <a:rPr lang="en-US" dirty="0"/>
            </a:br>
            <a:br>
              <a:rPr lang="en-US" dirty="0"/>
            </a:br>
            <a:r>
              <a:rPr lang="en-US" dirty="0"/>
              <a:t>An algorithm is a sequence of unambiguous instructions for solving a problem, i.e., for obtaining a required output for any legitimate input in a finite amount of time.</a:t>
            </a:r>
            <a:br>
              <a:rPr lang="en-US" dirty="0"/>
            </a:br>
            <a:br>
              <a:rPr lang="en-US"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728011" y="854440"/>
            <a:ext cx="10168589" cy="308891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Arial"/>
              <a:buNone/>
            </a:pPr>
            <a:r>
              <a:rPr lang="en-US" sz="6600">
                <a:latin typeface="Arial"/>
                <a:ea typeface="Arial"/>
                <a:cs typeface="Arial"/>
                <a:sym typeface="Arial"/>
              </a:rPr>
              <a:t> </a:t>
            </a:r>
            <a:br>
              <a:rPr lang="en-US"/>
            </a:br>
            <a:endParaRPr>
              <a:latin typeface="Cambria"/>
              <a:ea typeface="Cambria"/>
              <a:cs typeface="Cambria"/>
              <a:sym typeface="Cambria"/>
            </a:endParaRPr>
          </a:p>
        </p:txBody>
      </p:sp>
      <p:sp>
        <p:nvSpPr>
          <p:cNvPr id="107" name="Google Shape;107;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08" name="Google Shape;108;p3"/>
          <p:cNvSpPr txBox="1">
            <a:spLocks noGrp="1"/>
          </p:cNvSpPr>
          <p:nvPr>
            <p:ph type="sldNum" idx="12"/>
          </p:nvPr>
        </p:nvSpPr>
        <p:spPr>
          <a:xfrm rot="256764">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09" name="Google Shape;109;p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10" name="Google Shape;110;p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11" name="Google Shape;111;p3"/>
          <p:cNvSpPr txBox="1"/>
          <p:nvPr/>
        </p:nvSpPr>
        <p:spPr>
          <a:xfrm flipH="1">
            <a:off x="2888160" y="2667275"/>
            <a:ext cx="6601120" cy="1200288"/>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lt1"/>
                </a:solidFill>
                <a:latin typeface="Arial"/>
                <a:ea typeface="Arial"/>
                <a:cs typeface="Arial"/>
                <a:sym typeface="Arial"/>
              </a:rPr>
              <a:t>A Small Activity </a:t>
            </a:r>
            <a:endParaRPr dirty="0"/>
          </a:p>
          <a:p>
            <a:pPr marL="0" marR="0" lvl="0" indent="0" algn="l" rtl="0">
              <a:spcBef>
                <a:spcPts val="0"/>
              </a:spcBef>
              <a:spcAft>
                <a:spcPts val="0"/>
              </a:spcAft>
              <a:buNone/>
            </a:pPr>
            <a:r>
              <a:rPr lang="en-US" sz="1800" b="1" i="0" u="none" strike="noStrike" cap="none" dirty="0">
                <a:solidFill>
                  <a:schemeClr val="lt1"/>
                </a:solidFill>
                <a:latin typeface="Arial"/>
                <a:ea typeface="Arial"/>
                <a:cs typeface="Arial"/>
                <a:sym typeface="Arial"/>
              </a:rPr>
              <a:t>G1: Write an algorithm to prepare a cup of tea</a:t>
            </a:r>
          </a:p>
          <a:p>
            <a:pPr marL="0" marR="0" lvl="0" indent="0" algn="l" rtl="0">
              <a:spcBef>
                <a:spcPts val="0"/>
              </a:spcBef>
              <a:spcAft>
                <a:spcPts val="0"/>
              </a:spcAft>
              <a:buNone/>
            </a:pPr>
            <a:r>
              <a:rPr lang="en-US" sz="1800" b="1" dirty="0">
                <a:solidFill>
                  <a:schemeClr val="lt1"/>
                </a:solidFill>
              </a:rPr>
              <a:t>G2: Write an algorithm to prepare chapatti </a:t>
            </a:r>
            <a:br>
              <a:rPr lang="en-US" sz="1800" b="1" i="0" u="none" strike="noStrike" cap="none" dirty="0">
                <a:solidFill>
                  <a:schemeClr val="lt1"/>
                </a:solidFill>
                <a:latin typeface="Arial"/>
                <a:ea typeface="Arial"/>
                <a:cs typeface="Arial"/>
                <a:sym typeface="Arial"/>
              </a:rPr>
            </a:br>
            <a:r>
              <a:rPr lang="en-US" sz="1800" b="1" i="0" u="none" strike="noStrike" cap="none" dirty="0">
                <a:solidFill>
                  <a:schemeClr val="lt1"/>
                </a:solidFill>
                <a:latin typeface="Arial"/>
                <a:ea typeface="Arial"/>
                <a:cs typeface="Arial"/>
                <a:sym typeface="Arial"/>
              </a:rPr>
              <a:t>G</a:t>
            </a:r>
            <a:r>
              <a:rPr lang="en-US" sz="1800" b="1" dirty="0">
                <a:solidFill>
                  <a:schemeClr val="lt1"/>
                </a:solidFill>
              </a:rPr>
              <a:t>3</a:t>
            </a:r>
            <a:r>
              <a:rPr lang="en-US" sz="1800" b="1" i="0" u="none" strike="noStrike" cap="none" dirty="0">
                <a:solidFill>
                  <a:schemeClr val="lt1"/>
                </a:solidFill>
                <a:latin typeface="Arial"/>
                <a:ea typeface="Arial"/>
                <a:cs typeface="Arial"/>
                <a:sym typeface="Arial"/>
              </a:rPr>
              <a:t>: Write an algorithm to </a:t>
            </a:r>
            <a:r>
              <a:rPr lang="en-US" sz="1800" b="1" dirty="0">
                <a:solidFill>
                  <a:schemeClr val="lt1"/>
                </a:solidFill>
              </a:rPr>
              <a:t>find the </a:t>
            </a:r>
            <a:r>
              <a:rPr lang="en-US" sz="1800" b="1" dirty="0" err="1">
                <a:solidFill>
                  <a:schemeClr val="lt1"/>
                </a:solidFill>
              </a:rPr>
              <a:t>gcd</a:t>
            </a:r>
            <a:r>
              <a:rPr lang="en-US" sz="1800" b="1" dirty="0">
                <a:solidFill>
                  <a:schemeClr val="lt1"/>
                </a:solidFill>
              </a:rPr>
              <a:t> of 2 numbers</a:t>
            </a:r>
            <a:endParaRPr dirty="0"/>
          </a:p>
        </p:txBody>
      </p:sp>
      <p:pic>
        <p:nvPicPr>
          <p:cNvPr id="112" name="Google Shape;112;p3"/>
          <p:cNvPicPr preferRelativeResize="0"/>
          <p:nvPr/>
        </p:nvPicPr>
        <p:blipFill rotWithShape="1">
          <a:blip r:embed="rId5">
            <a:alphaModFix/>
          </a:blip>
          <a:srcRect/>
          <a:stretch/>
        </p:blipFill>
        <p:spPr>
          <a:xfrm>
            <a:off x="375840" y="2509440"/>
            <a:ext cx="1839119" cy="1839119"/>
          </a:xfrm>
          <a:prstGeom prst="rect">
            <a:avLst/>
          </a:prstGeom>
          <a:noFill/>
          <a:ln>
            <a:noFill/>
          </a:ln>
        </p:spPr>
      </p:pic>
      <p:pic>
        <p:nvPicPr>
          <p:cNvPr id="113" name="Google Shape;113;p3"/>
          <p:cNvPicPr preferRelativeResize="0"/>
          <p:nvPr/>
        </p:nvPicPr>
        <p:blipFill rotWithShape="1">
          <a:blip r:embed="rId6">
            <a:alphaModFix/>
          </a:blip>
          <a:srcRect/>
          <a:stretch/>
        </p:blipFill>
        <p:spPr>
          <a:xfrm>
            <a:off x="4683919" y="3896519"/>
            <a:ext cx="2459831" cy="2459831"/>
          </a:xfrm>
          <a:prstGeom prst="rect">
            <a:avLst/>
          </a:prstGeom>
          <a:noFill/>
          <a:ln>
            <a:noFill/>
          </a:ln>
        </p:spPr>
      </p:pic>
      <p:pic>
        <p:nvPicPr>
          <p:cNvPr id="114" name="Google Shape;114;p3"/>
          <p:cNvPicPr preferRelativeResize="0"/>
          <p:nvPr/>
        </p:nvPicPr>
        <p:blipFill rotWithShape="1">
          <a:blip r:embed="rId7">
            <a:alphaModFix/>
          </a:blip>
          <a:srcRect/>
          <a:stretch/>
        </p:blipFill>
        <p:spPr>
          <a:xfrm flipH="1">
            <a:off x="9855754" y="3730491"/>
            <a:ext cx="1663925" cy="216310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4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418476" y="93274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Ask Questions </a:t>
            </a:r>
            <a:endParaRPr/>
          </a:p>
        </p:txBody>
      </p:sp>
      <p:grpSp>
        <p:nvGrpSpPr>
          <p:cNvPr id="120" name="Google Shape;120;p4"/>
          <p:cNvGrpSpPr/>
          <p:nvPr/>
        </p:nvGrpSpPr>
        <p:grpSpPr>
          <a:xfrm>
            <a:off x="1537748" y="2256357"/>
            <a:ext cx="9396001" cy="3134181"/>
            <a:chOff x="420050" y="645930"/>
            <a:chExt cx="9396001" cy="3134181"/>
          </a:xfrm>
        </p:grpSpPr>
        <p:sp>
          <p:nvSpPr>
            <p:cNvPr id="121" name="Google Shape;121;p4"/>
            <p:cNvSpPr/>
            <p:nvPr/>
          </p:nvSpPr>
          <p:spPr>
            <a:xfrm>
              <a:off x="1608050" y="645930"/>
              <a:ext cx="1944000" cy="194400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420050" y="3060111"/>
              <a:ext cx="432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txBox="1"/>
            <p:nvPr/>
          </p:nvSpPr>
          <p:spPr>
            <a:xfrm>
              <a:off x="420050" y="3060111"/>
              <a:ext cx="432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900"/>
                <a:buFont typeface="Arial"/>
                <a:buNone/>
              </a:pPr>
              <a:r>
                <a:rPr lang="en-US" sz="1900" b="0" i="0" u="none" strike="noStrike" cap="none" dirty="0">
                  <a:solidFill>
                    <a:schemeClr val="dk1"/>
                  </a:solidFill>
                  <a:latin typeface="Arial"/>
                  <a:ea typeface="Arial"/>
                  <a:cs typeface="Arial"/>
                  <a:sym typeface="Arial"/>
                </a:rPr>
                <a:t>Can you compare the time taken by the </a:t>
              </a:r>
              <a:r>
                <a:rPr lang="en-US" sz="1900" dirty="0">
                  <a:solidFill>
                    <a:schemeClr val="dk1"/>
                  </a:solidFill>
                </a:rPr>
                <a:t>3</a:t>
              </a:r>
              <a:r>
                <a:rPr lang="en-US" sz="1900" b="0" i="0" u="none" strike="noStrike" cap="none" dirty="0">
                  <a:solidFill>
                    <a:schemeClr val="dk1"/>
                  </a:solidFill>
                  <a:latin typeface="Arial"/>
                  <a:ea typeface="Arial"/>
                  <a:cs typeface="Arial"/>
                  <a:sym typeface="Arial"/>
                </a:rPr>
                <a:t> algorithms  that you have written?</a:t>
              </a:r>
              <a:endParaRPr dirty="0"/>
            </a:p>
          </p:txBody>
        </p:sp>
        <p:sp>
          <p:nvSpPr>
            <p:cNvPr id="124" name="Google Shape;124;p4"/>
            <p:cNvSpPr/>
            <p:nvPr/>
          </p:nvSpPr>
          <p:spPr>
            <a:xfrm>
              <a:off x="6684051" y="645930"/>
              <a:ext cx="1944000" cy="194400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5496051" y="3060111"/>
              <a:ext cx="432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txBox="1"/>
            <p:nvPr/>
          </p:nvSpPr>
          <p:spPr>
            <a:xfrm>
              <a:off x="5496051" y="3060111"/>
              <a:ext cx="432000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900"/>
                <a:buFont typeface="Arial"/>
                <a:buNone/>
              </a:pPr>
              <a:r>
                <a:rPr lang="en-US" sz="1900" b="0" i="0" u="none" strike="noStrike" cap="none">
                  <a:solidFill>
                    <a:schemeClr val="dk1"/>
                  </a:solidFill>
                  <a:latin typeface="Arial"/>
                  <a:ea typeface="Arial"/>
                  <a:cs typeface="Arial"/>
                  <a:sym typeface="Arial"/>
                </a:rPr>
                <a:t>How are you able to compare the time.</a:t>
              </a:r>
              <a:endParaRPr/>
            </a:p>
            <a:p>
              <a:pPr marL="0" marR="0" lvl="0" indent="0" algn="ctr" rtl="0">
                <a:lnSpc>
                  <a:spcPct val="100000"/>
                </a:lnSpc>
                <a:spcBef>
                  <a:spcPts val="665"/>
                </a:spcBef>
                <a:spcAft>
                  <a:spcPts val="0"/>
                </a:spcAft>
                <a:buClr>
                  <a:schemeClr val="dk1"/>
                </a:buClr>
                <a:buSzPts val="1900"/>
                <a:buFont typeface="Arial"/>
                <a:buNone/>
              </a:pPr>
              <a:r>
                <a:rPr lang="en-US" sz="1900" b="0" i="0" u="none" strike="noStrike" cap="none">
                  <a:solidFill>
                    <a:schemeClr val="dk1"/>
                  </a:solidFill>
                  <a:latin typeface="Arial"/>
                  <a:ea typeface="Arial"/>
                  <a:cs typeface="Arial"/>
                  <a:sym typeface="Arial"/>
                </a:rPr>
                <a:t>Discuss among your table members.</a:t>
              </a:r>
              <a:endParaRPr/>
            </a:p>
          </p:txBody>
        </p:sp>
      </p:grpSp>
      <p:sp>
        <p:nvSpPr>
          <p:cNvPr id="127" name="Google Shape;1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28" name="Google Shape;1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29" name="Google Shape;129;p4" descr="A blue circle with text and words&#10;&#10;Description automatically generated"/>
          <p:cNvPicPr preferRelativeResize="0"/>
          <p:nvPr/>
        </p:nvPicPr>
        <p:blipFill rotWithShape="1">
          <a:blip r:embed="rId5">
            <a:alphaModFix/>
          </a:blip>
          <a:srcRect/>
          <a:stretch/>
        </p:blipFill>
        <p:spPr>
          <a:xfrm>
            <a:off x="10758566" y="176754"/>
            <a:ext cx="874732" cy="874732"/>
          </a:xfrm>
          <a:prstGeom prst="rect">
            <a:avLst/>
          </a:prstGeom>
          <a:noFill/>
          <a:ln>
            <a:noFill/>
          </a:ln>
        </p:spPr>
      </p:pic>
      <p:pic>
        <p:nvPicPr>
          <p:cNvPr id="130" name="Google Shape;130;p4"/>
          <p:cNvPicPr preferRelativeResize="0"/>
          <p:nvPr/>
        </p:nvPicPr>
        <p:blipFill rotWithShape="1">
          <a:blip r:embed="rId6">
            <a:alphaModFix/>
          </a:blip>
          <a:srcRect/>
          <a:stretch/>
        </p:blipFill>
        <p:spPr>
          <a:xfrm>
            <a:off x="104932" y="114202"/>
            <a:ext cx="3795634" cy="7402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5"/>
          <p:cNvSpPr txBox="1">
            <a:spLocks noGrp="1"/>
          </p:cNvSpPr>
          <p:nvPr>
            <p:ph type="title"/>
          </p:nvPr>
        </p:nvSpPr>
        <p:spPr>
          <a:xfrm>
            <a:off x="558702" y="1102452"/>
            <a:ext cx="10542973" cy="82285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FFFF"/>
              </a:buClr>
              <a:buSzPct val="100000"/>
              <a:buFont typeface="Arial"/>
              <a:buNone/>
            </a:pPr>
            <a:r>
              <a:rPr lang="en-US" sz="4000" b="1">
                <a:solidFill>
                  <a:srgbClr val="FFFFFF"/>
                </a:solidFill>
                <a:latin typeface="Arial"/>
                <a:ea typeface="Arial"/>
                <a:cs typeface="Arial"/>
                <a:sym typeface="Arial"/>
              </a:rPr>
              <a:t>At the end of this session students will be able to </a:t>
            </a:r>
            <a:endParaRPr/>
          </a:p>
        </p:txBody>
      </p:sp>
      <p:sp>
        <p:nvSpPr>
          <p:cNvPr id="136" name="Google Shape;136;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37" name="Google Shape;137;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138" name="Google Shape;138;p5"/>
          <p:cNvGrpSpPr/>
          <p:nvPr/>
        </p:nvGrpSpPr>
        <p:grpSpPr>
          <a:xfrm>
            <a:off x="1001244" y="1793121"/>
            <a:ext cx="10927828" cy="3689404"/>
            <a:chOff x="0" y="0"/>
            <a:chExt cx="10927828" cy="3689404"/>
          </a:xfrm>
        </p:grpSpPr>
        <p:sp>
          <p:nvSpPr>
            <p:cNvPr id="139" name="Google Shape;139;p5"/>
            <p:cNvSpPr/>
            <p:nvPr/>
          </p:nvSpPr>
          <p:spPr>
            <a:xfrm>
              <a:off x="0" y="0"/>
              <a:ext cx="9288654" cy="1660232"/>
            </a:xfrm>
            <a:prstGeom prst="roundRect">
              <a:avLst>
                <a:gd name="adj" fmla="val 1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txBox="1"/>
            <p:nvPr/>
          </p:nvSpPr>
          <p:spPr>
            <a:xfrm>
              <a:off x="48627" y="48627"/>
              <a:ext cx="7572674" cy="1562978"/>
            </a:xfrm>
            <a:prstGeom prst="rect">
              <a:avLst/>
            </a:prstGeom>
            <a:noFill/>
            <a:ln>
              <a:noFill/>
            </a:ln>
          </p:spPr>
          <p:txBody>
            <a:bodyPr spcFirstLastPara="1" wrap="square" lIns="118100" tIns="118100" rIns="118100" bIns="118100" anchor="ctr" anchorCtr="0">
              <a:noAutofit/>
            </a:bodyPr>
            <a:lstStyle/>
            <a:p>
              <a:pPr marL="0" marR="0" lvl="0" indent="0" algn="just" rtl="0">
                <a:lnSpc>
                  <a:spcPct val="90000"/>
                </a:lnSpc>
                <a:spcBef>
                  <a:spcPts val="0"/>
                </a:spcBef>
                <a:spcAft>
                  <a:spcPts val="0"/>
                </a:spcAft>
                <a:buClr>
                  <a:schemeClr val="lt1"/>
                </a:buClr>
                <a:buSzPts val="3100"/>
                <a:buFont typeface="Arial"/>
                <a:buNone/>
              </a:pPr>
              <a:r>
                <a:rPr lang="en-US" sz="3100" b="0" i="0" u="none" strike="noStrike" cap="none" dirty="0">
                  <a:solidFill>
                    <a:schemeClr val="lt1"/>
                  </a:solidFill>
                  <a:latin typeface="Arial"/>
                  <a:ea typeface="Arial"/>
                  <a:cs typeface="Arial"/>
                  <a:sym typeface="Arial"/>
                </a:rPr>
                <a:t>Learning Outcome 1: </a:t>
              </a:r>
              <a:r>
                <a:rPr lang="en-US" sz="3100" dirty="0">
                  <a:solidFill>
                    <a:schemeClr val="lt1"/>
                  </a:solidFill>
                </a:rPr>
                <a:t>Explain</a:t>
              </a:r>
              <a:r>
                <a:rPr lang="en-US" sz="3100" b="0" i="0" u="none" strike="noStrike" cap="none" dirty="0">
                  <a:solidFill>
                    <a:schemeClr val="lt1"/>
                  </a:solidFill>
                  <a:latin typeface="Arial"/>
                  <a:ea typeface="Arial"/>
                  <a:cs typeface="Arial"/>
                  <a:sym typeface="Arial"/>
                </a:rPr>
                <a:t> the importance of analyzing algorithm efficiency. </a:t>
              </a:r>
              <a:endParaRPr dirty="0"/>
            </a:p>
          </p:txBody>
        </p:sp>
        <p:sp>
          <p:nvSpPr>
            <p:cNvPr id="141" name="Google Shape;141;p5"/>
            <p:cNvSpPr/>
            <p:nvPr/>
          </p:nvSpPr>
          <p:spPr>
            <a:xfrm>
              <a:off x="1639174" y="2029172"/>
              <a:ext cx="9288654" cy="1660232"/>
            </a:xfrm>
            <a:prstGeom prst="roundRect">
              <a:avLst>
                <a:gd name="adj" fmla="val 1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txBox="1"/>
            <p:nvPr/>
          </p:nvSpPr>
          <p:spPr>
            <a:xfrm>
              <a:off x="1687801" y="2077799"/>
              <a:ext cx="6473075" cy="1562978"/>
            </a:xfrm>
            <a:prstGeom prst="rect">
              <a:avLst/>
            </a:prstGeom>
            <a:noFill/>
            <a:ln>
              <a:noFill/>
            </a:ln>
          </p:spPr>
          <p:txBody>
            <a:bodyPr spcFirstLastPara="1" wrap="square" lIns="118100" tIns="118100" rIns="118100" bIns="118100" anchor="ctr" anchorCtr="0">
              <a:noAutofit/>
            </a:bodyPr>
            <a:lstStyle/>
            <a:p>
              <a:pPr marL="0" marR="0" lvl="0" indent="0" algn="just" rtl="0">
                <a:lnSpc>
                  <a:spcPct val="90000"/>
                </a:lnSpc>
                <a:spcBef>
                  <a:spcPts val="0"/>
                </a:spcBef>
                <a:spcAft>
                  <a:spcPts val="0"/>
                </a:spcAft>
                <a:buClr>
                  <a:schemeClr val="lt1"/>
                </a:buClr>
                <a:buSzPts val="3100"/>
                <a:buFont typeface="Arial"/>
                <a:buNone/>
              </a:pPr>
              <a:r>
                <a:rPr lang="en-US" sz="3100" b="0" i="0" u="none" strike="noStrike" cap="none" dirty="0">
                  <a:solidFill>
                    <a:schemeClr val="lt1"/>
                  </a:solidFill>
                  <a:latin typeface="Arial"/>
                  <a:ea typeface="Arial"/>
                  <a:cs typeface="Arial"/>
                  <a:sym typeface="Arial"/>
                </a:rPr>
                <a:t>Learning Outcome 2 : Comprehend different asymptotic notations. </a:t>
              </a:r>
              <a:endParaRPr dirty="0"/>
            </a:p>
          </p:txBody>
        </p:sp>
        <p:sp>
          <p:nvSpPr>
            <p:cNvPr id="143" name="Google Shape;143;p5"/>
            <p:cNvSpPr/>
            <p:nvPr/>
          </p:nvSpPr>
          <p:spPr>
            <a:xfrm>
              <a:off x="8209503" y="1305127"/>
              <a:ext cx="1079150" cy="1079150"/>
            </a:xfrm>
            <a:prstGeom prst="downArrow">
              <a:avLst>
                <a:gd name="adj1" fmla="val 55000"/>
                <a:gd name="adj2" fmla="val 45000"/>
              </a:avLst>
            </a:prstGeom>
            <a:solidFill>
              <a:srgbClr val="F6D4CC">
                <a:alpha val="89803"/>
              </a:srgbClr>
            </a:solidFill>
            <a:ln w="19050" cap="flat" cmpd="sng">
              <a:solidFill>
                <a:srgbClr val="F6D4CC">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txBox="1"/>
            <p:nvPr/>
          </p:nvSpPr>
          <p:spPr>
            <a:xfrm>
              <a:off x="8452312" y="1305127"/>
              <a:ext cx="593532" cy="8120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endParaRPr sz="3600" b="0" i="0" u="none" strike="noStrike" cap="none">
                <a:solidFill>
                  <a:schemeClr val="dk1"/>
                </a:solidFill>
                <a:latin typeface="Arial"/>
                <a:ea typeface="Arial"/>
                <a:cs typeface="Arial"/>
                <a:sym typeface="Arial"/>
              </a:endParaRPr>
            </a:p>
          </p:txBody>
        </p:sp>
      </p:grpSp>
      <p:pic>
        <p:nvPicPr>
          <p:cNvPr id="145" name="Google Shape;145;p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46" name="Google Shape;146;p5"/>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
        <p:cNvGrpSpPr/>
        <p:nvPr/>
      </p:nvGrpSpPr>
      <p:grpSpPr>
        <a:xfrm>
          <a:off x="0" y="0"/>
          <a:ext cx="0" cy="0"/>
          <a:chOff x="0" y="0"/>
          <a:chExt cx="0" cy="0"/>
        </a:xfrm>
      </p:grpSpPr>
      <p:sp>
        <p:nvSpPr>
          <p:cNvPr id="151" name="Google Shape;151;p6"/>
          <p:cNvSpPr txBox="1">
            <a:spLocks noGrp="1"/>
          </p:cNvSpPr>
          <p:nvPr>
            <p:ph type="title"/>
          </p:nvPr>
        </p:nvSpPr>
        <p:spPr>
          <a:xfrm>
            <a:off x="635000" y="640823"/>
            <a:ext cx="3418659" cy="55831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US" sz="5400" dirty="0"/>
              <a:t>Session Outline</a:t>
            </a:r>
            <a:endParaRPr dirty="0"/>
          </a:p>
        </p:txBody>
      </p:sp>
      <p:grpSp>
        <p:nvGrpSpPr>
          <p:cNvPr id="152" name="Google Shape;152;p6"/>
          <p:cNvGrpSpPr/>
          <p:nvPr/>
        </p:nvGrpSpPr>
        <p:grpSpPr>
          <a:xfrm>
            <a:off x="3702845" y="230245"/>
            <a:ext cx="7698934" cy="5577694"/>
            <a:chOff x="0" y="2726"/>
            <a:chExt cx="7698934" cy="5577694"/>
          </a:xfrm>
        </p:grpSpPr>
        <p:cxnSp>
          <p:nvCxnSpPr>
            <p:cNvPr id="153" name="Google Shape;153;p6"/>
            <p:cNvCxnSpPr/>
            <p:nvPr/>
          </p:nvCxnSpPr>
          <p:spPr>
            <a:xfrm>
              <a:off x="0" y="2726"/>
              <a:ext cx="7467414" cy="0"/>
            </a:xfrm>
            <a:prstGeom prst="straightConnector1">
              <a:avLst/>
            </a:prstGeom>
            <a:solidFill>
              <a:srgbClr val="E97131"/>
            </a:solidFill>
            <a:ln w="19050" cap="flat" cmpd="sng">
              <a:solidFill>
                <a:srgbClr val="E97131"/>
              </a:solidFill>
              <a:prstDash val="solid"/>
              <a:miter lim="800000"/>
              <a:headEnd type="none" w="sm" len="sm"/>
              <a:tailEnd type="none" w="sm" len="sm"/>
            </a:ln>
          </p:spPr>
        </p:cxnSp>
        <p:sp>
          <p:nvSpPr>
            <p:cNvPr id="154" name="Google Shape;154;p6"/>
            <p:cNvSpPr/>
            <p:nvPr/>
          </p:nvSpPr>
          <p:spPr>
            <a:xfrm>
              <a:off x="0" y="2726"/>
              <a:ext cx="7467414" cy="9296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6"/>
            <p:cNvSpPr txBox="1"/>
            <p:nvPr/>
          </p:nvSpPr>
          <p:spPr>
            <a:xfrm>
              <a:off x="231520" y="85009"/>
              <a:ext cx="7467414" cy="929615"/>
            </a:xfrm>
            <a:prstGeom prst="rect">
              <a:avLst/>
            </a:prstGeom>
            <a:noFill/>
            <a:ln>
              <a:noFill/>
            </a:ln>
          </p:spPr>
          <p:txBody>
            <a:bodyPr spcFirstLastPara="1" wrap="square" lIns="160000" tIns="160000" rIns="160000" bIns="160000" anchor="t" anchorCtr="0">
              <a:noAutofit/>
            </a:bodyPr>
            <a:lstStyle/>
            <a:p>
              <a:pPr marL="0" marR="0" lvl="0" indent="0" algn="l" rtl="0">
                <a:lnSpc>
                  <a:spcPct val="90000"/>
                </a:lnSpc>
                <a:spcBef>
                  <a:spcPts val="0"/>
                </a:spcBef>
                <a:spcAft>
                  <a:spcPts val="0"/>
                </a:spcAft>
                <a:buClr>
                  <a:schemeClr val="dk1"/>
                </a:buClr>
                <a:buSzPts val="4200"/>
                <a:buFont typeface="Arial"/>
                <a:buNone/>
              </a:pPr>
              <a:r>
                <a:rPr lang="en-US" sz="2400" b="0" i="0" u="none" strike="noStrike" cap="none" dirty="0">
                  <a:solidFill>
                    <a:schemeClr val="dk1"/>
                  </a:solidFill>
                  <a:latin typeface="Arial"/>
                  <a:ea typeface="Arial"/>
                  <a:cs typeface="Arial"/>
                  <a:sym typeface="Arial"/>
                </a:rPr>
                <a:t>1 Introduction</a:t>
              </a:r>
              <a:endParaRPr sz="2400" b="0" i="0" u="none" strike="noStrike" cap="none" dirty="0">
                <a:solidFill>
                  <a:schemeClr val="dk1"/>
                </a:solidFill>
                <a:latin typeface="Arial"/>
                <a:ea typeface="Arial"/>
                <a:cs typeface="Arial"/>
                <a:sym typeface="Arial"/>
              </a:endParaRPr>
            </a:p>
          </p:txBody>
        </p:sp>
        <p:cxnSp>
          <p:nvCxnSpPr>
            <p:cNvPr id="156" name="Google Shape;156;p6"/>
            <p:cNvCxnSpPr/>
            <p:nvPr/>
          </p:nvCxnSpPr>
          <p:spPr>
            <a:xfrm>
              <a:off x="0" y="932342"/>
              <a:ext cx="7467414" cy="0"/>
            </a:xfrm>
            <a:prstGeom prst="straightConnector1">
              <a:avLst/>
            </a:prstGeom>
            <a:solidFill>
              <a:srgbClr val="176B22"/>
            </a:solidFill>
            <a:ln w="19050" cap="flat" cmpd="sng">
              <a:solidFill>
                <a:srgbClr val="176B22"/>
              </a:solidFill>
              <a:prstDash val="solid"/>
              <a:miter lim="800000"/>
              <a:headEnd type="none" w="sm" len="sm"/>
              <a:tailEnd type="none" w="sm" len="sm"/>
            </a:ln>
          </p:spPr>
        </p:cxnSp>
        <p:sp>
          <p:nvSpPr>
            <p:cNvPr id="157" name="Google Shape;157;p6"/>
            <p:cNvSpPr/>
            <p:nvPr/>
          </p:nvSpPr>
          <p:spPr>
            <a:xfrm>
              <a:off x="0" y="932342"/>
              <a:ext cx="7467414" cy="9296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p:cNvSpPr txBox="1"/>
            <p:nvPr/>
          </p:nvSpPr>
          <p:spPr>
            <a:xfrm>
              <a:off x="0" y="932342"/>
              <a:ext cx="7467414" cy="929615"/>
            </a:xfrm>
            <a:prstGeom prst="rect">
              <a:avLst/>
            </a:prstGeom>
            <a:noFill/>
            <a:ln>
              <a:noFill/>
            </a:ln>
          </p:spPr>
          <p:txBody>
            <a:bodyPr spcFirstLastPara="1" wrap="square" lIns="160000" tIns="160000" rIns="160000" bIns="160000" anchor="t" anchorCtr="0">
              <a:noAutofit/>
            </a:bodyPr>
            <a:lstStyle/>
            <a:p>
              <a:pPr marL="0" marR="0" lvl="0" indent="0" algn="l" rtl="0">
                <a:lnSpc>
                  <a:spcPct val="90000"/>
                </a:lnSpc>
                <a:spcBef>
                  <a:spcPts val="0"/>
                </a:spcBef>
                <a:spcAft>
                  <a:spcPts val="0"/>
                </a:spcAft>
                <a:buClr>
                  <a:schemeClr val="dk1"/>
                </a:buClr>
                <a:buSzPts val="4200"/>
                <a:buFont typeface="Arial"/>
                <a:buNone/>
              </a:pPr>
              <a:endParaRPr sz="2400" b="0" i="0" u="none" strike="noStrike" cap="none" dirty="0">
                <a:solidFill>
                  <a:schemeClr val="dk1"/>
                </a:solidFill>
                <a:latin typeface="Arial"/>
                <a:ea typeface="Arial"/>
                <a:cs typeface="Arial"/>
                <a:sym typeface="Arial"/>
              </a:endParaRPr>
            </a:p>
          </p:txBody>
        </p:sp>
        <p:cxnSp>
          <p:nvCxnSpPr>
            <p:cNvPr id="159" name="Google Shape;159;p6"/>
            <p:cNvCxnSpPr/>
            <p:nvPr/>
          </p:nvCxnSpPr>
          <p:spPr>
            <a:xfrm>
              <a:off x="0" y="1861958"/>
              <a:ext cx="7467414" cy="0"/>
            </a:xfrm>
            <a:prstGeom prst="straightConnector1">
              <a:avLst/>
            </a:prstGeom>
            <a:solidFill>
              <a:srgbClr val="0C9ED5"/>
            </a:solidFill>
            <a:ln w="19050" cap="flat" cmpd="sng">
              <a:solidFill>
                <a:srgbClr val="0C9ED5"/>
              </a:solidFill>
              <a:prstDash val="solid"/>
              <a:miter lim="800000"/>
              <a:headEnd type="none" w="sm" len="sm"/>
              <a:tailEnd type="none" w="sm" len="sm"/>
            </a:ln>
          </p:spPr>
        </p:cxnSp>
        <p:sp>
          <p:nvSpPr>
            <p:cNvPr id="160" name="Google Shape;160;p6"/>
            <p:cNvSpPr/>
            <p:nvPr/>
          </p:nvSpPr>
          <p:spPr>
            <a:xfrm>
              <a:off x="0" y="1861958"/>
              <a:ext cx="7467414" cy="9296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6"/>
            <p:cNvSpPr txBox="1"/>
            <p:nvPr/>
          </p:nvSpPr>
          <p:spPr>
            <a:xfrm>
              <a:off x="0" y="1861958"/>
              <a:ext cx="7467414" cy="929615"/>
            </a:xfrm>
            <a:prstGeom prst="rect">
              <a:avLst/>
            </a:prstGeom>
            <a:noFill/>
            <a:ln>
              <a:noFill/>
            </a:ln>
          </p:spPr>
          <p:txBody>
            <a:bodyPr spcFirstLastPara="1" wrap="square" lIns="160000" tIns="160000" rIns="160000" bIns="160000" anchor="t" anchorCtr="0">
              <a:noAutofit/>
            </a:bodyPr>
            <a:lstStyle/>
            <a:p>
              <a:pPr marL="0" marR="0" lvl="0" indent="0" algn="l" rtl="0">
                <a:lnSpc>
                  <a:spcPct val="90000"/>
                </a:lnSpc>
                <a:spcBef>
                  <a:spcPts val="0"/>
                </a:spcBef>
                <a:spcAft>
                  <a:spcPts val="0"/>
                </a:spcAft>
                <a:buClr>
                  <a:schemeClr val="dk1"/>
                </a:buClr>
                <a:buSzPts val="4200"/>
                <a:buFont typeface="Arial"/>
                <a:buNone/>
              </a:pPr>
              <a:endParaRPr sz="2400" b="0" i="0" u="none" strike="noStrike" cap="none" dirty="0">
                <a:solidFill>
                  <a:schemeClr val="dk1"/>
                </a:solidFill>
                <a:latin typeface="Arial"/>
                <a:ea typeface="Arial"/>
                <a:cs typeface="Arial"/>
                <a:sym typeface="Arial"/>
              </a:endParaRPr>
            </a:p>
          </p:txBody>
        </p:sp>
        <p:cxnSp>
          <p:nvCxnSpPr>
            <p:cNvPr id="162" name="Google Shape;162;p6"/>
            <p:cNvCxnSpPr/>
            <p:nvPr/>
          </p:nvCxnSpPr>
          <p:spPr>
            <a:xfrm>
              <a:off x="0" y="2791574"/>
              <a:ext cx="7467414" cy="0"/>
            </a:xfrm>
            <a:prstGeom prst="straightConnector1">
              <a:avLst/>
            </a:prstGeom>
            <a:solidFill>
              <a:srgbClr val="A02891"/>
            </a:solidFill>
            <a:ln w="19050" cap="flat" cmpd="sng">
              <a:solidFill>
                <a:srgbClr val="A02891"/>
              </a:solidFill>
              <a:prstDash val="solid"/>
              <a:miter lim="800000"/>
              <a:headEnd type="none" w="sm" len="sm"/>
              <a:tailEnd type="none" w="sm" len="sm"/>
            </a:ln>
          </p:spPr>
        </p:cxnSp>
        <p:sp>
          <p:nvSpPr>
            <p:cNvPr id="163" name="Google Shape;163;p6"/>
            <p:cNvSpPr/>
            <p:nvPr/>
          </p:nvSpPr>
          <p:spPr>
            <a:xfrm>
              <a:off x="0" y="2791574"/>
              <a:ext cx="7467414" cy="9296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txBox="1"/>
            <p:nvPr/>
          </p:nvSpPr>
          <p:spPr>
            <a:xfrm>
              <a:off x="0" y="2791574"/>
              <a:ext cx="7467414" cy="929615"/>
            </a:xfrm>
            <a:prstGeom prst="rect">
              <a:avLst/>
            </a:prstGeom>
            <a:noFill/>
            <a:ln>
              <a:noFill/>
            </a:ln>
          </p:spPr>
          <p:txBody>
            <a:bodyPr spcFirstLastPara="1" wrap="square" lIns="160000" tIns="160000" rIns="160000" bIns="160000" anchor="t" anchorCtr="0">
              <a:noAutofit/>
            </a:bodyPr>
            <a:lstStyle/>
            <a:p>
              <a:pPr marL="0" marR="0" lvl="0" indent="0" algn="l" rtl="0">
                <a:lnSpc>
                  <a:spcPct val="90000"/>
                </a:lnSpc>
                <a:spcBef>
                  <a:spcPts val="0"/>
                </a:spcBef>
                <a:spcAft>
                  <a:spcPts val="0"/>
                </a:spcAft>
                <a:buClr>
                  <a:schemeClr val="dk1"/>
                </a:buClr>
                <a:buSzPts val="4200"/>
                <a:buFont typeface="Arial"/>
                <a:buNone/>
              </a:pPr>
              <a:endParaRPr sz="4200" b="0" i="0" u="none" strike="noStrike" cap="none" dirty="0">
                <a:solidFill>
                  <a:schemeClr val="dk1"/>
                </a:solidFill>
                <a:latin typeface="Arial"/>
                <a:ea typeface="Arial"/>
                <a:cs typeface="Arial"/>
                <a:sym typeface="Arial"/>
              </a:endParaRPr>
            </a:p>
          </p:txBody>
        </p:sp>
        <p:cxnSp>
          <p:nvCxnSpPr>
            <p:cNvPr id="165" name="Google Shape;165;p6"/>
            <p:cNvCxnSpPr/>
            <p:nvPr/>
          </p:nvCxnSpPr>
          <p:spPr>
            <a:xfrm>
              <a:off x="0" y="3721189"/>
              <a:ext cx="7467414" cy="0"/>
            </a:xfrm>
            <a:prstGeom prst="straightConnector1">
              <a:avLst/>
            </a:prstGeom>
            <a:solidFill>
              <a:srgbClr val="4EA62C"/>
            </a:solidFill>
            <a:ln w="19050" cap="flat" cmpd="sng">
              <a:solidFill>
                <a:srgbClr val="4EA62C"/>
              </a:solidFill>
              <a:prstDash val="solid"/>
              <a:miter lim="800000"/>
              <a:headEnd type="none" w="sm" len="sm"/>
              <a:tailEnd type="none" w="sm" len="sm"/>
            </a:ln>
          </p:spPr>
        </p:cxnSp>
        <p:sp>
          <p:nvSpPr>
            <p:cNvPr id="166" name="Google Shape;166;p6"/>
            <p:cNvSpPr/>
            <p:nvPr/>
          </p:nvSpPr>
          <p:spPr>
            <a:xfrm>
              <a:off x="0" y="3721189"/>
              <a:ext cx="7467414" cy="9296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txBox="1"/>
            <p:nvPr/>
          </p:nvSpPr>
          <p:spPr>
            <a:xfrm>
              <a:off x="0" y="3721189"/>
              <a:ext cx="7467414" cy="929615"/>
            </a:xfrm>
            <a:prstGeom prst="rect">
              <a:avLst/>
            </a:prstGeom>
            <a:noFill/>
            <a:ln>
              <a:noFill/>
            </a:ln>
          </p:spPr>
          <p:txBody>
            <a:bodyPr spcFirstLastPara="1" wrap="square" lIns="160000" tIns="160000" rIns="160000" bIns="160000" anchor="t" anchorCtr="0">
              <a:noAutofit/>
            </a:bodyPr>
            <a:lstStyle/>
            <a:p>
              <a:pPr marL="0" marR="0" lvl="0" indent="0" algn="l" rtl="0">
                <a:lnSpc>
                  <a:spcPct val="90000"/>
                </a:lnSpc>
                <a:spcBef>
                  <a:spcPts val="0"/>
                </a:spcBef>
                <a:spcAft>
                  <a:spcPts val="0"/>
                </a:spcAft>
                <a:buClr>
                  <a:schemeClr val="dk1"/>
                </a:buClr>
                <a:buSzPts val="4200"/>
                <a:buFont typeface="Arial"/>
                <a:buNone/>
              </a:pPr>
              <a:endParaRPr sz="4200" b="0" i="0" u="none" strike="noStrike" cap="none" dirty="0">
                <a:solidFill>
                  <a:schemeClr val="dk1"/>
                </a:solidFill>
                <a:latin typeface="Arial"/>
                <a:ea typeface="Arial"/>
                <a:cs typeface="Arial"/>
                <a:sym typeface="Arial"/>
              </a:endParaRPr>
            </a:p>
          </p:txBody>
        </p:sp>
        <p:cxnSp>
          <p:nvCxnSpPr>
            <p:cNvPr id="168" name="Google Shape;168;p6"/>
            <p:cNvCxnSpPr/>
            <p:nvPr/>
          </p:nvCxnSpPr>
          <p:spPr>
            <a:xfrm>
              <a:off x="0" y="4650805"/>
              <a:ext cx="7467414" cy="0"/>
            </a:xfrm>
            <a:prstGeom prst="straightConnector1">
              <a:avLst/>
            </a:prstGeom>
            <a:solidFill>
              <a:srgbClr val="E97131"/>
            </a:solidFill>
            <a:ln w="19050" cap="flat" cmpd="sng">
              <a:solidFill>
                <a:srgbClr val="E97131"/>
              </a:solidFill>
              <a:prstDash val="solid"/>
              <a:miter lim="800000"/>
              <a:headEnd type="none" w="sm" len="sm"/>
              <a:tailEnd type="none" w="sm" len="sm"/>
            </a:ln>
          </p:spPr>
        </p:cxnSp>
        <p:sp>
          <p:nvSpPr>
            <p:cNvPr id="169" name="Google Shape;169;p6"/>
            <p:cNvSpPr/>
            <p:nvPr/>
          </p:nvSpPr>
          <p:spPr>
            <a:xfrm>
              <a:off x="0" y="4650805"/>
              <a:ext cx="7467414" cy="9296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6"/>
            <p:cNvSpPr txBox="1"/>
            <p:nvPr/>
          </p:nvSpPr>
          <p:spPr>
            <a:xfrm>
              <a:off x="0" y="4650805"/>
              <a:ext cx="7467414" cy="929615"/>
            </a:xfrm>
            <a:prstGeom prst="rect">
              <a:avLst/>
            </a:prstGeom>
            <a:noFill/>
            <a:ln>
              <a:noFill/>
            </a:ln>
          </p:spPr>
          <p:txBody>
            <a:bodyPr spcFirstLastPara="1" wrap="square" lIns="160000" tIns="160000" rIns="160000" bIns="160000" anchor="t" anchorCtr="0">
              <a:noAutofit/>
            </a:bodyPr>
            <a:lstStyle/>
            <a:p>
              <a:pPr marL="0" marR="0" lvl="0" indent="0" algn="l" rtl="0">
                <a:lnSpc>
                  <a:spcPct val="90000"/>
                </a:lnSpc>
                <a:spcBef>
                  <a:spcPts val="0"/>
                </a:spcBef>
                <a:spcAft>
                  <a:spcPts val="0"/>
                </a:spcAft>
                <a:buClr>
                  <a:schemeClr val="dk1"/>
                </a:buClr>
                <a:buSzPts val="4200"/>
                <a:buFont typeface="Arial"/>
                <a:buNone/>
              </a:pPr>
              <a:endParaRPr sz="4200" b="0" i="0" u="none" strike="noStrike" cap="none" dirty="0">
                <a:solidFill>
                  <a:schemeClr val="dk1"/>
                </a:solidFill>
                <a:latin typeface="Arial"/>
                <a:ea typeface="Arial"/>
                <a:cs typeface="Arial"/>
                <a:sym typeface="Arial"/>
              </a:endParaRPr>
            </a:p>
          </p:txBody>
        </p:sp>
      </p:grpSp>
      <p:sp>
        <p:nvSpPr>
          <p:cNvPr id="171" name="Google Shape;17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72" name="Google Shape;17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73" name="Google Shape;173;p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74" name="Google Shape;174;p6"/>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75" name="Google Shape;175;p6"/>
          <p:cNvSpPr txBox="1"/>
          <p:nvPr/>
        </p:nvSpPr>
        <p:spPr>
          <a:xfrm>
            <a:off x="4053659" y="1447432"/>
            <a:ext cx="6290575"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chemeClr val="dk1"/>
                </a:solidFill>
                <a:latin typeface="Arial"/>
                <a:ea typeface="Arial"/>
                <a:cs typeface="Arial"/>
                <a:sym typeface="Arial"/>
              </a:rPr>
              <a:t>2. Learning activity 1</a:t>
            </a:r>
            <a:endParaRPr sz="1000" dirty="0"/>
          </a:p>
        </p:txBody>
      </p:sp>
      <p:sp>
        <p:nvSpPr>
          <p:cNvPr id="176" name="Google Shape;176;p6"/>
          <p:cNvSpPr txBox="1"/>
          <p:nvPr/>
        </p:nvSpPr>
        <p:spPr>
          <a:xfrm>
            <a:off x="4053659" y="2298530"/>
            <a:ext cx="7608273" cy="4616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dirty="0">
                <a:solidFill>
                  <a:schemeClr val="dk2"/>
                </a:solidFill>
                <a:latin typeface="Arial"/>
                <a:ea typeface="Arial"/>
                <a:cs typeface="Arial"/>
                <a:sym typeface="Arial"/>
              </a:rPr>
              <a:t>3. Concept and Definition for Learning Activity 2</a:t>
            </a:r>
            <a:endParaRPr sz="2400" b="0" i="0" u="none" strike="noStrike" cap="none" dirty="0">
              <a:solidFill>
                <a:schemeClr val="dk1"/>
              </a:solidFill>
              <a:latin typeface="Arial"/>
              <a:ea typeface="Arial"/>
              <a:cs typeface="Arial"/>
              <a:sym typeface="Arial"/>
            </a:endParaRPr>
          </a:p>
        </p:txBody>
      </p:sp>
      <p:sp>
        <p:nvSpPr>
          <p:cNvPr id="177" name="Google Shape;177;p6"/>
          <p:cNvSpPr txBox="1"/>
          <p:nvPr/>
        </p:nvSpPr>
        <p:spPr>
          <a:xfrm>
            <a:off x="4269357" y="3196255"/>
            <a:ext cx="5610264"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chemeClr val="dk1"/>
                </a:solidFill>
                <a:latin typeface="Arial"/>
                <a:ea typeface="Arial"/>
                <a:cs typeface="Arial"/>
                <a:sym typeface="Arial"/>
              </a:rPr>
              <a:t>4. Learning Activity 2</a:t>
            </a:r>
            <a:endParaRPr sz="1000" dirty="0"/>
          </a:p>
        </p:txBody>
      </p:sp>
      <p:sp>
        <p:nvSpPr>
          <p:cNvPr id="178" name="Google Shape;178;p6"/>
          <p:cNvSpPr txBox="1"/>
          <p:nvPr/>
        </p:nvSpPr>
        <p:spPr>
          <a:xfrm>
            <a:off x="4269357" y="4061283"/>
            <a:ext cx="9157934" cy="4616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dirty="0">
                <a:solidFill>
                  <a:schemeClr val="dk1"/>
                </a:solidFill>
                <a:latin typeface="Arial"/>
                <a:ea typeface="Arial"/>
                <a:cs typeface="Arial"/>
                <a:sym typeface="Arial"/>
              </a:rPr>
              <a:t>5. Properties of Asymptotic Notations</a:t>
            </a:r>
            <a:endParaRPr sz="1000" dirty="0"/>
          </a:p>
        </p:txBody>
      </p:sp>
      <p:sp>
        <p:nvSpPr>
          <p:cNvPr id="179" name="Google Shape;179;p6"/>
          <p:cNvSpPr txBox="1"/>
          <p:nvPr/>
        </p:nvSpPr>
        <p:spPr>
          <a:xfrm flipH="1">
            <a:off x="4269356" y="4949590"/>
            <a:ext cx="868464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chemeClr val="dk1"/>
                </a:solidFill>
                <a:latin typeface="Arial"/>
                <a:ea typeface="Arial"/>
                <a:cs typeface="Arial"/>
                <a:sym typeface="Arial"/>
              </a:rPr>
              <a:t>6. Problem Solving and Hands-On Practice</a:t>
            </a:r>
            <a:endParaRPr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3"/>
        <p:cNvGrpSpPr/>
        <p:nvPr/>
      </p:nvGrpSpPr>
      <p:grpSpPr>
        <a:xfrm>
          <a:off x="0" y="0"/>
          <a:ext cx="0" cy="0"/>
          <a:chOff x="0" y="0"/>
          <a:chExt cx="0" cy="0"/>
        </a:xfrm>
      </p:grpSpPr>
      <p:sp>
        <p:nvSpPr>
          <p:cNvPr id="184" name="Google Shape;184;p7"/>
          <p:cNvSpPr txBox="1">
            <a:spLocks noGrp="1"/>
          </p:cNvSpPr>
          <p:nvPr>
            <p:ph type="title"/>
          </p:nvPr>
        </p:nvSpPr>
        <p:spPr>
          <a:xfrm>
            <a:off x="866070" y="1275139"/>
            <a:ext cx="10329862" cy="87473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Play"/>
              <a:buNone/>
            </a:pPr>
            <a:r>
              <a:rPr lang="en-US" sz="4000" b="1">
                <a:solidFill>
                  <a:schemeClr val="dk2"/>
                </a:solidFill>
              </a:rPr>
              <a:t>Introduction to algorithmic analysis </a:t>
            </a:r>
            <a:endParaRPr/>
          </a:p>
        </p:txBody>
      </p:sp>
      <p:sp>
        <p:nvSpPr>
          <p:cNvPr id="185" name="Google Shape;18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sp>
        <p:nvSpPr>
          <p:cNvPr id="186" name="Google Shape;18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187" name="Google Shape;187;p7"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pic>
        <p:nvPicPr>
          <p:cNvPr id="188" name="Google Shape;188;p7"/>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89" name="Google Shape;189;p7"/>
          <p:cNvSpPr txBox="1"/>
          <p:nvPr/>
        </p:nvSpPr>
        <p:spPr>
          <a:xfrm>
            <a:off x="1278378" y="2358534"/>
            <a:ext cx="9987030" cy="3046948"/>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0" i="0" u="none" strike="noStrike" cap="none" dirty="0">
                <a:solidFill>
                  <a:schemeClr val="dk1"/>
                </a:solidFill>
                <a:latin typeface="Arial"/>
                <a:ea typeface="Arial"/>
                <a:cs typeface="Arial"/>
                <a:sym typeface="Arial"/>
              </a:rPr>
              <a:t>Time efficiency (time complexity): indicates how fast an algorithm runs </a:t>
            </a:r>
            <a:endParaRPr dirty="0"/>
          </a:p>
          <a:p>
            <a:pPr marL="0" marR="0" lvl="0" indent="0" algn="just" rtl="0">
              <a:spcBef>
                <a:spcPts val="0"/>
              </a:spcBef>
              <a:spcAft>
                <a:spcPts val="0"/>
              </a:spcAft>
              <a:buNone/>
            </a:pPr>
            <a:r>
              <a:rPr lang="en-US" sz="2400" b="0" i="0" u="none" strike="noStrike" cap="none" dirty="0">
                <a:solidFill>
                  <a:schemeClr val="dk1"/>
                </a:solidFill>
                <a:latin typeface="Arial"/>
                <a:ea typeface="Arial"/>
                <a:cs typeface="Arial"/>
                <a:sym typeface="Arial"/>
              </a:rPr>
              <a:t>• </a:t>
            </a:r>
            <a:r>
              <a:rPr lang="en-US" sz="2400" b="1" i="0" u="none" strike="noStrike" cap="none" dirty="0">
                <a:solidFill>
                  <a:srgbClr val="FF0000"/>
                </a:solidFill>
                <a:latin typeface="Arial"/>
                <a:ea typeface="Arial"/>
                <a:cs typeface="Arial"/>
                <a:sym typeface="Arial"/>
              </a:rPr>
              <a:t>Space efficiency (space complexity)</a:t>
            </a:r>
            <a:r>
              <a:rPr lang="en-US" sz="2400" b="0" i="0" u="none" strike="noStrike" cap="none" dirty="0">
                <a:solidFill>
                  <a:schemeClr val="dk1"/>
                </a:solidFill>
                <a:latin typeface="Arial"/>
                <a:ea typeface="Arial"/>
                <a:cs typeface="Arial"/>
                <a:sym typeface="Arial"/>
              </a:rPr>
              <a:t>: refers to the amount of memory units required by the algorithm in addition to the space needed for its input and output </a:t>
            </a:r>
            <a:endParaRPr dirty="0"/>
          </a:p>
          <a:p>
            <a:pPr marL="0" marR="0" lvl="0" indent="0" algn="just" rtl="0">
              <a:spcBef>
                <a:spcPts val="0"/>
              </a:spcBef>
              <a:spcAft>
                <a:spcPts val="0"/>
              </a:spcAft>
              <a:buNone/>
            </a:pPr>
            <a:r>
              <a:rPr lang="en-US" sz="2400" b="0" i="0" u="none" strike="noStrike" cap="none" dirty="0">
                <a:solidFill>
                  <a:schemeClr val="dk1"/>
                </a:solidFill>
                <a:latin typeface="Arial"/>
                <a:ea typeface="Arial"/>
                <a:cs typeface="Arial"/>
                <a:sym typeface="Arial"/>
              </a:rPr>
              <a:t>• Algorithms that have non-appreciable space complexity are said to be in-place</a:t>
            </a:r>
            <a:endParaRPr dirty="0"/>
          </a:p>
          <a:p>
            <a:pPr marL="0" marR="0" lvl="0" indent="0" algn="just" rtl="0">
              <a:spcBef>
                <a:spcPts val="0"/>
              </a:spcBef>
              <a:spcAft>
                <a:spcPts val="0"/>
              </a:spcAft>
              <a:buNone/>
            </a:pPr>
            <a:r>
              <a:rPr lang="en-US" sz="2400" b="0" i="0" u="none" strike="noStrike" cap="none" dirty="0">
                <a:solidFill>
                  <a:schemeClr val="dk1"/>
                </a:solidFill>
                <a:latin typeface="Arial"/>
                <a:ea typeface="Arial"/>
                <a:cs typeface="Arial"/>
                <a:sym typeface="Arial"/>
              </a:rPr>
              <a:t>•The </a:t>
            </a:r>
            <a:r>
              <a:rPr lang="en-US" sz="2400" b="1" i="0" u="none" strike="noStrike" cap="none" dirty="0">
                <a:solidFill>
                  <a:srgbClr val="FF0000"/>
                </a:solidFill>
                <a:latin typeface="Arial"/>
                <a:ea typeface="Arial"/>
                <a:cs typeface="Arial"/>
                <a:sym typeface="Arial"/>
              </a:rPr>
              <a:t>time efficiency </a:t>
            </a:r>
            <a:r>
              <a:rPr lang="en-US" sz="2400" b="0" i="0" u="none" strike="noStrike" cap="none" dirty="0">
                <a:solidFill>
                  <a:schemeClr val="dk1"/>
                </a:solidFill>
                <a:latin typeface="Arial"/>
                <a:ea typeface="Arial"/>
                <a:cs typeface="Arial"/>
                <a:sym typeface="Arial"/>
              </a:rPr>
              <a:t>of an algorithm is typically as a function of the input size (one or more input parameters).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en-US" b="1" dirty="0">
                <a:solidFill>
                  <a:srgbClr val="FF0000"/>
                </a:solidFill>
                <a:latin typeface="Times New Roman" panose="02020603050405020304" pitchFamily="18" charset="0"/>
                <a:cs typeface="Times New Roman" panose="02020603050405020304" pitchFamily="18" charset="0"/>
              </a:rPr>
              <a:t>Time Complexity </a:t>
            </a:r>
            <a:endParaRPr b="1" dirty="0">
              <a:solidFill>
                <a:srgbClr val="FF0000"/>
              </a:solidFill>
              <a:latin typeface="Times New Roman" panose="02020603050405020304" pitchFamily="18" charset="0"/>
              <a:cs typeface="Times New Roman" panose="02020603050405020304" pitchFamily="18" charset="0"/>
            </a:endParaRPr>
          </a:p>
        </p:txBody>
      </p:sp>
      <p:sp>
        <p:nvSpPr>
          <p:cNvPr id="195" name="Google Shape;195;p8"/>
          <p:cNvSpPr txBox="1">
            <a:spLocks noGrp="1"/>
          </p:cNvSpPr>
          <p:nvPr>
            <p:ph type="body" idx="1"/>
          </p:nvPr>
        </p:nvSpPr>
        <p:spPr>
          <a:xfrm>
            <a:off x="838200" y="1847850"/>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FFFFFF"/>
              </a:buClr>
              <a:buSzPts val="2800"/>
              <a:buChar char="•"/>
            </a:pPr>
            <a:r>
              <a:rPr lang="en-US" b="0" i="0" dirty="0">
                <a:solidFill>
                  <a:srgbClr val="FFFFFF"/>
                </a:solidFill>
                <a:latin typeface="Times New Roman" panose="02020603050405020304" pitchFamily="18" charset="0"/>
                <a:ea typeface="Nunito"/>
                <a:cs typeface="Times New Roman" panose="02020603050405020304" pitchFamily="18" charset="0"/>
                <a:sym typeface="Nunito"/>
              </a:rPr>
              <a:t>Time complexity of an algorithm can be calculated by </a:t>
            </a:r>
            <a:endParaRPr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r>
              <a:rPr lang="en-US" dirty="0">
                <a:latin typeface="Times New Roman" panose="02020603050405020304" pitchFamily="18" charset="0"/>
                <a:cs typeface="Times New Roman" panose="02020603050405020304" pitchFamily="18" charset="0"/>
              </a:rPr>
              <a:t>Time complexity of an algorithm can be calculated by using two methods: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Posteriori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Priori Analysis</a:t>
            </a:r>
            <a:endParaRPr dirty="0">
              <a:latin typeface="Times New Roman" panose="02020603050405020304" pitchFamily="18" charset="0"/>
              <a:cs typeface="Times New Roman" panose="02020603050405020304" pitchFamily="18" charset="0"/>
            </a:endParaRPr>
          </a:p>
        </p:txBody>
      </p:sp>
      <p:sp>
        <p:nvSpPr>
          <p:cNvPr id="196" name="Google Shape;19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97" name="Google Shape;19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428399" y="1051486"/>
            <a:ext cx="4646904" cy="10246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Georgia"/>
              <a:buNone/>
            </a:pPr>
            <a:r>
              <a:rPr lang="en-US" sz="4000">
                <a:latin typeface="Georgia"/>
                <a:ea typeface="Georgia"/>
                <a:cs typeface="Georgia"/>
                <a:sym typeface="Georgia"/>
              </a:rPr>
              <a:t>Learning Activity 1</a:t>
            </a:r>
            <a:endParaRPr/>
          </a:p>
        </p:txBody>
      </p:sp>
      <p:sp>
        <p:nvSpPr>
          <p:cNvPr id="203" name="Google Shape;203;p9"/>
          <p:cNvSpPr txBox="1">
            <a:spLocks noGrp="1"/>
          </p:cNvSpPr>
          <p:nvPr>
            <p:ph type="body" idx="1"/>
          </p:nvPr>
        </p:nvSpPr>
        <p:spPr>
          <a:xfrm>
            <a:off x="996068" y="1923833"/>
            <a:ext cx="5007318" cy="45848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None/>
            </a:pPr>
            <a:r>
              <a:rPr lang="en-US" sz="2000" dirty="0"/>
              <a:t>Look at the </a:t>
            </a:r>
            <a:r>
              <a:rPr lang="en-US" sz="2000" dirty="0" err="1"/>
              <a:t>pesudocode</a:t>
            </a:r>
            <a:r>
              <a:rPr lang="en-US" sz="2000" dirty="0"/>
              <a:t> for searching an element </a:t>
            </a:r>
            <a:endParaRPr sz="2000" dirty="0"/>
          </a:p>
          <a:p>
            <a:pPr marL="228600" lvl="0" indent="-228600" algn="l" rtl="0">
              <a:lnSpc>
                <a:spcPct val="90000"/>
              </a:lnSpc>
              <a:spcBef>
                <a:spcPts val="1000"/>
              </a:spcBef>
              <a:spcAft>
                <a:spcPts val="0"/>
              </a:spcAft>
              <a:buClr>
                <a:schemeClr val="dk1"/>
              </a:buClr>
              <a:buSzPct val="100000"/>
              <a:buChar char="•"/>
            </a:pPr>
            <a:r>
              <a:rPr lang="en-US" sz="2000" dirty="0"/>
              <a:t>Procedure search (list, value)</a:t>
            </a:r>
            <a:br>
              <a:rPr lang="en-US" sz="2000" dirty="0"/>
            </a:br>
            <a:r>
              <a:rPr lang="en-US" sz="2000" dirty="0"/>
              <a:t>{</a:t>
            </a:r>
            <a:br>
              <a:rPr lang="en-US" sz="2000" dirty="0"/>
            </a:br>
            <a:r>
              <a:rPr lang="en-US" sz="2000" dirty="0"/>
              <a:t>   for each item in the list</a:t>
            </a:r>
            <a:br>
              <a:rPr lang="en-US" sz="2000" dirty="0"/>
            </a:br>
            <a:r>
              <a:rPr lang="en-US" sz="2000" dirty="0"/>
              <a:t>   {</a:t>
            </a:r>
            <a:br>
              <a:rPr lang="en-US" sz="2000" dirty="0"/>
            </a:br>
            <a:r>
              <a:rPr lang="en-US" sz="2000" dirty="0"/>
              <a:t>      if (match item == value)</a:t>
            </a:r>
            <a:br>
              <a:rPr lang="en-US" sz="2000" dirty="0"/>
            </a:br>
            <a:r>
              <a:rPr lang="en-US" sz="2000" dirty="0"/>
              <a:t>      {</a:t>
            </a:r>
            <a:br>
              <a:rPr lang="en-US" sz="2000" dirty="0"/>
            </a:br>
            <a:r>
              <a:rPr lang="en-US" sz="2000" dirty="0"/>
              <a:t>         return the item’s location</a:t>
            </a:r>
            <a:br>
              <a:rPr lang="en-US" sz="2000" dirty="0"/>
            </a:br>
            <a:r>
              <a:rPr lang="en-US" sz="2000" dirty="0"/>
              <a:t>      }</a:t>
            </a:r>
            <a:br>
              <a:rPr lang="en-US" sz="2000" dirty="0"/>
            </a:br>
            <a:r>
              <a:rPr lang="en-US" sz="2000" dirty="0"/>
              <a:t>      end if</a:t>
            </a:r>
            <a:br>
              <a:rPr lang="en-US" sz="2000" dirty="0"/>
            </a:br>
            <a:r>
              <a:rPr lang="en-US" sz="2000" dirty="0"/>
              <a:t>   }</a:t>
            </a:r>
            <a:br>
              <a:rPr lang="en-US" sz="2000" dirty="0"/>
            </a:br>
            <a:r>
              <a:rPr lang="en-US" sz="2000" dirty="0"/>
              <a:t>   end for</a:t>
            </a:r>
            <a:br>
              <a:rPr lang="en-US" sz="2000" dirty="0"/>
            </a:br>
            <a:r>
              <a:rPr lang="en-US" sz="2000" dirty="0"/>
              <a:t>}</a:t>
            </a:r>
            <a:br>
              <a:rPr lang="en-US" sz="2000" dirty="0"/>
            </a:br>
            <a:r>
              <a:rPr lang="en-US" sz="2000" dirty="0"/>
              <a:t>end procedure</a:t>
            </a:r>
            <a:endParaRPr sz="2000" dirty="0"/>
          </a:p>
        </p:txBody>
      </p:sp>
      <p:sp>
        <p:nvSpPr>
          <p:cNvPr id="204" name="Google Shape;20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05" name="Google Shape;20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206" name="Google Shape;206;p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07" name="Google Shape;207;p9"/>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08" name="Google Shape;208;p9"/>
          <p:cNvSpPr txBox="1"/>
          <p:nvPr/>
        </p:nvSpPr>
        <p:spPr>
          <a:xfrm>
            <a:off x="6709657" y="2907504"/>
            <a:ext cx="448627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What is the time complexity of the given searching algorithm?</a:t>
            </a:r>
            <a:endParaRPr/>
          </a:p>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Discuss In pairs.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2"/>
        <p:cNvGrpSpPr/>
        <p:nvPr/>
      </p:nvGrpSpPr>
      <p:grpSpPr>
        <a:xfrm>
          <a:off x="0" y="0"/>
          <a:ext cx="0" cy="0"/>
          <a:chOff x="0" y="0"/>
          <a:chExt cx="0" cy="0"/>
        </a:xfrm>
      </p:grpSpPr>
      <p:sp>
        <p:nvSpPr>
          <p:cNvPr id="213" name="Google Shape;213;p10"/>
          <p:cNvSpPr txBox="1">
            <a:spLocks noGrp="1"/>
          </p:cNvSpPr>
          <p:nvPr>
            <p:ph type="title"/>
          </p:nvPr>
        </p:nvSpPr>
        <p:spPr>
          <a:xfrm>
            <a:off x="907066" y="1053867"/>
            <a:ext cx="8419814" cy="16445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Play"/>
              <a:buNone/>
            </a:pPr>
            <a:r>
              <a:rPr lang="en-US" sz="4000" b="1" dirty="0">
                <a:solidFill>
                  <a:schemeClr val="dk2"/>
                </a:solidFill>
              </a:rPr>
              <a:t>Reflection- Learning Activity 1</a:t>
            </a:r>
            <a:endParaRPr dirty="0"/>
          </a:p>
        </p:txBody>
      </p:sp>
      <p:sp>
        <p:nvSpPr>
          <p:cNvPr id="214" name="Google Shape;21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15" name="Google Shape;21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16" name="Google Shape;216;p10"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17" name="Google Shape;217;p10"/>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18" name="Google Shape;218;p10"/>
          <p:cNvSpPr txBox="1"/>
          <p:nvPr/>
        </p:nvSpPr>
        <p:spPr>
          <a:xfrm>
            <a:off x="777240" y="3104464"/>
            <a:ext cx="10856058" cy="95406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0" i="0" u="none" strike="noStrike" cap="none" dirty="0">
                <a:solidFill>
                  <a:schemeClr val="dk1"/>
                </a:solidFill>
                <a:latin typeface="Arial"/>
                <a:ea typeface="Arial"/>
                <a:cs typeface="Arial"/>
                <a:sym typeface="Arial"/>
              </a:rPr>
              <a:t>Q1. Can you suggest a different algorithm  for the same function?</a:t>
            </a:r>
            <a:endParaRPr sz="1600" dirty="0"/>
          </a:p>
          <a:p>
            <a:pPr marL="0" marR="0" lvl="0" indent="0" algn="l" rtl="0">
              <a:spcBef>
                <a:spcPts val="0"/>
              </a:spcBef>
              <a:spcAft>
                <a:spcPts val="0"/>
              </a:spcAft>
              <a:buNone/>
            </a:pPr>
            <a:r>
              <a:rPr lang="en-US" sz="2800" b="0" i="0" u="none" strike="noStrike" cap="none" dirty="0">
                <a:solidFill>
                  <a:schemeClr val="dk1"/>
                </a:solidFill>
                <a:latin typeface="Arial"/>
                <a:ea typeface="Arial"/>
                <a:cs typeface="Arial"/>
                <a:sym typeface="Arial"/>
              </a:rPr>
              <a:t>Q2. How do you think it is different and how?</a:t>
            </a:r>
            <a:endParaRP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3795410" y="162514"/>
            <a:ext cx="7068313" cy="474713"/>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chemeClr val="dk2"/>
              </a:buClr>
              <a:buSzPct val="100000"/>
              <a:buFont typeface="Play"/>
              <a:buNone/>
            </a:pPr>
            <a:r>
              <a:rPr lang="en-US" sz="1800" b="1" dirty="0">
                <a:solidFill>
                  <a:schemeClr val="dk2"/>
                </a:solidFill>
              </a:rPr>
              <a:t>Concept and Definition for Learning Activity 2 Asymptotic Notations</a:t>
            </a:r>
            <a:endParaRPr sz="2000" dirty="0"/>
          </a:p>
        </p:txBody>
      </p:sp>
      <p:sp>
        <p:nvSpPr>
          <p:cNvPr id="224" name="Google Shape;22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25" name="Google Shape;22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26" name="Google Shape;226;p11"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27" name="Google Shape;227;p11"/>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28" name="Google Shape;228;p11"/>
          <p:cNvSpPr txBox="1"/>
          <p:nvPr/>
        </p:nvSpPr>
        <p:spPr>
          <a:xfrm>
            <a:off x="994575" y="1051486"/>
            <a:ext cx="9410301" cy="33851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600" b="0" i="0" u="none" strike="noStrike" cap="none" dirty="0">
                <a:solidFill>
                  <a:schemeClr val="dk1"/>
                </a:solidFill>
                <a:latin typeface="Arial"/>
                <a:ea typeface="Arial"/>
                <a:cs typeface="Arial"/>
                <a:sym typeface="Arial"/>
              </a:rPr>
              <a:t>The main idea is to have a measure of efficiency of algorithms that doesn’t depend on machines.</a:t>
            </a:r>
            <a:endParaRPr sz="1050" dirty="0"/>
          </a:p>
        </p:txBody>
      </p:sp>
      <p:sp>
        <p:nvSpPr>
          <p:cNvPr id="4" name="Google Shape;177;p8">
            <a:extLst>
              <a:ext uri="{FF2B5EF4-FFF2-40B4-BE49-F238E27FC236}">
                <a16:creationId xmlns:a16="http://schemas.microsoft.com/office/drawing/2014/main" id="{C7B30030-C840-A5DC-2FD3-C791936E7203}"/>
              </a:ext>
            </a:extLst>
          </p:cNvPr>
          <p:cNvSpPr txBox="1">
            <a:spLocks noGrp="1"/>
          </p:cNvSpPr>
          <p:nvPr>
            <p:ph type="body" idx="1"/>
          </p:nvPr>
        </p:nvSpPr>
        <p:spPr>
          <a:xfrm>
            <a:off x="680332" y="1587046"/>
            <a:ext cx="10515600" cy="4351338"/>
          </a:xfrm>
          <a:prstGeom prst="rect">
            <a:avLst/>
          </a:prstGeom>
          <a:noFill/>
          <a:ln>
            <a:noFill/>
          </a:ln>
        </p:spPr>
        <p:txBody>
          <a:bodyPr spcFirstLastPara="1" wrap="square" lIns="91425" tIns="45700" rIns="91425" bIns="45700" anchor="t" anchorCtr="0">
            <a:normAutofit/>
          </a:bodyPr>
          <a:lstStyle/>
          <a:p>
            <a:pPr marL="342900" marR="359410" lvl="0" indent="-342900" algn="l" rtl="0">
              <a:lnSpc>
                <a:spcPct val="107000"/>
              </a:lnSpc>
              <a:spcBef>
                <a:spcPts val="0"/>
              </a:spcBef>
              <a:spcAft>
                <a:spcPts val="0"/>
              </a:spcAft>
              <a:buClr>
                <a:schemeClr val="dk1"/>
              </a:buClr>
              <a:buSzPts val="2800"/>
              <a:buFont typeface="Play"/>
              <a:buAutoNum type="arabicPeriod"/>
            </a:pPr>
            <a:r>
              <a:rPr lang="en-US" b="1" dirty="0">
                <a:latin typeface="Times New Roman"/>
                <a:ea typeface="Times New Roman"/>
                <a:cs typeface="Times New Roman"/>
                <a:sym typeface="Times New Roman"/>
              </a:rPr>
              <a:t>Time Complexity:</a:t>
            </a:r>
            <a:endParaRPr dirty="0"/>
          </a:p>
          <a:p>
            <a:pPr marL="228600" lvl="0" indent="-228600" algn="l" rtl="0">
              <a:lnSpc>
                <a:spcPct val="90000"/>
              </a:lnSpc>
              <a:spcBef>
                <a:spcPts val="1800"/>
              </a:spcBef>
              <a:spcAft>
                <a:spcPts val="0"/>
              </a:spcAft>
              <a:buClr>
                <a:schemeClr val="dk1"/>
              </a:buClr>
              <a:buSzPts val="2800"/>
              <a:buFont typeface="Arial"/>
              <a:buChar char="•"/>
            </a:pPr>
            <a:r>
              <a:rPr lang="en-US" dirty="0"/>
              <a:t>Measures the execution time of an algorithm.</a:t>
            </a:r>
            <a:endParaRPr dirty="0"/>
          </a:p>
          <a:p>
            <a:pPr marL="742950" lvl="1" indent="-285750" algn="l" rtl="0">
              <a:lnSpc>
                <a:spcPct val="90000"/>
              </a:lnSpc>
              <a:spcBef>
                <a:spcPts val="500"/>
              </a:spcBef>
              <a:spcAft>
                <a:spcPts val="0"/>
              </a:spcAft>
              <a:buClr>
                <a:schemeClr val="dk1"/>
              </a:buClr>
              <a:buSzPts val="2400"/>
              <a:buFont typeface="Arial"/>
              <a:buChar char="•"/>
            </a:pPr>
            <a:r>
              <a:rPr lang="en-US" b="1" dirty="0"/>
              <a:t>Best Case (Big-Ω)</a:t>
            </a:r>
            <a:r>
              <a:rPr lang="en-US" dirty="0"/>
              <a:t>: Minimum time required.</a:t>
            </a:r>
            <a:endParaRPr dirty="0"/>
          </a:p>
          <a:p>
            <a:pPr marL="742950" lvl="1" indent="-285750" algn="l" rtl="0">
              <a:lnSpc>
                <a:spcPct val="90000"/>
              </a:lnSpc>
              <a:spcBef>
                <a:spcPts val="500"/>
              </a:spcBef>
              <a:spcAft>
                <a:spcPts val="0"/>
              </a:spcAft>
              <a:buClr>
                <a:schemeClr val="dk1"/>
              </a:buClr>
              <a:buSzPts val="2400"/>
              <a:buFont typeface="Arial"/>
              <a:buChar char="•"/>
            </a:pPr>
            <a:r>
              <a:rPr lang="en-US" b="1" dirty="0"/>
              <a:t>Worst Case (Big-O)</a:t>
            </a:r>
            <a:r>
              <a:rPr lang="en-US" dirty="0"/>
              <a:t>: Maximum time required.</a:t>
            </a:r>
            <a:endParaRPr dirty="0"/>
          </a:p>
          <a:p>
            <a:pPr marL="742950" lvl="1" indent="-285750" algn="l" rtl="0">
              <a:lnSpc>
                <a:spcPct val="90000"/>
              </a:lnSpc>
              <a:spcBef>
                <a:spcPts val="500"/>
              </a:spcBef>
              <a:spcAft>
                <a:spcPts val="0"/>
              </a:spcAft>
              <a:buClr>
                <a:schemeClr val="dk1"/>
              </a:buClr>
              <a:buSzPts val="2400"/>
              <a:buFont typeface="Arial"/>
              <a:buChar char="•"/>
            </a:pPr>
            <a:r>
              <a:rPr lang="en-US" b="1" dirty="0"/>
              <a:t>Average Case (Big-Θ)</a:t>
            </a:r>
            <a:r>
              <a:rPr lang="en-US" dirty="0"/>
              <a:t>: Expected time for random inputs.</a:t>
            </a:r>
            <a:endParaRPr dirty="0"/>
          </a:p>
          <a:p>
            <a:pPr marL="0" lvl="0" indent="0" algn="l" rtl="0">
              <a:lnSpc>
                <a:spcPct val="90000"/>
              </a:lnSpc>
              <a:spcBef>
                <a:spcPts val="1000"/>
              </a:spcBef>
              <a:spcAft>
                <a:spcPts val="0"/>
              </a:spcAft>
              <a:buClr>
                <a:schemeClr val="dk1"/>
              </a:buClr>
              <a:buSzPts val="2800"/>
              <a:buNone/>
            </a:pPr>
            <a:r>
              <a:rPr lang="en-US" b="1" dirty="0">
                <a:latin typeface="Times New Roman"/>
                <a:ea typeface="Times New Roman"/>
                <a:cs typeface="Times New Roman"/>
                <a:sym typeface="Times New Roman"/>
              </a:rPr>
              <a:t>2. Space Complexity:</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Measures memory required by an algorithm.</a:t>
            </a:r>
            <a:endParaRPr dirty="0"/>
          </a:p>
          <a:p>
            <a:pPr marL="228600" lvl="0" indent="-228600" algn="l" rtl="0">
              <a:lnSpc>
                <a:spcPct val="90000"/>
              </a:lnSpc>
              <a:spcBef>
                <a:spcPts val="1000"/>
              </a:spcBef>
              <a:spcAft>
                <a:spcPts val="0"/>
              </a:spcAft>
              <a:buClr>
                <a:schemeClr val="dk1"/>
              </a:buClr>
              <a:buSzPts val="2800"/>
              <a:buFont typeface="Arial"/>
              <a:buChar char="•"/>
            </a:pPr>
            <a:r>
              <a:rPr lang="en-US" dirty="0"/>
              <a:t>Includes input storage, auxiliary space, and recursion stack.</a:t>
            </a: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en-US" b="1" dirty="0">
                <a:solidFill>
                  <a:srgbClr val="FF0000"/>
                </a:solidFill>
                <a:latin typeface="Times New Roman" panose="02020603050405020304" pitchFamily="18" charset="0"/>
                <a:cs typeface="Times New Roman" panose="02020603050405020304" pitchFamily="18" charset="0"/>
              </a:rPr>
              <a:t>Big-O Notation (O-notation):</a:t>
            </a:r>
            <a:endParaRPr b="1" dirty="0">
              <a:solidFill>
                <a:srgbClr val="FF0000"/>
              </a:solidFill>
              <a:latin typeface="Times New Roman" panose="02020603050405020304" pitchFamily="18" charset="0"/>
              <a:cs typeface="Times New Roman" panose="02020603050405020304" pitchFamily="18" charset="0"/>
            </a:endParaRPr>
          </a:p>
        </p:txBody>
      </p:sp>
      <p:sp>
        <p:nvSpPr>
          <p:cNvPr id="234" name="Google Shape;234;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n-US" dirty="0"/>
              <a:t>Big-O notation represents the upper bound of the running time of an algorithm. Therefore, it gives the </a:t>
            </a:r>
            <a:r>
              <a:rPr lang="en-US" b="1" dirty="0">
                <a:solidFill>
                  <a:schemeClr val="accent1">
                    <a:lumMod val="60000"/>
                    <a:lumOff val="40000"/>
                  </a:schemeClr>
                </a:solidFill>
              </a:rPr>
              <a:t>worst-case complexity </a:t>
            </a:r>
            <a:r>
              <a:rPr lang="en-US" dirty="0"/>
              <a:t>of an algorithm.</a:t>
            </a:r>
            <a:endParaRPr dirty="0"/>
          </a:p>
          <a:p>
            <a:pPr marL="228600" lvl="0" indent="-228600" algn="just" rtl="0">
              <a:lnSpc>
                <a:spcPct val="90000"/>
              </a:lnSpc>
              <a:spcBef>
                <a:spcPts val="1000"/>
              </a:spcBef>
              <a:spcAft>
                <a:spcPts val="0"/>
              </a:spcAft>
              <a:buClr>
                <a:schemeClr val="dk1"/>
              </a:buClr>
              <a:buSzPct val="100000"/>
              <a:buChar char="•"/>
            </a:pPr>
            <a:r>
              <a:rPr lang="en-US" dirty="0"/>
              <a:t>It is the most widely used notation for Asymptotic analysis.</a:t>
            </a:r>
            <a:br>
              <a:rPr lang="en-US" dirty="0"/>
            </a:br>
            <a:r>
              <a:rPr lang="en-US" dirty="0"/>
              <a:t>It specifies the upper bound of a function.</a:t>
            </a:r>
            <a:br>
              <a:rPr lang="en-US" dirty="0"/>
            </a:br>
            <a:r>
              <a:rPr lang="en-US" dirty="0"/>
              <a:t>The maximum time required by an algorithm or the worst-case time complexity.</a:t>
            </a:r>
          </a:p>
          <a:p>
            <a:pPr marL="228600" lvl="0" indent="-228600" algn="just" rtl="0">
              <a:lnSpc>
                <a:spcPct val="90000"/>
              </a:lnSpc>
              <a:spcBef>
                <a:spcPts val="1000"/>
              </a:spcBef>
              <a:spcAft>
                <a:spcPts val="0"/>
              </a:spcAft>
              <a:buClr>
                <a:schemeClr val="dk1"/>
              </a:buClr>
              <a:buSzPct val="100000"/>
              <a:buChar char="•"/>
            </a:pPr>
            <a:r>
              <a:rPr lang="en-US" dirty="0"/>
              <a:t>It returns the highest possible output value(big-O) for a given input.</a:t>
            </a:r>
            <a:br>
              <a:rPr lang="en-US" dirty="0"/>
            </a:br>
            <a:endParaRPr lang="en-US" dirty="0"/>
          </a:p>
          <a:p>
            <a:pPr marL="228600" lvl="0" indent="-228600" algn="just" rtl="0">
              <a:lnSpc>
                <a:spcPct val="90000"/>
              </a:lnSpc>
              <a:spcBef>
                <a:spcPts val="1000"/>
              </a:spcBef>
              <a:spcAft>
                <a:spcPts val="0"/>
              </a:spcAft>
              <a:buClr>
                <a:schemeClr val="dk1"/>
              </a:buClr>
              <a:buSzPct val="100000"/>
              <a:buChar char="•"/>
            </a:pPr>
            <a:r>
              <a:rPr lang="en-US" dirty="0"/>
              <a:t>Big-O(worst-case) It is defined as the condition that allows an algorithm to complete statement execution in the longest amount of time possible.</a:t>
            </a:r>
            <a:endParaRPr dirty="0"/>
          </a:p>
        </p:txBody>
      </p:sp>
      <p:sp>
        <p:nvSpPr>
          <p:cNvPr id="235" name="Google Shape;23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36" name="Google Shape;23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6196011" y="1072355"/>
            <a:ext cx="5662613" cy="3548062"/>
          </a:xfrm>
          <a:prstGeom prst="rect">
            <a:avLst/>
          </a:prstGeom>
          <a:noFill/>
          <a:ln>
            <a:noFill/>
          </a:ln>
        </p:spPr>
        <p:txBody>
          <a:bodyPr spcFirstLastPara="1" wrap="square" lIns="91425" tIns="45700" rIns="91425" bIns="45700" anchor="ctr" anchorCtr="0">
            <a:normAutofit/>
          </a:bodyPr>
          <a:lstStyle/>
          <a:p>
            <a:pPr marL="0" lvl="0" indent="0" algn="just" rtl="0">
              <a:lnSpc>
                <a:spcPct val="90000"/>
              </a:lnSpc>
              <a:spcBef>
                <a:spcPts val="0"/>
              </a:spcBef>
              <a:spcAft>
                <a:spcPts val="0"/>
              </a:spcAft>
              <a:buClr>
                <a:schemeClr val="dk1"/>
              </a:buClr>
              <a:buSzPts val="2400"/>
              <a:buFont typeface="Play"/>
              <a:buNone/>
            </a:pPr>
            <a:r>
              <a:rPr lang="en-US" sz="2400" dirty="0"/>
              <a:t>If f(n) describes the running time of an algorithm, f(n) is O(g(n)) if there exist a positive constant C and n0 such that, 0 ≤ f(n) ≤ cg(n) for all n ≥ n0</a:t>
            </a:r>
            <a:endParaRPr dirty="0"/>
          </a:p>
        </p:txBody>
      </p:sp>
      <p:sp>
        <p:nvSpPr>
          <p:cNvPr id="242" name="Google Shape;24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43" name="Google Shape;24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244" name="Google Shape;244;p13"/>
          <p:cNvPicPr preferRelativeResize="0">
            <a:picLocks noGrp="1"/>
          </p:cNvPicPr>
          <p:nvPr>
            <p:ph type="body" idx="1"/>
          </p:nvPr>
        </p:nvPicPr>
        <p:blipFill rotWithShape="1">
          <a:blip r:embed="rId3">
            <a:alphaModFix/>
          </a:blip>
          <a:srcRect/>
          <a:stretch/>
        </p:blipFill>
        <p:spPr>
          <a:xfrm>
            <a:off x="1191171" y="1141411"/>
            <a:ext cx="4238100" cy="4389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en-US" b="1" dirty="0">
                <a:solidFill>
                  <a:srgbClr val="FF0000"/>
                </a:solidFill>
                <a:latin typeface="Times New Roman" panose="02020603050405020304" pitchFamily="18" charset="0"/>
                <a:cs typeface="Times New Roman" panose="02020603050405020304" pitchFamily="18" charset="0"/>
              </a:rPr>
              <a:t>Omega Notation (Ω-Notation):</a:t>
            </a:r>
            <a:endParaRPr b="1" dirty="0">
              <a:solidFill>
                <a:srgbClr val="FF0000"/>
              </a:solidFill>
              <a:latin typeface="Times New Roman" panose="02020603050405020304" pitchFamily="18" charset="0"/>
              <a:cs typeface="Times New Roman" panose="02020603050405020304" pitchFamily="18" charset="0"/>
            </a:endParaRPr>
          </a:p>
        </p:txBody>
      </p:sp>
      <p:sp>
        <p:nvSpPr>
          <p:cNvPr id="250" name="Google Shape;250;p14"/>
          <p:cNvSpPr txBox="1">
            <a:spLocks noGrp="1"/>
          </p:cNvSpPr>
          <p:nvPr>
            <p:ph type="body" idx="1"/>
          </p:nvPr>
        </p:nvSpPr>
        <p:spPr>
          <a:xfrm>
            <a:off x="838200" y="1843913"/>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br>
              <a:rPr lang="en-US" dirty="0"/>
            </a:br>
            <a:r>
              <a:rPr lang="en-US" dirty="0"/>
              <a:t>Omega notation represents the lower bound of the running time of an algorithm. Thus, it provides the best-case complexity of an algorithm.</a:t>
            </a:r>
          </a:p>
          <a:p>
            <a:pPr marL="0" lvl="0" indent="0" algn="just" rtl="0">
              <a:lnSpc>
                <a:spcPct val="90000"/>
              </a:lnSpc>
              <a:spcBef>
                <a:spcPts val="0"/>
              </a:spcBef>
              <a:spcAft>
                <a:spcPts val="0"/>
              </a:spcAft>
              <a:buClr>
                <a:schemeClr val="dk1"/>
              </a:buClr>
              <a:buSzPts val="2800"/>
              <a:buNone/>
            </a:pPr>
            <a:br>
              <a:rPr lang="en-US" dirty="0"/>
            </a:br>
            <a:r>
              <a:rPr lang="en-US" dirty="0"/>
              <a:t>The execution time serves as a lower bound on the algorithm’s time complexity.</a:t>
            </a:r>
          </a:p>
          <a:p>
            <a:pPr marL="0" lvl="0" indent="0" algn="just" rtl="0">
              <a:lnSpc>
                <a:spcPct val="90000"/>
              </a:lnSpc>
              <a:spcBef>
                <a:spcPts val="0"/>
              </a:spcBef>
              <a:spcAft>
                <a:spcPts val="0"/>
              </a:spcAft>
              <a:buClr>
                <a:schemeClr val="dk1"/>
              </a:buClr>
              <a:buSzPts val="2800"/>
              <a:buNone/>
            </a:pPr>
            <a:br>
              <a:rPr lang="en-US" dirty="0"/>
            </a:br>
            <a:r>
              <a:rPr lang="en-US" dirty="0"/>
              <a:t>It is defined as the condition that allows an algorithm to complete statement execution in the shortest amount of time.</a:t>
            </a:r>
            <a:endParaRPr dirty="0"/>
          </a:p>
        </p:txBody>
      </p:sp>
      <p:sp>
        <p:nvSpPr>
          <p:cNvPr id="251" name="Google Shape;2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52" name="Google Shape;2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5"/>
          <p:cNvSpPr txBox="1">
            <a:spLocks noGrp="1"/>
          </p:cNvSpPr>
          <p:nvPr>
            <p:ph type="title"/>
          </p:nvPr>
        </p:nvSpPr>
        <p:spPr>
          <a:xfrm>
            <a:off x="5834063" y="1476772"/>
            <a:ext cx="5976937" cy="3678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700"/>
              <a:buFont typeface="Play"/>
              <a:buNone/>
            </a:pPr>
            <a:r>
              <a:rPr lang="en-US" sz="2700"/>
              <a:t>Let g and f be the function from the set of natural numbers to itself. The function f is said to be Ω(g), if there is a constant c &gt; 0 and a natural number n0 such that c*g(n) ≤ f(n) for all n ≥ n</a:t>
            </a:r>
            <a:r>
              <a:rPr lang="en-US"/>
              <a:t>0</a:t>
            </a:r>
            <a:endParaRPr/>
          </a:p>
        </p:txBody>
      </p:sp>
      <p:sp>
        <p:nvSpPr>
          <p:cNvPr id="258" name="Google Shape;25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59" name="Google Shape;25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260" name="Google Shape;260;p15"/>
          <p:cNvPicPr preferRelativeResize="0">
            <a:picLocks noGrp="1"/>
          </p:cNvPicPr>
          <p:nvPr>
            <p:ph type="body" idx="1"/>
          </p:nvPr>
        </p:nvPicPr>
        <p:blipFill rotWithShape="1">
          <a:blip r:embed="rId3">
            <a:alphaModFix/>
          </a:blip>
          <a:srcRect/>
          <a:stretch/>
        </p:blipFill>
        <p:spPr>
          <a:xfrm>
            <a:off x="838200" y="1211263"/>
            <a:ext cx="4276601" cy="39441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en-US" b="1" dirty="0">
                <a:solidFill>
                  <a:srgbClr val="FF0000"/>
                </a:solidFill>
                <a:latin typeface="Times New Roman" panose="02020603050405020304" pitchFamily="18" charset="0"/>
                <a:cs typeface="Times New Roman" panose="02020603050405020304" pitchFamily="18" charset="0"/>
              </a:rPr>
              <a:t>Theta Notation (Θ-Notation):</a:t>
            </a:r>
            <a:endParaRPr b="1" dirty="0">
              <a:solidFill>
                <a:srgbClr val="FF0000"/>
              </a:solidFill>
              <a:latin typeface="Times New Roman" panose="02020603050405020304" pitchFamily="18" charset="0"/>
              <a:cs typeface="Times New Roman" panose="02020603050405020304" pitchFamily="18" charset="0"/>
            </a:endParaRPr>
          </a:p>
        </p:txBody>
      </p:sp>
      <p:sp>
        <p:nvSpPr>
          <p:cNvPr id="266" name="Google Shape;266;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t>Theta notation encloses the function from above and below. Since it represents the upper and the lower bound of the running time of an algorithm, it is used for analyzing the </a:t>
            </a:r>
            <a:r>
              <a:rPr lang="en-US" b="1" dirty="0"/>
              <a:t>average-case complexity of an algorithm</a:t>
            </a:r>
            <a:r>
              <a:rPr lang="en-US" dirty="0"/>
              <a:t>.</a:t>
            </a:r>
          </a:p>
          <a:p>
            <a:pPr marL="0" lvl="0" indent="0" algn="just" rtl="0">
              <a:lnSpc>
                <a:spcPct val="90000"/>
              </a:lnSpc>
              <a:spcBef>
                <a:spcPts val="0"/>
              </a:spcBef>
              <a:spcAft>
                <a:spcPts val="0"/>
              </a:spcAft>
              <a:buClr>
                <a:schemeClr val="dk1"/>
              </a:buClr>
              <a:buSzPts val="2800"/>
              <a:buNone/>
            </a:pPr>
            <a:br>
              <a:rPr lang="en-US" dirty="0"/>
            </a:br>
            <a:r>
              <a:rPr lang="en-US" dirty="0"/>
              <a:t>Theta (Average Case) You add the running times for each possible input combination and take the average in the average case.</a:t>
            </a:r>
            <a:endParaRPr dirty="0"/>
          </a:p>
        </p:txBody>
      </p:sp>
      <p:sp>
        <p:nvSpPr>
          <p:cNvPr id="267" name="Google Shape;26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68" name="Google Shape;26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7"/>
          <p:cNvSpPr txBox="1">
            <a:spLocks noGrp="1"/>
          </p:cNvSpPr>
          <p:nvPr>
            <p:ph type="title"/>
          </p:nvPr>
        </p:nvSpPr>
        <p:spPr>
          <a:xfrm>
            <a:off x="5697760" y="365125"/>
            <a:ext cx="6063235" cy="52784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Play"/>
              <a:buNone/>
            </a:pPr>
            <a:r>
              <a:rPr lang="en-US" sz="2400"/>
              <a:t>Let g and f be the function from the set of natural numbers to itself. The function f is said to be Θ(g), if there are constants c1, c2 &gt; 0 and a natural number n0 such that c1* g(n) ≤ f(n) ≤ c2 * g(n) for all n ≥ n0</a:t>
            </a:r>
            <a:endParaRPr/>
          </a:p>
        </p:txBody>
      </p:sp>
      <p:sp>
        <p:nvSpPr>
          <p:cNvPr id="274" name="Google Shape;27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75" name="Google Shape;27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276" name="Google Shape;276;p17"/>
          <p:cNvPicPr preferRelativeResize="0">
            <a:picLocks noGrp="1"/>
          </p:cNvPicPr>
          <p:nvPr>
            <p:ph type="body" idx="1"/>
          </p:nvPr>
        </p:nvPicPr>
        <p:blipFill rotWithShape="1">
          <a:blip r:embed="rId3">
            <a:alphaModFix/>
          </a:blip>
          <a:srcRect/>
          <a:stretch/>
        </p:blipFill>
        <p:spPr>
          <a:xfrm>
            <a:off x="431005" y="1197368"/>
            <a:ext cx="4724402" cy="39151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0"/>
        <p:cNvGrpSpPr/>
        <p:nvPr/>
      </p:nvGrpSpPr>
      <p:grpSpPr>
        <a:xfrm>
          <a:off x="0" y="0"/>
          <a:ext cx="0" cy="0"/>
          <a:chOff x="0" y="0"/>
          <a:chExt cx="0" cy="0"/>
        </a:xfrm>
      </p:grpSpPr>
      <p:sp>
        <p:nvSpPr>
          <p:cNvPr id="281" name="Google Shape;281;p18"/>
          <p:cNvSpPr txBox="1">
            <a:spLocks noGrp="1"/>
          </p:cNvSpPr>
          <p:nvPr>
            <p:ph type="title"/>
          </p:nvPr>
        </p:nvSpPr>
        <p:spPr>
          <a:xfrm>
            <a:off x="428399" y="1051486"/>
            <a:ext cx="4646904" cy="10246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Georgia"/>
              <a:buNone/>
            </a:pPr>
            <a:r>
              <a:rPr lang="en-US" sz="4000">
                <a:latin typeface="Georgia"/>
                <a:ea typeface="Georgia"/>
                <a:cs typeface="Georgia"/>
                <a:sym typeface="Georgia"/>
              </a:rPr>
              <a:t>Learning Activity 2</a:t>
            </a:r>
            <a:endParaRPr/>
          </a:p>
        </p:txBody>
      </p:sp>
      <p:sp>
        <p:nvSpPr>
          <p:cNvPr id="282" name="Google Shape;282;p18"/>
          <p:cNvSpPr txBox="1">
            <a:spLocks noGrp="1"/>
          </p:cNvSpPr>
          <p:nvPr>
            <p:ph type="body" idx="1"/>
          </p:nvPr>
        </p:nvSpPr>
        <p:spPr>
          <a:xfrm>
            <a:off x="686898" y="2743201"/>
            <a:ext cx="5417542" cy="36131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en-US" sz="2000" b="1" dirty="0"/>
              <a:t>Group1: Bubble sort</a:t>
            </a:r>
            <a:endParaRPr dirty="0"/>
          </a:p>
          <a:p>
            <a:pPr marL="0" lvl="0" indent="0" algn="l" rtl="0">
              <a:lnSpc>
                <a:spcPct val="90000"/>
              </a:lnSpc>
              <a:spcBef>
                <a:spcPts val="1000"/>
              </a:spcBef>
              <a:spcAft>
                <a:spcPts val="0"/>
              </a:spcAft>
              <a:buClr>
                <a:schemeClr val="dk1"/>
              </a:buClr>
              <a:buSzPts val="2000"/>
              <a:buNone/>
            </a:pPr>
            <a:r>
              <a:rPr lang="en-US" sz="2000" b="1" dirty="0"/>
              <a:t>Group 2: Selection sort</a:t>
            </a:r>
            <a:endParaRPr dirty="0"/>
          </a:p>
          <a:p>
            <a:pPr marL="0" lvl="0" indent="0" algn="l" rtl="0">
              <a:lnSpc>
                <a:spcPct val="90000"/>
              </a:lnSpc>
              <a:spcBef>
                <a:spcPts val="1000"/>
              </a:spcBef>
              <a:spcAft>
                <a:spcPts val="0"/>
              </a:spcAft>
              <a:buClr>
                <a:schemeClr val="dk1"/>
              </a:buClr>
              <a:buSzPts val="2000"/>
              <a:buNone/>
            </a:pPr>
            <a:r>
              <a:rPr lang="en-US" sz="2000" b="1" dirty="0"/>
              <a:t>Group 3: Quick Sort</a:t>
            </a:r>
            <a:endParaRPr sz="2000" b="1" dirty="0"/>
          </a:p>
          <a:p>
            <a:pPr marL="0" lvl="0" indent="0" algn="just" rtl="0">
              <a:lnSpc>
                <a:spcPct val="90000"/>
              </a:lnSpc>
              <a:spcBef>
                <a:spcPts val="1000"/>
              </a:spcBef>
              <a:spcAft>
                <a:spcPts val="0"/>
              </a:spcAft>
              <a:buClr>
                <a:schemeClr val="dk1"/>
              </a:buClr>
              <a:buSzPts val="2000"/>
              <a:buNone/>
            </a:pPr>
            <a:r>
              <a:rPr lang="en-US" sz="2000" b="1" dirty="0"/>
              <a:t>Take 3-4 minutes of your time and </a:t>
            </a:r>
            <a:r>
              <a:rPr lang="en-US" sz="2000" b="1" dirty="0" err="1"/>
              <a:t>analyse</a:t>
            </a:r>
            <a:r>
              <a:rPr lang="en-US" sz="2000" b="1" dirty="0"/>
              <a:t> the best and worst time complexity of these sorting algorithms.</a:t>
            </a:r>
            <a:endParaRPr sz="2000" b="1" dirty="0"/>
          </a:p>
        </p:txBody>
      </p:sp>
      <p:sp>
        <p:nvSpPr>
          <p:cNvPr id="283" name="Google Shape;28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84" name="Google Shape;28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285" name="Google Shape;285;p1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86" name="Google Shape;286;p18"/>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9"/>
          <p:cNvSpPr txBox="1">
            <a:spLocks noGrp="1"/>
          </p:cNvSpPr>
          <p:nvPr>
            <p:ph type="title"/>
          </p:nvPr>
        </p:nvSpPr>
        <p:spPr>
          <a:xfrm>
            <a:off x="347472" y="1604859"/>
            <a:ext cx="6081903" cy="113358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2"/>
              </a:buClr>
              <a:buSzPct val="100000"/>
              <a:buFont typeface="Play"/>
              <a:buNone/>
            </a:pPr>
            <a:r>
              <a:rPr lang="en-US" sz="4000" b="1" dirty="0">
                <a:solidFill>
                  <a:schemeClr val="dk2"/>
                </a:solidFill>
              </a:rPr>
              <a:t>Reflection-</a:t>
            </a:r>
            <a:br>
              <a:rPr lang="en-US" sz="4000" b="1" dirty="0">
                <a:solidFill>
                  <a:schemeClr val="dk2"/>
                </a:solidFill>
              </a:rPr>
            </a:br>
            <a:r>
              <a:rPr lang="en-US" sz="4000" b="1" dirty="0">
                <a:solidFill>
                  <a:schemeClr val="dk2"/>
                </a:solidFill>
              </a:rPr>
              <a:t>Learning Activity 2</a:t>
            </a:r>
            <a:endParaRPr dirty="0"/>
          </a:p>
        </p:txBody>
      </p:sp>
      <p:sp>
        <p:nvSpPr>
          <p:cNvPr id="292" name="Google Shape;29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93" name="Google Shape;29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294" name="Google Shape;294;p1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95" name="Google Shape;295;p19"/>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96" name="Google Shape;296;p19"/>
          <p:cNvSpPr txBox="1"/>
          <p:nvPr/>
        </p:nvSpPr>
        <p:spPr>
          <a:xfrm>
            <a:off x="1361884" y="3437259"/>
            <a:ext cx="8620316" cy="18158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chemeClr val="dk1"/>
                </a:solidFill>
                <a:latin typeface="Arial"/>
                <a:ea typeface="Arial"/>
                <a:cs typeface="Arial"/>
                <a:sym typeface="Arial"/>
              </a:rPr>
              <a:t>What will happen if the input size vary in all the algorithms?</a:t>
            </a:r>
            <a:endParaRPr dirty="0"/>
          </a:p>
          <a:p>
            <a:pPr marL="0" marR="0" lvl="0" indent="0" algn="l" rtl="0">
              <a:spcBef>
                <a:spcPts val="0"/>
              </a:spcBef>
              <a:spcAft>
                <a:spcPts val="0"/>
              </a:spcAft>
              <a:buNone/>
            </a:pPr>
            <a:r>
              <a:rPr lang="en-US" sz="2800" b="1" i="0" u="none" strike="noStrike" cap="none" dirty="0">
                <a:solidFill>
                  <a:schemeClr val="dk1"/>
                </a:solidFill>
                <a:latin typeface="Arial"/>
                <a:ea typeface="Arial"/>
                <a:cs typeface="Arial"/>
                <a:sym typeface="Arial"/>
              </a:rPr>
              <a:t>Does the time complexity also depend on the input size?</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Properties of Asymptotic Notations: </a:t>
            </a:r>
            <a:endParaRPr/>
          </a:p>
        </p:txBody>
      </p:sp>
      <p:sp>
        <p:nvSpPr>
          <p:cNvPr id="302" name="Google Shape;302;p20"/>
          <p:cNvSpPr txBox="1">
            <a:spLocks noGrp="1"/>
          </p:cNvSpPr>
          <p:nvPr>
            <p:ph type="body" idx="1"/>
          </p:nvPr>
        </p:nvSpPr>
        <p:spPr>
          <a:xfrm>
            <a:off x="838200" y="1847850"/>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dirty="0"/>
              <a:t>General Properties:</a:t>
            </a:r>
            <a:endParaRPr dirty="0"/>
          </a:p>
          <a:p>
            <a:pPr marL="0" lvl="0" indent="0" algn="l" rtl="0">
              <a:lnSpc>
                <a:spcPct val="90000"/>
              </a:lnSpc>
              <a:spcBef>
                <a:spcPts val="1000"/>
              </a:spcBef>
              <a:spcAft>
                <a:spcPts val="0"/>
              </a:spcAft>
              <a:buClr>
                <a:schemeClr val="dk1"/>
              </a:buClr>
              <a:buSzPct val="100000"/>
              <a:buNone/>
            </a:pPr>
            <a:r>
              <a:rPr lang="en-US" dirty="0"/>
              <a:t>If f(n) is O(g(n)) then a*f(n) Is also O(g(n)), where a is a constant.</a:t>
            </a: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r>
              <a:rPr lang="en-US" b="1" dirty="0">
                <a:solidFill>
                  <a:srgbClr val="FF0000"/>
                </a:solidFill>
              </a:rPr>
              <a:t>Transitive Properties</a:t>
            </a:r>
            <a:r>
              <a:rPr lang="en-US" dirty="0"/>
              <a:t>:</a:t>
            </a:r>
            <a:br>
              <a:rPr lang="en-US" dirty="0"/>
            </a:br>
            <a:r>
              <a:rPr lang="en-US" dirty="0"/>
              <a:t>If f(n) is O(g(n)) and g(n) is O(h(n)) then f(n) = O(h(n))</a:t>
            </a:r>
            <a:endParaRPr dirty="0"/>
          </a:p>
          <a:p>
            <a:pPr marL="0" lvl="0" indent="0" algn="l" rtl="0">
              <a:lnSpc>
                <a:spcPct val="90000"/>
              </a:lnSpc>
              <a:spcBef>
                <a:spcPts val="1000"/>
              </a:spcBef>
              <a:spcAft>
                <a:spcPts val="0"/>
              </a:spcAft>
              <a:buClr>
                <a:schemeClr val="dk1"/>
              </a:buClr>
              <a:buSzPct val="100000"/>
              <a:buNone/>
            </a:pPr>
            <a:endParaRPr dirty="0"/>
          </a:p>
          <a:p>
            <a:pPr marL="0" lvl="0" indent="0" algn="just" rtl="0">
              <a:lnSpc>
                <a:spcPct val="90000"/>
              </a:lnSpc>
              <a:spcBef>
                <a:spcPts val="1000"/>
              </a:spcBef>
              <a:spcAft>
                <a:spcPts val="0"/>
              </a:spcAft>
              <a:buClr>
                <a:schemeClr val="dk1"/>
              </a:buClr>
              <a:buSzPct val="100000"/>
              <a:buNone/>
            </a:pPr>
            <a:r>
              <a:rPr lang="en-US" b="1" dirty="0">
                <a:solidFill>
                  <a:srgbClr val="FF0000"/>
                </a:solidFill>
              </a:rPr>
              <a:t>Reflexive Properties</a:t>
            </a:r>
            <a:r>
              <a:rPr lang="en-US" dirty="0"/>
              <a:t>:</a:t>
            </a:r>
          </a:p>
          <a:p>
            <a:pPr marL="0" lvl="0" indent="0" algn="just" rtl="0">
              <a:lnSpc>
                <a:spcPct val="90000"/>
              </a:lnSpc>
              <a:spcBef>
                <a:spcPts val="1000"/>
              </a:spcBef>
              <a:spcAft>
                <a:spcPts val="0"/>
              </a:spcAft>
              <a:buClr>
                <a:schemeClr val="dk1"/>
              </a:buClr>
              <a:buSzPct val="100000"/>
              <a:buNone/>
            </a:pPr>
            <a:r>
              <a:rPr lang="en-US" dirty="0"/>
              <a:t>Reflexive properties are always easy to understand after transitive.</a:t>
            </a:r>
            <a:br>
              <a:rPr lang="en-US" dirty="0"/>
            </a:br>
            <a:r>
              <a:rPr lang="en-US" dirty="0"/>
              <a:t>If f(n) is given then f(n) is O(f(n)). </a:t>
            </a:r>
          </a:p>
          <a:p>
            <a:pPr marL="0" lvl="0" indent="0" algn="just" rtl="0">
              <a:lnSpc>
                <a:spcPct val="90000"/>
              </a:lnSpc>
              <a:spcBef>
                <a:spcPts val="1000"/>
              </a:spcBef>
              <a:spcAft>
                <a:spcPts val="0"/>
              </a:spcAft>
              <a:buClr>
                <a:schemeClr val="dk1"/>
              </a:buClr>
              <a:buSzPct val="100000"/>
              <a:buNone/>
            </a:pPr>
            <a:r>
              <a:rPr lang="en-US" dirty="0"/>
              <a:t>Since MAXIMUM VALUE OF f(n) will be f(n) ITSELF!</a:t>
            </a:r>
            <a:endParaRPr dirty="0"/>
          </a:p>
          <a:p>
            <a:pPr marL="0" lvl="0" indent="0" algn="l" rtl="0">
              <a:lnSpc>
                <a:spcPct val="90000"/>
              </a:lnSpc>
              <a:spcBef>
                <a:spcPts val="1000"/>
              </a:spcBef>
              <a:spcAft>
                <a:spcPts val="0"/>
              </a:spcAft>
              <a:buClr>
                <a:schemeClr val="dk1"/>
              </a:buClr>
              <a:buSzPct val="100000"/>
              <a:buNone/>
            </a:pPr>
            <a:endParaRPr dirty="0"/>
          </a:p>
          <a:p>
            <a:pPr marL="0" lvl="0" indent="0" algn="l" rtl="0">
              <a:lnSpc>
                <a:spcPct val="90000"/>
              </a:lnSpc>
              <a:spcBef>
                <a:spcPts val="1000"/>
              </a:spcBef>
              <a:spcAft>
                <a:spcPts val="0"/>
              </a:spcAft>
              <a:buClr>
                <a:schemeClr val="dk1"/>
              </a:buClr>
              <a:buSzPct val="100000"/>
              <a:buNone/>
            </a:pPr>
            <a:endParaRPr dirty="0"/>
          </a:p>
        </p:txBody>
      </p:sp>
      <p:sp>
        <p:nvSpPr>
          <p:cNvPr id="303" name="Google Shape;30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04" name="Google Shape;30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Properties of Asymptotic Notations: </a:t>
            </a:r>
            <a:endParaRPr/>
          </a:p>
        </p:txBody>
      </p:sp>
      <p:sp>
        <p:nvSpPr>
          <p:cNvPr id="310" name="Google Shape;310;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Symmetric Properties: </a:t>
            </a:r>
            <a:br>
              <a:rPr lang="en-US"/>
            </a:br>
            <a:r>
              <a:rPr lang="en-US"/>
              <a:t>If f(n) is Θ(g(n)) then g(n) is Θ(f(n))</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Transpose Symmetric Properties:</a:t>
            </a:r>
            <a:br>
              <a:rPr lang="en-US"/>
            </a:br>
            <a:r>
              <a:rPr lang="en-US"/>
              <a:t>If f(n) is O(g(n)) then g(n) is Ω (f(n))</a:t>
            </a:r>
            <a:endParaRPr/>
          </a:p>
        </p:txBody>
      </p:sp>
      <p:sp>
        <p:nvSpPr>
          <p:cNvPr id="311" name="Google Shape;31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12" name="Google Shape;31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2"/>
          <p:cNvSpPr txBox="1">
            <a:spLocks noGrp="1"/>
          </p:cNvSpPr>
          <p:nvPr>
            <p:ph type="title"/>
          </p:nvPr>
        </p:nvSpPr>
        <p:spPr>
          <a:xfrm>
            <a:off x="838200" y="36512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Problem Solving and Hands-On Practice</a:t>
            </a:r>
            <a:endParaRPr/>
          </a:p>
        </p:txBody>
      </p:sp>
      <p:sp>
        <p:nvSpPr>
          <p:cNvPr id="318" name="Google Shape;318;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Take this 5 minutes quiz for better understanding</a:t>
            </a:r>
            <a:endParaRPr/>
          </a:p>
          <a:p>
            <a:pPr marL="0" lvl="0" indent="0" algn="l" rtl="0">
              <a:lnSpc>
                <a:spcPct val="90000"/>
              </a:lnSpc>
              <a:spcBef>
                <a:spcPts val="1000"/>
              </a:spcBef>
              <a:spcAft>
                <a:spcPts val="0"/>
              </a:spcAft>
              <a:buClr>
                <a:schemeClr val="dk1"/>
              </a:buClr>
              <a:buSzPts val="2800"/>
              <a:buNone/>
            </a:pPr>
            <a:endParaRPr/>
          </a:p>
        </p:txBody>
      </p:sp>
      <p:sp>
        <p:nvSpPr>
          <p:cNvPr id="319" name="Google Shape;31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20" name="Google Shape;32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321" name="Google Shape;321;p22"/>
          <p:cNvPicPr preferRelativeResize="0"/>
          <p:nvPr/>
        </p:nvPicPr>
        <p:blipFill rotWithShape="1">
          <a:blip r:embed="rId3">
            <a:alphaModFix/>
          </a:blip>
          <a:srcRect/>
          <a:stretch/>
        </p:blipFill>
        <p:spPr>
          <a:xfrm>
            <a:off x="1419325" y="2832026"/>
            <a:ext cx="3261496" cy="3121100"/>
          </a:xfrm>
          <a:prstGeom prst="rect">
            <a:avLst/>
          </a:prstGeom>
          <a:noFill/>
          <a:ln>
            <a:noFill/>
          </a:ln>
        </p:spPr>
      </p:pic>
      <p:sp>
        <p:nvSpPr>
          <p:cNvPr id="322" name="Google Shape;322;p22"/>
          <p:cNvSpPr txBox="1"/>
          <p:nvPr/>
        </p:nvSpPr>
        <p:spPr>
          <a:xfrm>
            <a:off x="5596921" y="3008093"/>
            <a:ext cx="732513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Participation Link –</a:t>
            </a:r>
            <a:endParaRPr/>
          </a:p>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 https://app.wooclap.com/PAALXO?from=instruction-slide</a:t>
            </a:r>
            <a:endParaRPr/>
          </a:p>
        </p:txBody>
      </p:sp>
      <p:sp>
        <p:nvSpPr>
          <p:cNvPr id="323" name="Google Shape;323;p22"/>
          <p:cNvSpPr txBox="1"/>
          <p:nvPr/>
        </p:nvSpPr>
        <p:spPr>
          <a:xfrm>
            <a:off x="5336381" y="2514600"/>
            <a:ext cx="1828800"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4" name="Google Shape;324;p22"/>
          <p:cNvSpPr txBox="1"/>
          <p:nvPr/>
        </p:nvSpPr>
        <p:spPr>
          <a:xfrm>
            <a:off x="5743575" y="4478337"/>
            <a:ext cx="386476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You can also join using woo lap code - PAALXO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3"/>
          <p:cNvSpPr txBox="1">
            <a:spLocks noGrp="1"/>
          </p:cNvSpPr>
          <p:nvPr>
            <p:ph type="title"/>
          </p:nvPr>
        </p:nvSpPr>
        <p:spPr>
          <a:xfrm>
            <a:off x="838200" y="854440"/>
            <a:ext cx="10515600" cy="62958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4400"/>
              <a:t>Summary</a:t>
            </a:r>
            <a:endParaRPr/>
          </a:p>
        </p:txBody>
      </p:sp>
      <p:sp>
        <p:nvSpPr>
          <p:cNvPr id="330" name="Google Shape;33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31" name="Google Shape;33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332" name="Google Shape;332;p2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33" name="Google Shape;333;p23"/>
          <p:cNvPicPr preferRelativeResize="0"/>
          <p:nvPr/>
        </p:nvPicPr>
        <p:blipFill rotWithShape="1">
          <a:blip r:embed="rId4">
            <a:alphaModFix/>
          </a:blip>
          <a:srcRect/>
          <a:stretch/>
        </p:blipFill>
        <p:spPr>
          <a:xfrm>
            <a:off x="104932" y="114202"/>
            <a:ext cx="3795634" cy="740238"/>
          </a:xfrm>
          <a:prstGeom prst="rect">
            <a:avLst/>
          </a:prstGeom>
          <a:noFill/>
          <a:ln>
            <a:noFill/>
          </a:ln>
        </p:spPr>
      </p:pic>
      <p:pic>
        <p:nvPicPr>
          <p:cNvPr id="334" name="Google Shape;334;p23"/>
          <p:cNvPicPr preferRelativeResize="0"/>
          <p:nvPr/>
        </p:nvPicPr>
        <p:blipFill rotWithShape="1">
          <a:blip r:embed="rId5">
            <a:alphaModFix/>
          </a:blip>
          <a:srcRect/>
          <a:stretch/>
        </p:blipFill>
        <p:spPr>
          <a:xfrm>
            <a:off x="2535023" y="1833563"/>
            <a:ext cx="6704227" cy="43275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4"/>
          <p:cNvSpPr txBox="1">
            <a:spLocks noGrp="1"/>
          </p:cNvSpPr>
          <p:nvPr>
            <p:ph type="title"/>
          </p:nvPr>
        </p:nvSpPr>
        <p:spPr>
          <a:xfrm>
            <a:off x="901762" y="1198963"/>
            <a:ext cx="9818849" cy="191874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5400"/>
              <a:buFont typeface="Georgia"/>
              <a:buNone/>
            </a:pPr>
            <a:r>
              <a:rPr lang="en-US" dirty="0">
                <a:latin typeface="Times New Roman" panose="02020603050405020304" pitchFamily="18" charset="0"/>
                <a:ea typeface="Georgia"/>
                <a:cs typeface="Times New Roman" panose="02020603050405020304" pitchFamily="18" charset="0"/>
                <a:sym typeface="Georgia"/>
              </a:rPr>
              <a:t>Discussion on the post session activities</a:t>
            </a:r>
            <a:br>
              <a:rPr lang="en-US" sz="2800" dirty="0">
                <a:latin typeface="Georgia"/>
                <a:ea typeface="Georgia"/>
                <a:cs typeface="Georgia"/>
                <a:sym typeface="Georgia"/>
              </a:rPr>
            </a:br>
            <a:br>
              <a:rPr lang="en-US" sz="2800" dirty="0">
                <a:latin typeface="Georgia"/>
                <a:ea typeface="Georgia"/>
                <a:cs typeface="Georgia"/>
                <a:sym typeface="Georgia"/>
              </a:rPr>
            </a:br>
            <a:endParaRPr sz="2800" dirty="0">
              <a:latin typeface="Georgia"/>
              <a:ea typeface="Georgia"/>
              <a:cs typeface="Georgia"/>
              <a:sym typeface="Georgia"/>
            </a:endParaRPr>
          </a:p>
        </p:txBody>
      </p:sp>
      <p:sp>
        <p:nvSpPr>
          <p:cNvPr id="340" name="Google Shape;34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41" name="Google Shape;34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42" name="Google Shape;342;p2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43" name="Google Shape;343;p24"/>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44" name="Google Shape;344;p24"/>
          <p:cNvSpPr txBox="1"/>
          <p:nvPr/>
        </p:nvSpPr>
        <p:spPr>
          <a:xfrm>
            <a:off x="4186316" y="3462227"/>
            <a:ext cx="460049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chemeClr val="dk1"/>
                </a:solidFill>
                <a:latin typeface="Arial"/>
                <a:ea typeface="Arial"/>
                <a:cs typeface="Arial"/>
                <a:sym typeface="Arial"/>
              </a:rPr>
              <a:t>Ask your doubts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5"/>
          <p:cNvSpPr txBox="1">
            <a:spLocks noGrp="1"/>
          </p:cNvSpPr>
          <p:nvPr>
            <p:ph type="title"/>
          </p:nvPr>
        </p:nvSpPr>
        <p:spPr>
          <a:xfrm>
            <a:off x="683655" y="1213803"/>
            <a:ext cx="9818849" cy="130079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5400"/>
              <a:buFont typeface="Georgia"/>
              <a:buNone/>
            </a:pPr>
            <a:r>
              <a:rPr lang="en-US" sz="4800" dirty="0">
                <a:latin typeface="Times New Roman" panose="02020603050405020304" pitchFamily="18" charset="0"/>
                <a:ea typeface="Georgia"/>
                <a:cs typeface="Times New Roman" panose="02020603050405020304" pitchFamily="18" charset="0"/>
                <a:sym typeface="Georgia"/>
              </a:rPr>
              <a:t>Information about the next lesson</a:t>
            </a:r>
            <a:endParaRPr sz="1800" dirty="0">
              <a:latin typeface="Times New Roman" panose="02020603050405020304" pitchFamily="18" charset="0"/>
              <a:ea typeface="Georgia"/>
              <a:cs typeface="Times New Roman" panose="02020603050405020304" pitchFamily="18" charset="0"/>
              <a:sym typeface="Georgia"/>
            </a:endParaRPr>
          </a:p>
        </p:txBody>
      </p:sp>
      <p:sp>
        <p:nvSpPr>
          <p:cNvPr id="350" name="Google Shape;35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51" name="Google Shape;35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352" name="Google Shape;352;p2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53" name="Google Shape;353;p25"/>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54" name="Google Shape;354;p25"/>
          <p:cNvSpPr txBox="1"/>
          <p:nvPr/>
        </p:nvSpPr>
        <p:spPr>
          <a:xfrm>
            <a:off x="5181600" y="2514600"/>
            <a:ext cx="1828800"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5" name="Google Shape;355;p25"/>
          <p:cNvSpPr txBox="1"/>
          <p:nvPr/>
        </p:nvSpPr>
        <p:spPr>
          <a:xfrm>
            <a:off x="2456259" y="3884810"/>
            <a:ext cx="8155781" cy="1569620"/>
          </a:xfrm>
          <a:prstGeom prst="rect">
            <a:avLst/>
          </a:prstGeom>
          <a:noFill/>
          <a:ln>
            <a:noFill/>
          </a:ln>
        </p:spPr>
        <p:txBody>
          <a:bodyPr spcFirstLastPara="1" wrap="square" lIns="91425" tIns="45700" rIns="91425" bIns="45700" anchor="t" anchorCtr="0">
            <a:spAutoFit/>
          </a:bodyPr>
          <a:lstStyle/>
          <a:p>
            <a:pPr lvl="0" algn="ctr"/>
            <a:r>
              <a:rPr lang="en-US" sz="3200" b="1" dirty="0">
                <a:latin typeface="Georgia"/>
                <a:ea typeface="Georgia"/>
                <a:cs typeface="Georgia"/>
                <a:sym typeface="Georgia"/>
              </a:rPr>
              <a:t>Complexity Analysis of Non-Recursive Algorithms</a:t>
            </a:r>
          </a:p>
          <a:p>
            <a:pPr lvl="0" algn="ctr"/>
            <a:r>
              <a:rPr lang="en-US" sz="3200" b="0" i="0" u="none" strike="noStrike" cap="none" dirty="0">
                <a:solidFill>
                  <a:schemeClr val="dk1"/>
                </a:solidFill>
                <a:latin typeface="Arial"/>
                <a:ea typeface="Arial"/>
                <a:cs typeface="Arial"/>
                <a:sym typeface="Arial"/>
              </a:rPr>
              <a:t> (examples: max, sum, matrix operations)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9"/>
        <p:cNvGrpSpPr/>
        <p:nvPr/>
      </p:nvGrpSpPr>
      <p:grpSpPr>
        <a:xfrm>
          <a:off x="0" y="0"/>
          <a:ext cx="0" cy="0"/>
          <a:chOff x="0" y="0"/>
          <a:chExt cx="0" cy="0"/>
        </a:xfrm>
      </p:grpSpPr>
      <p:sp>
        <p:nvSpPr>
          <p:cNvPr id="360" name="Google Shape;360;p26"/>
          <p:cNvSpPr txBox="1">
            <a:spLocks noGrp="1"/>
          </p:cNvSpPr>
          <p:nvPr>
            <p:ph type="title"/>
          </p:nvPr>
        </p:nvSpPr>
        <p:spPr>
          <a:xfrm>
            <a:off x="554910" y="1237863"/>
            <a:ext cx="5029122" cy="740238"/>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chemeClr val="dk2"/>
              </a:buClr>
              <a:buSzPct val="100000"/>
              <a:buFont typeface="Play"/>
              <a:buNone/>
            </a:pPr>
            <a:r>
              <a:rPr lang="en-US" sz="4000" b="1">
                <a:solidFill>
                  <a:schemeClr val="dk2"/>
                </a:solidFill>
                <a:latin typeface="Play"/>
                <a:ea typeface="Play"/>
                <a:cs typeface="Play"/>
                <a:sym typeface="Play"/>
              </a:rPr>
              <a:t>Review and Reflection from students</a:t>
            </a:r>
            <a:endParaRPr/>
          </a:p>
        </p:txBody>
      </p:sp>
      <p:sp>
        <p:nvSpPr>
          <p:cNvPr id="361" name="Google Shape;36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362" name="Google Shape;36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363" name="Google Shape;363;p2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64" name="Google Shape;364;p26"/>
          <p:cNvPicPr preferRelativeResize="0"/>
          <p:nvPr/>
        </p:nvPicPr>
        <p:blipFill rotWithShape="1">
          <a:blip r:embed="rId4">
            <a:alphaModFix/>
          </a:blip>
          <a:srcRect/>
          <a:stretch/>
        </p:blipFill>
        <p:spPr>
          <a:xfrm>
            <a:off x="104932" y="114202"/>
            <a:ext cx="3795634" cy="740238"/>
          </a:xfrm>
          <a:prstGeom prst="rect">
            <a:avLst/>
          </a:prstGeom>
          <a:noFill/>
          <a:ln>
            <a:noFill/>
          </a:ln>
        </p:spPr>
      </p:pic>
      <p:pic>
        <p:nvPicPr>
          <p:cNvPr id="365" name="Google Shape;365;p26"/>
          <p:cNvPicPr preferRelativeResize="0"/>
          <p:nvPr/>
        </p:nvPicPr>
        <p:blipFill rotWithShape="1">
          <a:blip r:embed="rId5">
            <a:alphaModFix/>
          </a:blip>
          <a:srcRect/>
          <a:stretch/>
        </p:blipFill>
        <p:spPr>
          <a:xfrm>
            <a:off x="7835873" y="2145471"/>
            <a:ext cx="3110028" cy="3116893"/>
          </a:xfrm>
          <a:prstGeom prst="rect">
            <a:avLst/>
          </a:prstGeom>
          <a:noFill/>
          <a:ln>
            <a:noFill/>
          </a:ln>
        </p:spPr>
      </p:pic>
      <p:sp>
        <p:nvSpPr>
          <p:cNvPr id="366" name="Google Shape;366;p26"/>
          <p:cNvSpPr txBox="1"/>
          <p:nvPr/>
        </p:nvSpPr>
        <p:spPr>
          <a:xfrm>
            <a:off x="776735" y="3239457"/>
            <a:ext cx="7309169"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Provide your feedback on analysis of algorithms effeciency session.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1383</Words>
  <Application>Microsoft Office PowerPoint</Application>
  <PresentationFormat>Widescreen</PresentationFormat>
  <Paragraphs>148</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Cambria</vt:lpstr>
      <vt:lpstr>Times New Roman</vt:lpstr>
      <vt:lpstr>Arial</vt:lpstr>
      <vt:lpstr>Georgia</vt:lpstr>
      <vt:lpstr>Play</vt:lpstr>
      <vt:lpstr>Office Theme</vt:lpstr>
      <vt:lpstr>Analysis of algorithmic efficiency: Asymptotic notations and their properties </vt:lpstr>
      <vt:lpstr>RECAP:  An algorithm is a sequence of unambiguous instructions for solving a problem, i.e., for obtaining a required output for any legitimate input in a finite amount of time.  </vt:lpstr>
      <vt:lpstr>  </vt:lpstr>
      <vt:lpstr>Ask Questions </vt:lpstr>
      <vt:lpstr>At the end of this session students will be able to </vt:lpstr>
      <vt:lpstr>Session Outline</vt:lpstr>
      <vt:lpstr>Introduction to algorithmic analysis </vt:lpstr>
      <vt:lpstr>Time Complexity </vt:lpstr>
      <vt:lpstr>Learning Activity 1</vt:lpstr>
      <vt:lpstr>Reflection- Learning Activity 1</vt:lpstr>
      <vt:lpstr>Concept and Definition for Learning Activity 2 Asymptotic Notations</vt:lpstr>
      <vt:lpstr>Big-O Notation (O-notation):</vt:lpstr>
      <vt:lpstr>If f(n) describes the running time of an algorithm, f(n) is O(g(n)) if there exist a positive constant C and n0 such that, 0 ≤ f(n) ≤ cg(n) for all n ≥ n0</vt:lpstr>
      <vt:lpstr>Omega Notation (Ω-Notation):</vt:lpstr>
      <vt:lpstr>Let g and f be the function from the set of natural numbers to itself. The function f is said to be Ω(g), if there is a constant c &gt; 0 and a natural number n0 such that c*g(n) ≤ f(n) for all n ≥ n0</vt:lpstr>
      <vt:lpstr>Theta Notation (Θ-Notation):</vt:lpstr>
      <vt:lpstr>Let g and f be the function from the set of natural numbers to itself. The function f is said to be Θ(g), if there are constants c1, c2 &gt; 0 and a natural number n0 such that c1* g(n) ≤ f(n) ≤ c2 * g(n) for all n ≥ n0</vt:lpstr>
      <vt:lpstr>Learning Activity 2</vt:lpstr>
      <vt:lpstr>Reflection- Learning Activity 2</vt:lpstr>
      <vt:lpstr>Properties of Asymptotic Notations: </vt:lpstr>
      <vt:lpstr>Properties of Asymptotic Notations: </vt:lpstr>
      <vt:lpstr>Problem Solving and Hands-On Practice</vt:lpstr>
      <vt:lpstr>Summary</vt:lpstr>
      <vt:lpstr>Discussion on the post session activities  </vt:lpstr>
      <vt:lpstr>Information about the next lesson</vt:lpstr>
      <vt:lpstr>Review and Reflection from students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algorithmic efficiency: Asymptotic notations and their properties </dc:title>
  <dc:creator>Deepak Gupta</dc:creator>
  <cp:lastModifiedBy>RAKESH BHARATI</cp:lastModifiedBy>
  <cp:revision>35</cp:revision>
  <dcterms:created xsi:type="dcterms:W3CDTF">2024-08-22T06:33:55Z</dcterms:created>
  <dcterms:modified xsi:type="dcterms:W3CDTF">2026-02-19T08:34:05Z</dcterms:modified>
</cp:coreProperties>
</file>