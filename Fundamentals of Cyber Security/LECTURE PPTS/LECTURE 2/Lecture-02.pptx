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b6i0eFbb6icuJhwZ/tWvw8fk0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477980" y="734873"/>
            <a:ext cx="10875819" cy="5388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				Cyber Attacks</a:t>
            </a:r>
            <a:br>
              <a:rPr lang="en-US" sz="5400"/>
            </a:br>
            <a:br>
              <a:rPr b="1" lang="en-US" sz="4400">
                <a:latin typeface="Georgia"/>
                <a:ea typeface="Georgia"/>
                <a:cs typeface="Georgia"/>
                <a:sym typeface="Georgia"/>
              </a:rPr>
            </a:br>
            <a:br>
              <a:rPr b="1" lang="en-US" sz="4400"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Session No.:02</a:t>
            </a:r>
            <a:br>
              <a:rPr b="1" lang="en-US" sz="1800"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Course Name: </a:t>
            </a:r>
            <a:r>
              <a:rPr b="1" lang="en-US" sz="1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Cyber Attacks</a:t>
            </a:r>
            <a:br>
              <a:rPr b="1" lang="en-US" sz="1800">
                <a:solidFill>
                  <a:srgbClr val="C00000"/>
                </a:solidFill>
              </a:rPr>
            </a:b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Course Code: </a:t>
            </a:r>
            <a:br>
              <a:rPr b="1" lang="en-US" sz="1800">
                <a:solidFill>
                  <a:srgbClr val="C00000"/>
                </a:solidFill>
              </a:rPr>
            </a:b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Instructor Name: </a:t>
            </a:r>
            <a:br>
              <a:rPr b="1" lang="en-US" sz="1800"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Duration:</a:t>
            </a:r>
            <a:br>
              <a:rPr b="1" lang="en-US" sz="1800"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latin typeface="Georgia"/>
                <a:ea typeface="Georgia"/>
                <a:cs typeface="Georgia"/>
                <a:sym typeface="Georgia"/>
              </a:rPr>
              <a:t>Date of Conduction of Class:</a:t>
            </a:r>
            <a:endParaRPr b="1"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663633" y="2158584"/>
            <a:ext cx="954277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 cyber attack?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name any recent cyber attack incidents?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558702" y="854439"/>
            <a:ext cx="11449848" cy="1304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Play"/>
              <a:buNone/>
            </a:pPr>
            <a:br>
              <a:rPr b="0" i="0" lang="en-US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n-US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Opening Question</a:t>
            </a:r>
            <a:br>
              <a:rPr b="0" i="0" lang="en-US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endParaRPr b="0" i="0" sz="4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4" name="Google Shape;10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110" name="Google Shape;1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742152" y="1051487"/>
            <a:ext cx="10611648" cy="2021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Play"/>
              <a:buNone/>
            </a:pPr>
            <a:br>
              <a:rPr b="0" i="0" lang="en-US" sz="4400" u="none" cap="none" strike="noStrike">
                <a:solidFill>
                  <a:srgbClr val="0070C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n-US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Learning Outcomes</a:t>
            </a:r>
            <a:endParaRPr b="0" i="0" sz="4400" u="none" cap="none" strike="noStrike">
              <a:solidFill>
                <a:srgbClr val="0070C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Play"/>
              <a:buNone/>
            </a:pPr>
            <a:r>
              <a:t/>
            </a:r>
            <a:endParaRPr b="0" i="0" sz="4400" u="none" cap="none" strike="noStrike">
              <a:solidFill>
                <a:srgbClr val="0070C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Play"/>
              <a:buNone/>
            </a:pPr>
            <a:r>
              <a:t/>
            </a:r>
            <a:endParaRPr b="0" i="0" sz="4400" u="none" cap="none" strike="noStrike">
              <a:solidFill>
                <a:srgbClr val="0070C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4" name="Google Shape;1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710925" y="2286999"/>
            <a:ext cx="10611600" cy="27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br>
              <a:rPr b="0" i="0" lang="en-US" sz="4400" u="none" cap="none" strike="noStrike">
                <a:solidFill>
                  <a:srgbClr val="0070C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n-US" sz="4400" u="none" cap="none" strike="noStrike">
                <a:solidFill>
                  <a:srgbClr val="0070C0"/>
                </a:solidFill>
                <a:latin typeface="Play"/>
                <a:ea typeface="Play"/>
                <a:cs typeface="Play"/>
                <a:sym typeface="Play"/>
              </a:rPr>
              <a:t>Student will be able to</a:t>
            </a:r>
            <a:r>
              <a:rPr lang="en-US" sz="4400">
                <a:solidFill>
                  <a:srgbClr val="0070C0"/>
                </a:solidFill>
                <a:latin typeface="Play"/>
                <a:ea typeface="Play"/>
                <a:cs typeface="Play"/>
                <a:sym typeface="Play"/>
              </a:rPr>
              <a:t>:</a:t>
            </a:r>
            <a:endParaRPr b="0" i="0" sz="4400" u="none" cap="none" strike="noStrike">
              <a:solidFill>
                <a:srgbClr val="0070C0"/>
              </a:solidFill>
              <a:latin typeface="Play"/>
              <a:ea typeface="Play"/>
              <a:cs typeface="Play"/>
              <a:sym typeface="Play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Understand the concept of cyber attacks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Classify types of cyber attacks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Differentiate passive and active attacks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Understand prevention techniques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0" i="0" sz="2400" u="none" cap="none" strike="noStrike">
              <a:solidFill>
                <a:srgbClr val="0070C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Play"/>
              <a:buNone/>
            </a:pPr>
            <a:r>
              <a:t/>
            </a:r>
            <a:endParaRPr b="0" i="0" sz="4400" u="none" cap="none" strike="noStrike">
              <a:solidFill>
                <a:srgbClr val="0070C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Play"/>
              <a:buNone/>
            </a:pPr>
            <a:r>
              <a:t/>
            </a:r>
            <a:endParaRPr b="0" i="0" sz="4400" u="none" cap="none" strike="noStrike">
              <a:solidFill>
                <a:srgbClr val="0070C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121" name="Google Shape;12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descr="Macros In C | How-To, Types, Usage ..." id="124" name="Google Shape;124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acros In C | How-To, Types, Usage ..." id="125" name="Google Shape;125;p4"/>
          <p:cNvSpPr/>
          <p:nvPr/>
        </p:nvSpPr>
        <p:spPr>
          <a:xfrm>
            <a:off x="7299258" y="2983149"/>
            <a:ext cx="1616142" cy="1616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>
            <p:ph type="title"/>
          </p:nvPr>
        </p:nvSpPr>
        <p:spPr>
          <a:xfrm>
            <a:off x="685800" y="961621"/>
            <a:ext cx="8229600" cy="1605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Session Outline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838200" y="2876791"/>
            <a:ext cx="9920366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1. Definition of Cyber Attack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Types of Cyber Attacks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Passive vs Active Attacks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Modern Cyber Attacks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Prevention Measures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652959" y="1320816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b="1" lang="en-US" sz="4000"/>
            </a:br>
            <a:br>
              <a:rPr b="1" lang="en-US" sz="4000"/>
            </a:br>
            <a:r>
              <a:rPr lang="en-US" sz="4000"/>
              <a:t>What is a Cyber Attack?</a:t>
            </a:r>
            <a:br>
              <a:rPr b="1" lang="en-US" sz="4000"/>
            </a:br>
            <a:br>
              <a:rPr b="1" lang="en-US" sz="4000"/>
            </a:b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135" name="Google Shape;1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32085" y="2849507"/>
            <a:ext cx="10927829" cy="368940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malicious attempt to access, damage or disrupt systems.</a:t>
            </a:r>
            <a:endParaRPr/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Targets confidentiality, integrity, and availability.</a:t>
            </a:r>
            <a:endParaRPr/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launched by hackers, insiders, or organizations.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descr="A blue circle with text and words&#10;&#10;Description automatically generated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951875" y="2700357"/>
            <a:ext cx="7037882" cy="3523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lay"/>
              <a:buNone/>
            </a:pPr>
            <a:r>
              <a:rPr lang="en-US" sz="3100"/>
              <a:t>Attacks against Confidentiality</a:t>
            </a:r>
            <a:br>
              <a:rPr lang="en-US" sz="3100"/>
            </a:br>
            <a:br>
              <a:rPr lang="en-US" sz="3100"/>
            </a:br>
            <a:r>
              <a:rPr lang="en-US" sz="3100"/>
              <a:t>Attacks against Integrity</a:t>
            </a:r>
            <a:br>
              <a:rPr lang="en-US" sz="3100"/>
            </a:br>
            <a:br>
              <a:rPr lang="en-US" sz="3100"/>
            </a:br>
            <a:r>
              <a:rPr lang="en-US" sz="3100"/>
              <a:t>Attacks against Availability</a:t>
            </a:r>
            <a:br>
              <a:rPr lang="en-US" sz="5400"/>
            </a:br>
            <a:endParaRPr sz="5400"/>
          </a:p>
        </p:txBody>
      </p:sp>
      <p:sp>
        <p:nvSpPr>
          <p:cNvPr id="145" name="Google Shape;1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146" name="Google Shape;1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  <p:sp>
        <p:nvSpPr>
          <p:cNvPr id="150" name="Google Shape;150;p6"/>
          <p:cNvSpPr txBox="1"/>
          <p:nvPr>
            <p:ph idx="1" type="body"/>
          </p:nvPr>
        </p:nvSpPr>
        <p:spPr>
          <a:xfrm>
            <a:off x="838200" y="1825625"/>
            <a:ext cx="10515600" cy="87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Classification of Cyber Attacks</a:t>
            </a:r>
            <a:endParaRPr b="1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156" name="Google Shape;15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933061" y="1286575"/>
            <a:ext cx="86484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Attacks Threatening Confidentiality</a:t>
            </a:r>
            <a:endParaRPr b="1" sz="36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>
            <p:ph idx="1" type="body"/>
          </p:nvPr>
        </p:nvSpPr>
        <p:spPr>
          <a:xfrm>
            <a:off x="933061" y="2548328"/>
            <a:ext cx="9685176" cy="2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Snooping (Unauthorized access)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Traffic Analysis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Eavesdropping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168" name="Google Shape;16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3252866" y="1238121"/>
            <a:ext cx="71254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Attacks Threatening Integrity</a:t>
            </a:r>
            <a:endParaRPr b="1" sz="36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>
            <p:ph idx="1" type="body"/>
          </p:nvPr>
        </p:nvSpPr>
        <p:spPr>
          <a:xfrm>
            <a:off x="933061" y="2698230"/>
            <a:ext cx="9685176" cy="2488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Modification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Masquerading / Spoofing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Replay Attacks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Repudiation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180" name="Google Shape;18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2278505" y="1241250"/>
            <a:ext cx="69554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Attacks Threatening Availability</a:t>
            </a:r>
            <a:endParaRPr/>
          </a:p>
        </p:txBody>
      </p:sp>
      <p:sp>
        <p:nvSpPr>
          <p:cNvPr id="185" name="Google Shape;185;p9"/>
          <p:cNvSpPr txBox="1"/>
          <p:nvPr>
            <p:ph idx="1" type="body"/>
          </p:nvPr>
        </p:nvSpPr>
        <p:spPr>
          <a:xfrm>
            <a:off x="933060" y="2533338"/>
            <a:ext cx="8600683" cy="2938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Denial of Service (DoS)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Distributed DoS (DDoS)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System Crashing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192" name="Google Shape;1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3296039" y="1153308"/>
            <a:ext cx="60975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Passive vs Active Attacks</a:t>
            </a:r>
            <a:endParaRPr/>
          </a:p>
        </p:txBody>
      </p:sp>
      <p:sp>
        <p:nvSpPr>
          <p:cNvPr id="197" name="Google Shape;197;p10"/>
          <p:cNvSpPr txBox="1"/>
          <p:nvPr>
            <p:ph idx="1" type="body"/>
          </p:nvPr>
        </p:nvSpPr>
        <p:spPr>
          <a:xfrm>
            <a:off x="933061" y="2413416"/>
            <a:ext cx="6771883" cy="2644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Passive – Monitoring without altering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Active – Modifying or disrupting 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Passive attacks are harder to detect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204" name="Google Shape;20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3057993" y="1153308"/>
            <a:ext cx="69104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Modern Cyber Attacks</a:t>
            </a:r>
            <a:endParaRPr/>
          </a:p>
        </p:txBody>
      </p:sp>
      <p:sp>
        <p:nvSpPr>
          <p:cNvPr id="209" name="Google Shape;209;p11"/>
          <p:cNvSpPr txBox="1"/>
          <p:nvPr>
            <p:ph idx="1" type="body"/>
          </p:nvPr>
        </p:nvSpPr>
        <p:spPr>
          <a:xfrm>
            <a:off x="933061" y="2413416"/>
            <a:ext cx="6771883" cy="2644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Phishing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Ransomware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Malware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Injection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Man-in-the-Middle (MITM)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216" name="Google Shape;2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2698230" y="1153308"/>
            <a:ext cx="72702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Prevention &amp; Protection Measures</a:t>
            </a:r>
            <a:endParaRPr/>
          </a:p>
        </p:txBody>
      </p:sp>
      <p:sp>
        <p:nvSpPr>
          <p:cNvPr id="221" name="Google Shape;221;p12"/>
          <p:cNvSpPr txBox="1"/>
          <p:nvPr>
            <p:ph idx="1" type="body"/>
          </p:nvPr>
        </p:nvSpPr>
        <p:spPr>
          <a:xfrm>
            <a:off x="933061" y="2413416"/>
            <a:ext cx="7220339" cy="2644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Strong passwords &amp; Multi-factor Authentication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Firewalls and Antivirus Software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Regular Updates &amp; Patching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Cyber awareness and training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228" name="Google Shape;2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2698230" y="1273228"/>
            <a:ext cx="72702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– Case Study Discussion</a:t>
            </a:r>
            <a:endParaRPr/>
          </a:p>
        </p:txBody>
      </p:sp>
      <p:sp>
        <p:nvSpPr>
          <p:cNvPr id="233" name="Google Shape;233;p13"/>
          <p:cNvSpPr txBox="1"/>
          <p:nvPr>
            <p:ph idx="1" type="body"/>
          </p:nvPr>
        </p:nvSpPr>
        <p:spPr>
          <a:xfrm>
            <a:off x="933061" y="2593298"/>
            <a:ext cx="7220339" cy="2465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Analyze a recent cyber attack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Identify attack type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Suggest preventive measures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240" name="Google Shape;24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241" name="Google Shape;2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3581400" y="1295310"/>
            <a:ext cx="68954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 of Cyber Attacks</a:t>
            </a:r>
            <a:endParaRPr/>
          </a:p>
        </p:txBody>
      </p:sp>
      <p:sp>
        <p:nvSpPr>
          <p:cNvPr id="245" name="Google Shape;245;p14"/>
          <p:cNvSpPr txBox="1"/>
          <p:nvPr>
            <p:ph idx="1" type="body"/>
          </p:nvPr>
        </p:nvSpPr>
        <p:spPr>
          <a:xfrm>
            <a:off x="933061" y="2593298"/>
            <a:ext cx="7220339" cy="2465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Financial Loss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Breach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Reputation Damage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National Security Risks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6" name="Google Shape;2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252" name="Google Shape;25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253" name="Google Shape;2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4601980" y="1295310"/>
            <a:ext cx="35514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257" name="Google Shape;257;p15"/>
          <p:cNvSpPr txBox="1"/>
          <p:nvPr>
            <p:ph idx="1" type="body"/>
          </p:nvPr>
        </p:nvSpPr>
        <p:spPr>
          <a:xfrm>
            <a:off x="933061" y="2593298"/>
            <a:ext cx="7220339" cy="2465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Cyber attacks target CIA triad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Different types affect confidentiality, integrity, availability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Preventive measures reduce risks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/>
          <p:nvPr>
            <p:ph type="title"/>
          </p:nvPr>
        </p:nvSpPr>
        <p:spPr>
          <a:xfrm>
            <a:off x="911284" y="1410436"/>
            <a:ext cx="9818849" cy="1918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US" sz="5400">
                <a:latin typeface="Georgia"/>
                <a:ea typeface="Georgia"/>
                <a:cs typeface="Georgia"/>
                <a:sym typeface="Georgia"/>
              </a:rPr>
              <a:t>Discussion on the post session activities</a:t>
            </a:r>
            <a:br>
              <a:rPr lang="en-US" sz="540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280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2800"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2800"/>
              <a:t> </a:t>
            </a:r>
            <a:br>
              <a:rPr lang="en-US" sz="2800"/>
            </a:b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265" name="Google Shape;26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266" name="Google Shape;2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 txBox="1"/>
          <p:nvPr>
            <p:ph type="title"/>
          </p:nvPr>
        </p:nvSpPr>
        <p:spPr>
          <a:xfrm>
            <a:off x="612775" y="620544"/>
            <a:ext cx="9818849" cy="15889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rgia"/>
              <a:buNone/>
            </a:pPr>
            <a:r>
              <a:rPr lang="en-US" sz="3500">
                <a:latin typeface="Georgia"/>
                <a:ea typeface="Georgia"/>
                <a:cs typeface="Georgia"/>
                <a:sym typeface="Georgia"/>
              </a:rPr>
              <a:t>Information about the next lesson</a:t>
            </a:r>
            <a:endParaRPr/>
          </a:p>
        </p:txBody>
      </p:sp>
      <p:sp>
        <p:nvSpPr>
          <p:cNvPr id="274" name="Google Shape;27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275" name="Google Shape;27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276" name="Google Shape;2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/>
          <p:nvPr/>
        </p:nvSpPr>
        <p:spPr>
          <a:xfrm>
            <a:off x="612775" y="2919088"/>
            <a:ext cx="109496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it is last Lecture Discuss how to prepare well for the EndTerm Exam</a:t>
            </a:r>
            <a:endParaRPr sz="27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descr="Lightbox" id="279" name="Google Shape;279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Lightbox" id="280" name="Google Shape;280;p17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 txBox="1"/>
          <p:nvPr>
            <p:ph type="title"/>
          </p:nvPr>
        </p:nvSpPr>
        <p:spPr>
          <a:xfrm>
            <a:off x="2407096" y="1920541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Thank You!!!</a:t>
            </a:r>
            <a:b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/>
          </a:p>
        </p:txBody>
      </p:sp>
      <p:sp>
        <p:nvSpPr>
          <p:cNvPr id="287" name="Google Shape;2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GSCALE: Galgotias Student-Centered Active Learning Ecosystem</a:t>
            </a:r>
            <a:endParaRPr/>
          </a:p>
        </p:txBody>
      </p:sp>
      <p:sp>
        <p:nvSpPr>
          <p:cNvPr id="288" name="Google Shape;2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circle with text and words&#10;&#10;Description automatically generated" id="289" name="Google Shape;2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12-02-2026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2024-08-22T06:33:55Z</dcterms:created>
  <dc:creator>Deepak Gupta</dc:creator>
</cp:coreProperties>
</file>