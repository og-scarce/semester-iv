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9" r:id="rId3"/>
    <p:sldId id="266" r:id="rId4"/>
    <p:sldId id="257" r:id="rId5"/>
    <p:sldId id="271" r:id="rId6"/>
    <p:sldId id="258" r:id="rId7"/>
    <p:sldId id="259" r:id="rId8"/>
    <p:sldId id="260" r:id="rId9"/>
    <p:sldId id="272" r:id="rId10"/>
    <p:sldId id="273" r:id="rId11"/>
    <p:sldId id="261" r:id="rId12"/>
    <p:sldId id="274" r:id="rId13"/>
    <p:sldId id="262" r:id="rId14"/>
    <p:sldId id="263" r:id="rId15"/>
    <p:sldId id="264" r:id="rId16"/>
    <p:sldId id="275" r:id="rId17"/>
    <p:sldId id="265"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vProcess5" loCatId="process" qsTypeId="urn:microsoft.com/office/officeart/2005/8/quickstyle/simple1#1" qsCatId="simple" csTypeId="urn:microsoft.com/office/officeart/2005/8/colors/colorful2#1" csCatId="colorful" phldr="1"/>
      <dgm:spPr/>
      <dgm:t>
        <a:bodyPr/>
        <a:lstStyle/>
        <a:p>
          <a:endParaRPr lang="en-US"/>
        </a:p>
      </dgm:t>
    </dgm:pt>
    <dgm:pt modelId="{DFBD6BAB-0140-48B9-9073-E08FDCB01885}">
      <dgm:prSet phldr="0" custT="0"/>
      <dgm:spPr/>
      <dgm:t>
        <a:bodyPr vert="horz" wrap="square"/>
        <a:lstStyle/>
        <a:p>
          <a:pPr>
            <a:lnSpc>
              <a:spcPct val="100000"/>
            </a:lnSpc>
            <a:spcBef>
              <a:spcPct val="0"/>
            </a:spcBef>
            <a:spcAft>
              <a:spcPct val="35000"/>
            </a:spcAft>
          </a:pPr>
          <a:r>
            <a:rPr lang="en-IN" dirty="0"/>
            <a:t>Learning Outcome 1: </a:t>
          </a:r>
          <a:r>
            <a:rPr lang="en-US" dirty="0"/>
            <a:t>Identify and describe the </a:t>
          </a:r>
          <a:r>
            <a:rPr lang="en-US" b="1" dirty="0"/>
            <a:t>key enterprise security roles</a:t>
          </a:r>
          <a:r>
            <a:rPr lang="en-US" dirty="0"/>
            <a:t> (CISO, SOC, Incident Response, GRC, Engineers, Pen Testers, etc.). Differentiate between </a:t>
          </a:r>
          <a:r>
            <a:rPr lang="en-US" b="1" dirty="0"/>
            <a:t>centralized, decentralized, hybrid, and matrix</a:t>
          </a:r>
          <a:r>
            <a:rPr lang="en-US" dirty="0"/>
            <a:t> security structures.</a:t>
          </a:r>
          <a:endParaRPr lang="en-US" altLang="en-US" dirty="0"/>
        </a:p>
      </dgm:t>
    </dgm:pt>
    <dgm:pt modelId="{A7069F57-F0E9-4BC0-BE1B-B8F059C9E5B6}" type="parTrans" cxnId="{49D62F94-DF21-4BED-9187-E3389B37D5BE}">
      <dgm:prSet/>
      <dgm:spPr/>
      <dgm:t>
        <a:bodyPr/>
        <a:lstStyle/>
        <a:p>
          <a:endParaRPr lang="en-US"/>
        </a:p>
      </dgm:t>
    </dgm:pt>
    <dgm:pt modelId="{0715BA3E-6351-4C71-A2A0-855403651045}" type="sibTrans" cxnId="{49D62F94-DF21-4BED-9187-E3389B37D5BE}">
      <dgm:prSet/>
      <dgm:spPr/>
      <dgm:t>
        <a:bodyPr/>
        <a:lstStyle/>
        <a:p>
          <a:endParaRPr lang="en-US" dirty="0"/>
        </a:p>
      </dgm:t>
    </dgm:pt>
    <dgm:pt modelId="{A3B4F848-7886-4B10-8E34-39E0B844A474}">
      <dgm:prSet phldr="0" custT="0"/>
      <dgm:spPr/>
      <dgm:t>
        <a:bodyPr vert="horz" wrap="square"/>
        <a:lstStyle/>
        <a:p>
          <a:pPr>
            <a:lnSpc>
              <a:spcPct val="100000"/>
            </a:lnSpc>
            <a:spcBef>
              <a:spcPct val="0"/>
            </a:spcBef>
            <a:spcAft>
              <a:spcPct val="35000"/>
            </a:spcAft>
          </a:pPr>
          <a:r>
            <a:rPr lang="en-IN" dirty="0"/>
            <a:t>Learning Outcome 2: </a:t>
          </a:r>
          <a:r>
            <a:rPr lang="en-US" dirty="0"/>
            <a:t>Analyze </a:t>
          </a:r>
          <a:r>
            <a:rPr lang="en-US" b="1" dirty="0"/>
            <a:t>real-world case studies</a:t>
          </a:r>
          <a:r>
            <a:rPr lang="en-US" dirty="0"/>
            <a:t> to understand the impact of roles and structures in security incidents. Design a </a:t>
          </a:r>
          <a:r>
            <a:rPr lang="en-US" b="1" dirty="0"/>
            <a:t>basic security organizational chart</a:t>
          </a:r>
          <a:r>
            <a:rPr lang="en-US" dirty="0"/>
            <a:t> for different types of services.</a:t>
          </a:r>
        </a:p>
      </dgm:t>
    </dgm:pt>
    <dgm:pt modelId="{421929F8-4756-4702-AAD7-7A5185D82904}" type="parTrans" cxnId="{CD101F87-AC46-467B-A2C5-65A8D99D9424}">
      <dgm:prSet/>
      <dgm:spPr/>
      <dgm:t>
        <a:bodyPr/>
        <a:lstStyle/>
        <a:p>
          <a:endParaRPr lang="en-US"/>
        </a:p>
      </dgm:t>
    </dgm:pt>
    <dgm:pt modelId="{3DE2F17F-758E-4FA7-AB6B-444F38F1FFC4}" type="sibTrans" cxnId="{CD101F87-AC46-467B-A2C5-65A8D99D9424}">
      <dgm:prSet/>
      <dgm:spPr/>
      <dgm:t>
        <a:bodyPr/>
        <a:lstStyle/>
        <a:p>
          <a:endParaRPr lang="en-US"/>
        </a:p>
      </dgm:t>
    </dgm:pt>
    <dgm:pt modelId="{E218E0F1-97EC-4D60-8F4A-A6E21D910199}" type="pres">
      <dgm:prSet presAssocID="{B7ED251F-A7A3-4D25-B004-4241BE03EDC3}" presName="outerComposite" presStyleCnt="0">
        <dgm:presLayoutVars>
          <dgm:chMax val="5"/>
          <dgm:dir/>
          <dgm:resizeHandles val="exact"/>
        </dgm:presLayoutVars>
      </dgm:prSet>
      <dgm:spPr/>
    </dgm:pt>
    <dgm:pt modelId="{353F2BDB-A1CE-4ECD-BC0F-35AD5A327550}" type="pres">
      <dgm:prSet presAssocID="{B7ED251F-A7A3-4D25-B004-4241BE03EDC3}" presName="dummyMaxCanvas" presStyleCnt="0">
        <dgm:presLayoutVars/>
      </dgm:prSet>
      <dgm:spPr/>
    </dgm:pt>
    <dgm:pt modelId="{53DCCA95-EE28-4550-BC22-0D732BDA1591}" type="pres">
      <dgm:prSet presAssocID="{B7ED251F-A7A3-4D25-B004-4241BE03EDC3}" presName="TwoNodes_1" presStyleLbl="node1" presStyleIdx="0" presStyleCnt="2">
        <dgm:presLayoutVars>
          <dgm:bulletEnabled val="1"/>
        </dgm:presLayoutVars>
      </dgm:prSet>
      <dgm:spPr/>
    </dgm:pt>
    <dgm:pt modelId="{EEE87BCA-CB08-484E-84FC-A56376B65FBC}" type="pres">
      <dgm:prSet presAssocID="{B7ED251F-A7A3-4D25-B004-4241BE03EDC3}" presName="TwoNodes_2" presStyleLbl="node1" presStyleIdx="1" presStyleCnt="2">
        <dgm:presLayoutVars>
          <dgm:bulletEnabled val="1"/>
        </dgm:presLayoutVars>
      </dgm:prSet>
      <dgm:spPr/>
    </dgm:pt>
    <dgm:pt modelId="{E417C69D-2081-4BBA-B2DD-22F72DF8558A}" type="pres">
      <dgm:prSet presAssocID="{B7ED251F-A7A3-4D25-B004-4241BE03EDC3}" presName="TwoConn_1-2" presStyleLbl="fgAccFollowNode1" presStyleIdx="0" presStyleCnt="1">
        <dgm:presLayoutVars>
          <dgm:bulletEnabled val="1"/>
        </dgm:presLayoutVars>
      </dgm:prSet>
      <dgm:spPr/>
    </dgm:pt>
    <dgm:pt modelId="{A2EAD855-290B-4CA7-B2AB-43B3E4223B7A}" type="pres">
      <dgm:prSet presAssocID="{B7ED251F-A7A3-4D25-B004-4241BE03EDC3}" presName="TwoNodes_1_text" presStyleLbl="node1" presStyleIdx="1" presStyleCnt="2">
        <dgm:presLayoutVars>
          <dgm:bulletEnabled val="1"/>
        </dgm:presLayoutVars>
      </dgm:prSet>
      <dgm:spPr/>
    </dgm:pt>
    <dgm:pt modelId="{2D91876D-35E6-46C2-921B-A7AA82B5438E}" type="pres">
      <dgm:prSet presAssocID="{B7ED251F-A7A3-4D25-B004-4241BE03EDC3}" presName="TwoNodes_2_text" presStyleLbl="node1" presStyleIdx="1" presStyleCnt="2">
        <dgm:presLayoutVars>
          <dgm:bulletEnabled val="1"/>
        </dgm:presLayoutVars>
      </dgm:prSet>
      <dgm:spPr/>
    </dgm:pt>
  </dgm:ptLst>
  <dgm:cxnLst>
    <dgm:cxn modelId="{424FEE70-328C-497A-92B1-1DB534401279}" type="presOf" srcId="{DFBD6BAB-0140-48B9-9073-E08FDCB01885}" destId="{53DCCA95-EE28-4550-BC22-0D732BDA1591}" srcOrd="0" destOrd="0" presId="urn:microsoft.com/office/officeart/2005/8/layout/vProcess5"/>
    <dgm:cxn modelId="{311A9754-43D0-4C2F-B91B-FBCA7ECBCD28}" type="presOf" srcId="{DFBD6BAB-0140-48B9-9073-E08FDCB01885}" destId="{A2EAD855-290B-4CA7-B2AB-43B3E4223B7A}" srcOrd="1" destOrd="0" presId="urn:microsoft.com/office/officeart/2005/8/layout/vProcess5"/>
    <dgm:cxn modelId="{CD101F87-AC46-467B-A2C5-65A8D99D9424}" srcId="{B7ED251F-A7A3-4D25-B004-4241BE03EDC3}" destId="{A3B4F848-7886-4B10-8E34-39E0B844A474}" srcOrd="1" destOrd="0" parTransId="{421929F8-4756-4702-AAD7-7A5185D82904}" sibTransId="{3DE2F17F-758E-4FA7-AB6B-444F38F1FFC4}"/>
    <dgm:cxn modelId="{49D62F94-DF21-4BED-9187-E3389B37D5BE}" srcId="{B7ED251F-A7A3-4D25-B004-4241BE03EDC3}" destId="{DFBD6BAB-0140-48B9-9073-E08FDCB01885}" srcOrd="0" destOrd="0" parTransId="{A7069F57-F0E9-4BC0-BE1B-B8F059C9E5B6}" sibTransId="{0715BA3E-6351-4C71-A2A0-855403651045}"/>
    <dgm:cxn modelId="{9B5A0CA3-0CDC-4B22-8989-9F07CC69C7F2}" type="presOf" srcId="{A3B4F848-7886-4B10-8E34-39E0B844A474}" destId="{2D91876D-35E6-46C2-921B-A7AA82B5438E}" srcOrd="1" destOrd="0" presId="urn:microsoft.com/office/officeart/2005/8/layout/vProcess5"/>
    <dgm:cxn modelId="{1F52EEB1-7761-4444-BBA6-935D277DD09A}" type="presOf" srcId="{B7ED251F-A7A3-4D25-B004-4241BE03EDC3}" destId="{E218E0F1-97EC-4D60-8F4A-A6E21D910199}" srcOrd="0" destOrd="0" presId="urn:microsoft.com/office/officeart/2005/8/layout/vProcess5"/>
    <dgm:cxn modelId="{475A13CB-7216-4009-8BBE-4AD87D40C2CA}" type="presOf" srcId="{0715BA3E-6351-4C71-A2A0-855403651045}" destId="{E417C69D-2081-4BBA-B2DD-22F72DF8558A}" srcOrd="0" destOrd="0" presId="urn:microsoft.com/office/officeart/2005/8/layout/vProcess5"/>
    <dgm:cxn modelId="{77713DD7-2902-4663-A910-BA19C048A91B}" type="presOf" srcId="{A3B4F848-7886-4B10-8E34-39E0B844A474}" destId="{EEE87BCA-CB08-484E-84FC-A56376B65FBC}" srcOrd="0" destOrd="0" presId="urn:microsoft.com/office/officeart/2005/8/layout/vProcess5"/>
    <dgm:cxn modelId="{82ABCAFC-A96B-4726-821C-DED58618E3E4}" type="presParOf" srcId="{E218E0F1-97EC-4D60-8F4A-A6E21D910199}" destId="{353F2BDB-A1CE-4ECD-BC0F-35AD5A327550}" srcOrd="0" destOrd="0" presId="urn:microsoft.com/office/officeart/2005/8/layout/vProcess5"/>
    <dgm:cxn modelId="{C8896234-33F5-49F4-8C33-3E9EE29C2612}" type="presParOf" srcId="{E218E0F1-97EC-4D60-8F4A-A6E21D910199}" destId="{53DCCA95-EE28-4550-BC22-0D732BDA1591}" srcOrd="1" destOrd="0" presId="urn:microsoft.com/office/officeart/2005/8/layout/vProcess5"/>
    <dgm:cxn modelId="{52F2DE74-1B35-4BFF-B76B-D037F5FF5C5B}" type="presParOf" srcId="{E218E0F1-97EC-4D60-8F4A-A6E21D910199}" destId="{EEE87BCA-CB08-484E-84FC-A56376B65FBC}" srcOrd="2" destOrd="0" presId="urn:microsoft.com/office/officeart/2005/8/layout/vProcess5"/>
    <dgm:cxn modelId="{5ECB872A-262F-4325-9C3E-F40C075BCD1A}" type="presParOf" srcId="{E218E0F1-97EC-4D60-8F4A-A6E21D910199}" destId="{E417C69D-2081-4BBA-B2DD-22F72DF8558A}" srcOrd="3" destOrd="0" presId="urn:microsoft.com/office/officeart/2005/8/layout/vProcess5"/>
    <dgm:cxn modelId="{21E34DAD-CADD-470A-895F-87DFA15A29ED}" type="presParOf" srcId="{E218E0F1-97EC-4D60-8F4A-A6E21D910199}" destId="{A2EAD855-290B-4CA7-B2AB-43B3E4223B7A}" srcOrd="4" destOrd="0" presId="urn:microsoft.com/office/officeart/2005/8/layout/vProcess5"/>
    <dgm:cxn modelId="{3CA74E29-6521-47C2-9697-CE285C208D2F}" type="presParOf" srcId="{E218E0F1-97EC-4D60-8F4A-A6E21D910199}" destId="{2D91876D-35E6-46C2-921B-A7AA82B5438E}"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DCCA95-EE28-4550-BC22-0D732BDA1591}">
      <dsp:nvSpPr>
        <dsp:cNvPr id="0" name=""/>
        <dsp:cNvSpPr/>
      </dsp:nvSpPr>
      <dsp:spPr>
        <a:xfrm>
          <a:off x="0" y="0"/>
          <a:ext cx="7612593" cy="1660232"/>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100000"/>
            </a:lnSpc>
            <a:spcBef>
              <a:spcPct val="0"/>
            </a:spcBef>
            <a:spcAft>
              <a:spcPct val="35000"/>
            </a:spcAft>
            <a:buNone/>
          </a:pPr>
          <a:r>
            <a:rPr lang="en-IN" sz="1800" kern="1200" dirty="0"/>
            <a:t>Learning Outcome 1: </a:t>
          </a:r>
          <a:r>
            <a:rPr lang="en-US" sz="1800" kern="1200" dirty="0"/>
            <a:t>Identify and describe the </a:t>
          </a:r>
          <a:r>
            <a:rPr lang="en-US" sz="1800" b="1" kern="1200" dirty="0"/>
            <a:t>key enterprise security roles</a:t>
          </a:r>
          <a:r>
            <a:rPr lang="en-US" sz="1800" kern="1200" dirty="0"/>
            <a:t> (CISO, SOC, Incident Response, GRC, Engineers, Pen Testers, etc.). Differentiate between </a:t>
          </a:r>
          <a:r>
            <a:rPr lang="en-US" sz="1800" b="1" kern="1200" dirty="0"/>
            <a:t>centralized, decentralized, hybrid, and matrix</a:t>
          </a:r>
          <a:r>
            <a:rPr lang="en-US" sz="1800" kern="1200" dirty="0"/>
            <a:t> security structures.</a:t>
          </a:r>
          <a:endParaRPr lang="en-US" altLang="en-US" sz="1800" kern="1200" dirty="0"/>
        </a:p>
      </dsp:txBody>
      <dsp:txXfrm>
        <a:off x="48627" y="48627"/>
        <a:ext cx="5896612" cy="1562978"/>
      </dsp:txXfrm>
    </dsp:sp>
    <dsp:sp modelId="{EEE87BCA-CB08-484E-84FC-A56376B65FBC}">
      <dsp:nvSpPr>
        <dsp:cNvPr id="0" name=""/>
        <dsp:cNvSpPr/>
      </dsp:nvSpPr>
      <dsp:spPr>
        <a:xfrm>
          <a:off x="1343398" y="2029172"/>
          <a:ext cx="7612593" cy="1660232"/>
        </a:xfrm>
        <a:prstGeom prst="roundRect">
          <a:avLst>
            <a:gd name="adj" fmla="val 10000"/>
          </a:avLst>
        </a:prstGeom>
        <a:solidFill>
          <a:schemeClr val="accent2">
            <a:hueOff val="4681519"/>
            <a:satOff val="-5839"/>
            <a:lumOff val="137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100000"/>
            </a:lnSpc>
            <a:spcBef>
              <a:spcPct val="0"/>
            </a:spcBef>
            <a:spcAft>
              <a:spcPct val="35000"/>
            </a:spcAft>
            <a:buNone/>
          </a:pPr>
          <a:r>
            <a:rPr lang="en-IN" sz="1800" kern="1200" dirty="0"/>
            <a:t>Learning Outcome 2: </a:t>
          </a:r>
          <a:r>
            <a:rPr lang="en-US" sz="1800" kern="1200" dirty="0"/>
            <a:t>Analyze </a:t>
          </a:r>
          <a:r>
            <a:rPr lang="en-US" sz="1800" b="1" kern="1200" dirty="0"/>
            <a:t>real-world case studies</a:t>
          </a:r>
          <a:r>
            <a:rPr lang="en-US" sz="1800" kern="1200" dirty="0"/>
            <a:t> to understand the impact of roles and structures in security incidents. Design a </a:t>
          </a:r>
          <a:r>
            <a:rPr lang="en-US" sz="1800" b="1" kern="1200" dirty="0"/>
            <a:t>basic security organizational chart</a:t>
          </a:r>
          <a:r>
            <a:rPr lang="en-US" sz="1800" kern="1200" dirty="0"/>
            <a:t> for different types of services.</a:t>
          </a:r>
        </a:p>
      </dsp:txBody>
      <dsp:txXfrm>
        <a:off x="1392025" y="2077799"/>
        <a:ext cx="5092789" cy="1562978"/>
      </dsp:txXfrm>
    </dsp:sp>
    <dsp:sp modelId="{E417C69D-2081-4BBA-B2DD-22F72DF8558A}">
      <dsp:nvSpPr>
        <dsp:cNvPr id="0" name=""/>
        <dsp:cNvSpPr/>
      </dsp:nvSpPr>
      <dsp:spPr>
        <a:xfrm>
          <a:off x="6533442" y="1305127"/>
          <a:ext cx="1079150" cy="1079150"/>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6776251" y="1305127"/>
        <a:ext cx="593532" cy="81206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2/13/2026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 Id="rId9"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70087" y="296395"/>
            <a:ext cx="874732" cy="874732"/>
          </a:xfrm>
          <a:prstGeom prst="rect">
            <a:avLst/>
          </a:prstGeom>
        </p:spPr>
      </p:pic>
      <p:sp>
        <p:nvSpPr>
          <p:cNvPr id="6" name="Rectangle 5"/>
          <p:cNvSpPr/>
          <p:nvPr/>
        </p:nvSpPr>
        <p:spPr>
          <a:xfrm>
            <a:off x="713574" y="1770896"/>
            <a:ext cx="6721268" cy="3877985"/>
          </a:xfrm>
          <a:prstGeom prst="rect">
            <a:avLst/>
          </a:prstGeom>
        </p:spPr>
        <p:txBody>
          <a:bodyPr wrap="square">
            <a:spAutoFit/>
          </a:bodyPr>
          <a:lstStyle/>
          <a:p>
            <a:r>
              <a:rPr lang="en-US" sz="4800" dirty="0"/>
              <a:t> Security Services, Security Mechanisms</a:t>
            </a:r>
            <a:br>
              <a:rPr lang="en-IN" sz="4800" b="1" dirty="0">
                <a:solidFill>
                  <a:schemeClr val="tx1">
                    <a:lumMod val="95000"/>
                    <a:lumOff val="5000"/>
                  </a:schemeClr>
                </a:solidFill>
                <a:latin typeface="Georgia" panose="02040502050405020303" pitchFamily="18" charset="0"/>
                <a:cs typeface="Arial" panose="020B0604020202020204" pitchFamily="34" charset="0"/>
              </a:rPr>
            </a:br>
            <a:br>
              <a:rPr lang="en-IN" sz="4800" b="1" dirty="0">
                <a:solidFill>
                  <a:schemeClr val="tx1">
                    <a:lumMod val="95000"/>
                    <a:lumOff val="5000"/>
                  </a:schemeClr>
                </a:solidFill>
                <a:latin typeface="Georgia" panose="02040502050405020303" pitchFamily="18" charset="0"/>
                <a:cs typeface="Arial" panose="020B0604020202020204" pitchFamily="34" charset="0"/>
              </a:rPr>
            </a:br>
            <a:br>
              <a:rPr lang="en-IN" sz="4800" b="1" dirty="0">
                <a:solidFill>
                  <a:schemeClr val="tx1">
                    <a:lumMod val="95000"/>
                    <a:lumOff val="5000"/>
                  </a:schemeClr>
                </a:solidFill>
                <a:latin typeface="Georgia" panose="02040502050405020303" pitchFamily="18" charset="0"/>
                <a:cs typeface="Arial" panose="020B0604020202020204" pitchFamily="34" charset="0"/>
              </a:rPr>
            </a:br>
            <a:r>
              <a:rPr lang="en-IN" b="1" dirty="0">
                <a:solidFill>
                  <a:schemeClr val="tx1">
                    <a:lumMod val="95000"/>
                    <a:lumOff val="5000"/>
                  </a:schemeClr>
                </a:solidFill>
                <a:latin typeface="Georgia" panose="02040502050405020303" pitchFamily="18" charset="0"/>
                <a:cs typeface="Arial" panose="020B0604020202020204" pitchFamily="34" charset="0"/>
              </a:rPr>
              <a:t>Session No: 4</a:t>
            </a:r>
            <a:br>
              <a:rPr lang="en-IN" b="1" dirty="0">
                <a:solidFill>
                  <a:schemeClr val="tx1">
                    <a:lumMod val="95000"/>
                    <a:lumOff val="5000"/>
                  </a:schemeClr>
                </a:solidFill>
                <a:latin typeface="Georgia" panose="02040502050405020303" pitchFamily="18" charset="0"/>
                <a:cs typeface="Arial" panose="020B0604020202020204" pitchFamily="34" charset="0"/>
              </a:rPr>
            </a:br>
            <a:r>
              <a:rPr lang="en-IN" b="1" dirty="0">
                <a:solidFill>
                  <a:schemeClr val="tx1">
                    <a:lumMod val="95000"/>
                    <a:lumOff val="5000"/>
                  </a:schemeClr>
                </a:solidFill>
                <a:latin typeface="Georgia" panose="02040502050405020303" pitchFamily="18" charset="0"/>
                <a:cs typeface="Arial" panose="020B0604020202020204" pitchFamily="34" charset="0"/>
              </a:rPr>
              <a:t>Course Name: Cyber Security Fundamentals </a:t>
            </a:r>
            <a:br>
              <a:rPr lang="en-IN" b="1" dirty="0">
                <a:solidFill>
                  <a:schemeClr val="tx1">
                    <a:lumMod val="95000"/>
                    <a:lumOff val="5000"/>
                  </a:schemeClr>
                </a:solidFill>
                <a:latin typeface="Georgia" panose="02040502050405020303" pitchFamily="18" charset="0"/>
                <a:cs typeface="Arial" panose="020B0604020202020204" pitchFamily="34" charset="0"/>
              </a:rPr>
            </a:br>
            <a:endParaRPr lang="en-US" dirty="0">
              <a:solidFill>
                <a:schemeClr val="tx1">
                  <a:lumMod val="95000"/>
                  <a:lumOff val="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70087" y="296395"/>
            <a:ext cx="874732" cy="874732"/>
          </a:xfrm>
          <a:prstGeom prst="rect">
            <a:avLst/>
          </a:prstGeom>
        </p:spPr>
      </p:pic>
      <p:sp>
        <p:nvSpPr>
          <p:cNvPr id="6" name="Title 5">
            <a:extLst>
              <a:ext uri="{FF2B5EF4-FFF2-40B4-BE49-F238E27FC236}">
                <a16:creationId xmlns:a16="http://schemas.microsoft.com/office/drawing/2014/main" id="{56A7A009-294A-87D9-2482-EEDD990E622B}"/>
              </a:ext>
            </a:extLst>
          </p:cNvPr>
          <p:cNvSpPr>
            <a:spLocks noGrp="1"/>
          </p:cNvSpPr>
          <p:nvPr>
            <p:ph type="title"/>
          </p:nvPr>
        </p:nvSpPr>
        <p:spPr>
          <a:xfrm>
            <a:off x="0" y="1505232"/>
            <a:ext cx="9144000" cy="1143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r>
              <a:rPr lang="en-US" sz="3600" dirty="0">
                <a:latin typeface="Times New Roman" panose="02020603050405020304" pitchFamily="18" charset="0"/>
                <a:cs typeface="Times New Roman" panose="02020603050405020304" pitchFamily="18" charset="0"/>
              </a:rPr>
              <a:t>Review of the key concepts of session no. 3</a:t>
            </a:r>
            <a:endParaRPr lang="en-US" sz="3600" dirty="0"/>
          </a:p>
        </p:txBody>
      </p:sp>
      <p:sp>
        <p:nvSpPr>
          <p:cNvPr id="7" name="Content Placeholder 9"/>
          <p:cNvSpPr>
            <a:spLocks noGrp="1"/>
          </p:cNvSpPr>
          <p:nvPr>
            <p:ph idx="1"/>
          </p:nvPr>
        </p:nvSpPr>
        <p:spPr>
          <a:xfrm>
            <a:off x="119641" y="2905570"/>
            <a:ext cx="8870535" cy="258083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dirty="0"/>
              <a:t>RECAP LEC-3</a:t>
            </a:r>
          </a:p>
        </p:txBody>
      </p:sp>
    </p:spTree>
    <p:extLst>
      <p:ext uri="{BB962C8B-B14F-4D97-AF65-F5344CB8AC3E}">
        <p14:creationId xmlns:p14="http://schemas.microsoft.com/office/powerpoint/2010/main" val="3622211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2170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6" name="Title 1"/>
          <p:cNvGraphicFramePr/>
          <p:nvPr>
            <p:extLst>
              <p:ext uri="{D42A27DB-BD31-4B8C-83A1-F6EECF244321}">
                <p14:modId xmlns:p14="http://schemas.microsoft.com/office/powerpoint/2010/main" val="3806046883"/>
              </p:ext>
            </p:extLst>
          </p:nvPr>
        </p:nvGraphicFramePr>
        <p:xfrm>
          <a:off x="94004" y="2385242"/>
          <a:ext cx="8955992"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p:cNvPicPr>
            <a:picLocks noChangeAspect="1"/>
          </p:cNvPicPr>
          <p:nvPr/>
        </p:nvPicPr>
        <p:blipFill>
          <a:blip r:embed="rId8"/>
          <a:stretch>
            <a:fillRect/>
          </a:stretch>
        </p:blipFill>
        <p:spPr>
          <a:xfrm>
            <a:off x="242966" y="208906"/>
            <a:ext cx="2215421" cy="612478"/>
          </a:xfrm>
          <a:prstGeom prst="rect">
            <a:avLst/>
          </a:prstGeom>
        </p:spPr>
      </p:pic>
      <p:pic>
        <p:nvPicPr>
          <p:cNvPr id="8" name="Picture 7" descr="A blue circle with text and words&#10;&#10;Description automatically generated"/>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7870087" y="296395"/>
            <a:ext cx="874732" cy="874732"/>
          </a:xfrm>
          <a:prstGeom prst="rect">
            <a:avLst/>
          </a:prstGeom>
        </p:spPr>
      </p:pic>
      <p:sp>
        <p:nvSpPr>
          <p:cNvPr id="5" name="Rectangle 4"/>
          <p:cNvSpPr/>
          <p:nvPr/>
        </p:nvSpPr>
        <p:spPr>
          <a:xfrm>
            <a:off x="183146" y="1524864"/>
            <a:ext cx="8420079" cy="461665"/>
          </a:xfrm>
          <a:prstGeom prst="rect">
            <a:avLst/>
          </a:prstGeom>
        </p:spPr>
        <p:txBody>
          <a:bodyPr wrap="square">
            <a:spAutoFit/>
          </a:bodyPr>
          <a:lstStyle/>
          <a:p>
            <a:r>
              <a:rPr lang="en-IN" sz="2400" b="1" dirty="0">
                <a:solidFill>
                  <a:schemeClr val="tx1">
                    <a:lumMod val="95000"/>
                    <a:lumOff val="5000"/>
                  </a:schemeClr>
                </a:solidFill>
                <a:latin typeface="Arial" panose="020B0604020202020204" pitchFamily="34" charset="0"/>
                <a:cs typeface="Arial" panose="020B0604020202020204" pitchFamily="34" charset="0"/>
              </a:rPr>
              <a:t>At the end of this session students will be able to </a:t>
            </a:r>
          </a:p>
        </p:txBody>
      </p:sp>
    </p:spTree>
    <p:extLst>
      <p:ext uri="{BB962C8B-B14F-4D97-AF65-F5344CB8AC3E}">
        <p14:creationId xmlns:p14="http://schemas.microsoft.com/office/powerpoint/2010/main" val="1884922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582" y="564401"/>
            <a:ext cx="8229600" cy="993811"/>
          </a:xfrm>
        </p:spPr>
        <p:txBody>
          <a:bodyPr/>
          <a:lstStyle/>
          <a:p>
            <a:r>
              <a:rPr dirty="0"/>
              <a:t>Introduction</a:t>
            </a:r>
          </a:p>
        </p:txBody>
      </p:sp>
      <p:sp>
        <p:nvSpPr>
          <p:cNvPr id="3" name="Content Placeholder 2"/>
          <p:cNvSpPr>
            <a:spLocks noGrp="1"/>
          </p:cNvSpPr>
          <p:nvPr>
            <p:ph idx="1"/>
          </p:nvPr>
        </p:nvSpPr>
        <p:spPr>
          <a:xfrm>
            <a:off x="120582" y="1558212"/>
            <a:ext cx="8902120" cy="5150498"/>
          </a:xfrm>
        </p:spPr>
        <p:txBody>
          <a:bodyPr/>
          <a:lstStyle/>
          <a:p>
            <a:pPr marL="0" indent="0">
              <a:buNone/>
            </a:pPr>
            <a:r>
              <a:rPr lang="en-US" b="1" dirty="0"/>
              <a:t>What is Security Services?</a:t>
            </a:r>
            <a:endParaRPr lang="en-US" dirty="0"/>
          </a:p>
          <a:p>
            <a:r>
              <a:rPr lang="en-US" dirty="0"/>
              <a:t>Security Services involves protecting an organization’s data, assets, and systems from cyber threats.</a:t>
            </a:r>
          </a:p>
          <a:p>
            <a:r>
              <a:rPr lang="en-US" dirty="0"/>
              <a:t>It requires policies, roles, responsibilities, and structures to ensure proper governance.</a:t>
            </a:r>
          </a:p>
          <a:p>
            <a:pPr marL="0" indent="0">
              <a:buNone/>
            </a:pPr>
            <a:endParaRPr dirty="0"/>
          </a:p>
        </p:txBody>
      </p:sp>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2816" y="261169"/>
            <a:ext cx="874732" cy="87473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97158" y="1524009"/>
            <a:ext cx="8360229" cy="3539430"/>
          </a:xfrm>
          <a:prstGeom prst="rect">
            <a:avLst/>
          </a:prstGeom>
        </p:spPr>
        <p:txBody>
          <a:bodyPr wrap="square">
            <a:spAutoFit/>
          </a:bodyPr>
          <a:lstStyle/>
          <a:p>
            <a:r>
              <a:rPr lang="en-US" sz="3200" b="1" dirty="0"/>
              <a:t>Why Security Roles &amp; Structures?</a:t>
            </a:r>
            <a:endParaRPr lang="en-US" sz="3200" dirty="0"/>
          </a:p>
          <a:p>
            <a:endParaRPr lang="en-US" sz="3200" dirty="0"/>
          </a:p>
          <a:p>
            <a:r>
              <a:rPr lang="en-US" sz="3200" dirty="0"/>
              <a:t>Security roles and structures ensure clear responsibilities, risk management, and regulatory compliance.Well-defined structure improves:Incident responseAccountabilityData confidentiality, integrity, availability.</a:t>
            </a:r>
          </a:p>
        </p:txBody>
      </p:sp>
      <p:pic>
        <p:nvPicPr>
          <p:cNvPr id="5" name="Picture 4"/>
          <p:cNvPicPr>
            <a:picLocks noChangeAspect="1"/>
          </p:cNvPicPr>
          <p:nvPr/>
        </p:nvPicPr>
        <p:blipFill>
          <a:blip r:embed="rId2"/>
          <a:stretch>
            <a:fillRect/>
          </a:stretch>
        </p:blipFill>
        <p:spPr>
          <a:xfrm>
            <a:off x="242966" y="208906"/>
            <a:ext cx="2215421" cy="612478"/>
          </a:xfrm>
          <a:prstGeom prst="rect">
            <a:avLst/>
          </a:prstGeom>
        </p:spPr>
      </p:pic>
      <p:pic>
        <p:nvPicPr>
          <p:cNvPr id="6" name="Picture 5"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2816" y="261169"/>
            <a:ext cx="874732" cy="874732"/>
          </a:xfrm>
          <a:prstGeom prst="rect">
            <a:avLst/>
          </a:prstGeom>
        </p:spPr>
      </p:pic>
    </p:spTree>
    <p:extLst>
      <p:ext uri="{BB962C8B-B14F-4D97-AF65-F5344CB8AC3E}">
        <p14:creationId xmlns:p14="http://schemas.microsoft.com/office/powerpoint/2010/main" val="16867791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2966" y="672297"/>
            <a:ext cx="8229600" cy="1143000"/>
          </a:xfrm>
        </p:spPr>
        <p:txBody>
          <a:bodyPr>
            <a:normAutofit/>
          </a:bodyPr>
          <a:lstStyle/>
          <a:p>
            <a:r>
              <a:rPr sz="4000" dirty="0"/>
              <a:t>Importance of Security Roles</a:t>
            </a:r>
          </a:p>
        </p:txBody>
      </p:sp>
      <p:sp>
        <p:nvSpPr>
          <p:cNvPr id="3" name="Content Placeholder 2"/>
          <p:cNvSpPr>
            <a:spLocks noGrp="1"/>
          </p:cNvSpPr>
          <p:nvPr>
            <p:ph idx="1"/>
          </p:nvPr>
        </p:nvSpPr>
        <p:spPr>
          <a:xfrm>
            <a:off x="121298" y="1614196"/>
            <a:ext cx="8901404" cy="5150497"/>
          </a:xfrm>
        </p:spPr>
        <p:txBody>
          <a:bodyPr>
            <a:normAutofit fontScale="85000" lnSpcReduction="10000"/>
          </a:bodyPr>
          <a:lstStyle/>
          <a:p>
            <a:r>
              <a:rPr lang="en-US" sz="2800" dirty="0"/>
              <a:t>Risk Reduction &amp; Threat Management</a:t>
            </a:r>
          </a:p>
          <a:p>
            <a:pPr marL="0" indent="0">
              <a:buNone/>
            </a:pPr>
            <a:r>
              <a:rPr lang="en-US" sz="2800" dirty="0"/>
              <a:t>  	Organized roles help detect and respond to cyber threats 	faster. </a:t>
            </a:r>
          </a:p>
          <a:p>
            <a:pPr marL="0" indent="0">
              <a:buNone/>
            </a:pPr>
            <a:r>
              <a:rPr lang="en-US" sz="2800" dirty="0"/>
              <a:t>	Proper segregation of duties minimizes insider threats.</a:t>
            </a:r>
          </a:p>
          <a:p>
            <a:r>
              <a:rPr lang="en-US" sz="2800" dirty="0"/>
              <a:t>Regulatory Compliance &amp; Legal Protection</a:t>
            </a:r>
          </a:p>
          <a:p>
            <a:r>
              <a:rPr lang="en-US" sz="2800" dirty="0"/>
              <a:t>Structures define who leads recovery in case of cyberattacks or natural disasters.</a:t>
            </a:r>
          </a:p>
          <a:p>
            <a:r>
              <a:rPr lang="en-US" sz="2800" dirty="0"/>
              <a:t>Ensures quick restoration of services to avoid business loss.</a:t>
            </a:r>
          </a:p>
          <a:p>
            <a:r>
              <a:rPr lang="en-US" sz="2800" dirty="0"/>
              <a:t>Provides a hierarchy of accountability.</a:t>
            </a:r>
          </a:p>
          <a:p>
            <a:r>
              <a:rPr lang="en-US" sz="2800" dirty="0"/>
              <a:t>Defines who is responsible for what in security operations.</a:t>
            </a:r>
          </a:p>
          <a:p>
            <a:r>
              <a:rPr lang="en-US" sz="2800" dirty="0"/>
              <a:t>Reduces risks by segregation of duties (no single person has unchecked power).</a:t>
            </a:r>
          </a:p>
          <a:p>
            <a:pPr marL="0" indent="0">
              <a:buNone/>
            </a:pPr>
            <a:r>
              <a:rPr sz="2800" dirty="0"/>
              <a:t>• Reduces confusion during incidents</a:t>
            </a:r>
          </a:p>
          <a:p>
            <a:pPr marL="0" indent="0">
              <a:buNone/>
            </a:pPr>
            <a:r>
              <a:rPr sz="2800" dirty="0"/>
              <a:t>• Aligns cybersecurity with business goals</a:t>
            </a:r>
          </a:p>
          <a:p>
            <a:pPr marL="0" indent="0">
              <a:buNone/>
            </a:pPr>
            <a:endParaRPr sz="2800" dirty="0"/>
          </a:p>
        </p:txBody>
      </p:sp>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78633" y="208906"/>
            <a:ext cx="874732" cy="8747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650" y="793391"/>
            <a:ext cx="8229600" cy="606201"/>
          </a:xfrm>
        </p:spPr>
        <p:txBody>
          <a:bodyPr>
            <a:noAutofit/>
          </a:bodyPr>
          <a:lstStyle/>
          <a:p>
            <a:r>
              <a:rPr sz="3600" dirty="0"/>
              <a:t>Key</a:t>
            </a:r>
            <a:r>
              <a:rPr lang="en-US" sz="3600" dirty="0"/>
              <a:t> Roles in</a:t>
            </a:r>
            <a:r>
              <a:rPr sz="3600" dirty="0"/>
              <a:t> Enterprise Security</a:t>
            </a:r>
          </a:p>
        </p:txBody>
      </p:sp>
      <p:sp>
        <p:nvSpPr>
          <p:cNvPr id="3" name="Content Placeholder 2"/>
          <p:cNvSpPr>
            <a:spLocks noGrp="1"/>
          </p:cNvSpPr>
          <p:nvPr>
            <p:ph idx="1"/>
          </p:nvPr>
        </p:nvSpPr>
        <p:spPr>
          <a:xfrm>
            <a:off x="93306" y="1464906"/>
            <a:ext cx="9050694" cy="5393094"/>
          </a:xfrm>
        </p:spPr>
        <p:txBody>
          <a:bodyPr>
            <a:normAutofit fontScale="70000" lnSpcReduction="20000"/>
          </a:bodyPr>
          <a:lstStyle/>
          <a:p>
            <a:r>
              <a:rPr lang="en-US" b="1" dirty="0"/>
              <a:t>CISO (Chief Information Security Officer)</a:t>
            </a:r>
            <a:endParaRPr lang="en-US" dirty="0"/>
          </a:p>
          <a:p>
            <a:pPr marL="0" indent="0">
              <a:buNone/>
            </a:pPr>
            <a:r>
              <a:rPr lang="en-US" dirty="0"/>
              <a:t>	Leads security vision, strategy, and governance.</a:t>
            </a:r>
          </a:p>
          <a:p>
            <a:r>
              <a:rPr lang="en-US" b="1" dirty="0"/>
              <a:t>Security Architect</a:t>
            </a:r>
            <a:endParaRPr lang="en-US" dirty="0"/>
          </a:p>
          <a:p>
            <a:pPr marL="0" indent="0">
              <a:buNone/>
            </a:pPr>
            <a:r>
              <a:rPr lang="en-US" dirty="0"/>
              <a:t>	Designs secure system and network architecture.</a:t>
            </a:r>
          </a:p>
          <a:p>
            <a:r>
              <a:rPr lang="en-US" b="1" dirty="0"/>
              <a:t>Security Manager</a:t>
            </a:r>
            <a:endParaRPr lang="en-US" dirty="0"/>
          </a:p>
          <a:p>
            <a:pPr marL="0" indent="0">
              <a:buNone/>
            </a:pPr>
            <a:r>
              <a:rPr lang="en-US" dirty="0"/>
              <a:t>	Manages teams, projects, and compliance efforts.</a:t>
            </a:r>
          </a:p>
          <a:p>
            <a:r>
              <a:rPr lang="en-US" b="1" dirty="0"/>
              <a:t>Security Engineer</a:t>
            </a:r>
            <a:endParaRPr lang="en-US" dirty="0"/>
          </a:p>
          <a:p>
            <a:pPr marL="0" indent="0">
              <a:buNone/>
            </a:pPr>
            <a:r>
              <a:rPr lang="en-US" dirty="0"/>
              <a:t>	Implements technical controls (firewalls, IDS, SIEM).</a:t>
            </a:r>
          </a:p>
          <a:p>
            <a:r>
              <a:rPr lang="en-US" b="1" dirty="0"/>
              <a:t>Security Analyst (SOC)</a:t>
            </a:r>
            <a:endParaRPr lang="en-US" dirty="0"/>
          </a:p>
          <a:p>
            <a:pPr marL="0" indent="0">
              <a:buNone/>
            </a:pPr>
            <a:r>
              <a:rPr lang="en-US" dirty="0"/>
              <a:t>	Monitors threats, responds to incidents, conducts risk analysis.</a:t>
            </a:r>
          </a:p>
          <a:p>
            <a:r>
              <a:rPr lang="en-US" b="1" dirty="0"/>
              <a:t>Compliance Officer</a:t>
            </a:r>
            <a:endParaRPr lang="en-US" dirty="0"/>
          </a:p>
          <a:p>
            <a:pPr marL="0" indent="0">
              <a:buNone/>
            </a:pPr>
            <a:r>
              <a:rPr lang="en-US" dirty="0"/>
              <a:t>	Ensures adherence to regulations (GDPR, HIPAA, etc.).</a:t>
            </a:r>
          </a:p>
          <a:p>
            <a:r>
              <a:rPr lang="en-US" b="1" dirty="0"/>
              <a:t>Penetration Tester / Ethical Hacker</a:t>
            </a:r>
            <a:endParaRPr lang="en-US" dirty="0"/>
          </a:p>
          <a:p>
            <a:pPr marL="0" indent="0">
              <a:buNone/>
            </a:pPr>
            <a:r>
              <a:rPr lang="en-US" dirty="0"/>
              <a:t>	Identifies weaknesses before attackers do.</a:t>
            </a:r>
          </a:p>
          <a:p>
            <a:r>
              <a:rPr lang="en-US" b="1" dirty="0"/>
              <a:t>Incident Response Team</a:t>
            </a:r>
            <a:endParaRPr lang="en-US" dirty="0"/>
          </a:p>
          <a:p>
            <a:pPr marL="0" indent="0">
              <a:buNone/>
            </a:pPr>
            <a:r>
              <a:rPr lang="en-US" dirty="0"/>
              <a:t>	Manages detection, response, recovery from cyberattacks.</a:t>
            </a:r>
          </a:p>
        </p:txBody>
      </p:sp>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12068" y="208906"/>
            <a:ext cx="874732" cy="87473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3225" y="821384"/>
            <a:ext cx="8229600" cy="773508"/>
          </a:xfrm>
        </p:spPr>
        <p:txBody>
          <a:bodyPr/>
          <a:lstStyle/>
          <a:p>
            <a:r>
              <a:rPr dirty="0"/>
              <a:t>Organizational Security Structures</a:t>
            </a:r>
          </a:p>
        </p:txBody>
      </p:sp>
      <p:sp>
        <p:nvSpPr>
          <p:cNvPr id="3" name="Content Placeholder 2"/>
          <p:cNvSpPr>
            <a:spLocks noGrp="1"/>
          </p:cNvSpPr>
          <p:nvPr>
            <p:ph idx="1"/>
          </p:nvPr>
        </p:nvSpPr>
        <p:spPr>
          <a:xfrm>
            <a:off x="130629" y="1670180"/>
            <a:ext cx="8901404" cy="5122506"/>
          </a:xfrm>
        </p:spPr>
        <p:txBody>
          <a:bodyPr>
            <a:normAutofit/>
          </a:bodyPr>
          <a:lstStyle/>
          <a:p>
            <a:r>
              <a:rPr lang="en-US" b="1" dirty="0"/>
              <a:t>Centralized Security Model</a:t>
            </a:r>
          </a:p>
          <a:p>
            <a:pPr marL="0" indent="0">
              <a:buNone/>
            </a:pPr>
            <a:r>
              <a:rPr lang="en-US" b="1" dirty="0"/>
              <a:t>	Structure:</a:t>
            </a:r>
            <a:r>
              <a:rPr lang="en-US" dirty="0"/>
              <a:t> A single, large security team reports 	directly to the CISO, who reports to the CIO or 	CEO.</a:t>
            </a:r>
          </a:p>
          <a:p>
            <a:pPr marL="0" indent="0">
              <a:buNone/>
            </a:pPr>
            <a:r>
              <a:rPr lang="en-US" b="1" dirty="0"/>
              <a:t>	Pros:</a:t>
            </a:r>
            <a:r>
              <a:rPr lang="en-US" dirty="0"/>
              <a:t> Consistency in policy, highly efficient for 	small-to-medium orgs, better coordination.</a:t>
            </a:r>
          </a:p>
          <a:p>
            <a:pPr marL="0" indent="0">
              <a:buNone/>
            </a:pPr>
            <a:r>
              <a:rPr lang="en-US" b="1" dirty="0"/>
              <a:t>	Cons:</a:t>
            </a:r>
            <a:r>
              <a:rPr lang="en-US" dirty="0"/>
              <a:t> Can be slow to respond to specific business 	unit needs, may lack specialized knowledge for 	diverse business segments.</a:t>
            </a:r>
          </a:p>
        </p:txBody>
      </p:sp>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9908" y="236941"/>
            <a:ext cx="874732" cy="87473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r>
              <a:rPr lang="en-US" b="1" dirty="0"/>
              <a:t>Decentralized/Federated Security Model</a:t>
            </a:r>
          </a:p>
          <a:p>
            <a:pPr marL="400050" lvl="1" indent="0">
              <a:buNone/>
            </a:pPr>
            <a:r>
              <a:rPr lang="en-US" b="1" dirty="0"/>
              <a:t>Structure:</a:t>
            </a:r>
            <a:r>
              <a:rPr lang="en-US" dirty="0"/>
              <a:t> Small, dedicated security teams are embedded within individual business units (e.g., Finance, HR, Manufacturing) but still adhere to corporate standards set by a central CISO office.</a:t>
            </a:r>
          </a:p>
          <a:p>
            <a:pPr marL="400050" lvl="1" indent="0">
              <a:buNone/>
            </a:pPr>
            <a:r>
              <a:rPr lang="en-US" b="1" dirty="0"/>
              <a:t>Pros:</a:t>
            </a:r>
            <a:r>
              <a:rPr lang="en-US" dirty="0"/>
              <a:t> Business-aligned security, quicker response to local risks, specialized focus.</a:t>
            </a:r>
          </a:p>
          <a:p>
            <a:pPr marL="400050" lvl="1" indent="0">
              <a:buNone/>
            </a:pPr>
            <a:r>
              <a:rPr lang="en-US" b="1" dirty="0"/>
              <a:t>Cons:</a:t>
            </a:r>
            <a:r>
              <a:rPr lang="en-US" dirty="0"/>
              <a:t> Potential for inconsistent standards (shadow IT), higher operational cost, difficult to enforce global policies.</a:t>
            </a:r>
          </a:p>
          <a:p>
            <a:endParaRPr lang="en-US" dirty="0"/>
          </a:p>
        </p:txBody>
      </p:sp>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9908" y="236941"/>
            <a:ext cx="874732" cy="874732"/>
          </a:xfrm>
          <a:prstGeom prst="rect">
            <a:avLst/>
          </a:prstGeom>
        </p:spPr>
      </p:pic>
    </p:spTree>
    <p:extLst>
      <p:ext uri="{BB962C8B-B14F-4D97-AF65-F5344CB8AC3E}">
        <p14:creationId xmlns:p14="http://schemas.microsoft.com/office/powerpoint/2010/main" val="2115497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b="1" dirty="0"/>
              <a:t>Hybrid/Matrix Model</a:t>
            </a:r>
          </a:p>
          <a:p>
            <a:pPr marL="400050" lvl="1" indent="0">
              <a:buNone/>
            </a:pPr>
            <a:r>
              <a:rPr lang="en-US" b="1" dirty="0"/>
              <a:t>Structure:</a:t>
            </a:r>
            <a:r>
              <a:rPr lang="en-US" dirty="0"/>
              <a:t> A strong central CISO team sets policy and standards, while "security liaisons" or smaller teams are placed in business units to ensure local compliance and handle day-to-day security tasks.</a:t>
            </a:r>
          </a:p>
          <a:p>
            <a:pPr marL="400050" lvl="1" indent="0">
              <a:buNone/>
            </a:pPr>
            <a:r>
              <a:rPr lang="en-US" b="1" dirty="0"/>
              <a:t>Best For:</a:t>
            </a:r>
            <a:r>
              <a:rPr lang="en-US" dirty="0"/>
              <a:t> Large, global organizations.</a:t>
            </a:r>
          </a:p>
          <a:p>
            <a:pPr marL="400050" lvl="1" indent="0">
              <a:buNone/>
            </a:pPr>
            <a:r>
              <a:rPr lang="en-US" b="1" dirty="0"/>
              <a:t>Goal:</a:t>
            </a:r>
            <a:r>
              <a:rPr lang="en-US" dirty="0"/>
              <a:t> Leverage the </a:t>
            </a:r>
            <a:r>
              <a:rPr lang="en-US" b="1" dirty="0"/>
              <a:t>consistency</a:t>
            </a:r>
            <a:r>
              <a:rPr lang="en-US" dirty="0"/>
              <a:t> of a central model with the </a:t>
            </a:r>
            <a:r>
              <a:rPr lang="en-US" b="1" dirty="0"/>
              <a:t>responsiveness</a:t>
            </a:r>
            <a:r>
              <a:rPr lang="en-US" dirty="0"/>
              <a:t> of a decentralized model.</a:t>
            </a:r>
          </a:p>
          <a:p>
            <a:endParaRPr lang="en-US" dirty="0"/>
          </a:p>
        </p:txBody>
      </p:sp>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29908" y="236941"/>
            <a:ext cx="874732" cy="874732"/>
          </a:xfrm>
          <a:prstGeom prst="rect">
            <a:avLst/>
          </a:prstGeom>
        </p:spPr>
      </p:pic>
    </p:spTree>
    <p:extLst>
      <p:ext uri="{BB962C8B-B14F-4D97-AF65-F5344CB8AC3E}">
        <p14:creationId xmlns:p14="http://schemas.microsoft.com/office/powerpoint/2010/main" val="2421879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47375"/>
            <a:ext cx="8229600" cy="1143000"/>
          </a:xfrm>
        </p:spPr>
        <p:txBody>
          <a:bodyPr/>
          <a:lstStyle/>
          <a:p>
            <a:r>
              <a:rPr lang="en-US" dirty="0"/>
              <a:t>Enterprise Security Layers</a:t>
            </a:r>
            <a:endParaRPr dirty="0"/>
          </a:p>
        </p:txBody>
      </p:sp>
      <p:sp>
        <p:nvSpPr>
          <p:cNvPr id="3" name="Content Placeholder 2"/>
          <p:cNvSpPr>
            <a:spLocks noGrp="1"/>
          </p:cNvSpPr>
          <p:nvPr>
            <p:ph idx="1"/>
          </p:nvPr>
        </p:nvSpPr>
        <p:spPr>
          <a:xfrm>
            <a:off x="457200" y="1967669"/>
            <a:ext cx="8229600" cy="4525963"/>
          </a:xfrm>
        </p:spPr>
        <p:txBody>
          <a:bodyPr>
            <a:normAutofit fontScale="85000" lnSpcReduction="10000"/>
          </a:bodyPr>
          <a:lstStyle/>
          <a:p>
            <a:r>
              <a:rPr lang="en-US" b="1" dirty="0"/>
              <a:t>Physical Security</a:t>
            </a:r>
            <a:r>
              <a:rPr lang="en-US" dirty="0"/>
              <a:t> – Buildings, data centers, access control.</a:t>
            </a:r>
          </a:p>
          <a:p>
            <a:r>
              <a:rPr lang="en-US" b="1" dirty="0"/>
              <a:t>Network Security</a:t>
            </a:r>
            <a:r>
              <a:rPr lang="en-US" dirty="0"/>
              <a:t> – Firewalls, IDS/IPS, VPNs.</a:t>
            </a:r>
          </a:p>
          <a:p>
            <a:r>
              <a:rPr lang="en-US" b="1" dirty="0"/>
              <a:t>Endpoint Security</a:t>
            </a:r>
            <a:r>
              <a:rPr lang="en-US" dirty="0"/>
              <a:t> – Antivirus, patching, device control.</a:t>
            </a:r>
          </a:p>
          <a:p>
            <a:r>
              <a:rPr lang="en-US" b="1" dirty="0"/>
              <a:t>Application Security</a:t>
            </a:r>
            <a:r>
              <a:rPr lang="en-US" dirty="0"/>
              <a:t> – Secure coding, vulnerability scanning.</a:t>
            </a:r>
          </a:p>
          <a:p>
            <a:r>
              <a:rPr lang="en-US" b="1" dirty="0"/>
              <a:t>Data Security</a:t>
            </a:r>
            <a:r>
              <a:rPr lang="en-US" dirty="0"/>
              <a:t> – Encryption, access control, backup.</a:t>
            </a:r>
          </a:p>
          <a:p>
            <a:r>
              <a:rPr lang="en-US" b="1" dirty="0"/>
              <a:t>Identity &amp; Access Management (IAM)</a:t>
            </a:r>
            <a:r>
              <a:rPr lang="en-US" dirty="0"/>
              <a:t> – Role-based access, MFA.</a:t>
            </a:r>
          </a:p>
        </p:txBody>
      </p:sp>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2816" y="176754"/>
            <a:ext cx="874732" cy="87473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14120"/>
            <a:ext cx="8229600" cy="803518"/>
          </a:xfrm>
        </p:spPr>
        <p:txBody>
          <a:bodyPr/>
          <a:lstStyle/>
          <a:p>
            <a:r>
              <a:rPr lang="en-US" u="sng" dirty="0"/>
              <a:t>Activity : Think-Pair-Share</a:t>
            </a:r>
          </a:p>
        </p:txBody>
      </p:sp>
      <p:sp>
        <p:nvSpPr>
          <p:cNvPr id="3" name="Content Placeholder 2"/>
          <p:cNvSpPr>
            <a:spLocks noGrp="1"/>
          </p:cNvSpPr>
          <p:nvPr>
            <p:ph idx="1"/>
          </p:nvPr>
        </p:nvSpPr>
        <p:spPr>
          <a:xfrm>
            <a:off x="457200" y="1600200"/>
            <a:ext cx="8229600" cy="4940559"/>
          </a:xfrm>
        </p:spPr>
        <p:txBody>
          <a:bodyPr>
            <a:normAutofit/>
          </a:bodyPr>
          <a:lstStyle/>
          <a:p>
            <a:r>
              <a:rPr lang="en-US" sz="2400" b="1" dirty="0"/>
              <a:t>Instructions:</a:t>
            </a:r>
            <a:br>
              <a:rPr lang="en-US" sz="2400" dirty="0"/>
            </a:br>
            <a:r>
              <a:rPr lang="en-US" sz="2400" dirty="0"/>
              <a:t>Students will form small groups and act as a cybersecurity team for a large organization. Each group must design an enterprise security structure, selecting key roles such as CISO, Security Analyst, Incident Responder, and Compliance Officer. They should clearly define the responsibility of each role and explain how their team will respond to a cyberattack scenario (for example, a ransomware or phishing attack).</a:t>
            </a:r>
          </a:p>
          <a:p>
            <a:r>
              <a:rPr lang="en-US" sz="2400" b="1" dirty="0"/>
              <a:t>Outcome:</a:t>
            </a:r>
            <a:br>
              <a:rPr lang="en-US" sz="2400" dirty="0"/>
            </a:br>
            <a:r>
              <a:rPr lang="en-US" sz="2400" dirty="0"/>
              <a:t>Each group presents its security structure to the class, showing how teamwork and defined roles ensure strong defense and quick response. </a:t>
            </a:r>
          </a:p>
        </p:txBody>
      </p:sp>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12816" y="176754"/>
            <a:ext cx="874732" cy="874732"/>
          </a:xfrm>
          <a:prstGeom prst="rect">
            <a:avLst/>
          </a:prstGeom>
        </p:spPr>
      </p:pic>
    </p:spTree>
    <p:extLst>
      <p:ext uri="{BB962C8B-B14F-4D97-AF65-F5344CB8AC3E}">
        <p14:creationId xmlns:p14="http://schemas.microsoft.com/office/powerpoint/2010/main" val="10492703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6105" y="821384"/>
            <a:ext cx="8229600" cy="1143000"/>
          </a:xfrm>
        </p:spPr>
        <p:txBody>
          <a:bodyPr/>
          <a:lstStyle/>
          <a:p>
            <a:r>
              <a:rPr dirty="0"/>
              <a:t>Case Study: Equifax Breach</a:t>
            </a:r>
          </a:p>
        </p:txBody>
      </p:sp>
      <p:sp>
        <p:nvSpPr>
          <p:cNvPr id="3" name="Content Placeholder 2"/>
          <p:cNvSpPr>
            <a:spLocks noGrp="1"/>
          </p:cNvSpPr>
          <p:nvPr>
            <p:ph idx="1"/>
          </p:nvPr>
        </p:nvSpPr>
        <p:spPr>
          <a:xfrm>
            <a:off x="457200" y="1975067"/>
            <a:ext cx="8229600" cy="4525963"/>
          </a:xfrm>
        </p:spPr>
        <p:txBody>
          <a:bodyPr>
            <a:normAutofit fontScale="92500" lnSpcReduction="20000"/>
          </a:bodyPr>
          <a:lstStyle/>
          <a:p>
            <a:pPr marL="0" indent="0">
              <a:buNone/>
            </a:pPr>
            <a:r>
              <a:rPr dirty="0"/>
              <a:t>• Equifax Data Breach (2017)</a:t>
            </a:r>
          </a:p>
          <a:p>
            <a:pPr marL="0" indent="0">
              <a:buNone/>
            </a:pPr>
            <a:r>
              <a:rPr dirty="0"/>
              <a:t>   - Roles that failed: Patch management, risk </a:t>
            </a:r>
            <a:r>
              <a:rPr lang="en-US" dirty="0"/>
              <a:t>	</a:t>
            </a:r>
            <a:r>
              <a:rPr dirty="0"/>
              <a:t>assessment</a:t>
            </a:r>
          </a:p>
          <a:p>
            <a:pPr marL="0" indent="0">
              <a:buNone/>
            </a:pPr>
            <a:r>
              <a:rPr dirty="0"/>
              <a:t>   - Lessons: Importance of clear responsibility &amp; </a:t>
            </a:r>
            <a:r>
              <a:rPr lang="en-US" dirty="0"/>
              <a:t>	</a:t>
            </a:r>
            <a:r>
              <a:rPr dirty="0"/>
              <a:t>accountability</a:t>
            </a:r>
          </a:p>
          <a:p>
            <a:pPr marL="0" indent="0">
              <a:buNone/>
            </a:pPr>
            <a:endParaRPr dirty="0"/>
          </a:p>
          <a:p>
            <a:pPr marL="0" indent="0">
              <a:buNone/>
            </a:pPr>
            <a:r>
              <a:rPr dirty="0"/>
              <a:t>• SolarWinds Attack (2020)</a:t>
            </a:r>
          </a:p>
          <a:p>
            <a:pPr marL="0" indent="0">
              <a:buNone/>
            </a:pPr>
            <a:r>
              <a:rPr dirty="0"/>
              <a:t>   - Impacted: Incident response, monitoring</a:t>
            </a:r>
          </a:p>
          <a:p>
            <a:pPr marL="0" indent="0">
              <a:buNone/>
            </a:pPr>
            <a:r>
              <a:rPr dirty="0"/>
              <a:t>   - Lessons: Strong SOC and threat intelligence </a:t>
            </a:r>
            <a:r>
              <a:rPr lang="en-US" dirty="0"/>
              <a:t>	</a:t>
            </a:r>
            <a:r>
              <a:rPr dirty="0"/>
              <a:t>needed</a:t>
            </a:r>
          </a:p>
        </p:txBody>
      </p:sp>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72637" y="202758"/>
            <a:ext cx="874732" cy="87473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3197" y="929350"/>
            <a:ext cx="8229600" cy="1143000"/>
          </a:xfrm>
        </p:spPr>
        <p:txBody>
          <a:bodyPr/>
          <a:lstStyle/>
          <a:p>
            <a:r>
              <a:rPr lang="en-US" dirty="0"/>
              <a:t>Challenges in Security Structures</a:t>
            </a:r>
            <a:endParaRPr dirty="0"/>
          </a:p>
        </p:txBody>
      </p:sp>
      <p:sp>
        <p:nvSpPr>
          <p:cNvPr id="3" name="Content Placeholder 2"/>
          <p:cNvSpPr>
            <a:spLocks noGrp="1"/>
          </p:cNvSpPr>
          <p:nvPr>
            <p:ph idx="1"/>
          </p:nvPr>
        </p:nvSpPr>
        <p:spPr>
          <a:xfrm>
            <a:off x="363197" y="2072350"/>
            <a:ext cx="8229600" cy="4525963"/>
          </a:xfrm>
        </p:spPr>
        <p:txBody>
          <a:bodyPr/>
          <a:lstStyle/>
          <a:p>
            <a:r>
              <a:rPr lang="en-US" dirty="0"/>
              <a:t>Lack of skilled professionals.</a:t>
            </a:r>
          </a:p>
          <a:p>
            <a:r>
              <a:rPr lang="en-US" dirty="0"/>
              <a:t>Insider threats &amp; human errors.</a:t>
            </a:r>
          </a:p>
          <a:p>
            <a:r>
              <a:rPr lang="en-US" dirty="0"/>
              <a:t>Balancing security with business operations.</a:t>
            </a:r>
          </a:p>
          <a:p>
            <a:r>
              <a:rPr lang="en-US" dirty="0"/>
              <a:t>Rapidly evolving threats (AI-driven malware, ransomware).</a:t>
            </a:r>
          </a:p>
          <a:p>
            <a:r>
              <a:rPr lang="en-US" dirty="0"/>
              <a:t>Compliance with multiple regulations.</a:t>
            </a:r>
          </a:p>
        </p:txBody>
      </p:sp>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47000" y="208906"/>
            <a:ext cx="874732" cy="87473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1742" y="907027"/>
            <a:ext cx="8229600" cy="1143000"/>
          </a:xfrm>
        </p:spPr>
        <p:txBody>
          <a:bodyPr/>
          <a:lstStyle/>
          <a:p>
            <a:r>
              <a:rPr lang="en-US" dirty="0"/>
              <a:t>Best Practices</a:t>
            </a:r>
            <a:endParaRPr dirty="0"/>
          </a:p>
        </p:txBody>
      </p:sp>
      <p:sp>
        <p:nvSpPr>
          <p:cNvPr id="3" name="Content Placeholder 2"/>
          <p:cNvSpPr>
            <a:spLocks noGrp="1"/>
          </p:cNvSpPr>
          <p:nvPr>
            <p:ph idx="1"/>
          </p:nvPr>
        </p:nvSpPr>
        <p:spPr>
          <a:xfrm>
            <a:off x="371742" y="2164223"/>
            <a:ext cx="8229600" cy="4525963"/>
          </a:xfrm>
        </p:spPr>
        <p:txBody>
          <a:bodyPr>
            <a:normAutofit/>
          </a:bodyPr>
          <a:lstStyle/>
          <a:p>
            <a:r>
              <a:rPr lang="en-US" dirty="0"/>
              <a:t>Clearly define roles &amp; responsibilities.</a:t>
            </a:r>
          </a:p>
          <a:p>
            <a:r>
              <a:rPr lang="en-US" dirty="0"/>
              <a:t>Adopt a zero-trust security model.</a:t>
            </a:r>
          </a:p>
          <a:p>
            <a:r>
              <a:rPr lang="en-US" dirty="0"/>
              <a:t>Regular training &amp; awareness programs.</a:t>
            </a:r>
          </a:p>
          <a:p>
            <a:r>
              <a:rPr lang="en-US" dirty="0"/>
              <a:t>Continuous monitoring &amp; threat intelligence.</a:t>
            </a:r>
          </a:p>
          <a:p>
            <a:r>
              <a:rPr lang="en-US" dirty="0"/>
              <a:t>Conduct security audits &amp; penetration testing.</a:t>
            </a:r>
          </a:p>
          <a:p>
            <a:r>
              <a:rPr lang="en-US" dirty="0"/>
              <a:t>Use automated tools for efficiency.</a:t>
            </a:r>
          </a:p>
        </p:txBody>
      </p:sp>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4271" y="208906"/>
            <a:ext cx="874732" cy="87473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42392"/>
            <a:ext cx="8229600" cy="1143000"/>
          </a:xfrm>
        </p:spPr>
        <p:txBody>
          <a:bodyPr/>
          <a:lstStyle/>
          <a:p>
            <a:pPr algn="l"/>
            <a:r>
              <a:rPr lang="en-US" dirty="0"/>
              <a:t>Conclusion:</a:t>
            </a:r>
          </a:p>
        </p:txBody>
      </p:sp>
      <p:sp>
        <p:nvSpPr>
          <p:cNvPr id="3" name="Content Placeholder 2"/>
          <p:cNvSpPr>
            <a:spLocks noGrp="1"/>
          </p:cNvSpPr>
          <p:nvPr>
            <p:ph idx="1"/>
          </p:nvPr>
        </p:nvSpPr>
        <p:spPr>
          <a:xfrm>
            <a:off x="457200" y="2085392"/>
            <a:ext cx="8229600" cy="4525963"/>
          </a:xfrm>
        </p:spPr>
        <p:txBody>
          <a:bodyPr/>
          <a:lstStyle/>
          <a:p>
            <a:r>
              <a:rPr lang="en-US" dirty="0"/>
              <a:t>Enterprise security requires structured roles at every level.</a:t>
            </a:r>
          </a:p>
          <a:p>
            <a:r>
              <a:rPr lang="en-US" dirty="0"/>
              <a:t>Collaboration between teams ensures strong defense.</a:t>
            </a:r>
          </a:p>
          <a:p>
            <a:r>
              <a:rPr lang="en-US" dirty="0"/>
              <a:t>A balance of people, processes, and technology is essential.</a:t>
            </a:r>
          </a:p>
          <a:p>
            <a:r>
              <a:rPr lang="en-US" dirty="0"/>
              <a:t>Well-defined roles reduce risk and increase resilience.</a:t>
            </a:r>
          </a:p>
          <a:p>
            <a:endParaRPr lang="en-US" dirty="0"/>
          </a:p>
        </p:txBody>
      </p:sp>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904271" y="208906"/>
            <a:ext cx="874732" cy="874732"/>
          </a:xfrm>
          <a:prstGeom prst="rect">
            <a:avLst/>
          </a:prstGeom>
        </p:spPr>
      </p:pic>
    </p:spTree>
    <p:extLst>
      <p:ext uri="{BB962C8B-B14F-4D97-AF65-F5344CB8AC3E}">
        <p14:creationId xmlns:p14="http://schemas.microsoft.com/office/powerpoint/2010/main" val="32728564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79177" y="5045437"/>
            <a:ext cx="5486400" cy="914400"/>
          </a:xfrm>
          <a:prstGeom prst="rect">
            <a:avLst/>
          </a:prstGeom>
          <a:noFill/>
        </p:spPr>
        <p:txBody>
          <a:bodyPr wrap="none">
            <a:spAutoFit/>
          </a:bodyPr>
          <a:lstStyle/>
          <a:p>
            <a:pPr>
              <a:defRPr sz="2400"/>
            </a:pPr>
            <a:r>
              <a:rPr dirty="0"/>
              <a:t>Visual: Security Organization Chart</a:t>
            </a:r>
          </a:p>
        </p:txBody>
      </p:sp>
      <p:sp>
        <p:nvSpPr>
          <p:cNvPr id="3" name="Rectangle 2"/>
          <p:cNvSpPr/>
          <p:nvPr/>
        </p:nvSpPr>
        <p:spPr>
          <a:xfrm>
            <a:off x="3657600" y="914400"/>
            <a:ext cx="1828800" cy="7315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CISO</a:t>
            </a:r>
          </a:p>
        </p:txBody>
      </p:sp>
      <p:sp>
        <p:nvSpPr>
          <p:cNvPr id="4" name="Rectangle 3"/>
          <p:cNvSpPr/>
          <p:nvPr/>
        </p:nvSpPr>
        <p:spPr>
          <a:xfrm>
            <a:off x="914400" y="2286000"/>
            <a:ext cx="1828800" cy="7315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SOC Analysts</a:t>
            </a:r>
          </a:p>
        </p:txBody>
      </p:sp>
      <p:sp>
        <p:nvSpPr>
          <p:cNvPr id="5" name="Rectangle 4"/>
          <p:cNvSpPr/>
          <p:nvPr/>
        </p:nvSpPr>
        <p:spPr>
          <a:xfrm>
            <a:off x="3657600" y="2286000"/>
            <a:ext cx="1828800" cy="7315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Incident Response Team</a:t>
            </a:r>
          </a:p>
        </p:txBody>
      </p:sp>
      <p:sp>
        <p:nvSpPr>
          <p:cNvPr id="6" name="Rectangle 5"/>
          <p:cNvSpPr/>
          <p:nvPr/>
        </p:nvSpPr>
        <p:spPr>
          <a:xfrm>
            <a:off x="6400800" y="2286000"/>
            <a:ext cx="1828800" cy="7315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GRC Team</a:t>
            </a:r>
          </a:p>
        </p:txBody>
      </p:sp>
      <p:sp>
        <p:nvSpPr>
          <p:cNvPr id="7" name="Rectangle 6"/>
          <p:cNvSpPr/>
          <p:nvPr/>
        </p:nvSpPr>
        <p:spPr>
          <a:xfrm>
            <a:off x="2286000" y="3657600"/>
            <a:ext cx="1828800" cy="7315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Security Engineers</a:t>
            </a:r>
          </a:p>
        </p:txBody>
      </p:sp>
      <p:sp>
        <p:nvSpPr>
          <p:cNvPr id="8" name="Rectangle 7"/>
          <p:cNvSpPr/>
          <p:nvPr/>
        </p:nvSpPr>
        <p:spPr>
          <a:xfrm>
            <a:off x="5029200" y="3657600"/>
            <a:ext cx="1828800" cy="7315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rPr dirty="0"/>
              <a:t>Pen Testers</a:t>
            </a:r>
          </a:p>
        </p:txBody>
      </p:sp>
      <p:pic>
        <p:nvPicPr>
          <p:cNvPr id="9" name="Picture 8"/>
          <p:cNvPicPr>
            <a:picLocks noChangeAspect="1"/>
          </p:cNvPicPr>
          <p:nvPr/>
        </p:nvPicPr>
        <p:blipFill>
          <a:blip r:embed="rId2"/>
          <a:stretch>
            <a:fillRect/>
          </a:stretch>
        </p:blipFill>
        <p:spPr>
          <a:xfrm>
            <a:off x="242966" y="208906"/>
            <a:ext cx="2215421" cy="612478"/>
          </a:xfrm>
          <a:prstGeom prst="rect">
            <a:avLst/>
          </a:prstGeom>
        </p:spPr>
      </p:pic>
      <p:pic>
        <p:nvPicPr>
          <p:cNvPr id="10" name="Picture 9"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78633" y="176754"/>
            <a:ext cx="874732" cy="87473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288" y="2599094"/>
            <a:ext cx="8229600" cy="1143000"/>
          </a:xfrm>
        </p:spPr>
        <p:txBody>
          <a:bodyPr/>
          <a:lstStyle/>
          <a:p>
            <a:r>
              <a:rPr lang="en-US" dirty="0"/>
              <a:t>Thank You</a:t>
            </a:r>
          </a:p>
        </p:txBody>
      </p:sp>
      <p:pic>
        <p:nvPicPr>
          <p:cNvPr id="4" name="Picture 3"/>
          <p:cNvPicPr>
            <a:picLocks noChangeAspect="1"/>
          </p:cNvPicPr>
          <p:nvPr/>
        </p:nvPicPr>
        <p:blipFill>
          <a:blip r:embed="rId2"/>
          <a:stretch>
            <a:fillRect/>
          </a:stretch>
        </p:blipFill>
        <p:spPr>
          <a:xfrm>
            <a:off x="242966" y="208906"/>
            <a:ext cx="2215421" cy="612478"/>
          </a:xfrm>
          <a:prstGeom prst="rect">
            <a:avLst/>
          </a:prstGeom>
        </p:spPr>
      </p:pic>
      <p:pic>
        <p:nvPicPr>
          <p:cNvPr id="5" name="Picture 4" descr="A blue circle with text and words&#10;&#10;Description automatically generated"/>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78633" y="176754"/>
            <a:ext cx="874732" cy="874732"/>
          </a:xfrm>
          <a:prstGeom prst="rect">
            <a:avLst/>
          </a:prstGeom>
        </p:spPr>
      </p:pic>
    </p:spTree>
    <p:extLst>
      <p:ext uri="{BB962C8B-B14F-4D97-AF65-F5344CB8AC3E}">
        <p14:creationId xmlns:p14="http://schemas.microsoft.com/office/powerpoint/2010/main" val="20019345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1024</TotalTime>
  <Words>977</Words>
  <Application>Microsoft Office PowerPoint</Application>
  <PresentationFormat>On-screen Show (4:3)</PresentationFormat>
  <Paragraphs>99</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Georgia</vt:lpstr>
      <vt:lpstr>Times New Roman</vt:lpstr>
      <vt:lpstr>Office Theme</vt:lpstr>
      <vt:lpstr>PowerPoint Presentation</vt:lpstr>
      <vt:lpstr>Review of the key concepts of session no. 3</vt:lpstr>
      <vt:lpstr>PowerPoint Presentation</vt:lpstr>
      <vt:lpstr>Introduction</vt:lpstr>
      <vt:lpstr>PowerPoint Presentation</vt:lpstr>
      <vt:lpstr>Importance of Security Roles</vt:lpstr>
      <vt:lpstr>Key Roles in Enterprise Security</vt:lpstr>
      <vt:lpstr>Organizational Security Structures</vt:lpstr>
      <vt:lpstr>PowerPoint Presentation</vt:lpstr>
      <vt:lpstr>PowerPoint Presentation</vt:lpstr>
      <vt:lpstr>Enterprise Security Layers</vt:lpstr>
      <vt:lpstr>Activity : Think-Pair-Share</vt:lpstr>
      <vt:lpstr>Case Study: Equifax Breach</vt:lpstr>
      <vt:lpstr>Challenges in Security Structures</vt:lpstr>
      <vt:lpstr>Best Practices</vt:lpstr>
      <vt:lpstr>Conclusion:</vt:lpstr>
      <vt:lpstr>PowerPoint Presentation</vt:lpstr>
      <vt:lpstr>Thank You</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TARUN</dc:creator>
  <dc:description>generated using python-pptx</dc:description>
  <cp:lastModifiedBy>siddharthinfo92@gmail.com</cp:lastModifiedBy>
  <cp:revision>19</cp:revision>
  <dcterms:created xsi:type="dcterms:W3CDTF">2013-01-27T09:14:16Z</dcterms:created>
  <dcterms:modified xsi:type="dcterms:W3CDTF">2026-02-13T03:07:36Z</dcterms:modified>
</cp:coreProperties>
</file>