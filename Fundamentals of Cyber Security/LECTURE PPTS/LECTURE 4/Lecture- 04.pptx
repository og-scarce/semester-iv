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60" r:id="rId4"/>
    <p:sldId id="261" r:id="rId5"/>
    <p:sldId id="262" r:id="rId6"/>
    <p:sldId id="275" r:id="rId7"/>
    <p:sldId id="276" r:id="rId8"/>
    <p:sldId id="277" r:id="rId9"/>
    <p:sldId id="278" r:id="rId10"/>
    <p:sldId id="279" r:id="rId11"/>
    <p:sldId id="293" r:id="rId12"/>
    <p:sldId id="280" r:id="rId13"/>
    <p:sldId id="294" r:id="rId14"/>
    <p:sldId id="281" r:id="rId15"/>
    <p:sldId id="282" r:id="rId16"/>
    <p:sldId id="295" r:id="rId17"/>
    <p:sldId id="283" r:id="rId18"/>
    <p:sldId id="284" r:id="rId19"/>
    <p:sldId id="296" r:id="rId20"/>
    <p:sldId id="285" r:id="rId21"/>
    <p:sldId id="286" r:id="rId22"/>
    <p:sldId id="297" r:id="rId23"/>
    <p:sldId id="287" r:id="rId24"/>
    <p:sldId id="298" r:id="rId25"/>
    <p:sldId id="288" r:id="rId26"/>
    <p:sldId id="299" r:id="rId27"/>
    <p:sldId id="300" r:id="rId28"/>
    <p:sldId id="289" r:id="rId29"/>
    <p:sldId id="301" r:id="rId30"/>
    <p:sldId id="302" r:id="rId31"/>
    <p:sldId id="290" r:id="rId32"/>
    <p:sldId id="303" r:id="rId33"/>
    <p:sldId id="304" r:id="rId34"/>
    <p:sldId id="305" r:id="rId35"/>
    <p:sldId id="291" r:id="rId36"/>
    <p:sldId id="292" r:id="rId37"/>
    <p:sldId id="273" r:id="rId38"/>
    <p:sldId id="274" r:id="rId39"/>
  </p:sldIdLst>
  <p:sldSz cx="12192000" cy="6858000"/>
  <p:notesSz cx="6858000" cy="9144000"/>
  <p:embeddedFontLst>
    <p:embeddedFont>
      <p:font typeface="Times" panose="02020603050405020304" pitchFamily="18" charset="0"/>
      <p:regular r:id="rId41"/>
      <p:bold r:id="rId42"/>
      <p:italic r:id="rId43"/>
      <p:boldItalic r:id="rId44"/>
    </p:embeddedFont>
    <p:embeddedFont>
      <p:font typeface="Georgia" panose="02040502050405020303" pitchFamily="18" charset="0"/>
      <p:regular r:id="rId45"/>
      <p:bold r:id="rId46"/>
      <p:italic r:id="rId47"/>
      <p:boldItalic r:id="rId48"/>
    </p:embeddedFont>
    <p:embeddedFont>
      <p:font typeface="Play" panose="020B0604020202020204" charset="0"/>
      <p:regular r:id="rId49"/>
      <p:bold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jWL7fc1arrbbwlBNcYlq8IM8mK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customschemas.google.com/relationships/presentationmetadata" Target="meta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85448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2774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0717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4636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8274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6175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4095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6016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953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6152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734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2242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7020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0340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6944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5380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57261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5873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45837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6560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77635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075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0072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3735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7508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96539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88398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6587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49018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00213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74807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96991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22211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24664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47628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87310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81466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8654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616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377396" y="1600200"/>
            <a:ext cx="10567971" cy="537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 algn="l">
              <a:buSzPct val="100000"/>
            </a:pP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4800" b="1" dirty="0">
                <a:latin typeface="Georgia"/>
                <a:ea typeface="Georgia"/>
                <a:cs typeface="Georgia"/>
                <a:sym typeface="Georgia"/>
              </a:rPr>
              <a:t>OSI Model &amp; TCP/IP Stack Overview</a:t>
            </a: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Session No.: 04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Course Name : Fundamentals Of Cyber Security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Instructor Name: 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Duration: 50 minutes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latin typeface="Georgia"/>
                <a:ea typeface="Georgia"/>
                <a:cs typeface="Georgia"/>
                <a:sym typeface="Georgia"/>
              </a:rPr>
              <a:t>Date of Conduction of Class:</a:t>
            </a: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US" sz="1800" b="1" dirty="0">
                <a:latin typeface="Georgia"/>
                <a:ea typeface="Georgia"/>
                <a:cs typeface="Georgia"/>
                <a:sym typeface="Georgia"/>
              </a:rPr>
            </a:br>
            <a:endParaRPr sz="4800" b="1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1033955" y="941348"/>
            <a:ext cx="10649607" cy="98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br>
              <a:rPr lang="en-US" dirty="0"/>
            </a:br>
            <a:r>
              <a:rPr lang="en-IN" dirty="0"/>
              <a:t>Opening Question</a:t>
            </a:r>
            <a:endParaRPr dirty="0"/>
          </a:p>
        </p:txBody>
      </p:sp>
      <p:sp>
        <p:nvSpPr>
          <p:cNvPr id="98" name="Google Shape;9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0" name="Google Shape;100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704193" y="2756330"/>
            <a:ext cx="10783614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When you send a WhatsApp message or open a website, what steps do you think your data goes through before reaching the other person or server?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810827" y="1051486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US" sz="4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end of this session students will be able to </a:t>
            </a:r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pSp>
        <p:nvGrpSpPr>
          <p:cNvPr id="128" name="Google Shape;128;p5"/>
          <p:cNvGrpSpPr/>
          <p:nvPr/>
        </p:nvGrpSpPr>
        <p:grpSpPr>
          <a:xfrm>
            <a:off x="644056" y="2173323"/>
            <a:ext cx="11190591" cy="4132061"/>
            <a:chOff x="0" y="0"/>
            <a:chExt cx="11190591" cy="4132061"/>
          </a:xfrm>
        </p:grpSpPr>
        <p:sp>
          <p:nvSpPr>
            <p:cNvPr id="129" name="Google Shape;129;p5"/>
            <p:cNvSpPr/>
            <p:nvPr/>
          </p:nvSpPr>
          <p:spPr>
            <a:xfrm>
              <a:off x="0" y="0"/>
              <a:ext cx="9512003" cy="1859427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54461" y="54461"/>
              <a:ext cx="9185602" cy="1750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r>
                <a:rPr lang="en-US" sz="35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1: </a:t>
              </a:r>
              <a:r>
                <a:rPr lang="en-US" sz="3500" dirty="0">
                  <a:solidFill>
                    <a:schemeClr val="lt1"/>
                  </a:solidFill>
                </a:rPr>
                <a:t>Analyze how data flows across different layers of the OSI and TCP/IP models</a:t>
              </a:r>
              <a:endParaRPr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1678588" y="2272634"/>
              <a:ext cx="9512003" cy="1859427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 txBox="1"/>
            <p:nvPr/>
          </p:nvSpPr>
          <p:spPr>
            <a:xfrm>
              <a:off x="1733048" y="2107441"/>
              <a:ext cx="9256193" cy="1970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endParaRPr lang="en-US"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r>
                <a:rPr lang="en-US" sz="35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2</a:t>
              </a:r>
              <a:r>
                <a:rPr lang="en-US" sz="3500" dirty="0">
                  <a:solidFill>
                    <a:schemeClr val="lt1"/>
                  </a:solidFill>
                </a:rPr>
                <a:t>: Apply </a:t>
              </a:r>
              <a:r>
                <a:rPr lang="en-US" sz="3500">
                  <a:solidFill>
                    <a:schemeClr val="lt1"/>
                  </a:solidFill>
                </a:rPr>
                <a:t>the knowledge </a:t>
              </a:r>
              <a:r>
                <a:rPr lang="en-US" sz="3500" dirty="0">
                  <a:solidFill>
                    <a:schemeClr val="lt1"/>
                  </a:solidFill>
                </a:rPr>
                <a:t>to diagnose and troubleshoot real-world networking problems.</a:t>
              </a:r>
              <a:endParaRPr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8303375" y="1461716"/>
              <a:ext cx="1208628" cy="1208628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 txBox="1"/>
            <p:nvPr/>
          </p:nvSpPr>
          <p:spPr>
            <a:xfrm>
              <a:off x="8575316" y="1461716"/>
              <a:ext cx="664746" cy="909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5" name="Google Shape;13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 dirty="0"/>
              <a:t>Session Outline</a:t>
            </a:r>
            <a:endParaRPr dirty="0"/>
          </a:p>
        </p:txBody>
      </p:sp>
      <p:grpSp>
        <p:nvGrpSpPr>
          <p:cNvPr id="142" name="Google Shape;142;p6"/>
          <p:cNvGrpSpPr/>
          <p:nvPr/>
        </p:nvGrpSpPr>
        <p:grpSpPr>
          <a:xfrm>
            <a:off x="4053659" y="643525"/>
            <a:ext cx="7494959" cy="5530734"/>
            <a:chOff x="0" y="2703"/>
            <a:chExt cx="6900600" cy="5530734"/>
          </a:xfrm>
        </p:grpSpPr>
        <p:cxnSp>
          <p:nvCxnSpPr>
            <p:cNvPr id="143" name="Google Shape;143;p6"/>
            <p:cNvCxnSpPr/>
            <p:nvPr/>
          </p:nvCxnSpPr>
          <p:spPr>
            <a:xfrm>
              <a:off x="0" y="2703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4" name="Google Shape;144;p6"/>
            <p:cNvSpPr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6"/>
            <p:cNvSpPr txBox="1"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</a:t>
              </a:r>
              <a:r>
                <a:rPr lang="en-US" sz="3500" dirty="0">
                  <a:solidFill>
                    <a:schemeClr val="dk1"/>
                  </a:solidFill>
                </a:rPr>
                <a:t>Introduction to OSI Model</a:t>
              </a:r>
              <a:endParaRPr dirty="0"/>
            </a:p>
          </p:txBody>
        </p:sp>
        <p:cxnSp>
          <p:nvCxnSpPr>
            <p:cNvPr id="146" name="Google Shape;146;p6"/>
            <p:cNvCxnSpPr/>
            <p:nvPr/>
          </p:nvCxnSpPr>
          <p:spPr>
            <a:xfrm>
              <a:off x="0" y="924492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47" name="Google Shape;147;p6"/>
            <p:cNvSpPr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0" y="924492"/>
              <a:ext cx="6900600" cy="9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lang="en-US" sz="3600" dirty="0"/>
                <a:t>Seven Layers of OSI Model </a:t>
              </a:r>
            </a:p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endParaRPr sz="3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" name="Google Shape;149;p6"/>
            <p:cNvCxnSpPr/>
            <p:nvPr/>
          </p:nvCxnSpPr>
          <p:spPr>
            <a:xfrm>
              <a:off x="0" y="1846281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0" name="Google Shape;150;p6"/>
            <p:cNvSpPr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</a:t>
              </a:r>
              <a:r>
                <a:rPr lang="en-IN" sz="3600" dirty="0"/>
                <a:t>TCP/IP Protocol Suite</a:t>
              </a:r>
              <a:endParaRPr sz="3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" name="Google Shape;152;p6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3" name="Google Shape;153;p6"/>
            <p:cNvSpPr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6"/>
            <p:cNvSpPr txBox="1"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</a:t>
              </a:r>
              <a:r>
                <a:rPr lang="en-IN" sz="3600" dirty="0"/>
                <a:t>Addressing in TCP/IP</a:t>
              </a:r>
              <a:endParaRPr sz="3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6"/>
            <p:cNvCxnSpPr/>
            <p:nvPr/>
          </p:nvCxnSpPr>
          <p:spPr>
            <a:xfrm>
              <a:off x="0" y="3689859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6" name="Google Shape;156;p6"/>
            <p:cNvSpPr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</a:t>
              </a:r>
              <a:r>
                <a:rPr lang="en-US" sz="3600" dirty="0"/>
                <a:t>Comparison of OSI and TCP/IP </a:t>
              </a:r>
              <a:endParaRPr sz="3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" name="Google Shape;158;p6"/>
            <p:cNvCxnSpPr/>
            <p:nvPr/>
          </p:nvCxnSpPr>
          <p:spPr>
            <a:xfrm>
              <a:off x="0" y="4611648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9" name="Google Shape;159;p6"/>
            <p:cNvSpPr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6"/>
            <p:cNvSpPr txBox="1"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t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dk1"/>
                </a:buClr>
                <a:buSzPts val="3500"/>
              </a:pPr>
              <a:r>
                <a:rPr lang="en-US" sz="35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</a:t>
              </a:r>
              <a:r>
                <a:rPr lang="en-US" sz="3500" dirty="0">
                  <a:solidFill>
                    <a:schemeClr val="dk1"/>
                  </a:solidFill>
                </a:rPr>
                <a:t>Applications &amp; Summary</a:t>
              </a:r>
              <a:endParaRPr sz="3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62" name="Google Shape;16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63" name="Google Shape;163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104457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dirty="0">
                <a:latin typeface="Times New Roman" panose="02020603050405020304" pitchFamily="18" charset="0"/>
              </a:rPr>
              <a:t>Tasks involved in sending a letter.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733" y="1651832"/>
            <a:ext cx="5901267" cy="4704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11034208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eaLnBrk="1" hangingPunct="1">
              <a:defRPr/>
            </a:pP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Established in 1947, the International Standards Organization (</a:t>
            </a:r>
            <a:r>
              <a:rPr lang="en-US" sz="2800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ISO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is a multinational body dedicated to worldwide agreement on international standards. An ISO standard that covers all aspects of network communications is the Open Systems Interconnection (</a:t>
            </a:r>
            <a:r>
              <a:rPr lang="en-US" sz="2800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OSI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 model. It was first introduced in the late 1970s.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04457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THE OSI MODEL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077594" y="5033362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ISO is the organization.</a:t>
            </a:r>
            <a:br>
              <a:rPr lang="en-US" altLang="en-US" sz="2400" dirty="0">
                <a:latin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</a:rPr>
              <a:t>OSI is the model.</a:t>
            </a:r>
          </a:p>
        </p:txBody>
      </p:sp>
      <p:grpSp>
        <p:nvGrpSpPr>
          <p:cNvPr id="9" name="Group 17"/>
          <p:cNvGrpSpPr>
            <a:grpSpLocks/>
          </p:cNvGrpSpPr>
          <p:nvPr/>
        </p:nvGrpSpPr>
        <p:grpSpPr bwMode="auto">
          <a:xfrm>
            <a:off x="859749" y="4392319"/>
            <a:ext cx="1143000" cy="566738"/>
            <a:chOff x="1200" y="1248"/>
            <a:chExt cx="720" cy="357"/>
          </a:xfrm>
        </p:grpSpPr>
        <p:pic>
          <p:nvPicPr>
            <p:cNvPr id="10" name="Picture 1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i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7884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104457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i="1" dirty="0">
                <a:latin typeface="Times New Roman" panose="02020603050405020304" pitchFamily="18" charset="0"/>
              </a:rPr>
              <a:t>Seven layers of the OSI model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209" y="1776248"/>
            <a:ext cx="4251325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713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1141423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The interaction between layers in the OSI model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792" y="1616075"/>
            <a:ext cx="6398131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3121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1068631" y="1748815"/>
            <a:ext cx="1141423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An exchange using the OSI model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766" y="1536700"/>
            <a:ext cx="7523162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9430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Physical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1905000" y="5235415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The physical layer is responsible for movements of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individual bits from one hop (node) to the next.</a:t>
            </a: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1857937"/>
            <a:ext cx="862965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194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Physical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1762" y="1975427"/>
            <a:ext cx="902838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Provides physical interface for transmission of information.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Defines rules by which bits are passed from one system to another on a physical communication medium.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Covers all - mechanical, electrical, functional and procedural - aspects for physical communication.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Such characteristics as voltage levels, timing of voltage changes, physical data rates, maximum transmission distances, physical connectors, and other similar attributes are defined by physical layer specifications. </a:t>
            </a:r>
          </a:p>
        </p:txBody>
      </p:sp>
    </p:spTree>
    <p:extLst>
      <p:ext uri="{BB962C8B-B14F-4D97-AF65-F5344CB8AC3E}">
        <p14:creationId xmlns:p14="http://schemas.microsoft.com/office/powerpoint/2010/main" val="102638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1141423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59772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Data link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744" y="1988284"/>
            <a:ext cx="8418512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1905000" y="5158948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The data link layer is responsible for moving </a:t>
            </a:r>
            <a:br>
              <a:rPr lang="en-US" altLang="en-US" sz="2400" dirty="0">
                <a:latin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</a:rPr>
              <a:t>frames from one hop (node) to the next.</a:t>
            </a:r>
          </a:p>
        </p:txBody>
      </p:sp>
    </p:spTree>
    <p:extLst>
      <p:ext uri="{BB962C8B-B14F-4D97-AF65-F5344CB8AC3E}">
        <p14:creationId xmlns:p14="http://schemas.microsoft.com/office/powerpoint/2010/main" val="3160908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776248"/>
            <a:ext cx="1141423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59772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Data link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46667" y="1988284"/>
            <a:ext cx="829733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Data link layer attempts to provide reliable communication over the physical layer interface. </a:t>
            </a: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Breaks the outgoing data into frames and reassemble the received frames.</a:t>
            </a: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Create and detect frame boundaries.</a:t>
            </a: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Handle errors by implementing an acknowledgement and retransmission scheme.</a:t>
            </a: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Implement flow control.</a:t>
            </a: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Supports points-to-point as well as broadcast communication.</a:t>
            </a: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384175" indent="-28575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Supports simplex, half-duplex or full-duplex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20930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59772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Hop-to-hop delivery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682952"/>
            <a:ext cx="6216650" cy="457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2590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159772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</a:rPr>
              <a:t>Network layer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156" y="1745870"/>
            <a:ext cx="8675687" cy="291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086832" y="5119561"/>
            <a:ext cx="8077200" cy="11874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The network layer is responsible for the </a:t>
            </a:r>
            <a:br>
              <a:rPr lang="en-US" altLang="en-US" sz="2400" dirty="0">
                <a:latin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</a:rPr>
              <a:t>delivery of individual packets from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the source host to the destination host.</a:t>
            </a:r>
          </a:p>
        </p:txBody>
      </p:sp>
    </p:spTree>
    <p:extLst>
      <p:ext uri="{BB962C8B-B14F-4D97-AF65-F5344CB8AC3E}">
        <p14:creationId xmlns:p14="http://schemas.microsoft.com/office/powerpoint/2010/main" val="1931326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159772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</a:rPr>
              <a:t>Network layer</a:t>
            </a:r>
          </a:p>
        </p:txBody>
      </p:sp>
      <p:sp>
        <p:nvSpPr>
          <p:cNvPr id="2" name="Rectangle 1"/>
          <p:cNvSpPr/>
          <p:nvPr/>
        </p:nvSpPr>
        <p:spPr>
          <a:xfrm>
            <a:off x="812800" y="1988284"/>
            <a:ext cx="8991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Implements routing of frames (packets) through the network.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Defines the most optimum path the packet should take from the source to the destination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Defines logical addressing so that any endpoint can be identified.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Handles congestion in the network.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Facilitates interconnection between heterogeneous networks (Internetworking).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network layer also defines how to fragment a packet into smaller packets to accommodate different media.</a:t>
            </a:r>
          </a:p>
        </p:txBody>
      </p:sp>
    </p:spTree>
    <p:extLst>
      <p:ext uri="{BB962C8B-B14F-4D97-AF65-F5344CB8AC3E}">
        <p14:creationId xmlns:p14="http://schemas.microsoft.com/office/powerpoint/2010/main" val="198132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imes New Roman" panose="02020603050405020304" pitchFamily="18" charset="0"/>
              </a:rPr>
              <a:t>Source-to-destination delivery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1" y="1636595"/>
            <a:ext cx="5291794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9331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Transport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150" y="1895570"/>
            <a:ext cx="8693150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057400" y="5227685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The transport layer is responsible for the delivery </a:t>
            </a:r>
            <a:br>
              <a:rPr lang="en-US" altLang="en-US" sz="2400" dirty="0">
                <a:latin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</a:rPr>
              <a:t>of a message from one process to another.</a:t>
            </a:r>
          </a:p>
        </p:txBody>
      </p:sp>
    </p:spTree>
    <p:extLst>
      <p:ext uri="{BB962C8B-B14F-4D97-AF65-F5344CB8AC3E}">
        <p14:creationId xmlns:p14="http://schemas.microsoft.com/office/powerpoint/2010/main" val="50411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Transport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62174" y="1895571"/>
            <a:ext cx="9028386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Purpose of this layer is to provide a reliable mechanism for the exchange of data between two processes in different computers. </a:t>
            </a:r>
          </a:p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Ensures that the data units are delivered error free.</a:t>
            </a:r>
          </a:p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Ensures that data units are delivered in sequence.</a:t>
            </a:r>
          </a:p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Ensures that there is no loss or duplication of data units.</a:t>
            </a:r>
          </a:p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Provides connectionless or connection oriented service.</a:t>
            </a:r>
          </a:p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Provides for the connection management.</a:t>
            </a:r>
          </a:p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Multiplex  multiple connection over a single channel.</a:t>
            </a:r>
          </a:p>
        </p:txBody>
      </p:sp>
    </p:spTree>
    <p:extLst>
      <p:ext uri="{BB962C8B-B14F-4D97-AF65-F5344CB8AC3E}">
        <p14:creationId xmlns:p14="http://schemas.microsoft.com/office/powerpoint/2010/main" val="2954431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b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Reliable process-to-process delivery of a message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358" y="2006407"/>
            <a:ext cx="7623175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8789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Session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749" y="1600682"/>
            <a:ext cx="8556625" cy="397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057400" y="5574194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The session layer is responsible for dialog </a:t>
            </a:r>
            <a:br>
              <a:rPr lang="en-US" altLang="en-US" sz="2400" dirty="0">
                <a:latin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</a:rPr>
              <a:t>control and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3372201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Session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62174" y="1895570"/>
            <a:ext cx="9028386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Session layer provides mechanism for controlling the dialogue between the two end systems. It defines how to start, control and end conversations (called sessions) between applications.</a:t>
            </a:r>
          </a:p>
          <a:p>
            <a:pPr marL="392113" indent="-293688" algn="just" defTabSz="414338">
              <a:lnSpc>
                <a:spcPct val="80000"/>
              </a:lnSpc>
              <a:buClr>
                <a:srgbClr val="CC0000"/>
              </a:buClr>
              <a:buFont typeface="Wingdings" panose="05000000000000000000" pitchFamily="2" charset="2"/>
              <a:buNone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This layer requests for a logical connection to be established on an end-user’s request.</a:t>
            </a:r>
          </a:p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Any necessary log-on or password validation is also handled by this layer.</a:t>
            </a:r>
          </a:p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Session layer is also responsible for terminating the connection.</a:t>
            </a:r>
          </a:p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This layer provides services like dialogue discipline which can be full duplex or half duplex.</a:t>
            </a:r>
          </a:p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66"/>
              </a:solidFill>
            </a:endParaRPr>
          </a:p>
          <a:p>
            <a:pPr marL="441325" indent="-342900" algn="just" defTabSz="414338">
              <a:lnSpc>
                <a:spcPct val="80000"/>
              </a:lnSpc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Session layer can also provide check-pointing mechanism such that if a failure of some sort occurs between checkpoints, all data can be retransmitted from the last checkpoint.</a:t>
            </a:r>
          </a:p>
        </p:txBody>
      </p:sp>
    </p:spTree>
    <p:extLst>
      <p:ext uri="{BB962C8B-B14F-4D97-AF65-F5344CB8AC3E}">
        <p14:creationId xmlns:p14="http://schemas.microsoft.com/office/powerpoint/2010/main" val="4122527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Presentation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627" y="1636595"/>
            <a:ext cx="8418512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446283" y="5016441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The presentation layer is responsible for translation, compression, and encryption.</a:t>
            </a:r>
          </a:p>
        </p:txBody>
      </p:sp>
    </p:spTree>
    <p:extLst>
      <p:ext uri="{BB962C8B-B14F-4D97-AF65-F5344CB8AC3E}">
        <p14:creationId xmlns:p14="http://schemas.microsoft.com/office/powerpoint/2010/main" val="371648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662174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Presentation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62173" y="2103730"/>
            <a:ext cx="9616359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0066"/>
                </a:solidFill>
              </a:rPr>
              <a:t>Presentation layer defines the format in which the data is to be exchanged between the two communicating entities. </a:t>
            </a:r>
          </a:p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00066"/>
                </a:solidFill>
              </a:rPr>
              <a:t>Also handles data compression and data encryption (cryptography).</a:t>
            </a:r>
          </a:p>
        </p:txBody>
      </p:sp>
    </p:spTree>
    <p:extLst>
      <p:ext uri="{BB962C8B-B14F-4D97-AF65-F5344CB8AC3E}">
        <p14:creationId xmlns:p14="http://schemas.microsoft.com/office/powerpoint/2010/main" val="3554097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Application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487" y="1542609"/>
            <a:ext cx="8455025" cy="427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057399" y="5908764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The application layer is responsible for </a:t>
            </a:r>
            <a:br>
              <a:rPr lang="en-US" altLang="en-US" sz="2400" dirty="0">
                <a:latin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</a:rPr>
              <a:t>providing services to the user.</a:t>
            </a:r>
          </a:p>
        </p:txBody>
      </p:sp>
    </p:spTree>
    <p:extLst>
      <p:ext uri="{BB962C8B-B14F-4D97-AF65-F5344CB8AC3E}">
        <p14:creationId xmlns:p14="http://schemas.microsoft.com/office/powerpoint/2010/main" val="228197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Application layer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9089" y="1895569"/>
            <a:ext cx="9425443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Application layer interacts with application programs and is the highest level of OSI model.</a:t>
            </a:r>
          </a:p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Application layer contains management functions to support distributed applications.</a:t>
            </a:r>
          </a:p>
          <a:p>
            <a:pPr marL="441325" indent="-342900" algn="just" defTabSz="414338">
              <a:lnSpc>
                <a:spcPct val="80000"/>
              </a:lnSpc>
              <a:spcBef>
                <a:spcPct val="50000"/>
              </a:spcBef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66"/>
                </a:solidFill>
              </a:rPr>
              <a:t>Examples of application layer are applications such as file transfer, electronic mail, remote login etc.</a:t>
            </a:r>
          </a:p>
        </p:txBody>
      </p:sp>
    </p:spTree>
    <p:extLst>
      <p:ext uri="{BB962C8B-B14F-4D97-AF65-F5344CB8AC3E}">
        <p14:creationId xmlns:p14="http://schemas.microsoft.com/office/powerpoint/2010/main" val="852330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2800" b="1" dirty="0">
                <a:latin typeface="Times New Roman" panose="02020603050405020304" pitchFamily="18" charset="0"/>
              </a:rPr>
              <a:t>Summary of layers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45" y="1544140"/>
            <a:ext cx="10635155" cy="488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1197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636595"/>
            <a:ext cx="11414234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dirty="0"/>
              <a:t>Break into group of two.</a:t>
            </a:r>
          </a:p>
          <a:p>
            <a:r>
              <a:rPr lang="en-US" sz="2800" dirty="0"/>
              <a:t>Each group is given a </a:t>
            </a:r>
            <a:r>
              <a:rPr lang="en-US" sz="2800" b="1" dirty="0"/>
              <a:t>real-world communication scenario</a:t>
            </a:r>
            <a:r>
              <a:rPr lang="en-US" sz="2800" dirty="0"/>
              <a:t>, such as: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Encryption (TLS), compression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Composing the email / web browser / app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IP addressing and routing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Maintaining login session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TCP ensures reliable delivery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Actual transmission via cables or radio waves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Ethernet/Wi-Fi handling frames</a:t>
            </a:r>
          </a:p>
          <a:p>
            <a:endParaRPr lang="en-US" sz="2800" dirty="0"/>
          </a:p>
          <a:p>
            <a:r>
              <a:rPr lang="en-US" sz="2800" b="1" dirty="0"/>
              <a:t>Map them with the responsibility of respective layers</a:t>
            </a:r>
          </a:p>
          <a:p>
            <a:r>
              <a:rPr lang="en-US" sz="2800" dirty="0"/>
              <a:t>.</a:t>
            </a: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Activity 1 – Think Share Pair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9909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636595"/>
            <a:ext cx="11414234" cy="483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layers in the TCP/IP protocol suite do not exactly match those in the OSI model.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original TCP/IP protocol suite was defined as having four layers: host-to-network, internet, transport, and application.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However, when TCP/IP is compared to OSI, we can say that the TCP/IP protocol suite is made of five layers: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Physical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Data link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Network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Transport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/>
              <a:t>Application.</a:t>
            </a: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TCP/IP PROTOCOL SUITE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9698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TCP/IP PROTOCOL SUITE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553" y="1584373"/>
            <a:ext cx="7185982" cy="4771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6310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1895571"/>
            <a:ext cx="11414234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eaLnBrk="1" hangingPunct="1">
              <a:defRPr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Four levels of addresses are used in an internet employing the TCP/IP protocols: physical, logical, port, and specific.</a:t>
            </a:r>
          </a:p>
          <a:p>
            <a:pPr algn="just" eaLnBrk="1" hangingPunct="1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 eaLnBrk="1" hangingPunct="1">
              <a:defRPr/>
            </a:pPr>
            <a:endParaRPr lang="en-US" sz="28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ADDRESSING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749" y="3252249"/>
            <a:ext cx="7834312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9983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altLang="en-US" sz="2800" b="1" dirty="0">
                <a:latin typeface="Times New Roman" panose="02020603050405020304" pitchFamily="18" charset="0"/>
              </a:rPr>
              <a:t>Relationship of layers and addresses in TCP/IP</a:t>
            </a:r>
            <a:endParaRPr 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483" y="1527175"/>
            <a:ext cx="7467600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1653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Comparison of the OSI and TCP/IP Reference Models</a:t>
            </a:r>
            <a:endParaRPr 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68400" y="2082282"/>
            <a:ext cx="100584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000" b="1" dirty="0"/>
              <a:t>Functionality of the layers is roughly similar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buFontTx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Concepts central to OSI model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000" dirty="0"/>
              <a:t>The service definition tells what the layer does, not how entities above it access it . It defines the layer's semantics.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Interfaces : </a:t>
            </a:r>
            <a:r>
              <a:rPr lang="en-US" altLang="en-US" sz="2000" dirty="0"/>
              <a:t>tells the processes above it how to access it. It specifies what the parameters are and what results to expect.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Protocols: </a:t>
            </a:r>
            <a:r>
              <a:rPr lang="en-US" altLang="en-US" sz="2000" dirty="0"/>
              <a:t>the layer's own business.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148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/>
        </p:nvSpPr>
        <p:spPr>
          <a:xfrm>
            <a:off x="599090" y="1066476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Comparison of the OSI and TCP/IP Reference Models</a:t>
            </a:r>
            <a:endParaRPr 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68400" y="2082282"/>
            <a:ext cx="100584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OSI reference model was devised before the corresponding protocols were invented. This ordering means that the model was not biased toward one particular set of protocols.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The protocols came first, and the model was really just a description of the existing protocols.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Number of layers: the OSI model has seven layers and the TCP/IP has four layers.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The TCP/IP model has only one mode in the network layer (connectionless) but supports both modes in the transport layer.</a:t>
            </a:r>
          </a:p>
        </p:txBody>
      </p:sp>
    </p:spTree>
    <p:extLst>
      <p:ext uri="{BB962C8B-B14F-4D97-AF65-F5344CB8AC3E}">
        <p14:creationId xmlns:p14="http://schemas.microsoft.com/office/powerpoint/2010/main" val="2342520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70" name="Google Shape;17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171" name="Google Shape;171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599090" y="2013140"/>
            <a:ext cx="1141423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Why do you think the TCP/IP model is more widely used in real-world networking compared to the OSI model?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How does the transport layer of TCP/IP ensure reliable communication over an unreliable network?</a:t>
            </a:r>
          </a:p>
          <a:p>
            <a:endParaRPr lang="en-US" sz="2800" dirty="0"/>
          </a:p>
        </p:txBody>
      </p:sp>
      <p:sp>
        <p:nvSpPr>
          <p:cNvPr id="174" name="Google Shape;174;p7"/>
          <p:cNvSpPr txBox="1"/>
          <p:nvPr/>
        </p:nvSpPr>
        <p:spPr>
          <a:xfrm>
            <a:off x="599090" y="1113415"/>
            <a:ext cx="902838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800" b="1" dirty="0"/>
              <a:t>Closing Questions</a:t>
            </a:r>
            <a:endParaRPr sz="1800" b="1" dirty="0">
              <a:solidFill>
                <a:schemeClr val="dk1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0216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644056" y="824813"/>
            <a:ext cx="10542973" cy="163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FFFF"/>
              </a:buClr>
              <a:buSzPct val="100000"/>
            </a:pPr>
            <a:r>
              <a:rPr lang="en-US" sz="2800" b="1" dirty="0"/>
              <a:t>Ensure attainment of LOs in alignment to the learning activities: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135" name="Google Shape;135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28;p5"/>
          <p:cNvGrpSpPr/>
          <p:nvPr/>
        </p:nvGrpSpPr>
        <p:grpSpPr>
          <a:xfrm>
            <a:off x="644056" y="2173323"/>
            <a:ext cx="11190591" cy="4132061"/>
            <a:chOff x="0" y="0"/>
            <a:chExt cx="11190591" cy="4132061"/>
          </a:xfrm>
        </p:grpSpPr>
        <p:sp>
          <p:nvSpPr>
            <p:cNvPr id="15" name="Google Shape;129;p5"/>
            <p:cNvSpPr/>
            <p:nvPr/>
          </p:nvSpPr>
          <p:spPr>
            <a:xfrm>
              <a:off x="0" y="0"/>
              <a:ext cx="9512003" cy="1859427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0;p5"/>
            <p:cNvSpPr txBox="1"/>
            <p:nvPr/>
          </p:nvSpPr>
          <p:spPr>
            <a:xfrm>
              <a:off x="54461" y="54461"/>
              <a:ext cx="9185602" cy="17505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r>
                <a:rPr lang="en-US" sz="35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1: </a:t>
              </a:r>
              <a:r>
                <a:rPr lang="en-US" sz="3500" dirty="0">
                  <a:solidFill>
                    <a:schemeClr val="lt1"/>
                  </a:solidFill>
                </a:rPr>
                <a:t>Analyze how data flows across different layers of the OSI and TCP/IP models</a:t>
              </a:r>
              <a:endParaRPr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31;p5"/>
            <p:cNvSpPr/>
            <p:nvPr/>
          </p:nvSpPr>
          <p:spPr>
            <a:xfrm>
              <a:off x="1678588" y="2272634"/>
              <a:ext cx="9512003" cy="1859427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2;p5"/>
            <p:cNvSpPr txBox="1"/>
            <p:nvPr/>
          </p:nvSpPr>
          <p:spPr>
            <a:xfrm>
              <a:off x="1733048" y="2107441"/>
              <a:ext cx="9256193" cy="1970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133350" rIns="133350" bIns="133350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endParaRPr lang="en-US"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lvl="0">
                <a:lnSpc>
                  <a:spcPct val="90000"/>
                </a:lnSpc>
                <a:buClr>
                  <a:schemeClr val="lt1"/>
                </a:buClr>
                <a:buSzPts val="3500"/>
              </a:pPr>
              <a:r>
                <a:rPr lang="en-US" sz="35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Outcome 2</a:t>
              </a:r>
              <a:r>
                <a:rPr lang="en-US" sz="3500" dirty="0">
                  <a:solidFill>
                    <a:schemeClr val="lt1"/>
                  </a:solidFill>
                </a:rPr>
                <a:t>: Apply the </a:t>
              </a:r>
              <a:r>
                <a:rPr lang="en-US" sz="3500" dirty="0" err="1">
                  <a:solidFill>
                    <a:schemeClr val="lt1"/>
                  </a:solidFill>
                </a:rPr>
                <a:t>knowldge</a:t>
              </a:r>
              <a:r>
                <a:rPr lang="en-US" sz="3500" dirty="0">
                  <a:solidFill>
                    <a:schemeClr val="lt1"/>
                  </a:solidFill>
                </a:rPr>
                <a:t> to diagnose and troubleshoot real-world networking problems.</a:t>
              </a:r>
              <a:endParaRPr sz="35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33;p5"/>
            <p:cNvSpPr/>
            <p:nvPr/>
          </p:nvSpPr>
          <p:spPr>
            <a:xfrm>
              <a:off x="8303375" y="1461716"/>
              <a:ext cx="1208628" cy="1208628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4;p5"/>
            <p:cNvSpPr txBox="1"/>
            <p:nvPr/>
          </p:nvSpPr>
          <p:spPr>
            <a:xfrm>
              <a:off x="8575316" y="1461716"/>
              <a:ext cx="664746" cy="909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8178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/>
          </p:nvPr>
        </p:nvSpPr>
        <p:spPr>
          <a:xfrm>
            <a:off x="891540" y="1213803"/>
            <a:ext cx="9610964" cy="158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UPCOMING SESSION</a:t>
            </a:r>
            <a:br>
              <a:rPr lang="en-US" sz="2000"/>
            </a:br>
            <a:br>
              <a:rPr lang="en-US" sz="2000"/>
            </a:b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9" name="Google Shape;28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291" name="Google Shape;291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8"/>
          <p:cNvSpPr txBox="1"/>
          <p:nvPr/>
        </p:nvSpPr>
        <p:spPr>
          <a:xfrm>
            <a:off x="891540" y="2802760"/>
            <a:ext cx="9610964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next session, students will explore </a:t>
            </a:r>
            <a:r>
              <a:rPr lang="en-US" sz="2400" b="1" dirty="0">
                <a:solidFill>
                  <a:schemeClr val="dk1"/>
                </a:solidFill>
              </a:rPr>
              <a:t>Operating System and Web Basics for Security</a:t>
            </a:r>
          </a:p>
          <a:p>
            <a:pPr marL="342900" lvl="0" indent="-342900">
              <a:buClr>
                <a:schemeClr val="dk1"/>
              </a:buClr>
              <a:buSzPts val="2400"/>
              <a:buFont typeface="Arial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9" name="Google Shape;29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pic>
        <p:nvPicPr>
          <p:cNvPr id="300" name="Google Shape;300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5013434" y="2963917"/>
            <a:ext cx="385624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!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1457</Words>
  <Application>Microsoft Office PowerPoint</Application>
  <PresentationFormat>Widescreen</PresentationFormat>
  <Paragraphs>240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Times New Roman</vt:lpstr>
      <vt:lpstr>Times</vt:lpstr>
      <vt:lpstr>Georgia</vt:lpstr>
      <vt:lpstr>Arial</vt:lpstr>
      <vt:lpstr>Play</vt:lpstr>
      <vt:lpstr>Wingdings</vt:lpstr>
      <vt:lpstr>Office Theme</vt:lpstr>
      <vt:lpstr>              OSI Model &amp; TCP/IP Stack Overview    Session No.: 04 Course Name : Fundamentals Of Cyber Security  Instructor Name:  Duration: 50 minutes Date of Conduction of Class:  </vt:lpstr>
      <vt:lpstr> Opening Question</vt:lpstr>
      <vt:lpstr>At the end of this session students will be able to </vt:lpstr>
      <vt:lpstr>Session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Ensure attainment of LOs in alignment to the learning activities:</vt:lpstr>
      <vt:lpstr>UPCOMING SESSION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Network Security Concepts    Session No.: 01 Course Name : Access Control and Identity Management Course Code: R1UC705B Instructor Name: Dr. Ganesh Kumar Mahato Duration: 50 minutes Date of Conduction of Class: 21/08/2025</dc:title>
  <dc:creator>Deepak Gupta</dc:creator>
  <cp:lastModifiedBy>user</cp:lastModifiedBy>
  <cp:revision>22</cp:revision>
  <dcterms:created xsi:type="dcterms:W3CDTF">2024-08-22T06:33:55Z</dcterms:created>
  <dcterms:modified xsi:type="dcterms:W3CDTF">2026-02-21T04:51:24Z</dcterms:modified>
</cp:coreProperties>
</file>