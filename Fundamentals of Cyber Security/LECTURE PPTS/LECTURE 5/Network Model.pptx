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61" r:id="rId5"/>
    <p:sldId id="262" r:id="rId6"/>
    <p:sldId id="294" r:id="rId7"/>
    <p:sldId id="293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73" r:id="rId27"/>
    <p:sldId id="274" r:id="rId28"/>
  </p:sldIdLst>
  <p:sldSz cx="12192000" cy="6858000"/>
  <p:notesSz cx="6858000" cy="9144000"/>
  <p:embeddedFontLs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WL7fc1arrbbwlBNcYlq8IM8m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8544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2774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0717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63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8274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6175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32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3631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409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016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953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6152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734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7020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6944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5380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4583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763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075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73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9653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4901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96991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8731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146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865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616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77396" y="1600200"/>
            <a:ext cx="10567971" cy="537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l">
              <a:buSzPct val="100000"/>
            </a:pP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4800" b="1" dirty="0">
                <a:latin typeface="Georgia"/>
                <a:ea typeface="Georgia"/>
                <a:cs typeface="Georgia"/>
                <a:sym typeface="Georgia"/>
              </a:rPr>
              <a:t>A Model for Network Security</a:t>
            </a: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Session No.: 01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Course Name : Fundamental Of Cyber Security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Duration: 50 minutes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033955" y="941348"/>
            <a:ext cx="10649607" cy="98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br>
              <a:rPr lang="en-US" dirty="0"/>
            </a:br>
            <a:r>
              <a:rPr lang="en-IN" dirty="0"/>
              <a:t>Opening Question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04193" y="2756330"/>
            <a:ext cx="10783614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If you send a password over the internet, how can you be sure no one else is reading it?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What would happen if someone intercepted your online banking password while you were logging in?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Can you think of a time when you received a suspicious email or link? How did you know it was unsafe?”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644056" y="2173323"/>
            <a:ext cx="11190591" cy="4132061"/>
            <a:chOff x="0" y="0"/>
            <a:chExt cx="11190591" cy="4132061"/>
          </a:xfrm>
        </p:grpSpPr>
        <p:sp>
          <p:nvSpPr>
            <p:cNvPr id="129" name="Google Shape;129;p5"/>
            <p:cNvSpPr/>
            <p:nvPr/>
          </p:nvSpPr>
          <p:spPr>
            <a:xfrm>
              <a:off x="0" y="0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54461" y="54461"/>
              <a:ext cx="9185602" cy="175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500" dirty="0">
                  <a:solidFill>
                    <a:schemeClr val="lt1"/>
                  </a:solidFill>
                </a:rPr>
                <a:t>Analyze real-world networking scenarios to identify potential security threats.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678588" y="2272634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1733048" y="2107441"/>
              <a:ext cx="9256193" cy="1970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endParaRPr lang="en-US"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</a:t>
              </a:r>
              <a:r>
                <a:rPr lang="en-US" sz="3500" dirty="0">
                  <a:solidFill>
                    <a:schemeClr val="lt1"/>
                  </a:solidFill>
                </a:rPr>
                <a:t>: Identify basic defensive mechanisms for particular threats.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303375" y="1461716"/>
              <a:ext cx="1208628" cy="120862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8575316" y="1461716"/>
              <a:ext cx="664746" cy="909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 dirty="0"/>
              <a:t>Session Outline</a:t>
            </a:r>
            <a:endParaRPr dirty="0"/>
          </a:p>
        </p:txBody>
      </p:sp>
      <p:grpSp>
        <p:nvGrpSpPr>
          <p:cNvPr id="142" name="Google Shape;142;p6"/>
          <p:cNvGrpSpPr/>
          <p:nvPr/>
        </p:nvGrpSpPr>
        <p:grpSpPr>
          <a:xfrm>
            <a:off x="4053659" y="643525"/>
            <a:ext cx="7494959" cy="5530734"/>
            <a:chOff x="0" y="2703"/>
            <a:chExt cx="6900600" cy="5530734"/>
          </a:xfrm>
        </p:grpSpPr>
        <p:cxnSp>
          <p:nvCxnSpPr>
            <p:cNvPr id="143" name="Google Shape;143;p6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4" name="Google Shape;144;p6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Introduction to </a:t>
              </a:r>
              <a:r>
                <a:rPr lang="en-IN" sz="3600" dirty="0"/>
                <a:t>Network Security</a:t>
              </a:r>
              <a:endParaRPr dirty="0"/>
            </a:p>
          </p:txBody>
        </p:sp>
        <p:cxnSp>
          <p:nvCxnSpPr>
            <p:cNvPr id="146" name="Google Shape;146;p6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7" name="Google Shape;147;p6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0" y="924492"/>
              <a:ext cx="6900600" cy="9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lang="en-IN" sz="3600" dirty="0"/>
                <a:t>Threats and Challenges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6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" name="Google Shape;150;p6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</a:t>
              </a:r>
              <a:r>
                <a:rPr lang="en-IN" sz="3600" dirty="0"/>
                <a:t>Security Mechanisms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6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3" name="Google Shape;153;p6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lang="en-IN" sz="3600" dirty="0"/>
                <a:t>Hands-on Activities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6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6" name="Google Shape;156;p6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</a:t>
              </a:r>
              <a:r>
                <a:rPr lang="en-IN" sz="3600" dirty="0"/>
                <a:t>Reflection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6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9" name="Google Shape;159;p6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rial"/>
                <a:buNone/>
              </a:pPr>
              <a:r>
                <a:rPr lang="en-US" sz="3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Summary</a:t>
              </a:r>
              <a:endParaRPr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63" name="Google Shape;163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801151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Definition</a:t>
            </a:r>
            <a:r>
              <a:rPr lang="en-US" sz="2400" b="1" dirty="0"/>
              <a:t>:  </a:t>
            </a:r>
            <a:r>
              <a:rPr lang="en-US" sz="2400" dirty="0"/>
              <a:t>It is the practice of protecting the integrity, confidentiality, and availability of computer networks and the data transmitted over them.</a:t>
            </a:r>
          </a:p>
          <a:p>
            <a:endParaRPr lang="en-US" sz="2800" b="1" dirty="0"/>
          </a:p>
          <a:p>
            <a:r>
              <a:rPr lang="en-US" sz="2800" b="1" dirty="0"/>
              <a:t>Importance: </a:t>
            </a:r>
            <a:r>
              <a:rPr lang="en-US" sz="2400" dirty="0"/>
              <a:t>Ensures privacy, data integrity, and trust in communication.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It involves measures to safeguard against: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Unauthorized access (e.g., hackers, intruders)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Misuse or theft of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Attacks such as viruses, malware, phishing, DoS/DDoS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Disruptions to services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04457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What is Network Security?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522" y="1458040"/>
            <a:ext cx="3504445" cy="1972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801151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852" y="1836731"/>
            <a:ext cx="8169348" cy="37493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46492" y="929456"/>
            <a:ext cx="5674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/>
              <a:t>WhatsApp Message over the Network</a:t>
            </a:r>
            <a:endParaRPr lang="en-US" sz="16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5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Types of Network Security Devic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13" y="960120"/>
            <a:ext cx="10107966" cy="56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28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742019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1. Confidentiality</a:t>
            </a:r>
            <a:r>
              <a:rPr lang="en-US" sz="2000" dirty="0">
                <a:solidFill>
                  <a:schemeClr val="dk1"/>
                </a:solidFill>
              </a:rPr>
              <a:t> 🔒 Ensures that information is accessible only to authorized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Methods:</a:t>
            </a:r>
            <a:r>
              <a:rPr lang="en-US" sz="2000" dirty="0">
                <a:solidFill>
                  <a:schemeClr val="dk1"/>
                </a:solidFill>
              </a:rPr>
              <a:t> encryption, access control, authentication.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</a:endParaRPr>
          </a:p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2. Integrity</a:t>
            </a:r>
            <a:r>
              <a:rPr lang="en-US" sz="2000" dirty="0">
                <a:solidFill>
                  <a:schemeClr val="dk1"/>
                </a:solidFill>
              </a:rPr>
              <a:t> ✅ Ensures that information is accurate, consistent, and protected from unauthorized modification.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Methods: </a:t>
            </a:r>
            <a:r>
              <a:rPr lang="en-US" sz="2000" dirty="0">
                <a:solidFill>
                  <a:schemeClr val="dk1"/>
                </a:solidFill>
              </a:rPr>
              <a:t>hashing, checksums, version control.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</a:endParaRPr>
          </a:p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3. Availability</a:t>
            </a:r>
            <a:r>
              <a:rPr lang="en-US" sz="2000" dirty="0">
                <a:solidFill>
                  <a:schemeClr val="dk1"/>
                </a:solidFill>
              </a:rPr>
              <a:t> 🌐 Ensures that authorized users have reliable and timely access to information and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Methods: </a:t>
            </a:r>
            <a:r>
              <a:rPr lang="en-US" sz="2000" dirty="0">
                <a:solidFill>
                  <a:schemeClr val="dk1"/>
                </a:solidFill>
              </a:rPr>
              <a:t>redundancy, backups, disaster recovery planning.</a:t>
            </a:r>
            <a:endParaRPr sz="20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04457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Goals of Network Security (CIA Triads)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1692984"/>
            <a:ext cx="4061460" cy="36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8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891698" y="1388388"/>
            <a:ext cx="1141423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• Malware</a:t>
            </a:r>
          </a:p>
          <a:p>
            <a:r>
              <a:rPr lang="en-US" sz="2800" dirty="0"/>
              <a:t>• Phishing</a:t>
            </a:r>
          </a:p>
          <a:p>
            <a:r>
              <a:rPr lang="en-US" sz="2800" dirty="0"/>
              <a:t>• Eavesdropping </a:t>
            </a:r>
            <a:r>
              <a:rPr lang="en-US" sz="1800" dirty="0"/>
              <a:t>(unauthorized listening</a:t>
            </a:r>
            <a:r>
              <a:rPr lang="en-US" sz="2000" dirty="0"/>
              <a:t>)</a:t>
            </a:r>
          </a:p>
          <a:p>
            <a:r>
              <a:rPr lang="en-US" sz="2800" dirty="0"/>
              <a:t>• Denial of Service (DoS) attacks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852074" y="854440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Key Threats in Networking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337" y="3530714"/>
            <a:ext cx="3020839" cy="31907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12" y="1938529"/>
            <a:ext cx="5724588" cy="4508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85770" y="4038953"/>
            <a:ext cx="861133" cy="3077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Exploit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6522" y="5691206"/>
            <a:ext cx="1205030" cy="3077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Vulnerability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4007" y="1734987"/>
            <a:ext cx="746841" cy="3077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222713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Evolving Threat Landscape: </a:t>
            </a:r>
            <a:r>
              <a:rPr lang="en-US" sz="1800" dirty="0">
                <a:solidFill>
                  <a:schemeClr val="dk1"/>
                </a:solidFill>
              </a:rPr>
              <a:t>Attackers constantly develop new malware, exploits, and attack methods, making it difficult for defenses to keep up.</a:t>
            </a: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Zero-Day Attacks: </a:t>
            </a:r>
            <a:r>
              <a:rPr lang="en-US" sz="1800" dirty="0">
                <a:solidFill>
                  <a:schemeClr val="dk1"/>
                </a:solidFill>
              </a:rPr>
              <a:t>Exploiting unknown vulnerabilities before patches are available.</a:t>
            </a: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Advanced Persistent Threats (APTs):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</a:rPr>
              <a:t>Long-term, targeted attacks aimed at stealing sensitive data without detection.</a:t>
            </a:r>
            <a:endParaRPr lang="en-US" sz="2000" dirty="0">
              <a:solidFill>
                <a:schemeClr val="dk1"/>
              </a:solidFill>
            </a:endParaRP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Insider Threats: </a:t>
            </a:r>
            <a:r>
              <a:rPr lang="en-US" sz="1800" dirty="0">
                <a:solidFill>
                  <a:schemeClr val="dk1"/>
                </a:solidFill>
              </a:rPr>
              <a:t>Employees or contractors misusing their access intentionally or accidentally.</a:t>
            </a: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BYOD (Bring Your Own Device) &amp;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IoT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dk1"/>
                </a:solidFill>
              </a:rPr>
              <a:t>Security Personal and </a:t>
            </a:r>
            <a:r>
              <a:rPr lang="en-US" sz="1800" dirty="0" err="1">
                <a:solidFill>
                  <a:schemeClr val="dk1"/>
                </a:solidFill>
              </a:rPr>
              <a:t>IoT</a:t>
            </a:r>
            <a:r>
              <a:rPr lang="en-US" sz="1800" dirty="0">
                <a:solidFill>
                  <a:schemeClr val="dk1"/>
                </a:solidFill>
              </a:rPr>
              <a:t> devices connected to networks often lack proper security controls.</a:t>
            </a: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DDoS (Distributed Denial of Service) Attacks: </a:t>
            </a:r>
            <a:r>
              <a:rPr lang="en-US" sz="1800" dirty="0">
                <a:solidFill>
                  <a:schemeClr val="dk1"/>
                </a:solidFill>
              </a:rPr>
              <a:t>Overloading a network with traffic to make services unavailable.</a:t>
            </a:r>
            <a:endParaRPr lang="en-US" sz="2000" dirty="0">
              <a:solidFill>
                <a:schemeClr val="dk1"/>
              </a:solidFill>
            </a:endParaRPr>
          </a:p>
          <a:p>
            <a:pPr marL="457200" lvl="0" indent="-457200"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Compliance &amp; Legal Issues: </a:t>
            </a:r>
            <a:r>
              <a:rPr lang="en-US" sz="1800" dirty="0">
                <a:solidFill>
                  <a:schemeClr val="dk1"/>
                </a:solidFill>
              </a:rPr>
              <a:t>Organizations must meet regulatory requirements (GDPR, HIPAA, PCI-DSS, etc.).</a:t>
            </a:r>
            <a:endParaRPr sz="1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Security Challenges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12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800" dirty="0"/>
              <a:t>• Firewalls</a:t>
            </a:r>
          </a:p>
          <a:p>
            <a:r>
              <a:rPr lang="en-IN" sz="2800" dirty="0"/>
              <a:t>• IDS/IPS</a:t>
            </a:r>
          </a:p>
          <a:p>
            <a:r>
              <a:rPr lang="en-IN" sz="2800" dirty="0"/>
              <a:t>• VPNs</a:t>
            </a:r>
          </a:p>
          <a:p>
            <a:r>
              <a:rPr lang="en-IN" sz="2800" dirty="0"/>
              <a:t>• Encryption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Types of Security Measures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943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Definition: </a:t>
            </a:r>
            <a:r>
              <a:rPr lang="en-US" sz="2800" dirty="0"/>
              <a:t>Filters incoming and outgoing traffic.</a:t>
            </a:r>
          </a:p>
          <a:p>
            <a:r>
              <a:rPr lang="en-US" sz="2800" b="1" dirty="0"/>
              <a:t>Types: </a:t>
            </a:r>
            <a:r>
              <a:rPr lang="en-US" sz="2800" dirty="0"/>
              <a:t>Hardware and Software.</a:t>
            </a:r>
          </a:p>
          <a:p>
            <a:r>
              <a:rPr lang="en-US" sz="2800" b="1" dirty="0"/>
              <a:t>Role: </a:t>
            </a:r>
            <a:r>
              <a:rPr lang="en-US" sz="2800" dirty="0"/>
              <a:t>Blocks unauthorized access.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Firewalls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4102" name="Picture 6" descr="What Is a Firewall? Types &amp; Role in Cybersecurit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90" y="3272749"/>
            <a:ext cx="8011510" cy="300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94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/>
              <a:t>1.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Intrusion Detection System (IDS)</a:t>
            </a:r>
          </a:p>
          <a:p>
            <a:r>
              <a:rPr lang="en-US" sz="2000" b="1" dirty="0"/>
              <a:t>	Purpose:</a:t>
            </a:r>
            <a:r>
              <a:rPr lang="en-US" sz="2000" dirty="0"/>
              <a:t> Monitors network/system activities for malicious actions or policy violations.</a:t>
            </a:r>
          </a:p>
          <a:p>
            <a:r>
              <a:rPr lang="en-US" sz="2000" b="1" dirty="0"/>
              <a:t>	Action:</a:t>
            </a:r>
            <a:r>
              <a:rPr lang="en-US" sz="2000" dirty="0"/>
              <a:t> Only detects and alerts (does not block).</a:t>
            </a:r>
          </a:p>
          <a:p>
            <a:r>
              <a:rPr lang="en-US" sz="2000" b="1" dirty="0"/>
              <a:t>	Analogy:</a:t>
            </a:r>
            <a:r>
              <a:rPr lang="en-US" sz="2000" dirty="0"/>
              <a:t> Like a CCTV camera – it can see and record intrusions but cannot stop them.</a:t>
            </a:r>
          </a:p>
          <a:p>
            <a:r>
              <a:rPr lang="en-US" sz="2000" b="1" dirty="0"/>
              <a:t>	Types:</a:t>
            </a:r>
            <a:endParaRPr lang="en-US" sz="2000" dirty="0"/>
          </a:p>
          <a:p>
            <a:r>
              <a:rPr lang="en-US" sz="2000" b="1" dirty="0"/>
              <a:t>		Network-based IDS (NIDS):</a:t>
            </a:r>
            <a:r>
              <a:rPr lang="en-US" sz="2000" dirty="0"/>
              <a:t> Monitors traffic on the network.</a:t>
            </a:r>
          </a:p>
          <a:p>
            <a:r>
              <a:rPr lang="en-US" sz="2000" b="1" dirty="0"/>
              <a:t>		Host-based IDS (HIDS):</a:t>
            </a:r>
            <a:r>
              <a:rPr lang="en-US" sz="2000" dirty="0"/>
              <a:t> Monitors activities on individual systems.</a:t>
            </a:r>
          </a:p>
          <a:p>
            <a:endParaRPr lang="en-US" sz="2000" dirty="0"/>
          </a:p>
          <a:p>
            <a:pPr lvl="0"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dk1"/>
                </a:solidFill>
              </a:rPr>
              <a:t>2. Intrusion Prevention System (IPS)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dk1"/>
                </a:solidFill>
              </a:rPr>
              <a:t>	</a:t>
            </a:r>
            <a:r>
              <a:rPr lang="en-US" sz="2000" b="1" dirty="0">
                <a:solidFill>
                  <a:schemeClr val="dk1"/>
                </a:solidFill>
              </a:rPr>
              <a:t>Purpose: </a:t>
            </a:r>
            <a:r>
              <a:rPr lang="en-US" sz="2000" dirty="0">
                <a:solidFill>
                  <a:schemeClr val="dk1"/>
                </a:solidFill>
              </a:rPr>
              <a:t>Detects malicious activities and actively prevents them.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dk1"/>
                </a:solidFill>
              </a:rPr>
              <a:t>	</a:t>
            </a:r>
            <a:r>
              <a:rPr lang="en-US" sz="2000" b="1" dirty="0">
                <a:solidFill>
                  <a:schemeClr val="dk1"/>
                </a:solidFill>
              </a:rPr>
              <a:t>Action: </a:t>
            </a:r>
            <a:r>
              <a:rPr lang="en-US" sz="2000" dirty="0">
                <a:solidFill>
                  <a:schemeClr val="dk1"/>
                </a:solidFill>
              </a:rPr>
              <a:t>Can block traffic, drop packets, or disconnect sessions.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dk1"/>
                </a:solidFill>
              </a:rPr>
              <a:t>	</a:t>
            </a:r>
            <a:r>
              <a:rPr lang="en-US" sz="2000" b="1" dirty="0">
                <a:solidFill>
                  <a:schemeClr val="dk1"/>
                </a:solidFill>
              </a:rPr>
              <a:t>Analogy: </a:t>
            </a:r>
            <a:r>
              <a:rPr lang="en-US" sz="2000" dirty="0">
                <a:solidFill>
                  <a:schemeClr val="dk1"/>
                </a:solidFill>
              </a:rPr>
              <a:t>Like a security guard – it not only detects but also stops intruders.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dk1"/>
                </a:solidFill>
              </a:rPr>
              <a:t>	</a:t>
            </a:r>
            <a:r>
              <a:rPr lang="en-US" sz="2000" dirty="0"/>
              <a:t>IPS detects SQL injection attempt </a:t>
            </a:r>
          </a:p>
          <a:p>
            <a:pPr lvl="0">
              <a:buClr>
                <a:schemeClr val="dk1"/>
              </a:buClr>
              <a:buSzPts val="2800"/>
            </a:pPr>
            <a:endParaRPr lang="en-US" sz="2000" dirty="0"/>
          </a:p>
          <a:p>
            <a:pPr lvl="0">
              <a:buClr>
                <a:schemeClr val="dk1"/>
              </a:buClr>
              <a:buSzPts val="2800"/>
            </a:pPr>
            <a:endParaRPr lang="en-US" sz="2000" dirty="0"/>
          </a:p>
          <a:p>
            <a:pPr lvl="0">
              <a:buClr>
                <a:schemeClr val="dk1"/>
              </a:buClr>
              <a:buSzPts val="2800"/>
            </a:pPr>
            <a:endParaRPr lang="en-US" sz="20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2800"/>
            </a:pPr>
            <a:endParaRPr lang="en-US"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Intrusion Detection/Prevention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038600" y="6049708"/>
            <a:ext cx="3945478" cy="61328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2060"/>
                </a:solidFill>
              </a:rPr>
              <a:t>IDS: Passive → Detects &amp; Alerts.</a:t>
            </a:r>
          </a:p>
          <a:p>
            <a:pPr algn="ctr"/>
            <a:r>
              <a:rPr lang="en-US" sz="1800" dirty="0">
                <a:solidFill>
                  <a:srgbClr val="002060"/>
                </a:solidFill>
              </a:rPr>
              <a:t>IPS: Active  → Detects &amp; Blocks.</a:t>
            </a:r>
          </a:p>
        </p:txBody>
      </p:sp>
    </p:spTree>
    <p:extLst>
      <p:ext uri="{BB962C8B-B14F-4D97-AF65-F5344CB8AC3E}">
        <p14:creationId xmlns:p14="http://schemas.microsoft.com/office/powerpoint/2010/main" val="3160908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 VPN is a technology that creates a secure, encrypted connection (a “tunnel”) over a public network like the Internet. It allows users to send and receive data as if they were directly connected to a private network.</a:t>
            </a:r>
          </a:p>
          <a:p>
            <a:endParaRPr lang="en-US" sz="2400" dirty="0">
              <a:solidFill>
                <a:schemeClr val="dk1"/>
              </a:solidFill>
              <a:sym typeface="Arial"/>
            </a:endParaRPr>
          </a:p>
          <a:p>
            <a:r>
              <a:rPr lang="en-US" sz="2400" b="1" dirty="0">
                <a:solidFill>
                  <a:schemeClr val="dk1"/>
                </a:solidFill>
              </a:rPr>
              <a:t>Remote Access VPN </a:t>
            </a:r>
            <a:r>
              <a:rPr lang="en-US" sz="2400" dirty="0">
                <a:solidFill>
                  <a:schemeClr val="dk1"/>
                </a:solidFill>
              </a:rPr>
              <a:t>– For individuals connecting securely to a private network.</a:t>
            </a:r>
          </a:p>
          <a:p>
            <a:r>
              <a:rPr lang="en-US" sz="2400" b="1" dirty="0">
                <a:solidFill>
                  <a:schemeClr val="dk1"/>
                </a:solidFill>
              </a:rPr>
              <a:t>Site-to-Site VPN </a:t>
            </a:r>
            <a:r>
              <a:rPr lang="en-US" sz="2400" dirty="0">
                <a:solidFill>
                  <a:schemeClr val="dk1"/>
                </a:solidFill>
              </a:rPr>
              <a:t>– Connects entire networks (e.g., between two offices).</a:t>
            </a:r>
          </a:p>
          <a:p>
            <a:endParaRPr lang="en-US" sz="2400" dirty="0">
              <a:solidFill>
                <a:schemeClr val="dk1"/>
              </a:solidFill>
            </a:endParaRPr>
          </a:p>
          <a:p>
            <a:r>
              <a:rPr lang="en-US" sz="2400" dirty="0">
                <a:solidFill>
                  <a:schemeClr val="dk1"/>
                </a:solidFill>
              </a:rPr>
              <a:t>When you connect to Wi-Fi in an airport and use a VPN → all your traffic is encrypted, preventing hackers from eavesdropping.</a:t>
            </a:r>
          </a:p>
          <a:p>
            <a:endParaRPr lang="en-US" sz="2400" dirty="0">
              <a:solidFill>
                <a:schemeClr val="dk1"/>
              </a:solidFill>
            </a:endParaRPr>
          </a:p>
          <a:p>
            <a:r>
              <a:rPr lang="en-US" sz="2400" b="1" dirty="0">
                <a:solidFill>
                  <a:schemeClr val="dk1"/>
                </a:solidFill>
              </a:rPr>
              <a:t>Analogy: </a:t>
            </a:r>
            <a:r>
              <a:rPr lang="en-US" sz="2400" dirty="0">
                <a:solidFill>
                  <a:schemeClr val="dk1"/>
                </a:solidFill>
              </a:rPr>
              <a:t>A VPN is like a secret tunnel through the Internet that hides your data from prying eyes.</a:t>
            </a:r>
          </a:p>
          <a:p>
            <a:endParaRPr lang="en-US" sz="2400" dirty="0">
              <a:solidFill>
                <a:schemeClr val="dk1"/>
              </a:solidFill>
              <a:sym typeface="Arial"/>
            </a:endParaRPr>
          </a:p>
          <a:p>
            <a:br>
              <a:rPr lang="en-US" sz="2800" dirty="0">
                <a:solidFill>
                  <a:schemeClr val="dk1"/>
                </a:solidFill>
                <a:sym typeface="Arial"/>
              </a:rPr>
            </a:br>
            <a:endParaRPr sz="28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Virtual Private Networks (VPNs)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2590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Encryption Basics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6146" name="Picture 2" descr="What is Symmetric Encryption? Symmetric-Key Algorithm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40" y="1682952"/>
            <a:ext cx="5989247" cy="301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Is Asymmetric Encryption &amp; How Does It Work? - InfoSec Insight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545" y="3504088"/>
            <a:ext cx="6248721" cy="303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1240" y="4752492"/>
            <a:ext cx="42723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/>
              <a:t>AES, DES, 3DES, </a:t>
            </a:r>
            <a:r>
              <a:rPr lang="fr-FR" sz="1600" dirty="0" err="1"/>
              <a:t>Blowfish</a:t>
            </a:r>
            <a:r>
              <a:rPr lang="fr-FR" sz="1600" dirty="0"/>
              <a:t>, RC4, ChaCha20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0487" y="3299367"/>
            <a:ext cx="5961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RSA, ECC, </a:t>
            </a:r>
            <a:r>
              <a:rPr lang="en-IN" sz="1600" dirty="0" err="1"/>
              <a:t>Diffie</a:t>
            </a:r>
            <a:r>
              <a:rPr lang="en-IN" sz="1600" dirty="0"/>
              <a:t>–Hellman Key Exchange, </a:t>
            </a:r>
            <a:r>
              <a:rPr lang="en-IN" sz="1600" dirty="0" err="1"/>
              <a:t>ElGamal</a:t>
            </a:r>
            <a:r>
              <a:rPr lang="en-IN" sz="1600" dirty="0"/>
              <a:t> Encryption</a:t>
            </a:r>
          </a:p>
        </p:txBody>
      </p:sp>
    </p:spTree>
    <p:extLst>
      <p:ext uri="{BB962C8B-B14F-4D97-AF65-F5344CB8AC3E}">
        <p14:creationId xmlns:p14="http://schemas.microsoft.com/office/powerpoint/2010/main" val="1931326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Methods: </a:t>
            </a:r>
            <a:r>
              <a:rPr lang="en-US" sz="2800" dirty="0"/>
              <a:t>Passwords, Biometrics, Multi-Factor Authentication.</a:t>
            </a:r>
          </a:p>
          <a:p>
            <a:r>
              <a:rPr lang="en-US" sz="2800" b="1" dirty="0"/>
              <a:t>Goal: </a:t>
            </a:r>
            <a:r>
              <a:rPr lang="en-US" sz="2800" dirty="0"/>
              <a:t>Ensure only authorized access.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Authentication &amp; Access Control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9331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Task: </a:t>
            </a:r>
            <a:r>
              <a:rPr lang="en-US" sz="2800" dirty="0"/>
              <a:t>In groups, identify threats in a campus Wi-Fi network.</a:t>
            </a:r>
          </a:p>
          <a:p>
            <a:r>
              <a:rPr lang="en-US" sz="2800" dirty="0"/>
              <a:t>Propose at least 2 security measures.</a:t>
            </a:r>
          </a:p>
          <a:p>
            <a:r>
              <a:rPr lang="en-US" sz="2800" dirty="0"/>
              <a:t>Share with class.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Activity 1 – Think Pair Share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11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Teacher summarizes responses and connects to real-world practices.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Activity 1 - Reflection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8789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/>
              <a:t>Logging: </a:t>
            </a:r>
            <a:r>
              <a:rPr lang="en-US" sz="2400" dirty="0"/>
              <a:t>recording events, activities, and transactions happening in a system or network.</a:t>
            </a:r>
          </a:p>
          <a:p>
            <a:r>
              <a:rPr lang="en-US" sz="2400" dirty="0"/>
              <a:t>Example: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Login attempts (successful &amp; failed).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File access logs.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Firewall traffic logs.</a:t>
            </a:r>
          </a:p>
          <a:p>
            <a:endParaRPr lang="en-US" sz="2400" dirty="0"/>
          </a:p>
          <a:p>
            <a:r>
              <a:rPr lang="en-US" sz="2400" b="1" dirty="0"/>
              <a:t>Monitoring: </a:t>
            </a:r>
            <a:r>
              <a:rPr lang="en-US" sz="2400" dirty="0"/>
              <a:t>continuous observation and analysis of logs or live data to detect suspicious behavior.</a:t>
            </a:r>
          </a:p>
          <a:p>
            <a:r>
              <a:rPr lang="en-US" sz="2400" dirty="0"/>
              <a:t>Example: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Detecting multiple failed login attempts (possible brute-force attack).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Identifying abnormal traffic spikes (possible DDoS).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Monitoring users accessing sensitive files outside office hours.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Logging &amp; Monitoring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2201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388883" y="1278708"/>
            <a:ext cx="11414234" cy="603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Incident Response (IR) is the process of detecting, analyzing, and responding to security incidents (e.g., cyberattacks, malware outbreaks, data breaches) to minimize damage and restore operations quickly.</a:t>
            </a:r>
          </a:p>
          <a:p>
            <a:endParaRPr lang="en-US" sz="2400" dirty="0"/>
          </a:p>
          <a:p>
            <a:r>
              <a:rPr lang="en-US" b="1" dirty="0"/>
              <a:t>Phases of Incident Response (NIST model)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Preparation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Build an IR plan, train staff, deploy monitoring tools.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Setting up SIEM (</a:t>
            </a:r>
            <a:r>
              <a:rPr lang="en-US" dirty="0" err="1"/>
              <a:t>Splunk</a:t>
            </a:r>
            <a:r>
              <a:rPr lang="en-US" dirty="0"/>
              <a:t>/</a:t>
            </a:r>
            <a:r>
              <a:rPr lang="en-US" dirty="0" err="1"/>
              <a:t>QRadar</a:t>
            </a:r>
            <a:r>
              <a:rPr lang="en-US" dirty="0"/>
              <a:t>), creating playbooks for phishing attacks.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Detection &amp; Analysis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Identify suspicious activities, confirm incidents.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Detecting unusual login attempts from a foreign IP.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Containment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Isolate affected systems to stop the spread.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Disconnecting an infected laptop from the company network.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Eradication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 the cause of the incident.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Deleting malware, patching vulnerabilities.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Recovery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Restore systems to normal operations.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Restoring data from backups after a ransomware attack.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Lessons Learned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Document findings, improve security posture.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Updating firewall rules to block similar future attacks.</a:t>
            </a:r>
          </a:p>
          <a:p>
            <a:endParaRPr lang="en-US" sz="2400" dirty="0"/>
          </a:p>
        </p:txBody>
      </p:sp>
      <p:sp>
        <p:nvSpPr>
          <p:cNvPr id="174" name="Google Shape;174;p7"/>
          <p:cNvSpPr txBox="1"/>
          <p:nvPr/>
        </p:nvSpPr>
        <p:spPr>
          <a:xfrm>
            <a:off x="3639207" y="843143"/>
            <a:ext cx="90283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400" b="1" dirty="0"/>
              <a:t>Incident Response Basics</a:t>
            </a:r>
            <a:endParaRPr sz="16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648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23324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security policy</a:t>
            </a:r>
            <a:r>
              <a:rPr lang="en-US" sz="2000" dirty="0"/>
              <a:t> is a formal set of rules and guidelines that define how an organization protects its </a:t>
            </a:r>
            <a:r>
              <a:rPr lang="en-US" sz="2000" b="1" dirty="0"/>
              <a:t>information systems, data, and networks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Purpose:</a:t>
            </a:r>
            <a:r>
              <a:rPr lang="en-US" sz="2000" dirty="0"/>
              <a:t> Ensure consistency, compliance, and protection against threats.</a:t>
            </a:r>
          </a:p>
          <a:p>
            <a:endParaRPr lang="en-US" sz="2000" dirty="0"/>
          </a:p>
          <a:p>
            <a:r>
              <a:rPr lang="en-US" sz="2000" b="1" dirty="0"/>
              <a:t>Key Components: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Acceptable Use Policy (AUP):</a:t>
            </a:r>
            <a:r>
              <a:rPr lang="en-US" sz="2000" dirty="0"/>
              <a:t> Defines what employees can/cannot do with IT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Access Control Policy:</a:t>
            </a:r>
            <a:r>
              <a:rPr lang="en-US" sz="2000" dirty="0"/>
              <a:t> Specifies who can access what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Password Policy:</a:t>
            </a:r>
            <a:r>
              <a:rPr lang="en-US" sz="2000" dirty="0"/>
              <a:t> Rules for password strength, expiry, and reuse.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Incident Response Policy:</a:t>
            </a:r>
            <a:r>
              <a:rPr lang="en-US" sz="2000" dirty="0"/>
              <a:t> Steps to follow when an attack occurs.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Protection Policy:</a:t>
            </a:r>
            <a:r>
              <a:rPr lang="en-US" sz="2000" dirty="0"/>
              <a:t> Ensures confidentiality, integrity, and availability of sensitive data.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Security Policies &amp; Ethics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197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Identify 3 security practices you use daily.</a:t>
            </a:r>
          </a:p>
          <a:p>
            <a:r>
              <a:rPr lang="en-US" sz="2800" dirty="0"/>
              <a:t>Which one is most effective? Why?</a:t>
            </a:r>
          </a:p>
          <a:p>
            <a:r>
              <a:rPr lang="en-US" sz="2800" dirty="0"/>
              <a:t>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Activity 2 – Group Discussion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9909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• Definition of Network Security</a:t>
            </a:r>
          </a:p>
          <a:p>
            <a:r>
              <a:rPr lang="en-US" sz="2800" dirty="0"/>
              <a:t>• CIA Triad</a:t>
            </a:r>
          </a:p>
          <a:p>
            <a:r>
              <a:rPr lang="en-US" sz="2800" dirty="0"/>
              <a:t>• Threats and Defenses</a:t>
            </a:r>
          </a:p>
          <a:p>
            <a:r>
              <a:rPr lang="en-US" sz="2800" dirty="0"/>
              <a:t>• Best Practices</a:t>
            </a:r>
          </a:p>
          <a:p>
            <a:r>
              <a:rPr lang="en-US" sz="2800" dirty="0"/>
              <a:t>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Summary of Key Concepts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983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1. Why is encryption critical?</a:t>
            </a:r>
          </a:p>
          <a:p>
            <a:r>
              <a:rPr lang="en-US" sz="2800" dirty="0"/>
              <a:t>2. Difference between IDS and IPS?</a:t>
            </a:r>
          </a:p>
          <a:p>
            <a:r>
              <a:rPr lang="en-US" sz="2800" dirty="0"/>
              <a:t>3. How can user behavior affect network security?</a:t>
            </a:r>
          </a:p>
          <a:p>
            <a:endParaRPr lang="en-US" sz="2800" dirty="0"/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Closing Questions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216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644056" y="824813"/>
            <a:ext cx="10542973" cy="163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ct val="100000"/>
            </a:pPr>
            <a:r>
              <a:rPr lang="en-US" sz="2800" b="1" dirty="0"/>
              <a:t>Ensure attainment of LOs in alignment to the learning activities: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644056" y="2173323"/>
            <a:ext cx="11190591" cy="4132061"/>
            <a:chOff x="0" y="0"/>
            <a:chExt cx="11190591" cy="4132061"/>
          </a:xfrm>
        </p:grpSpPr>
        <p:sp>
          <p:nvSpPr>
            <p:cNvPr id="129" name="Google Shape;129;p5"/>
            <p:cNvSpPr/>
            <p:nvPr/>
          </p:nvSpPr>
          <p:spPr>
            <a:xfrm>
              <a:off x="0" y="0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54461" y="54461"/>
              <a:ext cx="9185602" cy="175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500" dirty="0">
                  <a:solidFill>
                    <a:schemeClr val="lt1"/>
                  </a:solidFill>
                </a:rPr>
                <a:t>Analyze real-world networking scenarios to identify potential security threats.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678588" y="2272634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1733048" y="2107441"/>
              <a:ext cx="9256193" cy="1970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endParaRPr lang="en-US"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</a:t>
              </a:r>
              <a:r>
                <a:rPr lang="en-US" sz="3500" dirty="0">
                  <a:solidFill>
                    <a:schemeClr val="lt1"/>
                  </a:solidFill>
                </a:rPr>
                <a:t>: Identify basic defensive mechanisms for particular threats.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303375" y="1461716"/>
              <a:ext cx="1208628" cy="120862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8575316" y="1461716"/>
              <a:ext cx="664746" cy="909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817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891540" y="1213803"/>
            <a:ext cx="9610964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UPCOMING SESSION</a:t>
            </a:r>
            <a:br>
              <a:rPr lang="en-US" sz="2000"/>
            </a:br>
            <a:br>
              <a:rPr lang="en-US" sz="2000"/>
            </a:b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91" name="Google Shape;291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 txBox="1"/>
          <p:nvPr/>
        </p:nvSpPr>
        <p:spPr>
          <a:xfrm>
            <a:off x="891540" y="2802760"/>
            <a:ext cx="9610964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next session, students will explore </a:t>
            </a:r>
            <a:r>
              <a:rPr lang="en-US" sz="2400" b="1" dirty="0">
                <a:solidFill>
                  <a:schemeClr val="dk1"/>
                </a:solidFill>
              </a:rPr>
              <a:t>OSI Model &amp; TCP/IP Stack Overview</a:t>
            </a:r>
          </a:p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endParaRPr lang="en-US" sz="2400" b="1" dirty="0">
              <a:solidFill>
                <a:schemeClr val="dk1"/>
              </a:solidFill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00" name="Google Shape;300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5013434" y="2963917"/>
            <a:ext cx="38562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1555</Words>
  <Application>Microsoft Office PowerPoint</Application>
  <PresentationFormat>Widescreen</PresentationFormat>
  <Paragraphs>237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Play</vt:lpstr>
      <vt:lpstr>Arial</vt:lpstr>
      <vt:lpstr>Georgia</vt:lpstr>
      <vt:lpstr>Office Theme</vt:lpstr>
      <vt:lpstr>              A Model for Network Security    Session No.: 01 Course Name : Fundamental Of Cyber Security Instructor Name:  Duration: 50 minutes Date of Conduction of Class:  </vt:lpstr>
      <vt:lpstr> Opening Question</vt:lpstr>
      <vt:lpstr>At the end of this session students will be able to </vt:lpstr>
      <vt:lpstr>Session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Ensure attainment of LOs in alignment to the learning activities:</vt:lpstr>
      <vt:lpstr>UPCOMING SESSION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Network Security Concepts    Session No.: 01 Course Name : Access Control and Identity Management Course Code: R1UC705B Instructor Name: Dr. Ganesh Kumar Mahato Duration: 50 minutes Date of Conduction of Class: 21/08/2025</dc:title>
  <dc:creator>Deepak Gupta</dc:creator>
  <cp:lastModifiedBy>siddharthinfo92@gmail.com</cp:lastModifiedBy>
  <cp:revision>25</cp:revision>
  <dcterms:created xsi:type="dcterms:W3CDTF">2024-08-22T06:33:55Z</dcterms:created>
  <dcterms:modified xsi:type="dcterms:W3CDTF">2026-02-13T12:46:31Z</dcterms:modified>
</cp:coreProperties>
</file>