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9144000"/>
  <p:embeddedFontLst>
    <p:embeddedFont>
      <p:font typeface="Nunito" pitchFamily="2" charset="0"/>
      <p:regular r:id="rId24"/>
      <p:bold r:id="rId25"/>
      <p:italic r:id="rId26"/>
      <p:boldItalic r:id="rId27"/>
    </p:embeddedFont>
    <p:embeddedFont>
      <p:font typeface="Play" panose="020B0604020202020204" charset="0"/>
      <p:regular r:id="rId28"/>
      <p:bold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c8U6pfhF6x8GvY7krbE0865Jp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44" autoAdjust="0"/>
  </p:normalViewPr>
  <p:slideViewPr>
    <p:cSldViewPr snapToGrid="0">
      <p:cViewPr varScale="1">
        <p:scale>
          <a:sx n="66" d="100"/>
          <a:sy n="66" d="100"/>
        </p:scale>
        <p:origin x="1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including process management, memory management, file system management, and device management.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including process management, memory management, file system management, and device management.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269d66520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3269d66520_1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👉 </a:t>
            </a:r>
            <a:r>
              <a:rPr lang="en-IN" b="1" dirty="0"/>
              <a:t>Language barrier</a:t>
            </a:r>
          </a:p>
          <a:p>
            <a:r>
              <a:rPr lang="en-US" dirty="0"/>
              <a:t>So what is the solution?</a:t>
            </a:r>
          </a:p>
          <a:p>
            <a:r>
              <a:rPr lang="en-US" dirty="0"/>
              <a:t> Students may say:</a:t>
            </a:r>
          </a:p>
          <a:p>
            <a:r>
              <a:rPr lang="en-US" b="1" dirty="0"/>
              <a:t>      Translator</a:t>
            </a:r>
          </a:p>
          <a:p>
            <a:r>
              <a:rPr lang="en-US" b="1" dirty="0"/>
              <a:t>       Google Translate</a:t>
            </a:r>
          </a:p>
          <a:p>
            <a:r>
              <a:rPr lang="en-US" b="1" dirty="0"/>
              <a:t>Local guide</a:t>
            </a:r>
          </a:p>
          <a:p>
            <a:r>
              <a:rPr lang="en-US" b="1" dirty="0"/>
              <a:t>Interpreter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6" name="Google Shape;156;g33269d66520_1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26ac41df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326ac41dff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It provides programs an environment to execute.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b="0" i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It provides users the services to execute the programs in a convenient manner.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326ac41dff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The kernel serves as the bridge between the OS and hardware..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Kernel mode is a processor mode that gives the operating system access to the hardware and system data. 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In </a:t>
            </a:r>
            <a:r>
              <a:rPr lang="en-US" b="1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user mode</a:t>
            </a: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, applications run with limited privileges to prevent direct access to hardware, ensuring system stability.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In </a:t>
            </a:r>
            <a:r>
              <a:rPr lang="en-US" b="1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kernel mode</a:t>
            </a:r>
            <a:r>
              <a:rPr lang="en-US" b="0" i="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, the operating system has unrestricted access to all hardware resources, enabling it to perform critical tasks such as memory management and process control.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269d66520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3269d66520_1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3269d66520_1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When you open multiple applications like a web browser, word processor, and email client at the same time, the </a:t>
            </a:r>
            <a:r>
              <a:rPr lang="en-US" b="1" dirty="0"/>
              <a:t>operating system (OS)</a:t>
            </a:r>
            <a:r>
              <a:rPr lang="en-US" dirty="0"/>
              <a:t> ensures smooth functioning by managing </a:t>
            </a:r>
            <a:r>
              <a:rPr lang="en-US" b="1" dirty="0"/>
              <a:t>processes, memory, storage, and hardware resources efficiently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Multitasking &amp; Process Management: The OS assigns CPU time to each running application, switching between them rapidly so that they appear to run simultaneously.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Memory Management: The OS allocates </a:t>
            </a:r>
            <a:r>
              <a:rPr lang="en-US" b="1" dirty="0"/>
              <a:t>RAM</a:t>
            </a:r>
            <a:r>
              <a:rPr lang="en-US" dirty="0"/>
              <a:t> to each application and manages </a:t>
            </a:r>
            <a:r>
              <a:rPr lang="en-US" b="1" dirty="0"/>
              <a:t>virtual memory</a:t>
            </a:r>
            <a:r>
              <a:rPr lang="en-US" dirty="0"/>
              <a:t> if RAM is full, using part of the hard drive as temporary storage.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File Management &amp; Auto-Saving</a:t>
            </a:r>
            <a:r>
              <a:rPr lang="en-US" b="1" dirty="0"/>
              <a:t>: </a:t>
            </a:r>
            <a:r>
              <a:rPr lang="en-US" dirty="0"/>
              <a:t>When you save a document in the word processor, the OS handles file writing, ensuring data is stored securely.</a:t>
            </a:r>
            <a:endParaRPr dirty="0"/>
          </a:p>
        </p:txBody>
      </p:sp>
      <p:sp>
        <p:nvSpPr>
          <p:cNvPr id="289" name="Google Shape;28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 reflection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 record the proof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Post session activity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4. Feedback also.</a:t>
            </a:r>
            <a:endParaRPr/>
          </a:p>
        </p:txBody>
      </p:sp>
      <p:sp>
        <p:nvSpPr>
          <p:cNvPr id="310" name="Google Shape;310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youtube.com/watch?v=fkGCLIQx1MI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drive.google.com/file/d/1_KHrZe5oO3R-QY26byPVfZN0oqtGfbi1/view?usp=drive_link" TargetMode="Externa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49350" y="1547755"/>
            <a:ext cx="10157400" cy="4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Introduction: Operating system and functions</a:t>
            </a:r>
            <a:b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Session No.: 1</a:t>
            </a: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Course Name: Operating System</a:t>
            </a: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Course Code: </a:t>
            </a:r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R1UC403B</a:t>
            </a: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Instructor Name: Dr. Anjali Kapoor</a:t>
            </a: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Duration: 50 min</a:t>
            </a: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Date of Conduction of Class:</a:t>
            </a: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What is an Operating System?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9613" y="2705099"/>
            <a:ext cx="7243863" cy="3326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5100320" y="525122"/>
            <a:ext cx="2951480" cy="53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imes New Roman"/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end of this </a:t>
            </a:r>
            <a:br>
              <a:rPr lang="en-US" sz="3200" b="0" i="0" u="none" strike="noStrike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 b="0" i="0" u="none" strike="noStrike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i="0" u="none" strike="noStrike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Prerequisites</a:t>
            </a:r>
            <a:br>
              <a:rPr lang="en-US" sz="3200" b="0" i="0" u="none" strike="noStrike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 b="0" i="0" u="none" strike="noStrike" dirty="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students will be able to </a:t>
            </a:r>
            <a:endParaRPr dirty="0"/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26866" y="54281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1979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900867" y="1370791"/>
            <a:ext cx="10390266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Understanding of hardware components (CPU, RAM, storage, I/O devices) with real examples.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720725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38163" algn="l"/>
              </a:tabLst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CPU (Central Processing Unit)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The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brain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of the computer that processes instructions.</a:t>
            </a: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When you open a spreadsheet and perform calculations, the CPU processes these operations.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720725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RAM (Random Access Memory)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While editing a document, the data is loaded into RAM for fast access, allowing for real-time  changes.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Storage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Saving photos, videos, or documents on a hard drive or SSD ensures they remain accessible for future use.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I/O Devices (Input/Output Devices)</a:t>
            </a:r>
            <a:r>
              <a:rPr lang="en-US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Typing on a keyboard (input) allows you to write an email, and viewing it on a monitor (output) lets you read it before sending.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1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1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ftr" idx="11"/>
          </p:nvPr>
        </p:nvSpPr>
        <p:spPr>
          <a:xfrm>
            <a:off x="4226607" y="79971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Galgotias University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8798607" y="79971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4441" y="17902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46271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536350" y="1257986"/>
            <a:ext cx="780505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based on prerequisites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01216" y="2100802"/>
            <a:ext cx="1096558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 If you are playing a game on your computer, how does the CPU, RAM, and storage work together?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463" marR="0" lvl="0" indent="-2714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If your computer is running slowly while working on multiple applications, which hardware component is likely the issue? Why?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9815581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</a:pPr>
            <a:r>
              <a:rPr lang="en-US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end of this session you will be able to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23" name="Google Shape;123;p5"/>
          <p:cNvGrpSpPr/>
          <p:nvPr/>
        </p:nvGrpSpPr>
        <p:grpSpPr>
          <a:xfrm>
            <a:off x="346501" y="2296128"/>
            <a:ext cx="10849431" cy="3689404"/>
            <a:chOff x="-176855" y="0"/>
            <a:chExt cx="10849431" cy="3689404"/>
          </a:xfrm>
        </p:grpSpPr>
        <p:sp>
          <p:nvSpPr>
            <p:cNvPr id="124" name="Google Shape;124;p5"/>
            <p:cNvSpPr/>
            <p:nvPr/>
          </p:nvSpPr>
          <p:spPr>
            <a:xfrm>
              <a:off x="-176855" y="0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"/>
            <p:cNvSpPr txBox="1"/>
            <p:nvPr/>
          </p:nvSpPr>
          <p:spPr>
            <a:xfrm>
              <a:off x="-128228" y="48627"/>
              <a:ext cx="7572674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1: </a:t>
              </a:r>
              <a:r>
                <a:rPr lang="en-US" sz="28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Define and describe the fundamental concept of an Operating System.</a:t>
              </a:r>
              <a:endParaRPr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676498" y="2337610"/>
              <a:ext cx="9996078" cy="1351794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"/>
            <p:cNvSpPr txBox="1"/>
            <p:nvPr/>
          </p:nvSpPr>
          <p:spPr>
            <a:xfrm>
              <a:off x="716091" y="2377203"/>
              <a:ext cx="8395706" cy="127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just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2: </a:t>
              </a:r>
              <a:r>
                <a:rPr lang="en-US" sz="28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Comprehend the key functions of an Operating System.</a:t>
              </a:r>
              <a:endParaRPr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8032647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"/>
            <p:cNvSpPr txBox="1"/>
            <p:nvPr/>
          </p:nvSpPr>
          <p:spPr>
            <a:xfrm>
              <a:off x="8275456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0" name="Google Shape;130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Session Outline</a:t>
            </a:r>
            <a:endParaRPr/>
          </a:p>
        </p:txBody>
      </p:sp>
      <p:grpSp>
        <p:nvGrpSpPr>
          <p:cNvPr id="137" name="Google Shape;137;p6"/>
          <p:cNvGrpSpPr/>
          <p:nvPr/>
        </p:nvGrpSpPr>
        <p:grpSpPr>
          <a:xfrm>
            <a:off x="4732786" y="1585422"/>
            <a:ext cx="6900512" cy="3687156"/>
            <a:chOff x="4648018" y="643525"/>
            <a:chExt cx="6900512" cy="3687156"/>
          </a:xfrm>
        </p:grpSpPr>
        <p:cxnSp>
          <p:nvCxnSpPr>
            <p:cNvPr id="138" name="Google Shape;138;p6"/>
            <p:cNvCxnSpPr/>
            <p:nvPr/>
          </p:nvCxnSpPr>
          <p:spPr>
            <a:xfrm>
              <a:off x="4648018" y="643525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9" name="Google Shape;139;p6"/>
            <p:cNvSpPr/>
            <p:nvPr/>
          </p:nvSpPr>
          <p:spPr>
            <a:xfrm>
              <a:off x="4648018" y="643525"/>
              <a:ext cx="6900512" cy="921789"/>
            </a:xfrm>
            <a:custGeom>
              <a:avLst/>
              <a:gdLst/>
              <a:ahLst/>
              <a:cxnLst/>
              <a:rect l="l" t="t" r="r" b="b"/>
              <a:pathLst>
                <a:path w="6900512" h="921789" extrusionOk="0">
                  <a:moveTo>
                    <a:pt x="0" y="0"/>
                  </a:moveTo>
                  <a:lnTo>
                    <a:pt x="6900512" y="0"/>
                  </a:lnTo>
                  <a:lnTo>
                    <a:pt x="6900512" y="921789"/>
                  </a:lnTo>
                  <a:lnTo>
                    <a:pt x="0" y="92178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10475" tIns="110475" rIns="110475" bIns="1104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Arial"/>
                <a:buNone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 </a:t>
              </a:r>
              <a:r>
                <a:rPr lang="en-US" sz="29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Definition of Operating System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" name="Google Shape;140;p6"/>
            <p:cNvCxnSpPr/>
            <p:nvPr/>
          </p:nvCxnSpPr>
          <p:spPr>
            <a:xfrm>
              <a:off x="4648018" y="1565314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1" name="Google Shape;141;p6"/>
            <p:cNvSpPr/>
            <p:nvPr/>
          </p:nvSpPr>
          <p:spPr>
            <a:xfrm>
              <a:off x="4648018" y="1565314"/>
              <a:ext cx="6900512" cy="921789"/>
            </a:xfrm>
            <a:custGeom>
              <a:avLst/>
              <a:gdLst/>
              <a:ahLst/>
              <a:cxnLst/>
              <a:rect l="l" t="t" r="r" b="b"/>
              <a:pathLst>
                <a:path w="6900512" h="921789" extrusionOk="0">
                  <a:moveTo>
                    <a:pt x="0" y="0"/>
                  </a:moveTo>
                  <a:lnTo>
                    <a:pt x="6900512" y="0"/>
                  </a:lnTo>
                  <a:lnTo>
                    <a:pt x="6900512" y="921789"/>
                  </a:lnTo>
                  <a:lnTo>
                    <a:pt x="0" y="92178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10475" tIns="110475" rIns="110475" bIns="1104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Arial"/>
                <a:buNone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 </a:t>
              </a:r>
              <a:r>
                <a:rPr lang="en-US" sz="29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Activity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1015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Arial"/>
                <a:buNone/>
              </a:pPr>
              <a:endParaRPr sz="2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1015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Times New Roman"/>
                <a:buNone/>
              </a:pPr>
              <a:r>
                <a:rPr lang="en-US" sz="29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Functions of Operating System</a:t>
              </a:r>
              <a:endPara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" name="Google Shape;142;p6"/>
            <p:cNvCxnSpPr/>
            <p:nvPr/>
          </p:nvCxnSpPr>
          <p:spPr>
            <a:xfrm>
              <a:off x="4648018" y="2487103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3" name="Google Shape;143;p6"/>
            <p:cNvSpPr/>
            <p:nvPr/>
          </p:nvSpPr>
          <p:spPr>
            <a:xfrm>
              <a:off x="4648018" y="2487103"/>
              <a:ext cx="6900512" cy="921789"/>
            </a:xfrm>
            <a:custGeom>
              <a:avLst/>
              <a:gdLst/>
              <a:ahLst/>
              <a:cxnLst/>
              <a:rect l="l" t="t" r="r" b="b"/>
              <a:pathLst>
                <a:path w="6900512" h="921789" extrusionOk="0">
                  <a:moveTo>
                    <a:pt x="0" y="0"/>
                  </a:moveTo>
                  <a:lnTo>
                    <a:pt x="6900512" y="0"/>
                  </a:lnTo>
                  <a:lnTo>
                    <a:pt x="6900512" y="921789"/>
                  </a:lnTo>
                  <a:lnTo>
                    <a:pt x="0" y="92178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10475" tIns="110475" rIns="110475" bIns="1104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Arial"/>
                <a:buNone/>
              </a:pPr>
              <a:endPara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" name="Google Shape;144;p6"/>
            <p:cNvCxnSpPr/>
            <p:nvPr/>
          </p:nvCxnSpPr>
          <p:spPr>
            <a:xfrm>
              <a:off x="4648018" y="3408892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5" name="Google Shape;145;p6"/>
            <p:cNvSpPr/>
            <p:nvPr/>
          </p:nvSpPr>
          <p:spPr>
            <a:xfrm>
              <a:off x="4648018" y="3408892"/>
              <a:ext cx="6900512" cy="921789"/>
            </a:xfrm>
            <a:custGeom>
              <a:avLst/>
              <a:gdLst/>
              <a:ahLst/>
              <a:cxnLst/>
              <a:rect l="l" t="t" r="r" b="b"/>
              <a:pathLst>
                <a:path w="6900512" h="921789" extrusionOk="0">
                  <a:moveTo>
                    <a:pt x="0" y="0"/>
                  </a:moveTo>
                  <a:lnTo>
                    <a:pt x="6900512" y="0"/>
                  </a:lnTo>
                  <a:lnTo>
                    <a:pt x="6900512" y="921789"/>
                  </a:lnTo>
                  <a:lnTo>
                    <a:pt x="0" y="92178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10475" tIns="110475" rIns="110475" bIns="1104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Arial"/>
                <a:buNone/>
              </a:pPr>
              <a:endPara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47" name="Google Shape;14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8" name="Google Shape;148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4732786" y="4375622"/>
            <a:ext cx="682421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4.Activity 2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741293" y="5005022"/>
            <a:ext cx="682421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Conclusion.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583727" y="5722176"/>
            <a:ext cx="682421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6. Closure and Post activity..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269d66520_1_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9" name="Google Shape;159;g33269d66520_1_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0" name="Google Shape;160;g33269d66520_1_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257" y="136041"/>
            <a:ext cx="874731" cy="836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3269d66520_1_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3" y="216521"/>
            <a:ext cx="3355898" cy="64000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3269d66520_1_20"/>
          <p:cNvSpPr txBox="1"/>
          <p:nvPr/>
        </p:nvSpPr>
        <p:spPr>
          <a:xfrm>
            <a:off x="337723" y="744583"/>
            <a:ext cx="11084657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Question :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Indian tourists have visited to France/Spain/Turkey/Russia (or any other non-English country). The moment they land at the airport, what will be the first problem they will be facing?</a:t>
            </a:r>
            <a:endParaRPr sz="2000" b="1" i="0" u="none" strike="noStrike" cap="none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g33269d66520_1_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060" y="3156282"/>
            <a:ext cx="10942320" cy="3200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9" name="Google Shape;169;p31"/>
          <p:cNvSpPr txBox="1"/>
          <p:nvPr/>
        </p:nvSpPr>
        <p:spPr>
          <a:xfrm>
            <a:off x="345385" y="3252047"/>
            <a:ext cx="10656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you Understand from the video? What is an Operating System? What Can it do?</a:t>
            </a:r>
            <a:endParaRPr sz="1800" dirty="0"/>
          </a:p>
        </p:txBody>
      </p:sp>
      <p:pic>
        <p:nvPicPr>
          <p:cNvPr id="170" name="Google Shape;17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216521"/>
            <a:ext cx="3124405" cy="46697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1"/>
          <p:cNvSpPr txBox="1"/>
          <p:nvPr/>
        </p:nvSpPr>
        <p:spPr>
          <a:xfrm>
            <a:off x="2367835" y="770347"/>
            <a:ext cx="87850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AN OPERATING SYSTEM?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2942" y="1548270"/>
            <a:ext cx="1992835" cy="134430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/>
          <p:nvPr/>
        </p:nvSpPr>
        <p:spPr>
          <a:xfrm>
            <a:off x="3405719" y="2892578"/>
            <a:ext cx="5946625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https://www.youtube.com/watch?v=fkGCLIQx1MI</a:t>
            </a:r>
            <a:endParaRPr sz="1800" b="1" i="0" u="sng" strike="noStrike" cap="none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10600" y="3683000"/>
            <a:ext cx="3038475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/>
          <p:nvPr/>
        </p:nvSpPr>
        <p:spPr>
          <a:xfrm>
            <a:off x="345385" y="908845"/>
            <a:ext cx="185116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Activity-1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48;p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4523BC5-919B-EA33-F144-FE870A4199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75" y="92075"/>
            <a:ext cx="12192000" cy="66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6521"/>
            <a:ext cx="3795633" cy="46697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/>
          <p:nvPr/>
        </p:nvSpPr>
        <p:spPr>
          <a:xfrm>
            <a:off x="2367835" y="770347"/>
            <a:ext cx="87850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AN OPERATING SYSTEM?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2" descr="A blue circle with text and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8566" y="176754"/>
            <a:ext cx="874731" cy="874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26ac41dff_0_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91" name="Google Shape;191;g3326ac41dff_0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2" name="Google Shape;192;g3326ac41dff_0_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337" y="114202"/>
            <a:ext cx="874731" cy="8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326ac41dff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135979" cy="626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326ac41dff_0_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3525" y="1848763"/>
            <a:ext cx="7464949" cy="487268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326ac41dff_0_12"/>
          <p:cNvSpPr txBox="1"/>
          <p:nvPr/>
        </p:nvSpPr>
        <p:spPr>
          <a:xfrm>
            <a:off x="1201927" y="898928"/>
            <a:ext cx="907639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 Components Of Computer System</a:t>
            </a:r>
            <a:endParaRPr sz="3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Reflect on the responses of post session activity</a:t>
            </a:r>
            <a:b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endParaRPr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2" name="Google Shape;20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03" name="Google Shape;20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4" name="Google Shape;204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14755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>
            <a:spLocks noGrp="1"/>
          </p:cNvSpPr>
          <p:nvPr>
            <p:ph type="body" idx="1"/>
          </p:nvPr>
        </p:nvSpPr>
        <p:spPr>
          <a:xfrm>
            <a:off x="491102" y="1231603"/>
            <a:ext cx="10704830" cy="522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 Operating System is a program that acts as an intermediary/interface between a computer user and the computer hardware.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1428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1428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1428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1428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Operating system goals: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lvl="1" indent="-269875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Execute user programs and make solving user problems easier.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lvl="1" indent="-269875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Make the computer system convenient to use.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lvl="1" indent="-269875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Use the computer hardware in an efficient manner.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2300" lvl="1" indent="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r>
              <a:rPr lang="en-US" sz="1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Engaging Questions: 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2300" lvl="1" indent="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60"/>
              <a:buNone/>
            </a:pPr>
            <a:r>
              <a:rPr lang="en-US" sz="1800" b="1" i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List the names of Operating systems you have used :(</a:t>
            </a:r>
            <a:r>
              <a:rPr lang="en-US" sz="1800" b="1" i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Wordcloud</a:t>
            </a:r>
            <a:r>
              <a:rPr lang="en-US" sz="1800" b="1" i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622300" lvl="1" indent="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3830941" y="484321"/>
            <a:ext cx="1021715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What is an Operating System?</a:t>
            </a:r>
            <a:endParaRPr sz="3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08" name="Google Shape;208;p8" descr="Operating System|QuizManthon.co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712" y="2154985"/>
            <a:ext cx="3552917" cy="125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 descr="Functions of Operating System by Logicmoj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3531" y="2154986"/>
            <a:ext cx="6101499" cy="1492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16" name="Google Shape;2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17" name="Google Shape;217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0342" y="1564479"/>
            <a:ext cx="7699915" cy="4791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1227922" y="854440"/>
            <a:ext cx="61016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does the OS fit in?</a:t>
            </a:r>
            <a:endParaRPr sz="3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3269d66520_1_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27" name="Google Shape;227;g33269d66520_1_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28" name="Google Shape;228;g33269d66520_1_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1" cy="8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3269d66520_1_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3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3269d66520_1_10"/>
          <p:cNvSpPr txBox="1"/>
          <p:nvPr/>
        </p:nvSpPr>
        <p:spPr>
          <a:xfrm>
            <a:off x="1391355" y="1978443"/>
            <a:ext cx="101571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487" marR="0" lvl="0" indent="-344487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Systems (OS) are crucial for the efficient functioning of computers and other digital devices.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4487" marR="0" lvl="0" indent="-344487" algn="just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an OS, using a computer would require direct interaction with hardware, making it complex and inefficient.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33269d66520_1_10"/>
          <p:cNvSpPr txBox="1"/>
          <p:nvPr/>
        </p:nvSpPr>
        <p:spPr>
          <a:xfrm>
            <a:off x="911577" y="1007241"/>
            <a:ext cx="852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are Operating Systems Important?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2933218" y="201567"/>
            <a:ext cx="10515600" cy="125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Operating System</a:t>
            </a:r>
            <a:br>
              <a:rPr lang="en-US" sz="3200" dirty="0"/>
            </a:br>
            <a:endParaRPr sz="3200" dirty="0"/>
          </a:p>
        </p:txBody>
      </p:sp>
      <p:sp>
        <p:nvSpPr>
          <p:cNvPr id="237" name="Google Shape;237;p33"/>
          <p:cNvSpPr txBox="1">
            <a:spLocks noGrp="1"/>
          </p:cNvSpPr>
          <p:nvPr>
            <p:ph type="body" idx="1"/>
          </p:nvPr>
        </p:nvSpPr>
        <p:spPr>
          <a:xfrm>
            <a:off x="838200" y="1078535"/>
            <a:ext cx="10515600" cy="504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850" lvl="0" indent="-336550" algn="l" rtl="0">
              <a:lnSpc>
                <a:spcPct val="120000"/>
              </a:lnSpc>
              <a:spcBef>
                <a:spcPts val="600"/>
              </a:spcBef>
              <a:buSzPct val="91836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Creates, schedules, and terminates processes.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process synchronization and inter-process communication.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and deallocates system resources to processes.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600"/>
              </a:spcBef>
              <a:buSzPct val="91836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Memory Management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and deallocates memory space for processes.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memory management techniques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multitasking.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600"/>
              </a:spcBef>
              <a:buSzPct val="91836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File System Management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Organizes, stores, retrieves, and manages data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and directories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permissions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ensures file security.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120000"/>
              </a:lnSpc>
              <a:spcBef>
                <a:spcPts val="600"/>
              </a:spcBef>
              <a:buClr>
                <a:schemeClr val="dk1"/>
              </a:buClr>
              <a:buSzPct val="91836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file operations like creation, deletion, and modification.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20000"/>
              </a:lnSpc>
              <a:spcBef>
                <a:spcPts val="600"/>
              </a:spcBef>
              <a:buSzPct val="91836"/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Google Shape;23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39" name="Google Shape;23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2458806" cy="56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3352800" y="292110"/>
            <a:ext cx="10515600" cy="104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Operating System</a:t>
            </a:r>
            <a:br>
              <a:rPr lang="en-US" sz="3200" dirty="0"/>
            </a:br>
            <a:endParaRPr sz="3200" dirty="0"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1"/>
          </p:nvPr>
        </p:nvSpPr>
        <p:spPr>
          <a:xfrm>
            <a:off x="1289613" y="1233372"/>
            <a:ext cx="10515600" cy="5113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Storage Management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storage devices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HDDs, SSDs, and external drives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data organization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NTFS, FAT32, ext4).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allocation and deallocation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scheduling algorithms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FCFS, SSTF, SCAN).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Cache Management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2857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and deallocates memory space for processes.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2857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memory management techniques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2857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multitasking.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I/O System Management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2857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input and output devices efficiently.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2857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devices and the system.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2857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independence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abstracting hardware complexities.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2857"/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Google Shape;24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7" name="Google Shape;24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1" y="114202"/>
            <a:ext cx="2684567" cy="67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>
            <a:spLocks noGrp="1"/>
          </p:cNvSpPr>
          <p:nvPr>
            <p:ph type="title"/>
          </p:nvPr>
        </p:nvSpPr>
        <p:spPr>
          <a:xfrm>
            <a:off x="3083689" y="2260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Operating System</a:t>
            </a:r>
            <a:br>
              <a:rPr lang="en-US" sz="3600" dirty="0"/>
            </a:br>
            <a:endParaRPr sz="3600" dirty="0"/>
          </a:p>
        </p:txBody>
      </p:sp>
      <p:sp>
        <p:nvSpPr>
          <p:cNvPr id="253" name="Google Shape;253;p35"/>
          <p:cNvSpPr txBox="1">
            <a:spLocks noGrp="1"/>
          </p:cNvSpPr>
          <p:nvPr>
            <p:ph type="body" idx="1"/>
          </p:nvPr>
        </p:nvSpPr>
        <p:spPr>
          <a:xfrm>
            <a:off x="838200" y="1068224"/>
            <a:ext cx="10515600" cy="510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Device Management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Organizes, stores, retrieves, and manages data in files and directories.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access permissions and ensures file security.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file operations like creation, deletion, and modification.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Security and Access Control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data and resources from unauthorized access.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encryption mechanisms.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malware attacks and ensures system integrity.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User Interface Management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Command-Line Interface (CLI) and Graphical User Interface (GUI).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user interaction with the system.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Networking Management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communication between devices using network protocols.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data transfer over the internet or local networks.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Google Shape;25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55" name="Google Shape;25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1" y="114202"/>
            <a:ext cx="2557245" cy="67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Operating System</a:t>
            </a:r>
            <a:br>
              <a:rPr lang="en-US"/>
            </a:br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body" idx="1"/>
          </p:nvPr>
        </p:nvSpPr>
        <p:spPr>
          <a:xfrm>
            <a:off x="769833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Error Detection and Handling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0588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responds to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failures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0588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 errors and ensures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stability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Job Scheduling and Resource Allocation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0588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tabLst>
                <a:tab pos="890588" algn="l"/>
              </a:tabLs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time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resources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different processes.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0588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tabLst>
                <a:tab pos="890588" algn="l"/>
              </a:tabLs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(FCFS, Round Robin, etc.) for task execution.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Google Shape;26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63" name="Google Shape;26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2458806" cy="35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title"/>
          </p:nvPr>
        </p:nvSpPr>
        <p:spPr>
          <a:xfrm>
            <a:off x="333776" y="2232041"/>
            <a:ext cx="10789664" cy="5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1: 1.5.1 Process Management- Page 27(55)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Google Shape;26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0" name="Google Shape;27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013"/>
            <a:ext cx="2627234" cy="59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7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1673" y="98013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 txBox="1"/>
          <p:nvPr/>
        </p:nvSpPr>
        <p:spPr>
          <a:xfrm>
            <a:off x="362009" y="3158631"/>
            <a:ext cx="10789664" cy="5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Play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Group 3: 1.5.3 File-System Management Page 29 (57)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333776" y="2695267"/>
            <a:ext cx="10789664" cy="5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Play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Group 2: 1.5.2 Memory Management Page 28 (56)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333776" y="3624252"/>
            <a:ext cx="10789664" cy="5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Play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Group 4: 1.5.4 Mass-Storage Management Page 30 (58)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362009" y="4136494"/>
            <a:ext cx="10789664" cy="5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Play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Group 5: 1.5.5 Cache Management Page 30 (58)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362009" y="4639364"/>
            <a:ext cx="10789664" cy="5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Font typeface="Play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Play"/>
                <a:cs typeface="Times New Roman" panose="02020603050405020304" pitchFamily="18" charset="0"/>
                <a:sym typeface="Play"/>
              </a:rPr>
              <a:t>Group 6: 1.5.6 I/O System Management Page 32 (60)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362009" y="1176189"/>
            <a:ext cx="1163033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ACTIVITY 2: Group Discussion: </a:t>
            </a:r>
            <a:r>
              <a:rPr lang="en-US" sz="2400" b="1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https://drive.google.com/file/d/1_KHrZe5oO3R-QY26byPVfZN0oqtGfbi1/view?usp=drive_link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endParaRPr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78" name="Google Shape;278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43391" y="2236519"/>
            <a:ext cx="2948608" cy="3742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2" name="Google Shape;29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93" name="Google Shape;293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 txBox="1"/>
          <p:nvPr/>
        </p:nvSpPr>
        <p:spPr>
          <a:xfrm>
            <a:off x="843844" y="921549"/>
            <a:ext cx="10916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2:    Functions of Operating system: Woo clap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42864" y="2189582"/>
            <a:ext cx="4200523" cy="38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Galgotias University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Google Shape;30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3" name="Google Shape;303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7"/>
          <p:cNvSpPr txBox="1"/>
          <p:nvPr/>
        </p:nvSpPr>
        <p:spPr>
          <a:xfrm>
            <a:off x="996068" y="1059572"/>
            <a:ext cx="7521222" cy="522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Conclusions (Reflect Key takeaways on Padlet)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801688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What do you think an operating system does?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801688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Can you list any examples of operating systems you are familiar with?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801688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What functions do you think an OS performs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801688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What services do you think an operating system provides to its users and applications (e.g., file management, security, device management)?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6900" marR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06" name="Google Shape;30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97779" y="1454921"/>
            <a:ext cx="1998153" cy="197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13" name="Google Shape;31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14" name="Google Shape;314;p3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9"/>
          <p:cNvSpPr txBox="1"/>
          <p:nvPr/>
        </p:nvSpPr>
        <p:spPr>
          <a:xfrm>
            <a:off x="1083734" y="1051486"/>
            <a:ext cx="10363200" cy="51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hope this session has given you a solid foundation for understanding of operating system and its various functions.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your post assessment activity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about  our next class: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will learn about services of operating system.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EXIT TICKET</a:t>
            </a:r>
            <a:endParaRPr/>
          </a:p>
        </p:txBody>
      </p:sp>
      <p:sp>
        <p:nvSpPr>
          <p:cNvPr id="322" name="Google Shape;32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23" name="Google Shape;323;p40"/>
          <p:cNvSpPr txBox="1"/>
          <p:nvPr/>
        </p:nvSpPr>
        <p:spPr>
          <a:xfrm>
            <a:off x="1519943" y="5666064"/>
            <a:ext cx="60974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https://forms.gle/cfUE2GZuQY7MWs9t7</a:t>
            </a:r>
            <a:endParaRPr/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0081" y="1625287"/>
            <a:ext cx="3707286" cy="360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1519</Words>
  <Application>Microsoft Office PowerPoint</Application>
  <PresentationFormat>Widescreen</PresentationFormat>
  <Paragraphs>187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Play</vt:lpstr>
      <vt:lpstr>Calibri</vt:lpstr>
      <vt:lpstr>Times New Roman</vt:lpstr>
      <vt:lpstr>Nunito</vt:lpstr>
      <vt:lpstr>Verdana</vt:lpstr>
      <vt:lpstr>Office Theme</vt:lpstr>
      <vt:lpstr>Introduction: Operating system and functions    Session No.: 1 Course Name: Operating System Course Code: R1UC403B Instructor Name: Dr. Anjali Kapoor Duration: 50 min Date of Conduction of Class:  </vt:lpstr>
      <vt:lpstr>At the end of this   Prerequisites  n students will be able to </vt:lpstr>
      <vt:lpstr>PowerPoint Presentation</vt:lpstr>
      <vt:lpstr>At the end of this session you will be able to </vt:lpstr>
      <vt:lpstr>Session Outline</vt:lpstr>
      <vt:lpstr>PowerPoint Presentation</vt:lpstr>
      <vt:lpstr>PowerPoint Presentation</vt:lpstr>
      <vt:lpstr>PowerPoint Presentation</vt:lpstr>
      <vt:lpstr>PowerPoint Presentation</vt:lpstr>
      <vt:lpstr>Reflect on the responses of post session activity  </vt:lpstr>
      <vt:lpstr>PowerPoint Presentation</vt:lpstr>
      <vt:lpstr>PowerPoint Presentation</vt:lpstr>
      <vt:lpstr>Functions of Operating System </vt:lpstr>
      <vt:lpstr>Functions of Operating System </vt:lpstr>
      <vt:lpstr>Functions of Operating System </vt:lpstr>
      <vt:lpstr>Functions of Operating System </vt:lpstr>
      <vt:lpstr>Group 1: 1.5.1 Process Management- Page 27(55)</vt:lpstr>
      <vt:lpstr>PowerPoint Presentation</vt:lpstr>
      <vt:lpstr>PowerPoint Presentation</vt:lpstr>
      <vt:lpstr>PowerPoint Presentation</vt:lpstr>
      <vt:lpstr>EXIT TICKET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Mr Vivek Jangra</cp:lastModifiedBy>
  <cp:revision>3</cp:revision>
  <dcterms:created xsi:type="dcterms:W3CDTF">2024-08-22T06:33:55Z</dcterms:created>
  <dcterms:modified xsi:type="dcterms:W3CDTF">2026-02-16T05:42:50Z</dcterms:modified>
</cp:coreProperties>
</file>