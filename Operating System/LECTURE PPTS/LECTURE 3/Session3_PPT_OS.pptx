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78" r:id="rId7"/>
    <p:sldId id="279" r:id="rId8"/>
    <p:sldId id="280" r:id="rId9"/>
    <p:sldId id="282" r:id="rId10"/>
    <p:sldId id="283" r:id="rId11"/>
    <p:sldId id="284" r:id="rId12"/>
    <p:sldId id="281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77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</p:sldIdLst>
  <p:sldSz cx="12192000" cy="6858000"/>
  <p:notesSz cx="6858000" cy="9144000"/>
  <p:embeddedFontLst>
    <p:embeddedFont>
      <p:font typeface="Nunito" pitchFamily="2" charset="0"/>
      <p:regular r:id="rId32"/>
      <p:bold r:id="rId33"/>
      <p:italic r:id="rId34"/>
      <p:boldItalic r:id="rId35"/>
    </p:embeddedFont>
    <p:embeddedFont>
      <p:font typeface="Play" panose="020B060402020202020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h+W3mldFnFSnjKQGghbTfpud5r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190" autoAdjust="0"/>
  </p:normalViewPr>
  <p:slideViewPr>
    <p:cSldViewPr snapToGrid="0">
      <p:cViewPr varScale="1">
        <p:scale>
          <a:sx n="68" d="100"/>
          <a:sy n="68" d="100"/>
        </p:scale>
        <p:origin x="11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Batch Operating System</a:t>
            </a:r>
            <a:r>
              <a:rPr lang="en-US" dirty="0"/>
              <a:t> is an operating system that collects similar jobs into a batch and processes them one after another </a:t>
            </a:r>
            <a:r>
              <a:rPr lang="en-US" b="1" dirty="0"/>
              <a:t>without user interaction</a:t>
            </a:r>
            <a:r>
              <a:rPr lang="en-US" dirty="0"/>
              <a:t> during execution.</a:t>
            </a:r>
          </a:p>
          <a:p>
            <a:r>
              <a:rPr lang="en-US" dirty="0"/>
              <a:t>Users submit their jobs, and the system executes them automatically in sequence.</a:t>
            </a:r>
          </a:p>
          <a:p>
            <a:r>
              <a:rPr lang="en-US" dirty="0"/>
              <a:t>Users submit jobs (program + data).</a:t>
            </a:r>
          </a:p>
          <a:p>
            <a:r>
              <a:rPr lang="en-US" dirty="0"/>
              <a:t>Jobs are grouped based on similar requirements.</a:t>
            </a:r>
          </a:p>
          <a:p>
            <a:r>
              <a:rPr lang="en-US" dirty="0"/>
              <a:t>The system places them in a </a:t>
            </a:r>
            <a:r>
              <a:rPr lang="en-US" b="1" dirty="0"/>
              <a:t>job queue</a:t>
            </a:r>
            <a:r>
              <a:rPr lang="en-US" dirty="0"/>
              <a:t>.</a:t>
            </a:r>
          </a:p>
          <a:p>
            <a:r>
              <a:rPr lang="en-US" dirty="0"/>
              <a:t>CPU executes jobs one by one.</a:t>
            </a:r>
          </a:p>
          <a:p>
            <a:r>
              <a:rPr lang="en-US" dirty="0"/>
              <a:t>Output is generated after processing is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3216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Time-Sharing Operating System</a:t>
            </a:r>
            <a:r>
              <a:rPr lang="en-US" dirty="0"/>
              <a:t> allows </a:t>
            </a:r>
            <a:r>
              <a:rPr lang="en-US" b="1" dirty="0"/>
              <a:t>multiple users or multiple programs</a:t>
            </a:r>
            <a:r>
              <a:rPr lang="en-US" dirty="0"/>
              <a:t> to share the CPU simultaneously.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8426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Multiple computers (nodes) are connected through a network and work together to share resources and complete tasks.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5491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Network Operating System (NOS)</a:t>
            </a:r>
            <a:r>
              <a:rPr lang="en-US" dirty="0"/>
              <a:t> is an operating system that manages and provides services to computers connected through a network.</a:t>
            </a:r>
          </a:p>
          <a:p>
            <a:r>
              <a:rPr lang="en-US" dirty="0"/>
              <a:t>It allows multiple computers (clients) to communicate and share resources such as files, printers, applications, and internet connections.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3768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Real-Time Operating System (RTOS)</a:t>
            </a:r>
            <a:r>
              <a:rPr lang="en-US" dirty="0"/>
              <a:t> is an operating system that processes data and provides a response </a:t>
            </a:r>
            <a:r>
              <a:rPr lang="en-US" b="1" dirty="0"/>
              <a:t>within a fixed and guaranteed time limit</a:t>
            </a:r>
            <a:r>
              <a:rPr lang="en-US" dirty="0"/>
              <a:t> (called a deadline).</a:t>
            </a:r>
          </a:p>
          <a:p>
            <a:r>
              <a:rPr lang="en-US" dirty="0"/>
              <a:t>In RTOS, </a:t>
            </a:r>
            <a:r>
              <a:rPr lang="en-US" b="1" dirty="0"/>
              <a:t>correctness depends not only on logical result but also on time of response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2518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Multiprocessing Operating System</a:t>
            </a:r>
            <a:r>
              <a:rPr lang="en-US" dirty="0"/>
              <a:t> is an OS that uses </a:t>
            </a:r>
            <a:r>
              <a:rPr lang="en-US" b="1" dirty="0"/>
              <a:t>two or more CPUs (processors)</a:t>
            </a:r>
            <a:r>
              <a:rPr lang="en-US" dirty="0"/>
              <a:t> within a single computer system to execute multiple processes simultaneously.</a:t>
            </a:r>
          </a:p>
          <a:p>
            <a:r>
              <a:rPr lang="en-US" dirty="0"/>
              <a:t>All processors share </a:t>
            </a:r>
            <a:r>
              <a:rPr lang="en-US" b="1" dirty="0"/>
              <a:t>main memory, I/O devices, and system resources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027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Answer:  Batch Operating System</a:t>
            </a:r>
            <a:br>
              <a:rPr lang="en-US"/>
            </a:br>
            <a:r>
              <a:rPr lang="en-US"/>
              <a:t>Example: Early IBM mainframes, Payroll processing in banks.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Answer:  Time-Sharing Operating System</a:t>
            </a:r>
            <a:br>
              <a:rPr lang="en-US"/>
            </a:br>
            <a:r>
              <a:rPr lang="en-US"/>
              <a:t>Example: UNIX</a:t>
            </a:r>
            <a:endParaRPr/>
          </a:p>
        </p:txBody>
      </p:sp>
      <p:sp>
        <p:nvSpPr>
          <p:cNvPr id="161" name="Google Shape;16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Answer:  Real-Time Operating System (RTOS)</a:t>
            </a:r>
            <a:br>
              <a:rPr lang="en-US"/>
            </a:br>
            <a:r>
              <a:rPr lang="en-US"/>
              <a:t>Example: Medical monitoring systems, aircraft control systems.</a:t>
            </a:r>
            <a:endParaRPr/>
          </a:p>
        </p:txBody>
      </p:sp>
      <p:sp>
        <p:nvSpPr>
          <p:cNvPr id="171" name="Google Shape;17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Answer:  Distributed Operating System</a:t>
            </a:r>
            <a:br>
              <a:rPr lang="en-US"/>
            </a:br>
            <a:r>
              <a:rPr lang="en-US"/>
              <a:t>Example: Google’s cloud infrastructure, Hadoop.</a:t>
            </a:r>
            <a:endParaRPr/>
          </a:p>
        </p:txBody>
      </p:sp>
      <p:sp>
        <p:nvSpPr>
          <p:cNvPr id="181" name="Google Shape;18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Answer:  Multitasking Operating System</a:t>
            </a:r>
            <a:br>
              <a:rPr lang="en-US"/>
            </a:br>
            <a:r>
              <a:rPr lang="en-US"/>
              <a:t>Example: Windows, macOS.</a:t>
            </a:r>
            <a:endParaRPr/>
          </a:p>
        </p:txBody>
      </p:sp>
      <p:sp>
        <p:nvSpPr>
          <p:cNvPr id="191" name="Google Shape;19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Answer:  Multiuser Operating System</a:t>
            </a:r>
            <a:br>
              <a:rPr lang="en-US"/>
            </a:br>
            <a:r>
              <a:rPr lang="en-US"/>
              <a:t>Example: Linux servers handling multiple remote logins.</a:t>
            </a:r>
            <a:endParaRPr/>
          </a:p>
        </p:txBody>
      </p:sp>
      <p:sp>
        <p:nvSpPr>
          <p:cNvPr id="201" name="Google Shape;20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Answer:  Network Operating System (NOS)</a:t>
            </a:r>
            <a:br>
              <a:rPr lang="en-US"/>
            </a:br>
            <a:r>
              <a:rPr lang="en-US"/>
              <a:t>Example: Windows Server</a:t>
            </a:r>
            <a:endParaRPr/>
          </a:p>
        </p:txBody>
      </p:sp>
      <p:sp>
        <p:nvSpPr>
          <p:cNvPr id="211" name="Google Shape;21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126B0740-4E65-78EF-F4B2-46BCADE8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>
            <a:extLst>
              <a:ext uri="{FF2B5EF4-FFF2-40B4-BE49-F238E27FC236}">
                <a16:creationId xmlns:a16="http://schemas.microsoft.com/office/drawing/2014/main" id="{78C0A01A-196F-63AF-A8E6-62B6DC910A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13:notes">
            <a:extLst>
              <a:ext uri="{FF2B5EF4-FFF2-40B4-BE49-F238E27FC236}">
                <a16:creationId xmlns:a16="http://schemas.microsoft.com/office/drawing/2014/main" id="{9AFDD187-907D-0E14-06ED-7E6C50EC1E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Answer:  Network Operating System (NOS)</a:t>
            </a:r>
            <a:br>
              <a:rPr lang="en-US"/>
            </a:br>
            <a:r>
              <a:rPr lang="en-US"/>
              <a:t>Example: Windows Server</a:t>
            </a:r>
            <a:endParaRPr/>
          </a:p>
        </p:txBody>
      </p:sp>
      <p:sp>
        <p:nvSpPr>
          <p:cNvPr id="211" name="Google Shape;211;p13:notes">
            <a:extLst>
              <a:ext uri="{FF2B5EF4-FFF2-40B4-BE49-F238E27FC236}">
                <a16:creationId xmlns:a16="http://schemas.microsoft.com/office/drawing/2014/main" id="{0FE27FF5-5476-B3DB-EEAF-F6EC06FA57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23525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Answer:  </a:t>
            </a:r>
            <a:r>
              <a:rPr lang="en-US" b="1"/>
              <a:t>Real-Time Operating System (RTOS)</a:t>
            </a:r>
            <a:r>
              <a:rPr lang="en-US"/>
              <a:t> – Ensures minimal latency and quick response for critical medical alerts.</a:t>
            </a:r>
            <a:endParaRPr/>
          </a:p>
        </p:txBody>
      </p:sp>
      <p:sp>
        <p:nvSpPr>
          <p:cNvPr id="230" name="Google Shape;23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Answer:  </a:t>
            </a:r>
            <a:r>
              <a:rPr lang="en-US" b="1"/>
              <a:t>Distributed Operating System</a:t>
            </a:r>
            <a:r>
              <a:rPr lang="en-US"/>
              <a:t> – Ensures high availability and resource sharing across multiple machines.</a:t>
            </a:r>
            <a:endParaRPr/>
          </a:p>
        </p:txBody>
      </p:sp>
      <p:sp>
        <p:nvSpPr>
          <p:cNvPr id="240" name="Google Shape;24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Answer:  </a:t>
            </a:r>
            <a:r>
              <a:rPr lang="en-US" b="1"/>
              <a:t>Time-Sharing Operating System</a:t>
            </a:r>
            <a:r>
              <a:rPr lang="en-US"/>
              <a:t> – Manages multiple user interactions simultaneously using CPU time slices.</a:t>
            </a:r>
            <a:endParaRPr/>
          </a:p>
        </p:txBody>
      </p:sp>
      <p:sp>
        <p:nvSpPr>
          <p:cNvPr id="250" name="Google Shape;25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Answer:  </a:t>
            </a:r>
            <a:r>
              <a:rPr lang="en-US" b="1"/>
              <a:t>Multiuser Operating System</a:t>
            </a:r>
            <a:r>
              <a:rPr lang="en-US"/>
              <a:t> – Supports multiple users accessing banking services securely and simultaneously.</a:t>
            </a:r>
            <a:endParaRPr/>
          </a:p>
        </p:txBody>
      </p:sp>
      <p:sp>
        <p:nvSpPr>
          <p:cNvPr id="260" name="Google Shape;260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477980" y="1122362"/>
            <a:ext cx="11714019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  <a:t>Different Types of Operating Systems</a:t>
            </a:r>
            <a:b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Session No.: </a:t>
            </a:r>
            <a:b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Course Name: Operating System</a:t>
            </a:r>
            <a:b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Course Code:  R1UC403B</a:t>
            </a:r>
            <a:b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Instructor Name: Dr. </a:t>
            </a:r>
            <a:r>
              <a:rPr lang="en-US" sz="2200" b="1">
                <a:latin typeface="Times New Roman"/>
                <a:ea typeface="Times New Roman"/>
                <a:cs typeface="Times New Roman"/>
                <a:sym typeface="Times New Roman"/>
              </a:rPr>
              <a:t>Anjali Kapoor</a:t>
            </a:r>
            <a:b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Duration: 50 mins</a:t>
            </a:r>
            <a:b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Date of Conduction of Class: 07-03-2025</a:t>
            </a:r>
            <a:b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0" name="Google Shape;90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0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Reflect on the responses of post session activity</a:t>
            </a:r>
            <a:br>
              <a:rPr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endParaRPr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99" name="Google Shape;99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/>
        </p:nvSpPr>
        <p:spPr>
          <a:xfrm>
            <a:off x="188536" y="1177691"/>
            <a:ext cx="12003464" cy="6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4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</a:t>
            </a:r>
            <a:endParaRPr sz="440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388071" y="2016770"/>
            <a:ext cx="11415858" cy="433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an Operating System?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Definition: An OS is system software that manages hardware and software resources.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Functions: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Management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Management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Management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</a:t>
            </a:r>
            <a:endParaRPr dirty="0"/>
          </a:p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" name="Google Shape;103;p3" descr="Guide to Build an Operating System From Scratch - GeeksforGeeks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53160" y="3240894"/>
            <a:ext cx="6657680" cy="3344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09" name="Google Shape;10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grpSp>
        <p:nvGrpSpPr>
          <p:cNvPr id="110" name="Google Shape;110;p2"/>
          <p:cNvGrpSpPr/>
          <p:nvPr/>
        </p:nvGrpSpPr>
        <p:grpSpPr>
          <a:xfrm>
            <a:off x="596258" y="2237111"/>
            <a:ext cx="11319994" cy="3689404"/>
            <a:chOff x="-196083" y="0"/>
            <a:chExt cx="11319994" cy="3689404"/>
          </a:xfrm>
        </p:grpSpPr>
        <p:sp>
          <p:nvSpPr>
            <p:cNvPr id="111" name="Google Shape;111;p2"/>
            <p:cNvSpPr/>
            <p:nvPr/>
          </p:nvSpPr>
          <p:spPr>
            <a:xfrm>
              <a:off x="-196083" y="0"/>
              <a:ext cx="10072988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-147457" y="48627"/>
              <a:ext cx="9482963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Times New Roman"/>
                <a:buNone/>
              </a:pPr>
              <a:r>
                <a:rPr lang="en-US" sz="28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LO1: Critically analyze different types of operating systems and evaluate their suitability for various real-world applications.</a:t>
              </a:r>
              <a:endParaRPr sz="2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835257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1883884" y="2077799"/>
              <a:ext cx="8677575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Times New Roman"/>
                <a:buNone/>
              </a:pPr>
              <a:r>
                <a:rPr lang="en-US" sz="28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LO2: Compare and contrast multiple operating system types based on efficiency, scalability, and user requirements.</a:t>
              </a:r>
              <a:endParaRPr sz="2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8405587" y="1305127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8648396" y="1305127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7" name="Google Shape;117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 txBox="1">
            <a:spLocks noGrp="1"/>
          </p:cNvSpPr>
          <p:nvPr>
            <p:ph type="title"/>
          </p:nvPr>
        </p:nvSpPr>
        <p:spPr>
          <a:xfrm>
            <a:off x="188536" y="1177691"/>
            <a:ext cx="12003464" cy="6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i="1">
                <a:latin typeface="Times New Roman"/>
                <a:ea typeface="Times New Roman"/>
                <a:cs typeface="Times New Roman"/>
                <a:sym typeface="Times New Roman"/>
              </a:rPr>
              <a:t>Learning Outcomes</a:t>
            </a:r>
            <a:endParaRPr b="1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b="1" i="1" dirty="0">
                <a:latin typeface="Times New Roman"/>
                <a:ea typeface="Times New Roman"/>
                <a:cs typeface="Times New Roman"/>
                <a:sym typeface="Times New Roman"/>
              </a:rPr>
              <a:t>Opening Question</a:t>
            </a:r>
            <a:endParaRPr b="1" i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"Computers, smartphones, and even embedded devices all uses operating systems, but not all OS are the same. Can you name different types of operating systems and their primary functions?"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7" name="Google Shape;12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Reflect on the responses of post session activity</a:t>
            </a:r>
            <a:br>
              <a:rPr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endParaRPr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4" name="Google Shape;1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36" name="Google Shape;136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7119" y="114202"/>
            <a:ext cx="808181" cy="79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2760188" cy="576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838200" y="839587"/>
            <a:ext cx="7980313" cy="6494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00100" marR="0" lvl="1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Batch Operating System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Multitasking/Time-Sharing Operating System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Distributed Operating System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Real-Time Operating System (RTOS)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Network Operating System (NOS)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Multiprogramming Operating System</a:t>
            </a:r>
          </a:p>
          <a:p>
            <a:pPr marL="800100" marR="0" lvl="1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Multi-Processing Operating System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marR="0" lvl="1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Multiuser Operating System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5F8BC-B5D8-E76A-04B3-D6368894746A}"/>
              </a:ext>
            </a:extLst>
          </p:cNvPr>
          <p:cNvSpPr txBox="1"/>
          <p:nvPr/>
        </p:nvSpPr>
        <p:spPr>
          <a:xfrm>
            <a:off x="3657600" y="316367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Different types of Operating System?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0B905-A6D6-59A6-561E-A0F6DBCBBF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5" name="Google Shape;136;p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0A54867-428D-EA84-275D-C74C0E7FE0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7119" y="114202"/>
            <a:ext cx="808181" cy="79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7;p5">
            <a:extLst>
              <a:ext uri="{FF2B5EF4-FFF2-40B4-BE49-F238E27FC236}">
                <a16:creationId xmlns:a16="http://schemas.microsoft.com/office/drawing/2014/main" id="{8B0CAA57-2788-F06B-B030-DEE4572A4D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2760188" cy="57667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7137DBA-AB23-CCA4-725E-D6CE1BD2C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458" y="268090"/>
            <a:ext cx="10586591" cy="6838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 Batch Operating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Definition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 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executes a group of jobs (batch) without user interaction.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Key Features</a:t>
            </a:r>
          </a:p>
          <a:p>
            <a:pPr marL="71755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Jobs are collected and processed in sequence</a:t>
            </a:r>
          </a:p>
          <a:p>
            <a:pPr marL="71755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direct user interaction during execution</a:t>
            </a:r>
          </a:p>
          <a:p>
            <a:pPr marL="71755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large, repetitive tasks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Real-Time Example</a:t>
            </a:r>
          </a:p>
          <a:p>
            <a:pPr marL="71755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Payroll system in organizations</a:t>
            </a:r>
          </a:p>
          <a:p>
            <a:pPr marL="71755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Imagine a teacher collecting all assignment copies and checking them after school in one go instead of checking one by one as students submit them.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*There is no direct interaction between the user and the computer while the job is running.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*Efficient for large data processing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Batchoperatingsystem2-660x330">
            <a:extLst>
              <a:ext uri="{FF2B5EF4-FFF2-40B4-BE49-F238E27FC236}">
                <a16:creationId xmlns:a16="http://schemas.microsoft.com/office/drawing/2014/main" id="{FE35D968-7819-3BBF-86AF-97027AABC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332" y="1805744"/>
            <a:ext cx="5120968" cy="284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423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8623F-6EDB-5D0F-4DD0-B49CE23C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9617D-3F62-11DA-96EB-5C89CA58B3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" name="Google Shape;136;p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28880C2-1E03-530A-1CD1-1E3E384A06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7119" y="114202"/>
            <a:ext cx="808181" cy="79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7;p5">
            <a:extLst>
              <a:ext uri="{FF2B5EF4-FFF2-40B4-BE49-F238E27FC236}">
                <a16:creationId xmlns:a16="http://schemas.microsoft.com/office/drawing/2014/main" id="{5277A327-4FD8-EF39-E573-4C30802E95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2760188" cy="5766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F90902-8E4D-4A8A-5E6C-E1CBBD4D8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046" y="167648"/>
            <a:ext cx="10332726" cy="5761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Time-Sharing Operating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Definition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multiple users to share system resources simultaneously. Each user gets a small time slice of CPU.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Key Features</a:t>
            </a:r>
          </a:p>
          <a:p>
            <a:pPr marL="62547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Multi-user environment</a:t>
            </a:r>
          </a:p>
          <a:p>
            <a:pPr marL="62547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 response time</a:t>
            </a:r>
          </a:p>
          <a:p>
            <a:pPr marL="62547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time divided into small slices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Real-Time Example</a:t>
            </a:r>
          </a:p>
          <a:p>
            <a:pPr marL="62547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University computer labs</a:t>
            </a:r>
          </a:p>
          <a:p>
            <a:pPr marL="62547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servers</a:t>
            </a:r>
          </a:p>
          <a:p>
            <a:pPr marL="62547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83417F-1F5A-876E-1547-633812864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409" y="1991710"/>
            <a:ext cx="5257800" cy="37030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6A7BB9-0056-5088-951D-03B5037DF6F1}"/>
              </a:ext>
            </a:extLst>
          </p:cNvPr>
          <p:cNvSpPr txBox="1"/>
          <p:nvPr/>
        </p:nvSpPr>
        <p:spPr>
          <a:xfrm>
            <a:off x="1135608" y="5828108"/>
            <a:ext cx="10424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*Imagine 5 students sharing one microphone in a debate. Each student gets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seconds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then the mic goes to the next student. Even though only one speaks at a time, everyone feels they are participating continuously.</a:t>
            </a:r>
          </a:p>
        </p:txBody>
      </p:sp>
    </p:spTree>
    <p:extLst>
      <p:ext uri="{BB962C8B-B14F-4D97-AF65-F5344CB8AC3E}">
        <p14:creationId xmlns:p14="http://schemas.microsoft.com/office/powerpoint/2010/main" val="2514083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B1BFD-DDFB-612C-5B3C-243E33BA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C9427-75A1-294A-5847-277A5E0965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5" name="Google Shape;136;p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0DD40C2-8F6F-4A3C-CF0D-C127ED2A5C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7119" y="114202"/>
            <a:ext cx="808181" cy="79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7;p5">
            <a:extLst>
              <a:ext uri="{FF2B5EF4-FFF2-40B4-BE49-F238E27FC236}">
                <a16:creationId xmlns:a16="http://schemas.microsoft.com/office/drawing/2014/main" id="{6D2CE40F-6FEC-0E84-EAD5-0E48C5736D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2760188" cy="5766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F9C5D3-89E6-50E3-1F63-3D1A4B185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-50235"/>
            <a:ext cx="11353800" cy="6201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Distributed Operating System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Definition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Manages multiple computers connected over a network and makes them appear as a single system.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Key Features</a:t>
            </a:r>
          </a:p>
          <a:p>
            <a:pPr marL="717550" marR="0" lvl="0" indent="-34290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 sharing</a:t>
            </a:r>
          </a:p>
          <a:p>
            <a:pPr marL="717550" marR="0" lvl="0" indent="-34290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Fault tolerance</a:t>
            </a:r>
          </a:p>
          <a:p>
            <a:pPr marL="717550" marR="0" lvl="0" indent="-34290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</a:t>
            </a:r>
          </a:p>
          <a:p>
            <a:pPr marL="717550" marR="0" lvl="0" indent="-34290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a single system cannot handle </a:t>
            </a:r>
          </a:p>
          <a:p>
            <a:pPr marL="717550" marR="0" lvl="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heavy workload, distributed systems are used.</a:t>
            </a:r>
          </a:p>
          <a:p>
            <a:pPr marL="0" marR="0" lvl="0" indent="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Real-Time Example</a:t>
            </a:r>
          </a:p>
          <a:p>
            <a:pPr marL="717550" marR="0" lvl="0" indent="-34290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systems</a:t>
            </a:r>
          </a:p>
          <a:p>
            <a:pPr marL="717550" marR="0" lvl="0" indent="-34290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data centers</a:t>
            </a:r>
          </a:p>
          <a:p>
            <a:pPr marL="717550" marR="0" lvl="0" indent="-342900" algn="l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Apache Hadoop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4DCB55-2DE7-522A-B35C-CD39AD8478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158994"/>
            <a:ext cx="5768051" cy="33100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8C1B9E-912F-7C1F-5B9E-6F2C8E969777}"/>
              </a:ext>
            </a:extLst>
          </p:cNvPr>
          <p:cNvSpPr txBox="1"/>
          <p:nvPr/>
        </p:nvSpPr>
        <p:spPr>
          <a:xfrm>
            <a:off x="1018898" y="6075144"/>
            <a:ext cx="10736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*Imagine 5 students solving one big assignment. Each student solves one part. Finally, all parts are combined into one complete answer.</a:t>
            </a: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002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205A4-71C4-0335-65B7-E115A5F47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FC875-C802-B32C-D118-A6280E9868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5" name="Google Shape;136;p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06A1F26-BA22-BB36-B7FD-8DFECF66CE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7119" y="114202"/>
            <a:ext cx="808181" cy="79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7;p5">
            <a:extLst>
              <a:ext uri="{FF2B5EF4-FFF2-40B4-BE49-F238E27FC236}">
                <a16:creationId xmlns:a16="http://schemas.microsoft.com/office/drawing/2014/main" id="{7E2EA835-9BB0-D5DC-109A-21B34CF6E69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2760188" cy="5766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1CE3BE6-DA87-F854-0EDA-A2E0E69C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145" y="203105"/>
            <a:ext cx="11118074" cy="5299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4) Network Operating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Definition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services to computers connected in a network.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Key Features</a:t>
            </a:r>
          </a:p>
          <a:p>
            <a:pPr marL="80962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sharing</a:t>
            </a:r>
          </a:p>
          <a:p>
            <a:pPr marL="80962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Printer sharing</a:t>
            </a:r>
          </a:p>
          <a:p>
            <a:pPr marL="80962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Real-Time Example</a:t>
            </a:r>
          </a:p>
          <a:p>
            <a:pPr marL="80962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Office LAN</a:t>
            </a:r>
          </a:p>
          <a:p>
            <a:pPr marL="80962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School computer lab server</a:t>
            </a:r>
          </a:p>
          <a:p>
            <a:pPr marL="809625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B568EB-5A55-4984-1168-EF655417C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177" y="2114309"/>
            <a:ext cx="4972942" cy="32916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E84503-EBB9-9C2D-E06E-BB7C69C4742D}"/>
              </a:ext>
            </a:extLst>
          </p:cNvPr>
          <p:cNvSpPr txBox="1"/>
          <p:nvPr/>
        </p:nvSpPr>
        <p:spPr>
          <a:xfrm>
            <a:off x="2002957" y="5503082"/>
            <a:ext cx="8542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students and Only 1 printer.  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Printer is connected to the server. All students can print from their own system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👉 Printer sharing through a network is managed by a Network OS.</a:t>
            </a:r>
          </a:p>
        </p:txBody>
      </p:sp>
    </p:spTree>
    <p:extLst>
      <p:ext uri="{BB962C8B-B14F-4D97-AF65-F5344CB8AC3E}">
        <p14:creationId xmlns:p14="http://schemas.microsoft.com/office/powerpoint/2010/main" val="2036751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4EEB9-3895-00AA-433B-60E9E6297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98216-2491-0050-3775-066A8038AF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5" name="Google Shape;136;p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2FC73C9-87EC-EBDD-B781-14B9080448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7119" y="114202"/>
            <a:ext cx="808181" cy="79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7;p5">
            <a:extLst>
              <a:ext uri="{FF2B5EF4-FFF2-40B4-BE49-F238E27FC236}">
                <a16:creationId xmlns:a16="http://schemas.microsoft.com/office/drawing/2014/main" id="{C2FB91A7-D08E-5014-BF2B-A3256F733B7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2760188" cy="5766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E8D4ABF-7602-BF88-0A0B-65DF6DFD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618" y="0"/>
            <a:ext cx="10860519" cy="5299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5) Real-Time Operating System (RTOS)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Definition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data and responds within a fixed time limit.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Types</a:t>
            </a:r>
          </a:p>
          <a:p>
            <a:pPr marL="71755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 Real-Time 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Missing deadline is critical = System Failure</a:t>
            </a:r>
          </a:p>
          <a:p>
            <a:pPr marL="71755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 Real-Time 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Missing deadline reduces performance, but system continues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Real-Time Example</a:t>
            </a:r>
          </a:p>
          <a:p>
            <a:pPr marL="71755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Air traffic control systems</a:t>
            </a:r>
          </a:p>
          <a:p>
            <a:pPr marL="71755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monitoring systems</a:t>
            </a:r>
          </a:p>
          <a:p>
            <a:pPr marL="71755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Pacemaker Devices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8165-F24C-1D78-280E-4DFB69A8BD6F}"/>
              </a:ext>
            </a:extLst>
          </p:cNvPr>
          <p:cNvSpPr txBox="1"/>
          <p:nvPr/>
        </p:nvSpPr>
        <p:spPr>
          <a:xfrm>
            <a:off x="1802365" y="5299977"/>
            <a:ext cx="81798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Signal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timer reaches zero → light must change immediately.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may cause accident.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👉 System must respond at exact time → Real-Time OS.</a:t>
            </a:r>
          </a:p>
        </p:txBody>
      </p:sp>
    </p:spTree>
    <p:extLst>
      <p:ext uri="{BB962C8B-B14F-4D97-AF65-F5344CB8AC3E}">
        <p14:creationId xmlns:p14="http://schemas.microsoft.com/office/powerpoint/2010/main" val="1829785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7E2BC-9FA5-091A-D81C-722B50E8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E76C6-004D-1485-CD58-C80621640B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5" name="Google Shape;136;p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AD6B521-3415-C7B8-835A-CEE1C3FAEE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7119" y="114202"/>
            <a:ext cx="808181" cy="79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7;p5">
            <a:extLst>
              <a:ext uri="{FF2B5EF4-FFF2-40B4-BE49-F238E27FC236}">
                <a16:creationId xmlns:a16="http://schemas.microsoft.com/office/drawing/2014/main" id="{EC3D0E8A-B097-A53F-DEDD-9D70ECC9A5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2760188" cy="5766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DF50BFA-07A3-09B7-E635-A5D8B242A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8963" y="136525"/>
            <a:ext cx="10078076" cy="5946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6) Multiprocessing Operating System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Definition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two or more CPUs for execution.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Key Features</a:t>
            </a:r>
          </a:p>
          <a:p>
            <a:pPr marL="625475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speed</a:t>
            </a:r>
          </a:p>
          <a:p>
            <a:pPr marL="625475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</a:t>
            </a:r>
          </a:p>
          <a:p>
            <a:pPr marL="625475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reliability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➤ Real-Time Example</a:t>
            </a:r>
          </a:p>
          <a:p>
            <a:pPr marL="625475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desktops</a:t>
            </a:r>
          </a:p>
          <a:p>
            <a:pPr marL="625475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Systems running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Windows 11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5475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Systems running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4D7CF6-ED67-76CC-7708-00541A383570}"/>
              </a:ext>
            </a:extLst>
          </p:cNvPr>
          <p:cNvSpPr txBox="1"/>
          <p:nvPr/>
        </p:nvSpPr>
        <p:spPr>
          <a:xfrm>
            <a:off x="6428001" y="1987042"/>
            <a:ext cx="5506655" cy="3729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🔎 Classroom Example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👩‍🏫 Example 1: Checking Exam Papers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teacher checking 100 papers → Takes long 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teachers checking 25 papers each → Work completes faster.</a:t>
            </a: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👉 Multiple teachers = Multiple CPUs</a:t>
            </a:r>
            <a:b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👉 Faster correction = Multiprocessing</a:t>
            </a:r>
          </a:p>
        </p:txBody>
      </p:sp>
    </p:spTree>
    <p:extLst>
      <p:ext uri="{BB962C8B-B14F-4D97-AF65-F5344CB8AC3E}">
        <p14:creationId xmlns:p14="http://schemas.microsoft.com/office/powerpoint/2010/main" val="1463707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332C2-D251-AB8E-3780-6EA37F07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441EF-2571-2ECE-9851-24540045E9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5" name="Google Shape;136;p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D2CD29B-B0FF-81C6-01F6-72E1F1AC2B7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47119" y="114202"/>
            <a:ext cx="808181" cy="79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7;p5">
            <a:extLst>
              <a:ext uri="{FF2B5EF4-FFF2-40B4-BE49-F238E27FC236}">
                <a16:creationId xmlns:a16="http://schemas.microsoft.com/office/drawing/2014/main" id="{E9C98985-B038-4973-435F-EEAE75C620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2760188" cy="5766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4F1789-AC6A-B9B4-4175-4FBF2BF8E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645769"/>
              </p:ext>
            </p:extLst>
          </p:nvPr>
        </p:nvGraphicFramePr>
        <p:xfrm>
          <a:off x="1485026" y="2326541"/>
          <a:ext cx="8979640" cy="2773680"/>
        </p:xfrm>
        <a:graphic>
          <a:graphicData uri="http://schemas.openxmlformats.org/drawingml/2006/table">
            <a:tbl>
              <a:tblPr/>
              <a:tblGrid>
                <a:gridCol w="2796251">
                  <a:extLst>
                    <a:ext uri="{9D8B030D-6E8A-4147-A177-3AD203B41FA5}">
                      <a16:colId xmlns:a16="http://schemas.microsoft.com/office/drawing/2014/main" val="2906479331"/>
                    </a:ext>
                  </a:extLst>
                </a:gridCol>
                <a:gridCol w="3414531">
                  <a:extLst>
                    <a:ext uri="{9D8B030D-6E8A-4147-A177-3AD203B41FA5}">
                      <a16:colId xmlns:a16="http://schemas.microsoft.com/office/drawing/2014/main" val="3771069885"/>
                    </a:ext>
                  </a:extLst>
                </a:gridCol>
                <a:gridCol w="2768858">
                  <a:extLst>
                    <a:ext uri="{9D8B030D-6E8A-4147-A177-3AD203B41FA5}">
                      <a16:colId xmlns:a16="http://schemas.microsoft.com/office/drawing/2014/main" val="1205632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729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Payroll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377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Time-Sharing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703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systems as 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Hadoop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699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resource sharing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724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Time-bound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Air traffic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673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Multiprocessing 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CPUs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0783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20F70D6C-963D-896E-4233-B74C2BA11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314" y="1000879"/>
            <a:ext cx="26693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6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1: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Classification Challenge (Group Activity)</a:t>
            </a:r>
            <a:endParaRPr/>
          </a:p>
        </p:txBody>
      </p:sp>
      <p:sp>
        <p:nvSpPr>
          <p:cNvPr id="144" name="Google Shape;1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45" name="Google Shape;145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>
            <a:spLocks noGrp="1"/>
          </p:cNvSpPr>
          <p:nvPr>
            <p:ph type="body" idx="1"/>
          </p:nvPr>
        </p:nvSpPr>
        <p:spPr>
          <a:xfrm>
            <a:off x="457200" y="1943853"/>
            <a:ext cx="11364012" cy="416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Instructions:</a:t>
            </a:r>
          </a:p>
          <a:p>
            <a:pPr marL="457200" lvl="1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 students into small groups.</a:t>
            </a:r>
            <a:endParaRPr dirty="0"/>
          </a:p>
          <a:p>
            <a:pPr marL="457200" lvl="1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each group with a set of OS descriptions </a:t>
            </a:r>
            <a:endParaRPr dirty="0"/>
          </a:p>
          <a:p>
            <a:pPr marL="457200" lvl="1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group must match the descriptions with the correct OS type</a:t>
            </a:r>
            <a:endParaRPr dirty="0"/>
          </a:p>
          <a:p>
            <a:pPr marL="457200" lvl="1" indent="-152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Groups will explain their choices.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Outcome: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Helps students categorize OS types correctly and understand their features. 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1: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Classification Challenge (Group Activity)</a:t>
            </a:r>
            <a:endParaRPr/>
          </a:p>
        </p:txBody>
      </p:sp>
      <p:sp>
        <p:nvSpPr>
          <p:cNvPr id="154" name="Google Shape;15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55" name="Google Shape;155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 txBox="1">
            <a:spLocks noGrp="1"/>
          </p:cNvSpPr>
          <p:nvPr>
            <p:ph type="body" idx="1"/>
          </p:nvPr>
        </p:nvSpPr>
        <p:spPr>
          <a:xfrm>
            <a:off x="457200" y="2728683"/>
            <a:ext cx="11364012" cy="260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Description 1: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“Executes jobs in groups without user interaction and Used in early mainframes where tasks were processed sequentially. Example: Payroll processing in banks.”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1: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Classification Challenge (Group Activity)</a:t>
            </a:r>
            <a:endParaRPr/>
          </a:p>
        </p:txBody>
      </p:sp>
      <p:sp>
        <p:nvSpPr>
          <p:cNvPr id="164" name="Google Shape;16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65" name="Google Shape;165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>
            <a:spLocks noGrp="1"/>
          </p:cNvSpPr>
          <p:nvPr>
            <p:ph type="body" idx="1"/>
          </p:nvPr>
        </p:nvSpPr>
        <p:spPr>
          <a:xfrm>
            <a:off x="457200" y="2689974"/>
            <a:ext cx="11364012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Description 2: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“Allows multiple applications or tasks to run at the same time on a single CPU. Users can switch between applications without closing them. Commonly found in personal computers and mobile devices.". 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1: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Classification Challenge (Group Activity)</a:t>
            </a:r>
            <a:endParaRPr/>
          </a:p>
        </p:txBody>
      </p:sp>
      <p:sp>
        <p:nvSpPr>
          <p:cNvPr id="174" name="Google Shape;17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75" name="Google Shape;175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 txBox="1">
            <a:spLocks noGrp="1"/>
          </p:cNvSpPr>
          <p:nvPr>
            <p:ph type="body" idx="1"/>
          </p:nvPr>
        </p:nvSpPr>
        <p:spPr>
          <a:xfrm>
            <a:off x="457200" y="2689973"/>
            <a:ext cx="11364012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Description 3: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“Controls a network of computers and makes them work as a single system. Users experience it as a unified computing resource, even though multiple computers are working together in the background.”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1: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Classification Challenge (Group Activity)</a:t>
            </a:r>
            <a:endParaRPr/>
          </a:p>
        </p:txBody>
      </p:sp>
      <p:sp>
        <p:nvSpPr>
          <p:cNvPr id="184" name="Google Shape;1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85" name="Google Shape;185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>
            <a:spLocks noGrp="1"/>
          </p:cNvSpPr>
          <p:nvPr>
            <p:ph type="body" idx="1"/>
          </p:nvPr>
        </p:nvSpPr>
        <p:spPr>
          <a:xfrm>
            <a:off x="457200" y="2689973"/>
            <a:ext cx="11364012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Description 4: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“Designed for critical applications where responses must occur within a strict time frame. Used in environments where delays could lead to failures or risks”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1: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Classification Challenge (Group Activity)</a:t>
            </a:r>
            <a:endParaRPr/>
          </a:p>
        </p:txBody>
      </p:sp>
      <p:sp>
        <p:nvSpPr>
          <p:cNvPr id="194" name="Google Shape;19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95" name="Google Shape;195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 txBox="1">
            <a:spLocks noGrp="1"/>
          </p:cNvSpPr>
          <p:nvPr>
            <p:ph type="body" idx="1"/>
          </p:nvPr>
        </p:nvSpPr>
        <p:spPr>
          <a:xfrm>
            <a:off x="457200" y="2689973"/>
            <a:ext cx="11364012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Description 5: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“Manages network resources and allows multiple computers to communicate over a shared network. Typically used in enterprise settings where centralized administration is required.”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1: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Classification Challenge (Group Activity)</a:t>
            </a:r>
            <a:endParaRPr/>
          </a:p>
        </p:txBody>
      </p:sp>
      <p:sp>
        <p:nvSpPr>
          <p:cNvPr id="204" name="Google Shape;20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05" name="Google Shape;205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2"/>
          <p:cNvSpPr txBox="1">
            <a:spLocks noGrp="1"/>
          </p:cNvSpPr>
          <p:nvPr>
            <p:ph type="body" idx="1"/>
          </p:nvPr>
        </p:nvSpPr>
        <p:spPr>
          <a:xfrm>
            <a:off x="457200" y="3013139"/>
            <a:ext cx="11364012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Description 6: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“Allows multiple programs to be loaded into memory and executed simultaneously, improving CPU utilization by reducing idle time.”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1: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Classification Challenge (Group Activity)</a:t>
            </a:r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15" name="Google Shape;215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/>
          <p:cNvSpPr txBox="1">
            <a:spLocks noGrp="1"/>
          </p:cNvSpPr>
          <p:nvPr>
            <p:ph type="body" idx="1"/>
          </p:nvPr>
        </p:nvSpPr>
        <p:spPr>
          <a:xfrm>
            <a:off x="457200" y="3013139"/>
            <a:ext cx="11364012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Description 7: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“Supports two or more CPUs working together to execute multiple processes simultaneously, improving performance and reliability.”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2">
          <a:extLst>
            <a:ext uri="{FF2B5EF4-FFF2-40B4-BE49-F238E27FC236}">
              <a16:creationId xmlns:a16="http://schemas.microsoft.com/office/drawing/2014/main" id="{B93CE6D4-41E6-E7AF-A2A5-7A25DE7E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>
            <a:extLst>
              <a:ext uri="{FF2B5EF4-FFF2-40B4-BE49-F238E27FC236}">
                <a16:creationId xmlns:a16="http://schemas.microsoft.com/office/drawing/2014/main" id="{4F52815F-9D22-C0EF-B607-F42BEB7E63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1: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Classification Challenge (Group Activity)</a:t>
            </a:r>
            <a:endParaRPr/>
          </a:p>
        </p:txBody>
      </p:sp>
      <p:sp>
        <p:nvSpPr>
          <p:cNvPr id="214" name="Google Shape;214;p13">
            <a:extLst>
              <a:ext uri="{FF2B5EF4-FFF2-40B4-BE49-F238E27FC236}">
                <a16:creationId xmlns:a16="http://schemas.microsoft.com/office/drawing/2014/main" id="{08016734-C8BA-018B-4720-BBEA67493C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15" name="Google Shape;215;p1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FB1C746-44B3-74D8-4F2C-B04FAD6C0D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3">
            <a:extLst>
              <a:ext uri="{FF2B5EF4-FFF2-40B4-BE49-F238E27FC236}">
                <a16:creationId xmlns:a16="http://schemas.microsoft.com/office/drawing/2014/main" id="{0718B638-A7E4-3E01-7D49-98377F9A38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>
            <a:extLst>
              <a:ext uri="{FF2B5EF4-FFF2-40B4-BE49-F238E27FC236}">
                <a16:creationId xmlns:a16="http://schemas.microsoft.com/office/drawing/2014/main" id="{01DC5497-1E5B-CD76-6112-3861AEC05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013139"/>
            <a:ext cx="11364012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Description 8: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 dirty="0">
                <a:latin typeface="Times New Roman"/>
                <a:ea typeface="Times New Roman"/>
                <a:cs typeface="Times New Roman"/>
                <a:sym typeface="Times New Roman"/>
              </a:rPr>
              <a:t>“Allows multiple users to access the same system resources at the same time, ensuring efficient sharing of processing power and memory.”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726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2: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OS Scenarios (Discussion + Brainstorming)</a:t>
            </a:r>
            <a:endParaRPr/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224" name="Google Shape;224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4"/>
          <p:cNvSpPr txBox="1">
            <a:spLocks noGrp="1"/>
          </p:cNvSpPr>
          <p:nvPr>
            <p:ph type="body" idx="1"/>
          </p:nvPr>
        </p:nvSpPr>
        <p:spPr>
          <a:xfrm>
            <a:off x="457200" y="2566844"/>
            <a:ext cx="11364012" cy="2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 </a:t>
            </a:r>
            <a:r>
              <a:rPr lang="en-US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knowledge of OS types to real-world scenarios.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Instructions:</a:t>
            </a:r>
            <a:endParaRPr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22313" lvl="1" indent="-3603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 real-world scenarios </a:t>
            </a:r>
            <a:endParaRPr dirty="0"/>
          </a:p>
          <a:p>
            <a:pPr marL="722313" lvl="1" indent="-3603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tudents to discuss which OS type is most suitable and why.</a:t>
            </a:r>
            <a:endParaRPr dirty="0"/>
          </a:p>
          <a:p>
            <a:pPr marL="722313" lvl="1" indent="-3603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 them to justify their answers with examples.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Outcome:</a:t>
            </a:r>
            <a:r>
              <a:rPr lang="en-US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Enhances critical thinking by linking OS concepts to real-world applications. 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2: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OS Scenarios (Discussion + Brainstorming)</a:t>
            </a:r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234" name="Google Shape;234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5"/>
          <p:cNvSpPr txBox="1">
            <a:spLocks noGrp="1"/>
          </p:cNvSpPr>
          <p:nvPr>
            <p:ph type="body" idx="1"/>
          </p:nvPr>
        </p:nvSpPr>
        <p:spPr>
          <a:xfrm>
            <a:off x="457200" y="2405517"/>
            <a:ext cx="11364012" cy="324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Scenarios 1: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“A hospital uses a system that continuously monitors patients’ vital signs and triggers alarms if abnormal values are detected. The system must respond instantly without delay.”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Which OS is best suited for this? Why?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2: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OS Scenarios (Discussion + Brainstorming)</a:t>
            </a:r>
            <a:endParaRPr/>
          </a:p>
        </p:txBody>
      </p:sp>
      <p:sp>
        <p:nvSpPr>
          <p:cNvPr id="243" name="Google Shape;24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244" name="Google Shape;244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 txBox="1">
            <a:spLocks noGrp="1"/>
          </p:cNvSpPr>
          <p:nvPr>
            <p:ph type="body" idx="1"/>
          </p:nvPr>
        </p:nvSpPr>
        <p:spPr>
          <a:xfrm>
            <a:off x="457200" y="2405517"/>
            <a:ext cx="11364012" cy="324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Scenarios 2: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“A company uses a system where multiple users can store and access files from different locations. The data is stored across multiple servers worldwide to ensure fast access and fault tolerance.”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Which OS is best suited for this? Why?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2: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OS Scenarios (Discussion + Brainstorming)</a:t>
            </a:r>
            <a:endParaRPr/>
          </a:p>
        </p:txBody>
      </p:sp>
      <p:sp>
        <p:nvSpPr>
          <p:cNvPr id="253" name="Google Shape;2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254" name="Google Shape;254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7"/>
          <p:cNvSpPr txBox="1">
            <a:spLocks noGrp="1"/>
          </p:cNvSpPr>
          <p:nvPr>
            <p:ph type="body" idx="1"/>
          </p:nvPr>
        </p:nvSpPr>
        <p:spPr>
          <a:xfrm>
            <a:off x="457200" y="2405517"/>
            <a:ext cx="11364012" cy="324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Scenarios 3: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“A global airline allows thousands of customers to book tickets online at the same time. The system must handle multiple requests efficiently without delays.”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Which OS is best suited for this? Why?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 txBox="1">
            <a:spLocks noGrp="1"/>
          </p:cNvSpPr>
          <p:nvPr>
            <p:ph type="title"/>
          </p:nvPr>
        </p:nvSpPr>
        <p:spPr>
          <a:xfrm>
            <a:off x="237241" y="1097078"/>
            <a:ext cx="11717518" cy="106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Activity 2: </a:t>
            </a:r>
            <a:b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OS Scenarios (Discussion + Brainstorming)</a:t>
            </a:r>
            <a:endParaRPr/>
          </a:p>
        </p:txBody>
      </p:sp>
      <p:sp>
        <p:nvSpPr>
          <p:cNvPr id="263" name="Google Shape;26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264" name="Google Shape;264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8"/>
          <p:cNvSpPr txBox="1">
            <a:spLocks noGrp="1"/>
          </p:cNvSpPr>
          <p:nvPr>
            <p:ph type="body" idx="1"/>
          </p:nvPr>
        </p:nvSpPr>
        <p:spPr>
          <a:xfrm>
            <a:off x="457200" y="2405517"/>
            <a:ext cx="11364012" cy="324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Scenarios 4: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“A bank processes thousands of transactions per minute, including ATM withdrawals, online banking, and credit card payments. The system needs to handle multiple users and ensure security.”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Which OS is best suited for this? Why?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Play"/>
              <a:buNone/>
            </a:pPr>
            <a:r>
              <a:rPr lang="en-US" b="1">
                <a:solidFill>
                  <a:schemeClr val="accent5"/>
                </a:solidFill>
              </a:rPr>
              <a:t>QUIZ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73" name="Google Shape;27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74" name="Google Shape;27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275" name="Google Shape;275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674754"/>
            <a:ext cx="3286125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 txBox="1"/>
          <p:nvPr/>
        </p:nvSpPr>
        <p:spPr>
          <a:xfrm>
            <a:off x="4501662" y="2848708"/>
            <a:ext cx="6852138" cy="2262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lnSpc>
                <a:spcPct val="72208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Play"/>
              <a:buAutoNum type="arabicPeriod"/>
            </a:pPr>
            <a:r>
              <a:rPr lang="en-US" sz="2400" b="1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400" b="1" i="0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Go to wooclap.com</a:t>
            </a:r>
            <a:endParaRPr/>
          </a:p>
          <a:p>
            <a:pPr marL="0" marR="0" lvl="0" indent="-152400" algn="l" rtl="0">
              <a:lnSpc>
                <a:spcPct val="72208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Play"/>
              <a:buAutoNum type="arabicPeriod"/>
            </a:pPr>
            <a:r>
              <a:rPr lang="en-US" sz="2400" b="1" i="0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 Enter the event code in the top banner</a:t>
            </a:r>
            <a:endParaRPr/>
          </a:p>
          <a:p>
            <a:pPr marL="0" marR="0" lvl="0" indent="0" algn="ctr" rtl="0">
              <a:lnSpc>
                <a:spcPct val="7220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>
              <a:solidFill>
                <a:srgbClr val="0070C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7220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070C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7220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>
              <a:solidFill>
                <a:srgbClr val="0070C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43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Event code:</a:t>
            </a:r>
            <a:endParaRPr/>
          </a:p>
          <a:p>
            <a:pPr marL="0" marR="0" lvl="0" indent="0" algn="ctr" rtl="0">
              <a:lnSpc>
                <a:spcPct val="433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i="0">
              <a:solidFill>
                <a:srgbClr val="0070C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86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>
                <a:solidFill>
                  <a:srgbClr val="0070C0"/>
                </a:solidFill>
                <a:latin typeface="Nunito"/>
                <a:ea typeface="Nunito"/>
                <a:cs typeface="Nunito"/>
                <a:sym typeface="Nunito"/>
              </a:rPr>
              <a:t>XRBDIG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282" name="Google Shape;282;p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 txBox="1"/>
          <p:nvPr/>
        </p:nvSpPr>
        <p:spPr>
          <a:xfrm>
            <a:off x="104932" y="1016065"/>
            <a:ext cx="12003464" cy="6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Closure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104932" y="1595021"/>
            <a:ext cx="11740444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wrap up today’s session, we have explored various types of operating systems, their functionalities, and real-world applications. Through interactive activities, we classified different OS types and applied our knowledge to real-world scenarios. Understanding these concepts is fundamental to grasping how modern computing systems function efficiently.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Class: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next class, we will delve deeper into </a:t>
            </a: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 Architecture and Components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we will explore:</a:t>
            </a:r>
            <a:endParaRPr/>
          </a:p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management techniques.</a:t>
            </a:r>
            <a:endParaRPr/>
          </a:p>
          <a:p>
            <a:pPr marL="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Hands-on discussion on how modern OS like Linux and Windows handle resource allocation.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ready for more interactive discussions and problem-solving exercises!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Feedback </a:t>
            </a:r>
            <a:endParaRPr/>
          </a:p>
        </p:txBody>
      </p:sp>
      <p:sp>
        <p:nvSpPr>
          <p:cNvPr id="291" name="Google Shape;29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92" name="Google Shape;29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293" name="Google Shape;29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2080</Words>
  <Application>Microsoft Office PowerPoint</Application>
  <PresentationFormat>Widescreen</PresentationFormat>
  <Paragraphs>288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Nunito</vt:lpstr>
      <vt:lpstr>Play</vt:lpstr>
      <vt:lpstr>Arial</vt:lpstr>
      <vt:lpstr>Times New Roman</vt:lpstr>
      <vt:lpstr>Office Theme</vt:lpstr>
      <vt:lpstr>Different Types of Operating Systems   Session No.:  Course Name: Operating System Course Code:  R1UC403B Instructor Name: Dr. Anjali Kapoor Duration: 50 mins Date of Conduction of Class: 07-03-2025  </vt:lpstr>
      <vt:lpstr>Reflect on the responses of post session activity  </vt:lpstr>
      <vt:lpstr>Learning Outcomes</vt:lpstr>
      <vt:lpstr>Opening Question</vt:lpstr>
      <vt:lpstr>Reflect on the responses of post session activity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Activity 1:  OS Classification Challenge (Group Activity)</vt:lpstr>
      <vt:lpstr>Learning Activity 1:  OS Classification Challenge (Group Activity)</vt:lpstr>
      <vt:lpstr>Learning Activity 1:  OS Classification Challenge (Group Activity)</vt:lpstr>
      <vt:lpstr>Learning Activity 1:  OS Classification Challenge (Group Activity)</vt:lpstr>
      <vt:lpstr>Learning Activity 1:  OS Classification Challenge (Group Activity)</vt:lpstr>
      <vt:lpstr>Learning Activity 1:  OS Classification Challenge (Group Activity)</vt:lpstr>
      <vt:lpstr>Learning Activity 1:  OS Classification Challenge (Group Activity)</vt:lpstr>
      <vt:lpstr>Learning Activity 1:  OS Classification Challenge (Group Activity)</vt:lpstr>
      <vt:lpstr>Learning Activity 1:  OS Classification Challenge (Group Activity)</vt:lpstr>
      <vt:lpstr>Learning Activity 2:  Real-World OS Scenarios (Discussion + Brainstorming)</vt:lpstr>
      <vt:lpstr>Learning Activity 2:  Real-World OS Scenarios (Discussion + Brainstorming)</vt:lpstr>
      <vt:lpstr>Learning Activity 2:  Real-World OS Scenarios (Discussion + Brainstorming)</vt:lpstr>
      <vt:lpstr>Learning Activity 2:  Real-World OS Scenarios (Discussion + Brainstorming)</vt:lpstr>
      <vt:lpstr>Learning Activity 2:  Real-World OS Scenarios (Discussion + Brainstorming)</vt:lpstr>
      <vt:lpstr>QUIZ</vt:lpstr>
      <vt:lpstr>PowerPoint Presentation</vt:lpstr>
      <vt:lpstr>Feedback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Mr Vivek Jangra</cp:lastModifiedBy>
  <cp:revision>12</cp:revision>
  <dcterms:created xsi:type="dcterms:W3CDTF">2024-08-22T06:33:55Z</dcterms:created>
  <dcterms:modified xsi:type="dcterms:W3CDTF">2026-02-24T08:22:28Z</dcterms:modified>
</cp:coreProperties>
</file>