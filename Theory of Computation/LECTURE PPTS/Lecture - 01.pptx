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4"/>
  </p:notesMasterIdLst>
  <p:sldIdLst>
    <p:sldId id="256" r:id="rId2"/>
    <p:sldId id="282" r:id="rId3"/>
    <p:sldId id="298" r:id="rId4"/>
    <p:sldId id="276" r:id="rId5"/>
    <p:sldId id="323" r:id="rId6"/>
    <p:sldId id="300" r:id="rId7"/>
    <p:sldId id="285" r:id="rId8"/>
    <p:sldId id="260" r:id="rId9"/>
    <p:sldId id="309" r:id="rId10"/>
    <p:sldId id="291" r:id="rId11"/>
    <p:sldId id="310" r:id="rId12"/>
    <p:sldId id="311" r:id="rId13"/>
    <p:sldId id="301" r:id="rId14"/>
    <p:sldId id="324" r:id="rId15"/>
    <p:sldId id="302" r:id="rId16"/>
    <p:sldId id="321" r:id="rId17"/>
    <p:sldId id="307" r:id="rId18"/>
    <p:sldId id="269" r:id="rId19"/>
    <p:sldId id="325" r:id="rId20"/>
    <p:sldId id="290" r:id="rId21"/>
    <p:sldId id="281" r:id="rId22"/>
    <p:sldId id="326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16" autoAdjust="0"/>
    <p:restoredTop sz="94694"/>
  </p:normalViewPr>
  <p:slideViewPr>
    <p:cSldViewPr snapToGrid="0">
      <p:cViewPr varScale="1">
        <p:scale>
          <a:sx n="69" d="100"/>
          <a:sy n="69" d="100"/>
        </p:scale>
        <p:origin x="780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64DB52A-CA4F-4852-B41E-6A1F43CC58F9}" type="doc">
      <dgm:prSet loTypeId="urn:microsoft.com/office/officeart/2008/layout/LinedList" loCatId="list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C8BD7C71-8F1B-400D-96A3-6B553A93EB7F}">
      <dgm:prSet/>
      <dgm:spPr/>
      <dgm:t>
        <a:bodyPr/>
        <a:lstStyle/>
        <a:p>
          <a:r>
            <a:rPr lang="en-IN" dirty="0">
              <a:solidFill>
                <a:schemeClr val="tx2">
                  <a:lumMod val="75000"/>
                  <a:lumOff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1. Introduction</a:t>
          </a:r>
          <a:endParaRPr lang="en-US" dirty="0">
            <a:solidFill>
              <a:schemeClr val="tx2">
                <a:lumMod val="75000"/>
                <a:lumOff val="25000"/>
              </a:schemeClr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BBCFB319-5299-4310-B646-22472DABF40A}" type="parTrans" cxnId="{942D76EB-4E8A-49F9-9193-131FE6139044}">
      <dgm:prSet/>
      <dgm:spPr/>
      <dgm:t>
        <a:bodyPr/>
        <a:lstStyle/>
        <a:p>
          <a:endParaRPr lang="en-US"/>
        </a:p>
      </dgm:t>
    </dgm:pt>
    <dgm:pt modelId="{AF1C4F3A-D240-4EB1-9ECB-2ED225CCC019}" type="sibTrans" cxnId="{942D76EB-4E8A-49F9-9193-131FE6139044}">
      <dgm:prSet/>
      <dgm:spPr/>
      <dgm:t>
        <a:bodyPr/>
        <a:lstStyle/>
        <a:p>
          <a:endParaRPr lang="en-US"/>
        </a:p>
      </dgm:t>
    </dgm:pt>
    <dgm:pt modelId="{311F9A05-A7F4-4328-B319-DBCDF0DF0E82}">
      <dgm:prSet custT="1"/>
      <dgm:spPr/>
      <dgm:t>
        <a:bodyPr/>
        <a:lstStyle/>
        <a:p>
          <a:r>
            <a:rPr lang="en-IN" sz="4000" dirty="0">
              <a:solidFill>
                <a:schemeClr val="accent3">
                  <a:lumMod val="60000"/>
                  <a:lumOff val="4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2. Sets</a:t>
          </a:r>
          <a:endParaRPr lang="en-US" sz="4000" dirty="0">
            <a:solidFill>
              <a:schemeClr val="accent3">
                <a:lumMod val="60000"/>
                <a:lumOff val="40000"/>
              </a:schemeClr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23B85C74-2F21-4685-BD89-BB563657B099}" type="parTrans" cxnId="{6DCFA649-9D6E-469B-AACA-1BA847263E9A}">
      <dgm:prSet/>
      <dgm:spPr/>
      <dgm:t>
        <a:bodyPr/>
        <a:lstStyle/>
        <a:p>
          <a:endParaRPr lang="en-US"/>
        </a:p>
      </dgm:t>
    </dgm:pt>
    <dgm:pt modelId="{91F4A534-BBDE-4EB5-BAE5-EACEB7D0B868}" type="sibTrans" cxnId="{6DCFA649-9D6E-469B-AACA-1BA847263E9A}">
      <dgm:prSet/>
      <dgm:spPr/>
      <dgm:t>
        <a:bodyPr/>
        <a:lstStyle/>
        <a:p>
          <a:endParaRPr lang="en-US"/>
        </a:p>
      </dgm:t>
    </dgm:pt>
    <dgm:pt modelId="{81CB55E0-0FB6-485C-B15D-9BD278F78C6F}">
      <dgm:prSet custT="1"/>
      <dgm:spPr/>
      <dgm:t>
        <a:bodyPr/>
        <a:lstStyle/>
        <a:p>
          <a:r>
            <a:rPr lang="en-IN" sz="4000" dirty="0">
              <a:solidFill>
                <a:schemeClr val="accent5">
                  <a:lumMod val="60000"/>
                  <a:lumOff val="4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3. Relations</a:t>
          </a:r>
          <a:endParaRPr lang="en-US" sz="4000" dirty="0">
            <a:solidFill>
              <a:schemeClr val="accent5">
                <a:lumMod val="60000"/>
                <a:lumOff val="40000"/>
              </a:schemeClr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81E23C2F-5B75-4C87-B80F-F92D751EF2D3}" type="parTrans" cxnId="{B28E7539-702F-4403-B38C-CCE2EC9E181E}">
      <dgm:prSet/>
      <dgm:spPr/>
      <dgm:t>
        <a:bodyPr/>
        <a:lstStyle/>
        <a:p>
          <a:endParaRPr lang="en-US"/>
        </a:p>
      </dgm:t>
    </dgm:pt>
    <dgm:pt modelId="{CA453529-0F48-4EF3-8F16-E732FB1811C3}" type="sibTrans" cxnId="{B28E7539-702F-4403-B38C-CCE2EC9E181E}">
      <dgm:prSet/>
      <dgm:spPr/>
      <dgm:t>
        <a:bodyPr/>
        <a:lstStyle/>
        <a:p>
          <a:endParaRPr lang="en-US"/>
        </a:p>
      </dgm:t>
    </dgm:pt>
    <dgm:pt modelId="{51474CA9-1ADD-4331-9534-6780C3A18768}">
      <dgm:prSet custT="1"/>
      <dgm:spPr/>
      <dgm:t>
        <a:bodyPr/>
        <a:lstStyle/>
        <a:p>
          <a:r>
            <a:rPr lang="en-IN" sz="40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4. Graphs</a:t>
          </a:r>
        </a:p>
        <a:p>
          <a:r>
            <a:rPr lang="en-IN" sz="40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5. Activities</a:t>
          </a:r>
          <a:endParaRPr lang="en-US" sz="4000" dirty="0">
            <a:solidFill>
              <a:srgbClr val="FF0000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BD15203B-A2C4-421B-84CE-AC22CC6E237F}" type="parTrans" cxnId="{C10A2E97-40D9-4123-9647-358E1A64D6C9}">
      <dgm:prSet/>
      <dgm:spPr/>
      <dgm:t>
        <a:bodyPr/>
        <a:lstStyle/>
        <a:p>
          <a:endParaRPr lang="en-US"/>
        </a:p>
      </dgm:t>
    </dgm:pt>
    <dgm:pt modelId="{5FA359DE-6932-424A-BDE2-579D3E29B33A}" type="sibTrans" cxnId="{C10A2E97-40D9-4123-9647-358E1A64D6C9}">
      <dgm:prSet/>
      <dgm:spPr/>
      <dgm:t>
        <a:bodyPr/>
        <a:lstStyle/>
        <a:p>
          <a:endParaRPr lang="en-US"/>
        </a:p>
      </dgm:t>
    </dgm:pt>
    <dgm:pt modelId="{BA2E5375-FD77-47B4-A888-7387932E6D62}">
      <dgm:prSet/>
      <dgm:spPr/>
      <dgm:t>
        <a:bodyPr/>
        <a:lstStyle/>
        <a:p>
          <a:endParaRPr lang="en-US" dirty="0"/>
        </a:p>
      </dgm:t>
    </dgm:pt>
    <dgm:pt modelId="{9F77997F-5AC0-4D93-89AC-B37B7BDB43EF}" type="parTrans" cxnId="{285F19B7-0DE6-4516-940F-56080AC841F9}">
      <dgm:prSet/>
      <dgm:spPr/>
      <dgm:t>
        <a:bodyPr/>
        <a:lstStyle/>
        <a:p>
          <a:endParaRPr lang="en-US"/>
        </a:p>
      </dgm:t>
    </dgm:pt>
    <dgm:pt modelId="{60B3BF56-C21F-456B-A5AC-F5C3D1CA9305}" type="sibTrans" cxnId="{285F19B7-0DE6-4516-940F-56080AC841F9}">
      <dgm:prSet/>
      <dgm:spPr/>
      <dgm:t>
        <a:bodyPr/>
        <a:lstStyle/>
        <a:p>
          <a:endParaRPr lang="en-US"/>
        </a:p>
      </dgm:t>
    </dgm:pt>
    <dgm:pt modelId="{B3A5C720-F6BA-415B-BACC-D6E1E00A3E9C}">
      <dgm:prSet/>
      <dgm:spPr/>
      <dgm:t>
        <a:bodyPr/>
        <a:lstStyle/>
        <a:p>
          <a:endParaRPr lang="en-US" dirty="0"/>
        </a:p>
      </dgm:t>
    </dgm:pt>
    <dgm:pt modelId="{F429E385-C516-4FAE-9D81-A0D8E294980B}" type="parTrans" cxnId="{0929CE6D-F2B1-4F6D-A0E5-1B096EB2DD2D}">
      <dgm:prSet/>
      <dgm:spPr/>
      <dgm:t>
        <a:bodyPr/>
        <a:lstStyle/>
        <a:p>
          <a:endParaRPr lang="en-US"/>
        </a:p>
      </dgm:t>
    </dgm:pt>
    <dgm:pt modelId="{70FFF6AF-5C8B-41F5-90C8-E0C6F35FD649}" type="sibTrans" cxnId="{0929CE6D-F2B1-4F6D-A0E5-1B096EB2DD2D}">
      <dgm:prSet/>
      <dgm:spPr/>
      <dgm:t>
        <a:bodyPr/>
        <a:lstStyle/>
        <a:p>
          <a:endParaRPr lang="en-US"/>
        </a:p>
      </dgm:t>
    </dgm:pt>
    <dgm:pt modelId="{573103A9-89AC-4873-8CB5-0F4B7370B2E1}" type="pres">
      <dgm:prSet presAssocID="{B64DB52A-CA4F-4852-B41E-6A1F43CC58F9}" presName="vert0" presStyleCnt="0">
        <dgm:presLayoutVars>
          <dgm:dir/>
          <dgm:animOne val="branch"/>
          <dgm:animLvl val="lvl"/>
        </dgm:presLayoutVars>
      </dgm:prSet>
      <dgm:spPr/>
      <dgm:t>
        <a:bodyPr/>
        <a:lstStyle/>
        <a:p>
          <a:endParaRPr lang="en-US"/>
        </a:p>
      </dgm:t>
    </dgm:pt>
    <dgm:pt modelId="{6FF76B5C-2320-4CB5-9844-D984662B1716}" type="pres">
      <dgm:prSet presAssocID="{C8BD7C71-8F1B-400D-96A3-6B553A93EB7F}" presName="thickLine" presStyleLbl="alignNode1" presStyleIdx="0" presStyleCnt="6"/>
      <dgm:spPr/>
    </dgm:pt>
    <dgm:pt modelId="{41C87863-73DE-4F9B-A76B-880D805954CA}" type="pres">
      <dgm:prSet presAssocID="{C8BD7C71-8F1B-400D-96A3-6B553A93EB7F}" presName="horz1" presStyleCnt="0"/>
      <dgm:spPr/>
    </dgm:pt>
    <dgm:pt modelId="{CBF4003A-096B-4C8D-8E4F-9D9EAB681D72}" type="pres">
      <dgm:prSet presAssocID="{C8BD7C71-8F1B-400D-96A3-6B553A93EB7F}" presName="tx1" presStyleLbl="revTx" presStyleIdx="0" presStyleCnt="6"/>
      <dgm:spPr/>
      <dgm:t>
        <a:bodyPr/>
        <a:lstStyle/>
        <a:p>
          <a:endParaRPr lang="en-US"/>
        </a:p>
      </dgm:t>
    </dgm:pt>
    <dgm:pt modelId="{608B7948-37DA-4DDD-A56D-16AA8CC3AD50}" type="pres">
      <dgm:prSet presAssocID="{C8BD7C71-8F1B-400D-96A3-6B553A93EB7F}" presName="vert1" presStyleCnt="0"/>
      <dgm:spPr/>
    </dgm:pt>
    <dgm:pt modelId="{F83A5B86-9D43-4C81-A6D4-87875817B689}" type="pres">
      <dgm:prSet presAssocID="{311F9A05-A7F4-4328-B319-DBCDF0DF0E82}" presName="thickLine" presStyleLbl="alignNode1" presStyleIdx="1" presStyleCnt="6"/>
      <dgm:spPr/>
    </dgm:pt>
    <dgm:pt modelId="{3BC975C1-0C99-4F97-8C52-C1CFA0BAF551}" type="pres">
      <dgm:prSet presAssocID="{311F9A05-A7F4-4328-B319-DBCDF0DF0E82}" presName="horz1" presStyleCnt="0"/>
      <dgm:spPr/>
    </dgm:pt>
    <dgm:pt modelId="{7BF0A7F7-0F37-4B11-9AED-B46FE7E128D8}" type="pres">
      <dgm:prSet presAssocID="{311F9A05-A7F4-4328-B319-DBCDF0DF0E82}" presName="tx1" presStyleLbl="revTx" presStyleIdx="1" presStyleCnt="6"/>
      <dgm:spPr/>
      <dgm:t>
        <a:bodyPr/>
        <a:lstStyle/>
        <a:p>
          <a:endParaRPr lang="en-US"/>
        </a:p>
      </dgm:t>
    </dgm:pt>
    <dgm:pt modelId="{AA11931C-C560-424D-BE37-4872DC1B2048}" type="pres">
      <dgm:prSet presAssocID="{311F9A05-A7F4-4328-B319-DBCDF0DF0E82}" presName="vert1" presStyleCnt="0"/>
      <dgm:spPr/>
    </dgm:pt>
    <dgm:pt modelId="{7EE56E18-6978-43E9-9D4D-E31AA5BEE441}" type="pres">
      <dgm:prSet presAssocID="{81CB55E0-0FB6-485C-B15D-9BD278F78C6F}" presName="thickLine" presStyleLbl="alignNode1" presStyleIdx="2" presStyleCnt="6"/>
      <dgm:spPr/>
    </dgm:pt>
    <dgm:pt modelId="{447FCB44-517C-43F4-BE59-391C36D21C9C}" type="pres">
      <dgm:prSet presAssocID="{81CB55E0-0FB6-485C-B15D-9BD278F78C6F}" presName="horz1" presStyleCnt="0"/>
      <dgm:spPr/>
    </dgm:pt>
    <dgm:pt modelId="{89436931-860B-40AD-8DCE-CEE0F56E60ED}" type="pres">
      <dgm:prSet presAssocID="{81CB55E0-0FB6-485C-B15D-9BD278F78C6F}" presName="tx1" presStyleLbl="revTx" presStyleIdx="2" presStyleCnt="6"/>
      <dgm:spPr/>
      <dgm:t>
        <a:bodyPr/>
        <a:lstStyle/>
        <a:p>
          <a:endParaRPr lang="en-US"/>
        </a:p>
      </dgm:t>
    </dgm:pt>
    <dgm:pt modelId="{0E51C315-1B46-45D6-B4D4-E44AF2F7FE47}" type="pres">
      <dgm:prSet presAssocID="{81CB55E0-0FB6-485C-B15D-9BD278F78C6F}" presName="vert1" presStyleCnt="0"/>
      <dgm:spPr/>
    </dgm:pt>
    <dgm:pt modelId="{B514687E-679F-4404-A929-C733AA004539}" type="pres">
      <dgm:prSet presAssocID="{51474CA9-1ADD-4331-9534-6780C3A18768}" presName="thickLine" presStyleLbl="alignNode1" presStyleIdx="3" presStyleCnt="6"/>
      <dgm:spPr/>
    </dgm:pt>
    <dgm:pt modelId="{80414A13-977F-40A0-BF88-8AEFF7DE361E}" type="pres">
      <dgm:prSet presAssocID="{51474CA9-1ADD-4331-9534-6780C3A18768}" presName="horz1" presStyleCnt="0"/>
      <dgm:spPr/>
    </dgm:pt>
    <dgm:pt modelId="{3E95DC57-D848-494F-A343-6CBABA986252}" type="pres">
      <dgm:prSet presAssocID="{51474CA9-1ADD-4331-9534-6780C3A18768}" presName="tx1" presStyleLbl="revTx" presStyleIdx="3" presStyleCnt="6"/>
      <dgm:spPr/>
      <dgm:t>
        <a:bodyPr/>
        <a:lstStyle/>
        <a:p>
          <a:endParaRPr lang="en-US"/>
        </a:p>
      </dgm:t>
    </dgm:pt>
    <dgm:pt modelId="{42E34139-9E2B-4ED7-9D4C-0E180FD5C739}" type="pres">
      <dgm:prSet presAssocID="{51474CA9-1ADD-4331-9534-6780C3A18768}" presName="vert1" presStyleCnt="0"/>
      <dgm:spPr/>
    </dgm:pt>
    <dgm:pt modelId="{2B37DFBD-1045-417A-89DD-348147EAB4F5}" type="pres">
      <dgm:prSet presAssocID="{B3A5C720-F6BA-415B-BACC-D6E1E00A3E9C}" presName="thickLine" presStyleLbl="alignNode1" presStyleIdx="4" presStyleCnt="6"/>
      <dgm:spPr/>
    </dgm:pt>
    <dgm:pt modelId="{37DCFB0B-1A16-4C35-A117-077E4A9AB132}" type="pres">
      <dgm:prSet presAssocID="{B3A5C720-F6BA-415B-BACC-D6E1E00A3E9C}" presName="horz1" presStyleCnt="0"/>
      <dgm:spPr/>
    </dgm:pt>
    <dgm:pt modelId="{1DE32878-1683-410B-AEEA-0DF09EA5FA62}" type="pres">
      <dgm:prSet presAssocID="{B3A5C720-F6BA-415B-BACC-D6E1E00A3E9C}" presName="tx1" presStyleLbl="revTx" presStyleIdx="4" presStyleCnt="6"/>
      <dgm:spPr/>
      <dgm:t>
        <a:bodyPr/>
        <a:lstStyle/>
        <a:p>
          <a:endParaRPr lang="en-US"/>
        </a:p>
      </dgm:t>
    </dgm:pt>
    <dgm:pt modelId="{41D82D7D-82CC-403F-8FAA-7EF8B4434DBF}" type="pres">
      <dgm:prSet presAssocID="{B3A5C720-F6BA-415B-BACC-D6E1E00A3E9C}" presName="vert1" presStyleCnt="0"/>
      <dgm:spPr/>
    </dgm:pt>
    <dgm:pt modelId="{0B062B2C-FD23-461E-89A1-3ECDF7A567C2}" type="pres">
      <dgm:prSet presAssocID="{BA2E5375-FD77-47B4-A888-7387932E6D62}" presName="thickLine" presStyleLbl="alignNode1" presStyleIdx="5" presStyleCnt="6"/>
      <dgm:spPr/>
    </dgm:pt>
    <dgm:pt modelId="{1BF4D050-06E8-4B19-AEB8-E6957BD50750}" type="pres">
      <dgm:prSet presAssocID="{BA2E5375-FD77-47B4-A888-7387932E6D62}" presName="horz1" presStyleCnt="0"/>
      <dgm:spPr/>
    </dgm:pt>
    <dgm:pt modelId="{D26876CA-709E-4928-AAF2-4734D1DACD6D}" type="pres">
      <dgm:prSet presAssocID="{BA2E5375-FD77-47B4-A888-7387932E6D62}" presName="tx1" presStyleLbl="revTx" presStyleIdx="5" presStyleCnt="6"/>
      <dgm:spPr/>
      <dgm:t>
        <a:bodyPr/>
        <a:lstStyle/>
        <a:p>
          <a:endParaRPr lang="en-US"/>
        </a:p>
      </dgm:t>
    </dgm:pt>
    <dgm:pt modelId="{88DBC881-0983-4C91-8705-CB8A16D50941}" type="pres">
      <dgm:prSet presAssocID="{BA2E5375-FD77-47B4-A888-7387932E6D62}" presName="vert1" presStyleCnt="0"/>
      <dgm:spPr/>
    </dgm:pt>
  </dgm:ptLst>
  <dgm:cxnLst>
    <dgm:cxn modelId="{45D20DB2-B745-164E-9807-1F5FB0C778C6}" type="presOf" srcId="{311F9A05-A7F4-4328-B319-DBCDF0DF0E82}" destId="{7BF0A7F7-0F37-4B11-9AED-B46FE7E128D8}" srcOrd="0" destOrd="0" presId="urn:microsoft.com/office/officeart/2008/layout/LinedList"/>
    <dgm:cxn modelId="{A8279F42-205C-42CA-8385-164FB091EC3D}" type="presOf" srcId="{B64DB52A-CA4F-4852-B41E-6A1F43CC58F9}" destId="{573103A9-89AC-4873-8CB5-0F4B7370B2E1}" srcOrd="0" destOrd="0" presId="urn:microsoft.com/office/officeart/2008/layout/LinedList"/>
    <dgm:cxn modelId="{89EDAA3B-6313-DC48-A937-FB4ABEC77DBA}" type="presOf" srcId="{B3A5C720-F6BA-415B-BACC-D6E1E00A3E9C}" destId="{1DE32878-1683-410B-AEEA-0DF09EA5FA62}" srcOrd="0" destOrd="0" presId="urn:microsoft.com/office/officeart/2008/layout/LinedList"/>
    <dgm:cxn modelId="{FF12494A-708E-4E46-985D-D2F08428AA90}" type="presOf" srcId="{81CB55E0-0FB6-485C-B15D-9BD278F78C6F}" destId="{89436931-860B-40AD-8DCE-CEE0F56E60ED}" srcOrd="0" destOrd="0" presId="urn:microsoft.com/office/officeart/2008/layout/LinedList"/>
    <dgm:cxn modelId="{285F19B7-0DE6-4516-940F-56080AC841F9}" srcId="{B64DB52A-CA4F-4852-B41E-6A1F43CC58F9}" destId="{BA2E5375-FD77-47B4-A888-7387932E6D62}" srcOrd="5" destOrd="0" parTransId="{9F77997F-5AC0-4D93-89AC-B37B7BDB43EF}" sibTransId="{60B3BF56-C21F-456B-A5AC-F5C3D1CA9305}"/>
    <dgm:cxn modelId="{907FA709-3D37-D844-AFBD-CA7D9961AE3C}" type="presOf" srcId="{C8BD7C71-8F1B-400D-96A3-6B553A93EB7F}" destId="{CBF4003A-096B-4C8D-8E4F-9D9EAB681D72}" srcOrd="0" destOrd="0" presId="urn:microsoft.com/office/officeart/2008/layout/LinedList"/>
    <dgm:cxn modelId="{6DCFA649-9D6E-469B-AACA-1BA847263E9A}" srcId="{B64DB52A-CA4F-4852-B41E-6A1F43CC58F9}" destId="{311F9A05-A7F4-4328-B319-DBCDF0DF0E82}" srcOrd="1" destOrd="0" parTransId="{23B85C74-2F21-4685-BD89-BB563657B099}" sibTransId="{91F4A534-BBDE-4EB5-BAE5-EACEB7D0B868}"/>
    <dgm:cxn modelId="{1FCEBF4D-D41B-4245-BA20-3634959C6CDE}" type="presOf" srcId="{51474CA9-1ADD-4331-9534-6780C3A18768}" destId="{3E95DC57-D848-494F-A343-6CBABA986252}" srcOrd="0" destOrd="0" presId="urn:microsoft.com/office/officeart/2008/layout/LinedList"/>
    <dgm:cxn modelId="{942D76EB-4E8A-49F9-9193-131FE6139044}" srcId="{B64DB52A-CA4F-4852-B41E-6A1F43CC58F9}" destId="{C8BD7C71-8F1B-400D-96A3-6B553A93EB7F}" srcOrd="0" destOrd="0" parTransId="{BBCFB319-5299-4310-B646-22472DABF40A}" sibTransId="{AF1C4F3A-D240-4EB1-9ECB-2ED225CCC019}"/>
    <dgm:cxn modelId="{C10A2E97-40D9-4123-9647-358E1A64D6C9}" srcId="{B64DB52A-CA4F-4852-B41E-6A1F43CC58F9}" destId="{51474CA9-1ADD-4331-9534-6780C3A18768}" srcOrd="3" destOrd="0" parTransId="{BD15203B-A2C4-421B-84CE-AC22CC6E237F}" sibTransId="{5FA359DE-6932-424A-BDE2-579D3E29B33A}"/>
    <dgm:cxn modelId="{15B56B05-59F5-DF4E-A789-6AEA05D2B420}" type="presOf" srcId="{BA2E5375-FD77-47B4-A888-7387932E6D62}" destId="{D26876CA-709E-4928-AAF2-4734D1DACD6D}" srcOrd="0" destOrd="0" presId="urn:microsoft.com/office/officeart/2008/layout/LinedList"/>
    <dgm:cxn modelId="{B28E7539-702F-4403-B38C-CCE2EC9E181E}" srcId="{B64DB52A-CA4F-4852-B41E-6A1F43CC58F9}" destId="{81CB55E0-0FB6-485C-B15D-9BD278F78C6F}" srcOrd="2" destOrd="0" parTransId="{81E23C2F-5B75-4C87-B80F-F92D751EF2D3}" sibTransId="{CA453529-0F48-4EF3-8F16-E732FB1811C3}"/>
    <dgm:cxn modelId="{0929CE6D-F2B1-4F6D-A0E5-1B096EB2DD2D}" srcId="{B64DB52A-CA4F-4852-B41E-6A1F43CC58F9}" destId="{B3A5C720-F6BA-415B-BACC-D6E1E00A3E9C}" srcOrd="4" destOrd="0" parTransId="{F429E385-C516-4FAE-9D81-A0D8E294980B}" sibTransId="{70FFF6AF-5C8B-41F5-90C8-E0C6F35FD649}"/>
    <dgm:cxn modelId="{B2115850-5AEF-1F4C-8E22-3BDB21E60731}" type="presParOf" srcId="{573103A9-89AC-4873-8CB5-0F4B7370B2E1}" destId="{6FF76B5C-2320-4CB5-9844-D984662B1716}" srcOrd="0" destOrd="0" presId="urn:microsoft.com/office/officeart/2008/layout/LinedList"/>
    <dgm:cxn modelId="{1E70B76E-73B3-1A4A-AD64-43EEA0970FBD}" type="presParOf" srcId="{573103A9-89AC-4873-8CB5-0F4B7370B2E1}" destId="{41C87863-73DE-4F9B-A76B-880D805954CA}" srcOrd="1" destOrd="0" presId="urn:microsoft.com/office/officeart/2008/layout/LinedList"/>
    <dgm:cxn modelId="{52B56B66-7AC5-FB4E-8675-5DE2DA720E38}" type="presParOf" srcId="{41C87863-73DE-4F9B-A76B-880D805954CA}" destId="{CBF4003A-096B-4C8D-8E4F-9D9EAB681D72}" srcOrd="0" destOrd="0" presId="urn:microsoft.com/office/officeart/2008/layout/LinedList"/>
    <dgm:cxn modelId="{1C49C6BE-008D-AB47-B5DB-2753484F690C}" type="presParOf" srcId="{41C87863-73DE-4F9B-A76B-880D805954CA}" destId="{608B7948-37DA-4DDD-A56D-16AA8CC3AD50}" srcOrd="1" destOrd="0" presId="urn:microsoft.com/office/officeart/2008/layout/LinedList"/>
    <dgm:cxn modelId="{4E8184FC-2059-B94D-896D-FCE0D8C09ADF}" type="presParOf" srcId="{573103A9-89AC-4873-8CB5-0F4B7370B2E1}" destId="{F83A5B86-9D43-4C81-A6D4-87875817B689}" srcOrd="2" destOrd="0" presId="urn:microsoft.com/office/officeart/2008/layout/LinedList"/>
    <dgm:cxn modelId="{EA8D8550-A737-DA4E-AB82-7F10B2E824D5}" type="presParOf" srcId="{573103A9-89AC-4873-8CB5-0F4B7370B2E1}" destId="{3BC975C1-0C99-4F97-8C52-C1CFA0BAF551}" srcOrd="3" destOrd="0" presId="urn:microsoft.com/office/officeart/2008/layout/LinedList"/>
    <dgm:cxn modelId="{6251F19A-F4F0-3249-989E-E9873BA4260B}" type="presParOf" srcId="{3BC975C1-0C99-4F97-8C52-C1CFA0BAF551}" destId="{7BF0A7F7-0F37-4B11-9AED-B46FE7E128D8}" srcOrd="0" destOrd="0" presId="urn:microsoft.com/office/officeart/2008/layout/LinedList"/>
    <dgm:cxn modelId="{DA5E3480-9FD2-2948-8270-01A77CD2D653}" type="presParOf" srcId="{3BC975C1-0C99-4F97-8C52-C1CFA0BAF551}" destId="{AA11931C-C560-424D-BE37-4872DC1B2048}" srcOrd="1" destOrd="0" presId="urn:microsoft.com/office/officeart/2008/layout/LinedList"/>
    <dgm:cxn modelId="{D65DEFD3-662E-5C49-BF2B-B4B8E2EAE878}" type="presParOf" srcId="{573103A9-89AC-4873-8CB5-0F4B7370B2E1}" destId="{7EE56E18-6978-43E9-9D4D-E31AA5BEE441}" srcOrd="4" destOrd="0" presId="urn:microsoft.com/office/officeart/2008/layout/LinedList"/>
    <dgm:cxn modelId="{E7F73BAA-986B-C641-9952-33D61409615B}" type="presParOf" srcId="{573103A9-89AC-4873-8CB5-0F4B7370B2E1}" destId="{447FCB44-517C-43F4-BE59-391C36D21C9C}" srcOrd="5" destOrd="0" presId="urn:microsoft.com/office/officeart/2008/layout/LinedList"/>
    <dgm:cxn modelId="{9B878D0D-A73C-164E-9145-7EDC14670BA8}" type="presParOf" srcId="{447FCB44-517C-43F4-BE59-391C36D21C9C}" destId="{89436931-860B-40AD-8DCE-CEE0F56E60ED}" srcOrd="0" destOrd="0" presId="urn:microsoft.com/office/officeart/2008/layout/LinedList"/>
    <dgm:cxn modelId="{48F32774-FFEB-F149-A3EE-54FFAED04278}" type="presParOf" srcId="{447FCB44-517C-43F4-BE59-391C36D21C9C}" destId="{0E51C315-1B46-45D6-B4D4-E44AF2F7FE47}" srcOrd="1" destOrd="0" presId="urn:microsoft.com/office/officeart/2008/layout/LinedList"/>
    <dgm:cxn modelId="{FE2B1BD4-055A-0742-BA59-E003FEE1EE81}" type="presParOf" srcId="{573103A9-89AC-4873-8CB5-0F4B7370B2E1}" destId="{B514687E-679F-4404-A929-C733AA004539}" srcOrd="6" destOrd="0" presId="urn:microsoft.com/office/officeart/2008/layout/LinedList"/>
    <dgm:cxn modelId="{B4FF096B-02C8-434E-B2D4-FC7EDF1F71C7}" type="presParOf" srcId="{573103A9-89AC-4873-8CB5-0F4B7370B2E1}" destId="{80414A13-977F-40A0-BF88-8AEFF7DE361E}" srcOrd="7" destOrd="0" presId="urn:microsoft.com/office/officeart/2008/layout/LinedList"/>
    <dgm:cxn modelId="{1037D01C-0282-4A4F-B484-713037F40433}" type="presParOf" srcId="{80414A13-977F-40A0-BF88-8AEFF7DE361E}" destId="{3E95DC57-D848-494F-A343-6CBABA986252}" srcOrd="0" destOrd="0" presId="urn:microsoft.com/office/officeart/2008/layout/LinedList"/>
    <dgm:cxn modelId="{1313B8A6-58B8-4B41-A3AE-CCB6DD6F77FE}" type="presParOf" srcId="{80414A13-977F-40A0-BF88-8AEFF7DE361E}" destId="{42E34139-9E2B-4ED7-9D4C-0E180FD5C739}" srcOrd="1" destOrd="0" presId="urn:microsoft.com/office/officeart/2008/layout/LinedList"/>
    <dgm:cxn modelId="{5A2C22EE-0563-744D-ACF2-10863CB00E7A}" type="presParOf" srcId="{573103A9-89AC-4873-8CB5-0F4B7370B2E1}" destId="{2B37DFBD-1045-417A-89DD-348147EAB4F5}" srcOrd="8" destOrd="0" presId="urn:microsoft.com/office/officeart/2008/layout/LinedList"/>
    <dgm:cxn modelId="{88C6BB4F-99BD-1843-BB23-A8789F931008}" type="presParOf" srcId="{573103A9-89AC-4873-8CB5-0F4B7370B2E1}" destId="{37DCFB0B-1A16-4C35-A117-077E4A9AB132}" srcOrd="9" destOrd="0" presId="urn:microsoft.com/office/officeart/2008/layout/LinedList"/>
    <dgm:cxn modelId="{65B8236E-63FA-D948-A0EB-4F0F477D6472}" type="presParOf" srcId="{37DCFB0B-1A16-4C35-A117-077E4A9AB132}" destId="{1DE32878-1683-410B-AEEA-0DF09EA5FA62}" srcOrd="0" destOrd="0" presId="urn:microsoft.com/office/officeart/2008/layout/LinedList"/>
    <dgm:cxn modelId="{FC9D9B37-EB2A-D24C-ACC3-3A6C57231755}" type="presParOf" srcId="{37DCFB0B-1A16-4C35-A117-077E4A9AB132}" destId="{41D82D7D-82CC-403F-8FAA-7EF8B4434DBF}" srcOrd="1" destOrd="0" presId="urn:microsoft.com/office/officeart/2008/layout/LinedList"/>
    <dgm:cxn modelId="{8961EED3-8C90-2649-A668-6BDB404DC9B0}" type="presParOf" srcId="{573103A9-89AC-4873-8CB5-0F4B7370B2E1}" destId="{0B062B2C-FD23-461E-89A1-3ECDF7A567C2}" srcOrd="10" destOrd="0" presId="urn:microsoft.com/office/officeart/2008/layout/LinedList"/>
    <dgm:cxn modelId="{BE497937-CB65-E24E-B903-13C2D1658A2A}" type="presParOf" srcId="{573103A9-89AC-4873-8CB5-0F4B7370B2E1}" destId="{1BF4D050-06E8-4B19-AEB8-E6957BD50750}" srcOrd="11" destOrd="0" presId="urn:microsoft.com/office/officeart/2008/layout/LinedList"/>
    <dgm:cxn modelId="{D1C6815E-8D6E-4743-9C8B-94839844E7FB}" type="presParOf" srcId="{1BF4D050-06E8-4B19-AEB8-E6957BD50750}" destId="{D26876CA-709E-4928-AAF2-4734D1DACD6D}" srcOrd="0" destOrd="0" presId="urn:microsoft.com/office/officeart/2008/layout/LinedList"/>
    <dgm:cxn modelId="{3B63C124-0620-F041-ADF7-629CA70198C6}" type="presParOf" srcId="{1BF4D050-06E8-4B19-AEB8-E6957BD50750}" destId="{88DBC881-0983-4C91-8705-CB8A16D50941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FF76B5C-2320-4CB5-9844-D984662B1716}">
      <dsp:nvSpPr>
        <dsp:cNvPr id="0" name=""/>
        <dsp:cNvSpPr/>
      </dsp:nvSpPr>
      <dsp:spPr>
        <a:xfrm>
          <a:off x="0" y="2229"/>
          <a:ext cx="6878347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BF4003A-096B-4C8D-8E4F-9D9EAB681D72}">
      <dsp:nvSpPr>
        <dsp:cNvPr id="0" name=""/>
        <dsp:cNvSpPr/>
      </dsp:nvSpPr>
      <dsp:spPr>
        <a:xfrm>
          <a:off x="0" y="2229"/>
          <a:ext cx="6878347" cy="7603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137160" rIns="137160" bIns="137160" numCol="1" spcCol="1270" anchor="t" anchorCtr="0">
          <a:noAutofit/>
        </a:bodyPr>
        <a:lstStyle/>
        <a:p>
          <a:pPr lvl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3600" kern="1200" dirty="0">
              <a:solidFill>
                <a:schemeClr val="tx2">
                  <a:lumMod val="75000"/>
                  <a:lumOff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1. Introduction</a:t>
          </a:r>
          <a:endParaRPr lang="en-US" sz="3600" kern="1200" dirty="0">
            <a:solidFill>
              <a:schemeClr val="tx2">
                <a:lumMod val="75000"/>
                <a:lumOff val="25000"/>
              </a:schemeClr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0" y="2229"/>
        <a:ext cx="6878347" cy="760335"/>
      </dsp:txXfrm>
    </dsp:sp>
    <dsp:sp modelId="{F83A5B86-9D43-4C81-A6D4-87875817B689}">
      <dsp:nvSpPr>
        <dsp:cNvPr id="0" name=""/>
        <dsp:cNvSpPr/>
      </dsp:nvSpPr>
      <dsp:spPr>
        <a:xfrm>
          <a:off x="0" y="762565"/>
          <a:ext cx="6878347" cy="0"/>
        </a:xfrm>
        <a:prstGeom prst="lin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BF0A7F7-0F37-4B11-9AED-B46FE7E128D8}">
      <dsp:nvSpPr>
        <dsp:cNvPr id="0" name=""/>
        <dsp:cNvSpPr/>
      </dsp:nvSpPr>
      <dsp:spPr>
        <a:xfrm>
          <a:off x="0" y="762565"/>
          <a:ext cx="6878347" cy="7603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400" tIns="152400" rIns="152400" bIns="152400" numCol="1" spcCol="1270" anchor="t" anchorCtr="0">
          <a:noAutofit/>
        </a:bodyPr>
        <a:lstStyle/>
        <a:p>
          <a:pPr lvl="0" algn="l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4000" kern="1200" dirty="0">
              <a:solidFill>
                <a:schemeClr val="accent3">
                  <a:lumMod val="60000"/>
                  <a:lumOff val="4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2. Sets</a:t>
          </a:r>
          <a:endParaRPr lang="en-US" sz="4000" kern="1200" dirty="0">
            <a:solidFill>
              <a:schemeClr val="accent3">
                <a:lumMod val="60000"/>
                <a:lumOff val="40000"/>
              </a:schemeClr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0" y="762565"/>
        <a:ext cx="6878347" cy="760335"/>
      </dsp:txXfrm>
    </dsp:sp>
    <dsp:sp modelId="{7EE56E18-6978-43E9-9D4D-E31AA5BEE441}">
      <dsp:nvSpPr>
        <dsp:cNvPr id="0" name=""/>
        <dsp:cNvSpPr/>
      </dsp:nvSpPr>
      <dsp:spPr>
        <a:xfrm>
          <a:off x="0" y="1522901"/>
          <a:ext cx="6878347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9436931-860B-40AD-8DCE-CEE0F56E60ED}">
      <dsp:nvSpPr>
        <dsp:cNvPr id="0" name=""/>
        <dsp:cNvSpPr/>
      </dsp:nvSpPr>
      <dsp:spPr>
        <a:xfrm>
          <a:off x="0" y="1522901"/>
          <a:ext cx="6878347" cy="7603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400" tIns="152400" rIns="152400" bIns="152400" numCol="1" spcCol="1270" anchor="t" anchorCtr="0">
          <a:noAutofit/>
        </a:bodyPr>
        <a:lstStyle/>
        <a:p>
          <a:pPr lvl="0" algn="l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4000" kern="1200" dirty="0">
              <a:solidFill>
                <a:schemeClr val="accent5">
                  <a:lumMod val="60000"/>
                  <a:lumOff val="4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3. Relations</a:t>
          </a:r>
          <a:endParaRPr lang="en-US" sz="4000" kern="1200" dirty="0">
            <a:solidFill>
              <a:schemeClr val="accent5">
                <a:lumMod val="60000"/>
                <a:lumOff val="40000"/>
              </a:schemeClr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0" y="1522901"/>
        <a:ext cx="6878347" cy="760335"/>
      </dsp:txXfrm>
    </dsp:sp>
    <dsp:sp modelId="{B514687E-679F-4404-A929-C733AA004539}">
      <dsp:nvSpPr>
        <dsp:cNvPr id="0" name=""/>
        <dsp:cNvSpPr/>
      </dsp:nvSpPr>
      <dsp:spPr>
        <a:xfrm>
          <a:off x="0" y="2283237"/>
          <a:ext cx="6878347" cy="0"/>
        </a:xfrm>
        <a:prstGeom prst="lin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E95DC57-D848-494F-A343-6CBABA986252}">
      <dsp:nvSpPr>
        <dsp:cNvPr id="0" name=""/>
        <dsp:cNvSpPr/>
      </dsp:nvSpPr>
      <dsp:spPr>
        <a:xfrm>
          <a:off x="0" y="2283237"/>
          <a:ext cx="6878347" cy="7603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400" tIns="152400" rIns="152400" bIns="152400" numCol="1" spcCol="1270" anchor="t" anchorCtr="0">
          <a:noAutofit/>
        </a:bodyPr>
        <a:lstStyle/>
        <a:p>
          <a:pPr lvl="0" algn="l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4000" kern="12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4. Graphs</a:t>
          </a:r>
        </a:p>
        <a:p>
          <a:pPr lvl="0" algn="l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4000" kern="12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5. Activities</a:t>
          </a:r>
          <a:endParaRPr lang="en-US" sz="4000" kern="1200" dirty="0">
            <a:solidFill>
              <a:srgbClr val="FF0000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0" y="2283237"/>
        <a:ext cx="6878347" cy="760335"/>
      </dsp:txXfrm>
    </dsp:sp>
    <dsp:sp modelId="{2B37DFBD-1045-417A-89DD-348147EAB4F5}">
      <dsp:nvSpPr>
        <dsp:cNvPr id="0" name=""/>
        <dsp:cNvSpPr/>
      </dsp:nvSpPr>
      <dsp:spPr>
        <a:xfrm>
          <a:off x="0" y="3043573"/>
          <a:ext cx="6878347" cy="0"/>
        </a:xfrm>
        <a:prstGeom prst="lin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DE32878-1683-410B-AEEA-0DF09EA5FA62}">
      <dsp:nvSpPr>
        <dsp:cNvPr id="0" name=""/>
        <dsp:cNvSpPr/>
      </dsp:nvSpPr>
      <dsp:spPr>
        <a:xfrm>
          <a:off x="0" y="3043573"/>
          <a:ext cx="6878347" cy="7603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137160" rIns="137160" bIns="137160" numCol="1" spcCol="1270" anchor="t" anchorCtr="0">
          <a:noAutofit/>
        </a:bodyPr>
        <a:lstStyle/>
        <a:p>
          <a:pPr lvl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3600" kern="1200" dirty="0"/>
        </a:p>
      </dsp:txBody>
      <dsp:txXfrm>
        <a:off x="0" y="3043573"/>
        <a:ext cx="6878347" cy="760335"/>
      </dsp:txXfrm>
    </dsp:sp>
    <dsp:sp modelId="{0B062B2C-FD23-461E-89A1-3ECDF7A567C2}">
      <dsp:nvSpPr>
        <dsp:cNvPr id="0" name=""/>
        <dsp:cNvSpPr/>
      </dsp:nvSpPr>
      <dsp:spPr>
        <a:xfrm>
          <a:off x="0" y="3803909"/>
          <a:ext cx="6878347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26876CA-709E-4928-AAF2-4734D1DACD6D}">
      <dsp:nvSpPr>
        <dsp:cNvPr id="0" name=""/>
        <dsp:cNvSpPr/>
      </dsp:nvSpPr>
      <dsp:spPr>
        <a:xfrm>
          <a:off x="0" y="3803909"/>
          <a:ext cx="6878347" cy="7603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137160" rIns="137160" bIns="137160" numCol="1" spcCol="1270" anchor="t" anchorCtr="0">
          <a:noAutofit/>
        </a:bodyPr>
        <a:lstStyle/>
        <a:p>
          <a:pPr lvl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3600" kern="1200" dirty="0"/>
        </a:p>
      </dsp:txBody>
      <dsp:txXfrm>
        <a:off x="0" y="3803909"/>
        <a:ext cx="6878347" cy="76033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F6FBC31-3F3F-40A8-84DF-BE3B4616B22A}" type="datetimeFigureOut">
              <a:rPr lang="en-IN" smtClean="0"/>
              <a:t>16-02-2026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E9FE326-85E6-4395-8F28-A8F972B7BB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937608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" name="Google Shape;124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9FE326-85E6-4395-8F28-A8F972B7BB4E}" type="slidenum">
              <a:rPr lang="en-IN" smtClean="0"/>
              <a:t>12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9198547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6">
          <a:extLst>
            <a:ext uri="{FF2B5EF4-FFF2-40B4-BE49-F238E27FC236}">
              <a16:creationId xmlns:a16="http://schemas.microsoft.com/office/drawing/2014/main" id="{B5CBC55F-FC89-D68F-847D-B822C138DA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8:notes">
            <a:extLst>
              <a:ext uri="{FF2B5EF4-FFF2-40B4-BE49-F238E27FC236}">
                <a16:creationId xmlns:a16="http://schemas.microsoft.com/office/drawing/2014/main" id="{9DD5EF1A-0BA0-407E-F800-0C227A99FD1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8" name="Google Shape;198;p8:notes">
            <a:extLst>
              <a:ext uri="{FF2B5EF4-FFF2-40B4-BE49-F238E27FC236}">
                <a16:creationId xmlns:a16="http://schemas.microsoft.com/office/drawing/2014/main" id="{55D68801-9836-CCF6-6D7C-68999406974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19283603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6">
          <a:extLst>
            <a:ext uri="{FF2B5EF4-FFF2-40B4-BE49-F238E27FC236}">
              <a16:creationId xmlns:a16="http://schemas.microsoft.com/office/drawing/2014/main" id="{B5CBC55F-FC89-D68F-847D-B822C138DA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8:notes">
            <a:extLst>
              <a:ext uri="{FF2B5EF4-FFF2-40B4-BE49-F238E27FC236}">
                <a16:creationId xmlns:a16="http://schemas.microsoft.com/office/drawing/2014/main" id="{9DD5EF1A-0BA0-407E-F800-0C227A99FD1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8" name="Google Shape;198;p8:notes">
            <a:extLst>
              <a:ext uri="{FF2B5EF4-FFF2-40B4-BE49-F238E27FC236}">
                <a16:creationId xmlns:a16="http://schemas.microsoft.com/office/drawing/2014/main" id="{55D68801-9836-CCF6-6D7C-68999406974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16819836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6">
          <a:extLst>
            <a:ext uri="{FF2B5EF4-FFF2-40B4-BE49-F238E27FC236}">
              <a16:creationId xmlns:a16="http://schemas.microsoft.com/office/drawing/2014/main" id="{B5CBC55F-FC89-D68F-847D-B822C138DA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8:notes">
            <a:extLst>
              <a:ext uri="{FF2B5EF4-FFF2-40B4-BE49-F238E27FC236}">
                <a16:creationId xmlns:a16="http://schemas.microsoft.com/office/drawing/2014/main" id="{9DD5EF1A-0BA0-407E-F800-0C227A99FD1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8" name="Google Shape;198;p8:notes">
            <a:extLst>
              <a:ext uri="{FF2B5EF4-FFF2-40B4-BE49-F238E27FC236}">
                <a16:creationId xmlns:a16="http://schemas.microsoft.com/office/drawing/2014/main" id="{55D68801-9836-CCF6-6D7C-68999406974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11063463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6">
          <a:extLst>
            <a:ext uri="{FF2B5EF4-FFF2-40B4-BE49-F238E27FC236}">
              <a16:creationId xmlns:a16="http://schemas.microsoft.com/office/drawing/2014/main" id="{B5CBC55F-FC89-D68F-847D-B822C138DA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8:notes">
            <a:extLst>
              <a:ext uri="{FF2B5EF4-FFF2-40B4-BE49-F238E27FC236}">
                <a16:creationId xmlns:a16="http://schemas.microsoft.com/office/drawing/2014/main" id="{9DD5EF1A-0BA0-407E-F800-0C227A99FD1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8" name="Google Shape;198;p8:notes">
            <a:extLst>
              <a:ext uri="{FF2B5EF4-FFF2-40B4-BE49-F238E27FC236}">
                <a16:creationId xmlns:a16="http://schemas.microsoft.com/office/drawing/2014/main" id="{55D68801-9836-CCF6-6D7C-68999406974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86939752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3" name="Google Shape;263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" name="Google Shape;124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7940089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2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9" name="Google Shape;299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49288934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4B19AD-E795-8469-CB7A-8D1393914F3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B09FC3E-A433-5720-2C47-B2181048543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33EDBC-57D9-C6A6-6869-371DC35FAC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B0B00A-0031-4EDD-BEBB-B131E3F68B8B}" type="datetime1">
              <a:rPr lang="en-IN" smtClean="0"/>
              <a:t>16-02-2026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B1DC6D-FB05-89AF-D06E-2A214B26AC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Galgotias University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979841-7A1B-1D77-4E0D-F440971A18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474159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16841F-4D47-CCA2-58EC-D8D2EE9AF0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907BEF-2C9D-42DC-3411-00B3A39BC0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36B5C3-B400-8ED2-C857-CC6B3B6EB6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8D233B-F1E7-4818-B22D-9EDEAA6025FD}" type="datetime1">
              <a:rPr lang="en-IN" smtClean="0"/>
              <a:t>16-02-2026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C63E68-219E-B6BD-06FF-D09E8B6D7C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Galgotias University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27A96D-72D0-92EE-3B5C-8BFD78B7D7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123341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72F04E-14BF-8146-F649-927656875C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EC510D-E40E-01C5-FB7F-09741C6C96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E5ACC9-6839-7636-07F4-E47B104A0B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543A29-4BB0-4075-8E30-7986497052F0}" type="datetime1">
              <a:rPr lang="en-IN" smtClean="0"/>
              <a:t>16-02-2026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1B4601-E63D-A03B-1DD8-CFB63233DA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Galgotias University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09B235-6487-BCE9-DFAA-764CDD446C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76938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612733-E66D-2C01-CE97-F41A211F2E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778475-62F3-3BA2-991E-7D770F7AA9A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66E4499-7667-A5BF-CFBF-9B3734E0407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9E2D099-6445-5C93-00AE-432EFD0706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28DEB-068D-4137-AD7C-2A99AB9732F4}" type="datetime1">
              <a:rPr lang="en-IN" smtClean="0"/>
              <a:t>16-02-2026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5B21F9-91D3-7C2A-79CF-2138303F1B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Galgotias University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1F9FC0-4A14-8219-84DC-B1D61698EE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485788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67B0A1-9BD6-B0A3-1102-E0773ECBB3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3E87F29-AEDA-BDF7-8C0B-52CF6D178C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9DAB8B1-DB15-81F7-48C3-A6308F8FEA5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50A757F-7720-AA2F-16DB-5B4172569D1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7578B9F-AEC2-1CCB-17EA-93BC35E4208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3ADDEEA-4DF4-410A-B65E-F750E83FBB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0CC2F0-EA24-4949-874F-5F13F434AA44}" type="datetime1">
              <a:rPr lang="en-IN" smtClean="0"/>
              <a:t>16-02-2026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0F839C7-3F7C-98F3-A612-DE6079BE91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Galgotias University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6ED60D5-B96E-CB10-EF10-24D3902091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936104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1685F8-3F04-96B2-DFBB-F5EA7C78F8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8A8FDE9-0DB9-E2EC-9EDB-3F79289240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FCA4BE-841D-4DBA-BF59-98160D016E95}" type="datetime1">
              <a:rPr lang="en-IN" smtClean="0"/>
              <a:t>16-02-2026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76EA0CC-2F72-01A7-0018-794D288958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Galgotias University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1946089-63E6-1B47-884D-22AD3D59DA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951771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C668AA3-F340-1EBC-A758-E63E971B3C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A9DE3D-92F0-4B90-9BC3-DF561ACCB514}" type="datetime1">
              <a:rPr lang="en-IN" smtClean="0"/>
              <a:t>16-02-2026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5C5A41D-81C9-E2BD-E9AF-3AA5DB41DC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Galgotias University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F962B3-3ADB-9572-0FD2-4DB07FD876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557722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3CF039-A9DA-5A12-2BF1-B6433B9DF3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6751A8-C228-5300-A485-3F129FD363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9584203-9632-6129-E4C9-0F99428BB6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6945EB5-72B0-9141-EA99-820C022CC3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A4D748-5313-48F5-9420-28CC4F9D5D65}" type="datetime1">
              <a:rPr lang="en-IN" smtClean="0"/>
              <a:t>16-02-2026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273D456-31B6-1D53-751D-AC82FEAB70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Galgotias University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C32809-415E-2282-E04D-9B200C1C35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596731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584906-117D-5407-AA07-22F539EE4D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636F0D2-D921-4FA7-DA84-8E8520EED99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AD2AD95-AB02-5A07-7492-E9E0B8545F9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92380F9-07CE-6F7A-6038-870977B023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259F97-4389-4CF0-A3AF-539E1666475E}" type="datetime1">
              <a:rPr lang="en-IN" smtClean="0"/>
              <a:t>16-02-2026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B35F0A5-FF26-EF42-9F4E-7B487ABBDC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Galgotias University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6CE9705-E90F-F624-39D6-6FCBE3A7BA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335582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359D05-52FA-1788-519F-7A7F6048A0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32B93A4-5BFE-2E5E-89BD-A9A9F0DE2B6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8D6E1C-2039-6998-16BF-892E575CFF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11ADB8-9CB7-40E6-87C8-C7EB8EBBAF06}" type="datetime1">
              <a:rPr lang="en-IN" smtClean="0"/>
              <a:t>16-02-2026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389FC5-03A9-A2BE-8045-500B370839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Galgotias University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4A79DC-4A34-B800-8BFC-C92A202FB9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875018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A66ADF1-8D2B-E20D-C592-6643F0F627D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57D4B32-ED38-6AD9-3A88-BEE47D427E9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3D39A2-CFE5-7E4C-6E1A-FABC5CF177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03956E-FF61-4FBC-8614-5AF891B621A7}" type="datetime1">
              <a:rPr lang="en-IN" smtClean="0"/>
              <a:t>16-02-2026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58CE03-A02D-B61D-500E-33B067F58A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Galgotias University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BFA42C-489C-58FC-CFE2-833549C6DC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133122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EAADD83-735E-A88A-3D7F-6385A1A746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67D101-3984-8795-F0E9-CFAF99A144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4624CD-D795-52B1-6203-0AF8F58B881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381F908-E6B3-4617-92D9-99814B0B813F}" type="datetime1">
              <a:rPr lang="en-IN" smtClean="0"/>
              <a:t>16-02-2026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1CF967-AE37-65C8-EF03-EB7E3B912DE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IN"/>
              <a:t>Galgotias University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7BD2C0-494D-F5DE-E18D-99B852BA509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6510230-8DD5-4BA5-AB2D-CA30FC08F9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326660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g"/></Relationships>
</file>

<file path=ppt/slides/_rels/slide7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image" Target="../media/image2.jpg"/><Relationship Id="rId7" Type="http://schemas.openxmlformats.org/officeDocument/2006/relationships/diagramColors" Target="../diagrams/colors1.xml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JPG"/><Relationship Id="rId4" Type="http://schemas.openxmlformats.org/officeDocument/2006/relationships/image" Target="../media/image2.jp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JP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jpg"/><Relationship Id="rId4" Type="http://schemas.openxmlformats.org/officeDocument/2006/relationships/image" Target="../media/image11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B4841D-4109-20CB-B253-8EF7C080604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7980" y="854440"/>
            <a:ext cx="10406329" cy="5177147"/>
          </a:xfrm>
        </p:spPr>
        <p:txBody>
          <a:bodyPr anchor="b">
            <a:normAutofit fontScale="90000"/>
          </a:bodyPr>
          <a:lstStyle/>
          <a:p>
            <a:pPr algn="l">
              <a:lnSpc>
                <a:spcPct val="100000"/>
              </a:lnSpc>
            </a:pP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Introduction, Background on Sets, Relations, and Graphs</a:t>
            </a:r>
            <a:b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GB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GB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GB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IN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Session No.: 01</a:t>
            </a:r>
            <a:b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Course Name: Theory of Computation</a:t>
            </a:r>
            <a:b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Course Code: R1UC501T</a:t>
            </a:r>
            <a:b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Instructor Name: </a:t>
            </a:r>
            <a:r>
              <a:rPr lang="en-IN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Arvind Kumar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Duration: 50 Minutes</a:t>
            </a:r>
            <a:b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Date of Conduction of Class: </a:t>
            </a: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16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02-2026</a:t>
            </a: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4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D4B0897-FD56-B45E-C539-435F743AAB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1</a:t>
            </a:fld>
            <a:endParaRPr lang="en-IN"/>
          </a:p>
        </p:txBody>
      </p:sp>
      <p:pic>
        <p:nvPicPr>
          <p:cNvPr id="10" name="Picture 9" descr="A blue circle with text and words&#10;&#10;Description automatically generated">
            <a:extLst>
              <a:ext uri="{FF2B5EF4-FFF2-40B4-BE49-F238E27FC236}">
                <a16:creationId xmlns:a16="http://schemas.microsoft.com/office/drawing/2014/main" id="{B8F66ABA-C07C-7B4E-0E32-86C3BB04AA9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8565" y="176753"/>
            <a:ext cx="1190469" cy="119046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622C87D-66F3-E0F4-0306-4C9A87A526E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32" y="114202"/>
            <a:ext cx="3795634" cy="740238"/>
          </a:xfrm>
          <a:prstGeom prst="rect">
            <a:avLst/>
          </a:prstGeom>
        </p:spPr>
      </p:pic>
      <p:sp>
        <p:nvSpPr>
          <p:cNvPr id="11" name="Footer Placeholder 5">
            <a:extLst>
              <a:ext uri="{FF2B5EF4-FFF2-40B4-BE49-F238E27FC236}">
                <a16:creationId xmlns:a16="http://schemas.microsoft.com/office/drawing/2014/main" id="{151E8D9C-4FF8-4700-B9A3-1733137D87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43139" y="6356350"/>
            <a:ext cx="8186736" cy="365125"/>
          </a:xfrm>
        </p:spPr>
        <p:txBody>
          <a:bodyPr/>
          <a:lstStyle/>
          <a:p>
            <a:r>
              <a:rPr lang="en-GB" sz="1400" dirty="0"/>
              <a:t> </a:t>
            </a:r>
            <a:r>
              <a:rPr lang="en-GB" sz="1400" b="1" dirty="0"/>
              <a:t>Galgotias-Student Centered Active Learning Ecosystem &amp; Date </a:t>
            </a:r>
            <a:r>
              <a:rPr lang="en-GB" sz="1400" b="1" dirty="0" smtClean="0"/>
              <a:t>16-02-2026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278989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FC14F6-7B57-DCCF-E6C1-F00D5A0C00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54439"/>
            <a:ext cx="10515600" cy="1174385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concepts of session no. 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D8CF5A8-ACAD-D135-0544-20163F2C11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2</a:t>
            </a:fld>
            <a:endParaRPr lang="en-IN"/>
          </a:p>
        </p:txBody>
      </p:sp>
      <p:pic>
        <p:nvPicPr>
          <p:cNvPr id="7" name="Picture 6" descr="A blue circle with text and words&#10;&#10;Description automatically generated">
            <a:extLst>
              <a:ext uri="{FF2B5EF4-FFF2-40B4-BE49-F238E27FC236}">
                <a16:creationId xmlns:a16="http://schemas.microsoft.com/office/drawing/2014/main" id="{84313814-B282-038A-FB91-58D7A240B8C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8566" y="176754"/>
            <a:ext cx="874732" cy="87473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8ED013E-C79F-88E6-C380-BA222F110F1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32" y="114202"/>
            <a:ext cx="3795634" cy="740238"/>
          </a:xfrm>
          <a:prstGeom prst="rect">
            <a:avLst/>
          </a:prstGeom>
        </p:spPr>
      </p:pic>
      <p:sp>
        <p:nvSpPr>
          <p:cNvPr id="10" name="Footer Placeholder 5">
            <a:extLst>
              <a:ext uri="{FF2B5EF4-FFF2-40B4-BE49-F238E27FC236}">
                <a16:creationId xmlns:a16="http://schemas.microsoft.com/office/drawing/2014/main" id="{9FF1E34D-CC35-4577-94C8-D995E64484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43139" y="6356350"/>
            <a:ext cx="8186736" cy="365125"/>
          </a:xfrm>
        </p:spPr>
        <p:txBody>
          <a:bodyPr/>
          <a:lstStyle/>
          <a:p>
            <a:r>
              <a:rPr lang="en-GB" sz="1400" dirty="0"/>
              <a:t> </a:t>
            </a:r>
            <a:r>
              <a:rPr lang="en-GB" sz="1400" b="1" dirty="0"/>
              <a:t>Galgotias-Student Centered Active Learning Ecosystem &amp; Date </a:t>
            </a:r>
            <a:r>
              <a:rPr lang="en-GB" sz="1400" b="1" dirty="0" smtClean="0"/>
              <a:t>16-02-2026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672147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Down Arrow 7">
            <a:extLst>
              <a:ext uri="{FF2B5EF4-FFF2-40B4-BE49-F238E27FC236}">
                <a16:creationId xmlns:a16="http://schemas.microsoft.com/office/drawing/2014/main" id="{D4771268-CB57-404A-9271-370EB28F6090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00100" y="1491343"/>
            <a:ext cx="3333749" cy="3499103"/>
          </a:xfrm>
          <a:prstGeom prst="downArrow">
            <a:avLst>
              <a:gd name="adj1" fmla="val 100000"/>
              <a:gd name="adj2" fmla="val 15788"/>
            </a:avLst>
          </a:prstGeom>
          <a:solidFill>
            <a:srgbClr val="404040"/>
          </a:solidFill>
          <a:ln w="539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3FC14F6-7B57-DCCF-E6C1-F00D5A0C00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1967266"/>
            <a:ext cx="2628900" cy="2547257"/>
          </a:xfrm>
          <a:noFill/>
        </p:spPr>
        <p:txBody>
          <a:bodyPr vert="horz" lIns="91440" tIns="45720" rIns="91440" bIns="45720" rtlCol="0" anchor="ctr">
            <a:normAutofit fontScale="90000"/>
          </a:bodyPr>
          <a:lstStyle/>
          <a:p>
            <a:pPr algn="ctr"/>
            <a:r>
              <a:rPr lang="en-US" sz="28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Reflect on the responses of post session activity</a:t>
            </a:r>
            <a:br>
              <a:rPr lang="en-US" sz="28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r>
              <a:rPr lang="en-US" sz="28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/>
            </a:r>
            <a:br>
              <a:rPr lang="en-US" sz="28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endParaRPr lang="en-US" sz="280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1D5415-04E5-9984-5403-67A367538A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6510230-8DD5-4BA5-AB2D-CA30FC08F9D7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CAE8B31-4FA7-4137-9ABD-08F55BE623D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32" y="114202"/>
            <a:ext cx="3795634" cy="740238"/>
          </a:xfrm>
          <a:prstGeom prst="rect">
            <a:avLst/>
          </a:prstGeom>
        </p:spPr>
      </p:pic>
      <p:pic>
        <p:nvPicPr>
          <p:cNvPr id="8" name="Picture 7" descr="A blue circle with text and words&#10;&#10;Description automatically generated">
            <a:extLst>
              <a:ext uri="{FF2B5EF4-FFF2-40B4-BE49-F238E27FC236}">
                <a16:creationId xmlns:a16="http://schemas.microsoft.com/office/drawing/2014/main" id="{590FC80D-9E9A-41AD-8260-95DC11D2A134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8565" y="176753"/>
            <a:ext cx="1190469" cy="1190469"/>
          </a:xfrm>
          <a:prstGeom prst="rect">
            <a:avLst/>
          </a:prstGeom>
        </p:spPr>
      </p:pic>
      <p:sp>
        <p:nvSpPr>
          <p:cNvPr id="10" name="Footer Placeholder 5">
            <a:extLst>
              <a:ext uri="{FF2B5EF4-FFF2-40B4-BE49-F238E27FC236}">
                <a16:creationId xmlns:a16="http://schemas.microsoft.com/office/drawing/2014/main" id="{81853213-7D59-408F-B141-2D37FF4200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43139" y="6356350"/>
            <a:ext cx="8186736" cy="365125"/>
          </a:xfrm>
        </p:spPr>
        <p:txBody>
          <a:bodyPr/>
          <a:lstStyle/>
          <a:p>
            <a:r>
              <a:rPr lang="en-GB" sz="1400" dirty="0"/>
              <a:t> </a:t>
            </a:r>
            <a:r>
              <a:rPr lang="en-GB" sz="1400" b="1" dirty="0"/>
              <a:t>Galgotias-Student Centered Active Learning Ecosystem &amp; Date </a:t>
            </a:r>
            <a:r>
              <a:rPr lang="en-GB" sz="1400" b="1" dirty="0" smtClean="0"/>
              <a:t>16-02-2026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187047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2DDEC7-A318-B5ED-6B24-23EF9A30C0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4</a:t>
            </a:fld>
            <a:endParaRPr lang="en-IN"/>
          </a:p>
        </p:txBody>
      </p:sp>
      <p:pic>
        <p:nvPicPr>
          <p:cNvPr id="7" name="Picture 6" descr="A blue circle with text and words&#10;&#10;Description automatically generated">
            <a:extLst>
              <a:ext uri="{FF2B5EF4-FFF2-40B4-BE49-F238E27FC236}">
                <a16:creationId xmlns:a16="http://schemas.microsoft.com/office/drawing/2014/main" id="{A15F0BA4-6591-B48C-8EDD-9EEE5C06637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8566" y="176754"/>
            <a:ext cx="874732" cy="874732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67406B36-D765-D8A2-99EB-F126932151C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32" y="114202"/>
            <a:ext cx="3795634" cy="74023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EF543A19-1E21-4DCD-9E9B-5A99427B99A5}"/>
              </a:ext>
            </a:extLst>
          </p:cNvPr>
          <p:cNvSpPr txBox="1"/>
          <p:nvPr/>
        </p:nvSpPr>
        <p:spPr>
          <a:xfrm>
            <a:off x="505439" y="1983719"/>
            <a:ext cx="11181121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/>
              <a:t>“Imagine you're designing a simple robot that takes input commands like 'move forward' or 'turn left’. </a:t>
            </a:r>
          </a:p>
          <a:p>
            <a:endParaRPr lang="en-US" sz="2800" dirty="0"/>
          </a:p>
          <a:p>
            <a:r>
              <a:rPr lang="en-US" sz="2800" dirty="0"/>
              <a:t>How would you represent these commands and the robot’s behavior using mathematics or diagrams?”</a:t>
            </a:r>
            <a:endParaRPr lang="en-IN" sz="28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1C147A9-8BF5-4F1B-A304-26768B886464}"/>
              </a:ext>
            </a:extLst>
          </p:cNvPr>
          <p:cNvSpPr txBox="1"/>
          <p:nvPr/>
        </p:nvSpPr>
        <p:spPr>
          <a:xfrm>
            <a:off x="3048837" y="963605"/>
            <a:ext cx="609432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3600" b="1" u="sng" dirty="0"/>
              <a:t>Opening Question</a:t>
            </a:r>
          </a:p>
        </p:txBody>
      </p:sp>
      <p:sp>
        <p:nvSpPr>
          <p:cNvPr id="10" name="Footer Placeholder 5">
            <a:extLst>
              <a:ext uri="{FF2B5EF4-FFF2-40B4-BE49-F238E27FC236}">
                <a16:creationId xmlns:a16="http://schemas.microsoft.com/office/drawing/2014/main" id="{A3880685-E18B-4BFE-BDCC-0BD98182BC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43139" y="6356350"/>
            <a:ext cx="8186736" cy="365125"/>
          </a:xfrm>
        </p:spPr>
        <p:txBody>
          <a:bodyPr/>
          <a:lstStyle/>
          <a:p>
            <a:r>
              <a:rPr lang="en-GB" sz="1400" dirty="0"/>
              <a:t> </a:t>
            </a:r>
            <a:r>
              <a:rPr lang="en-GB" sz="1400" b="1" dirty="0"/>
              <a:t>Galgotias-Student Centered Active Learning Ecosystem &amp; Date </a:t>
            </a:r>
            <a:r>
              <a:rPr lang="en-GB" sz="1400" b="1" dirty="0" smtClean="0"/>
              <a:t>16-02-2026 </a:t>
            </a:r>
            <a:endParaRPr lang="en-IN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0666" y="4290974"/>
            <a:ext cx="9867900" cy="2137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81964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2DDEC7-A318-B5ED-6B24-23EF9A30C0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5</a:t>
            </a:fld>
            <a:endParaRPr lang="en-IN"/>
          </a:p>
        </p:txBody>
      </p:sp>
      <p:pic>
        <p:nvPicPr>
          <p:cNvPr id="7" name="Picture 6" descr="A blue circle with text and words&#10;&#10;Description automatically generated">
            <a:extLst>
              <a:ext uri="{FF2B5EF4-FFF2-40B4-BE49-F238E27FC236}">
                <a16:creationId xmlns:a16="http://schemas.microsoft.com/office/drawing/2014/main" id="{A15F0BA4-6591-B48C-8EDD-9EEE5C06637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8566" y="176754"/>
            <a:ext cx="874732" cy="874732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67406B36-D765-D8A2-99EB-F126932151C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32" y="114202"/>
            <a:ext cx="3795634" cy="740238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3C765AF7-FC37-4EEA-AC0A-5CAD1DCD569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2812" y="1313946"/>
            <a:ext cx="7169918" cy="4779945"/>
          </a:xfrm>
          <a:prstGeom prst="rect">
            <a:avLst/>
          </a:prstGeom>
        </p:spPr>
      </p:pic>
      <p:sp>
        <p:nvSpPr>
          <p:cNvPr id="9" name="Footer Placeholder 5">
            <a:extLst>
              <a:ext uri="{FF2B5EF4-FFF2-40B4-BE49-F238E27FC236}">
                <a16:creationId xmlns:a16="http://schemas.microsoft.com/office/drawing/2014/main" id="{CC7A7416-BC24-4DDD-95AB-7D30D6AE73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43139" y="6356350"/>
            <a:ext cx="8186736" cy="365125"/>
          </a:xfrm>
        </p:spPr>
        <p:txBody>
          <a:bodyPr/>
          <a:lstStyle/>
          <a:p>
            <a:r>
              <a:rPr lang="en-GB" sz="1400" dirty="0"/>
              <a:t> </a:t>
            </a:r>
            <a:r>
              <a:rPr lang="en-GB" sz="1400" b="1" dirty="0"/>
              <a:t>Galgotias-Student Centered Active Learning Ecosystem &amp; Date </a:t>
            </a:r>
            <a:r>
              <a:rPr lang="en-GB" sz="1400" b="1" dirty="0" smtClean="0"/>
              <a:t>16-02-2026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738931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 b="0" i="0" u="none" strike="noStrike" cap="none">
              <a:solidFill>
                <a:schemeClr val="lt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127" name="Google Shape;127;p4"/>
          <p:cNvSpPr/>
          <p:nvPr/>
        </p:nvSpPr>
        <p:spPr>
          <a:xfrm flipH="1">
            <a:off x="2" y="0"/>
            <a:ext cx="12191998" cy="2170031"/>
          </a:xfrm>
          <a:prstGeom prst="rect">
            <a:avLst/>
          </a:prstGeom>
          <a:gradFill>
            <a:gsLst>
              <a:gs pos="0">
                <a:srgbClr val="000000">
                  <a:alpha val="95686"/>
                </a:srgbClr>
              </a:gs>
              <a:gs pos="100000">
                <a:srgbClr val="0F4861"/>
              </a:gs>
            </a:gsLst>
            <a:lin ang="19799999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 b="0" i="0" u="none" strike="noStrike" cap="none">
              <a:solidFill>
                <a:schemeClr val="lt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128" name="Google Shape;128;p4"/>
          <p:cNvSpPr/>
          <p:nvPr/>
        </p:nvSpPr>
        <p:spPr>
          <a:xfrm flipH="1">
            <a:off x="8082819" y="0"/>
            <a:ext cx="4097211" cy="2170661"/>
          </a:xfrm>
          <a:prstGeom prst="rect">
            <a:avLst/>
          </a:prstGeom>
          <a:gradFill>
            <a:gsLst>
              <a:gs pos="0">
                <a:srgbClr val="0A3041">
                  <a:alpha val="67843"/>
                </a:srgbClr>
              </a:gs>
              <a:gs pos="19000">
                <a:srgbClr val="0A3041">
                  <a:alpha val="67843"/>
                </a:srgbClr>
              </a:gs>
              <a:gs pos="100000">
                <a:srgbClr val="156082">
                  <a:alpha val="47843"/>
                </a:srgbClr>
              </a:gs>
            </a:gsLst>
            <a:lin ang="19199999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 b="0" i="0" u="none" strike="noStrike" cap="none">
              <a:solidFill>
                <a:schemeClr val="lt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129" name="Google Shape;129;p4"/>
          <p:cNvSpPr/>
          <p:nvPr/>
        </p:nvSpPr>
        <p:spPr>
          <a:xfrm rot="-5400000" flipH="1">
            <a:off x="5010646" y="-5010043"/>
            <a:ext cx="2170709" cy="12192000"/>
          </a:xfrm>
          <a:prstGeom prst="rect">
            <a:avLst/>
          </a:prstGeom>
          <a:gradFill>
            <a:gsLst>
              <a:gs pos="0">
                <a:srgbClr val="0F4861">
                  <a:alpha val="15686"/>
                </a:srgbClr>
              </a:gs>
              <a:gs pos="23000">
                <a:srgbClr val="0F4861">
                  <a:alpha val="15686"/>
                </a:srgbClr>
              </a:gs>
              <a:gs pos="99000">
                <a:srgbClr val="000000">
                  <a:alpha val="44705"/>
                </a:srgbClr>
              </a:gs>
              <a:gs pos="100000">
                <a:srgbClr val="000000">
                  <a:alpha val="44705"/>
                </a:srgbClr>
              </a:gs>
            </a:gsLst>
            <a:lin ang="21000001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 b="0" i="0" u="none" strike="noStrike" cap="none">
              <a:solidFill>
                <a:schemeClr val="lt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130" name="Google Shape;130;p4"/>
          <p:cNvSpPr txBox="1">
            <a:spLocks noGrp="1"/>
          </p:cNvSpPr>
          <p:nvPr>
            <p:ph type="title"/>
          </p:nvPr>
        </p:nvSpPr>
        <p:spPr>
          <a:xfrm>
            <a:off x="558702" y="1102452"/>
            <a:ext cx="10959788" cy="8228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100000"/>
              <a:buFont typeface="Arial"/>
              <a:buNone/>
            </a:pPr>
            <a:r>
              <a:rPr lang="en-IN" sz="4000" b="1" dirty="0">
                <a:solidFill>
                  <a:srgbClr val="FFFFFF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At the end of this session students will be able to </a:t>
            </a:r>
            <a:endParaRPr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31" name="Google Shape;131;p4"/>
          <p:cNvGrpSpPr/>
          <p:nvPr/>
        </p:nvGrpSpPr>
        <p:grpSpPr>
          <a:xfrm>
            <a:off x="348050" y="2615979"/>
            <a:ext cx="11519840" cy="3689404"/>
            <a:chOff x="-296006" y="0"/>
            <a:chExt cx="11519840" cy="3689404"/>
          </a:xfrm>
        </p:grpSpPr>
        <p:sp>
          <p:nvSpPr>
            <p:cNvPr id="132" name="Google Shape;132;p4"/>
            <p:cNvSpPr/>
            <p:nvPr/>
          </p:nvSpPr>
          <p:spPr>
            <a:xfrm>
              <a:off x="-296006" y="0"/>
              <a:ext cx="10472679" cy="1660232"/>
            </a:xfrm>
            <a:prstGeom prst="roundRect">
              <a:avLst>
                <a:gd name="adj" fmla="val 10000"/>
              </a:avLst>
            </a:prstGeom>
            <a:solidFill>
              <a:srgbClr val="E97131"/>
            </a:solidFill>
            <a:ln w="1905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3" name="Google Shape;133;p4"/>
            <p:cNvSpPr txBox="1"/>
            <p:nvPr/>
          </p:nvSpPr>
          <p:spPr>
            <a:xfrm>
              <a:off x="-247379" y="48627"/>
              <a:ext cx="8550359" cy="156297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44775" tIns="144775" rIns="144775" bIns="144775" anchor="ctr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3800"/>
                <a:buFont typeface="Arial"/>
                <a:buNone/>
              </a:pPr>
              <a:r>
                <a:rPr lang="en-IN" sz="3200" b="0" i="0" u="none" strike="noStrike" cap="none" dirty="0">
                  <a:solidFill>
                    <a:schemeClr val="lt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/>
                </a:rPr>
                <a:t>LO1:</a:t>
              </a:r>
              <a:endParaRPr lang="en-US" sz="3200" b="0" i="0" u="none" strike="noStrike" cap="none" dirty="0">
                <a:solidFill>
                  <a:schemeClr val="lt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endParaRPr>
            </a:p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3800"/>
                <a:buFont typeface="Arial"/>
                <a:buNone/>
              </a:pPr>
              <a:endParaRPr sz="3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4" name="Google Shape;134;p4"/>
            <p:cNvSpPr/>
            <p:nvPr/>
          </p:nvSpPr>
          <p:spPr>
            <a:xfrm>
              <a:off x="1935180" y="2029172"/>
              <a:ext cx="9288654" cy="1660232"/>
            </a:xfrm>
            <a:prstGeom prst="roundRect">
              <a:avLst>
                <a:gd name="adj" fmla="val 10000"/>
              </a:avLst>
            </a:prstGeom>
            <a:solidFill>
              <a:srgbClr val="186923"/>
            </a:solidFill>
            <a:ln w="1905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5" name="Google Shape;135;p4"/>
            <p:cNvSpPr txBox="1"/>
            <p:nvPr/>
          </p:nvSpPr>
          <p:spPr>
            <a:xfrm>
              <a:off x="1983807" y="2077799"/>
              <a:ext cx="6473075" cy="156297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44775" tIns="144775" rIns="144775" bIns="144775" anchor="ctr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3800"/>
                <a:buFont typeface="Arial"/>
                <a:buNone/>
              </a:pPr>
              <a:r>
                <a:rPr lang="en-IN" sz="2800" b="0" i="0" u="none" strike="noStrike" cap="none" dirty="0">
                  <a:solidFill>
                    <a:schemeClr val="lt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/>
                </a:rPr>
                <a:t>LO2:</a:t>
              </a:r>
              <a:endParaRPr lang="en-US" sz="2800" b="0" i="0" u="none" strike="noStrike" cap="none" dirty="0">
                <a:solidFill>
                  <a:schemeClr val="lt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endParaRPr>
            </a:p>
          </p:txBody>
        </p:sp>
        <p:sp>
          <p:nvSpPr>
            <p:cNvPr id="136" name="Google Shape;136;p4"/>
            <p:cNvSpPr/>
            <p:nvPr/>
          </p:nvSpPr>
          <p:spPr>
            <a:xfrm>
              <a:off x="8505509" y="1305127"/>
              <a:ext cx="1079150" cy="1079150"/>
            </a:xfrm>
            <a:prstGeom prst="downArrow">
              <a:avLst>
                <a:gd name="adj1" fmla="val 55000"/>
                <a:gd name="adj2" fmla="val 45000"/>
              </a:avLst>
            </a:prstGeom>
            <a:solidFill>
              <a:srgbClr val="F6D4CC">
                <a:alpha val="89803"/>
              </a:srgbClr>
            </a:solidFill>
            <a:ln w="19050" cap="flat" cmpd="sng">
              <a:solidFill>
                <a:srgbClr val="F6D4CC">
                  <a:alpha val="89803"/>
                </a:srgbClr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7" name="Google Shape;137;p4"/>
            <p:cNvSpPr txBox="1"/>
            <p:nvPr/>
          </p:nvSpPr>
          <p:spPr>
            <a:xfrm>
              <a:off x="8748318" y="1305127"/>
              <a:ext cx="593532" cy="81206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600"/>
                <a:buFont typeface="Arial"/>
                <a:buNone/>
              </a:pPr>
              <a:endParaRPr sz="2400" b="0" i="0" u="none" strike="noStrike" cap="none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endParaRPr>
            </a:p>
          </p:txBody>
        </p:sp>
      </p:grpSp>
      <p:sp>
        <p:nvSpPr>
          <p:cNvPr id="139" name="Google Shape;139;p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240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fld>
            <a:endParaRPr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40" name="Google Shape;140;p4" descr="A blue circle with text and words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58566" y="176754"/>
            <a:ext cx="874732" cy="874732"/>
          </a:xfrm>
          <a:prstGeom prst="rect">
            <a:avLst/>
          </a:prstGeom>
          <a:noFill/>
          <a:ln>
            <a:noFill/>
          </a:ln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92F137E6-A257-43E9-85A6-31EF956DF22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32" y="114202"/>
            <a:ext cx="3795634" cy="740238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CAFF9223-A3C7-4D2E-B65E-6B698011FE8E}"/>
              </a:ext>
            </a:extLst>
          </p:cNvPr>
          <p:cNvSpPr txBox="1"/>
          <p:nvPr/>
        </p:nvSpPr>
        <p:spPr>
          <a:xfrm>
            <a:off x="1371271" y="2899515"/>
            <a:ext cx="9449458" cy="892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Understand and apply the fundamental concepts of sets, relations, and graphs to model and analyze computational problems</a:t>
            </a:r>
            <a:endParaRPr lang="en-IN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3BFBCD9-9AA5-4069-802E-456517B64985}"/>
              </a:ext>
            </a:extLst>
          </p:cNvPr>
          <p:cNvSpPr txBox="1"/>
          <p:nvPr/>
        </p:nvSpPr>
        <p:spPr>
          <a:xfrm>
            <a:off x="3465871" y="5013180"/>
            <a:ext cx="8402019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 the ability to represent and interpret the behavior of simple computational systems using set notation, relation properties, and graph diagrams.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Footer Placeholder 5">
            <a:extLst>
              <a:ext uri="{FF2B5EF4-FFF2-40B4-BE49-F238E27FC236}">
                <a16:creationId xmlns:a16="http://schemas.microsoft.com/office/drawing/2014/main" id="{358B6D3D-BFFB-4DD0-8F1A-9CBE702CB1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43139" y="6356350"/>
            <a:ext cx="8186736" cy="365125"/>
          </a:xfrm>
        </p:spPr>
        <p:txBody>
          <a:bodyPr/>
          <a:lstStyle/>
          <a:p>
            <a:r>
              <a:rPr lang="en-GB" sz="1400" dirty="0"/>
              <a:t> </a:t>
            </a:r>
            <a:r>
              <a:rPr lang="en-GB" sz="1400" b="1" dirty="0"/>
              <a:t>Galgotias-Student Centered Active Learning Ecosystem &amp; Date </a:t>
            </a:r>
            <a:r>
              <a:rPr lang="en-GB" sz="1400" b="1" dirty="0" smtClean="0"/>
              <a:t>16-02-2026 </a:t>
            </a:r>
            <a:endParaRPr lang="en-IN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A1553B-A216-73BB-FAAB-1FF7D4C33C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000" y="640823"/>
            <a:ext cx="3418659" cy="5583148"/>
          </a:xfrm>
        </p:spPr>
        <p:txBody>
          <a:bodyPr anchor="ctr">
            <a:normAutofit/>
          </a:bodyPr>
          <a:lstStyle/>
          <a:p>
            <a:r>
              <a:rPr lang="en-IN" sz="5400" dirty="0"/>
              <a:t>Session Outline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24FF57-302B-97C8-BD3F-550746DA6F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7</a:t>
            </a:fld>
            <a:endParaRPr lang="en-IN"/>
          </a:p>
        </p:txBody>
      </p:sp>
      <p:pic>
        <p:nvPicPr>
          <p:cNvPr id="7" name="Picture 6" descr="A blue circle with text and words&#10;&#10;Description automatically generated">
            <a:extLst>
              <a:ext uri="{FF2B5EF4-FFF2-40B4-BE49-F238E27FC236}">
                <a16:creationId xmlns:a16="http://schemas.microsoft.com/office/drawing/2014/main" id="{A4DDE187-E81D-B835-E4CD-A2B8788BFA0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8566" y="176754"/>
            <a:ext cx="874732" cy="874732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CC64AFCD-18AE-4D55-8D4F-BA9D6AD51D3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32" y="114202"/>
            <a:ext cx="3795634" cy="740238"/>
          </a:xfrm>
          <a:prstGeom prst="rect">
            <a:avLst/>
          </a:prstGeom>
        </p:spPr>
      </p:pic>
      <p:graphicFrame>
        <p:nvGraphicFramePr>
          <p:cNvPr id="19" name="Content Placeholder 2">
            <a:extLst>
              <a:ext uri="{FF2B5EF4-FFF2-40B4-BE49-F238E27FC236}">
                <a16:creationId xmlns:a16="http://schemas.microsoft.com/office/drawing/2014/main" id="{31FC7302-0E0B-4FFB-8B86-542CF1598B3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106024853"/>
              </p:ext>
            </p:extLst>
          </p:nvPr>
        </p:nvGraphicFramePr>
        <p:xfrm>
          <a:off x="4295420" y="1321859"/>
          <a:ext cx="6878347" cy="45664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sp>
        <p:nvSpPr>
          <p:cNvPr id="9" name="Footer Placeholder 5">
            <a:extLst>
              <a:ext uri="{FF2B5EF4-FFF2-40B4-BE49-F238E27FC236}">
                <a16:creationId xmlns:a16="http://schemas.microsoft.com/office/drawing/2014/main" id="{CD839EEE-AF6F-410C-BADB-F82203FD07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43139" y="6356350"/>
            <a:ext cx="8186736" cy="365125"/>
          </a:xfrm>
        </p:spPr>
        <p:txBody>
          <a:bodyPr/>
          <a:lstStyle/>
          <a:p>
            <a:r>
              <a:rPr lang="en-GB" sz="1400" dirty="0"/>
              <a:t> </a:t>
            </a:r>
            <a:r>
              <a:rPr lang="en-GB" sz="1400" b="1" dirty="0"/>
              <a:t>Galgotias-Student Centered Active Learning Ecosystem &amp; Date </a:t>
            </a:r>
            <a:r>
              <a:rPr lang="en-GB" sz="1400" b="1" dirty="0" smtClean="0"/>
              <a:t>16-02-2026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425593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8EC62E8-F0EB-0BD9-2B59-1AA3588B65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171450" marR="0" lvl="0" indent="-17145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fld id="{26510230-8DD5-4BA5-AB2D-CA30FC08F9D7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171450" marR="0" lvl="0" indent="-17145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t>8</a:t>
            </a:fld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9" name="Picture 8" descr="A blue circle with text and words&#10;&#10;Description automatically generated">
            <a:extLst>
              <a:ext uri="{FF2B5EF4-FFF2-40B4-BE49-F238E27FC236}">
                <a16:creationId xmlns:a16="http://schemas.microsoft.com/office/drawing/2014/main" id="{79206739-0C22-A2A6-8C67-30EFF62D5B33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8566" y="191744"/>
            <a:ext cx="874732" cy="874732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37C1D46A-BF2A-20B3-FD02-68B4F4BF6AD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32" y="114202"/>
            <a:ext cx="3105196" cy="60558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1001D50-F7C2-8096-AE09-35EEFB8C2262}"/>
              </a:ext>
            </a:extLst>
          </p:cNvPr>
          <p:cNvSpPr txBox="1"/>
          <p:nvPr/>
        </p:nvSpPr>
        <p:spPr>
          <a:xfrm>
            <a:off x="1204384" y="710591"/>
            <a:ext cx="760703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3600" b="1" i="0" u="none" strike="noStrike" kern="1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Introduction</a:t>
            </a:r>
            <a:endParaRPr kumimoji="0" lang="en-IN" sz="4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36671B6-3779-4050-B209-C1F3EAEEDE85}"/>
              </a:ext>
            </a:extLst>
          </p:cNvPr>
          <p:cNvSpPr txBox="1"/>
          <p:nvPr/>
        </p:nvSpPr>
        <p:spPr>
          <a:xfrm>
            <a:off x="1160897" y="1262648"/>
            <a:ext cx="10351220" cy="50937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Theory of Computation is the study of how computers solve problems using step-by-step instructions (algorithms), and what problems can or cannot be solved.</a:t>
            </a:r>
          </a:p>
          <a:p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 Parts of </a:t>
            </a:r>
            <a:r>
              <a:rPr lang="en-US" sz="2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ToC</a:t>
            </a: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Automata Theory – Study of machines like DFA, NFA.</a:t>
            </a:r>
          </a:p>
          <a:p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Formal Languages – Study of programming language structure.</a:t>
            </a:r>
          </a:p>
          <a:p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Computability – What can or can’t be computed.</a:t>
            </a:r>
          </a:p>
          <a:p>
            <a:pPr algn="just"/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Complexity – How much time or memory an algorithm uses.</a:t>
            </a:r>
          </a:p>
          <a:p>
            <a:pPr algn="just"/>
            <a:endParaRPr lang="en-US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learn it?</a:t>
            </a:r>
          </a:p>
          <a:p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To build better software, like compilers and interpreters.</a:t>
            </a:r>
          </a:p>
          <a:p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To know the limits of computation.</a:t>
            </a:r>
          </a:p>
          <a:p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To write efficient programs.</a:t>
            </a:r>
            <a:endParaRPr lang="en-IN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Footer Placeholder 5">
            <a:extLst>
              <a:ext uri="{FF2B5EF4-FFF2-40B4-BE49-F238E27FC236}">
                <a16:creationId xmlns:a16="http://schemas.microsoft.com/office/drawing/2014/main" id="{3A68CF2A-6666-496C-A8EF-5C83356883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43139" y="6356350"/>
            <a:ext cx="8186736" cy="365125"/>
          </a:xfrm>
        </p:spPr>
        <p:txBody>
          <a:bodyPr/>
          <a:lstStyle/>
          <a:p>
            <a:r>
              <a:rPr lang="en-GB" sz="1400" dirty="0"/>
              <a:t> </a:t>
            </a:r>
            <a:r>
              <a:rPr lang="en-GB" sz="1400" b="1" dirty="0"/>
              <a:t>Galgotias-Student Centered Active Learning Ecosystem &amp; Date </a:t>
            </a:r>
            <a:r>
              <a:rPr lang="en-GB" sz="1400" b="1" dirty="0" smtClean="0"/>
              <a:t>16-02-2026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726184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8EC62E8-F0EB-0BD9-2B59-1AA3588B65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171450" marR="0" lvl="0" indent="-17145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fld id="{26510230-8DD5-4BA5-AB2D-CA30FC08F9D7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171450" marR="0" lvl="0" indent="-17145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t>9</a:t>
            </a:fld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9" name="Picture 8" descr="A blue circle with text and words&#10;&#10;Description automatically generated">
            <a:extLst>
              <a:ext uri="{FF2B5EF4-FFF2-40B4-BE49-F238E27FC236}">
                <a16:creationId xmlns:a16="http://schemas.microsoft.com/office/drawing/2014/main" id="{79206739-0C22-A2A6-8C67-30EFF62D5B33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8566" y="191744"/>
            <a:ext cx="874732" cy="874732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37C1D46A-BF2A-20B3-FD02-68B4F4BF6AD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32" y="114202"/>
            <a:ext cx="3105196" cy="60558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1001D50-F7C2-8096-AE09-35EEFB8C2262}"/>
              </a:ext>
            </a:extLst>
          </p:cNvPr>
          <p:cNvSpPr txBox="1"/>
          <p:nvPr/>
        </p:nvSpPr>
        <p:spPr>
          <a:xfrm>
            <a:off x="1214432" y="1066476"/>
            <a:ext cx="760703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3600" b="1" i="0" u="none" strike="noStrike" kern="1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Sets</a:t>
            </a:r>
            <a:endParaRPr kumimoji="0" lang="en-IN" sz="4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CB05559-AE4B-4DBD-81F7-BC3F44E7A923}"/>
              </a:ext>
            </a:extLst>
          </p:cNvPr>
          <p:cNvSpPr txBox="1"/>
          <p:nvPr/>
        </p:nvSpPr>
        <p:spPr>
          <a:xfrm>
            <a:off x="973272" y="1836945"/>
            <a:ext cx="9925786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set is a collection of items (called elements).</a:t>
            </a:r>
          </a:p>
          <a:p>
            <a:pPr algn="just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Examples:</a:t>
            </a:r>
          </a:p>
          <a:p>
            <a:pPr algn="just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= {1, 2, 3}</a:t>
            </a:r>
          </a:p>
          <a:p>
            <a:pPr algn="just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 = {apple, banana, mango}</a:t>
            </a:r>
          </a:p>
          <a:p>
            <a:pPr algn="just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Types of Sets:</a:t>
            </a:r>
          </a:p>
          <a:p>
            <a:pPr algn="just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Empty Set: Ø or {} → no elements (e.g., students with 100% in all subjects)</a:t>
            </a:r>
          </a:p>
          <a:p>
            <a:pPr algn="just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Finite Set: Limited elements (e.g., A = {2, 4, 6})</a:t>
            </a:r>
          </a:p>
          <a:p>
            <a:pPr algn="just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Infinite Set: Unlimited elements (e.g., Natural numbers = {1, 2, 3,...})</a:t>
            </a:r>
          </a:p>
        </p:txBody>
      </p:sp>
      <p:sp>
        <p:nvSpPr>
          <p:cNvPr id="10" name="Footer Placeholder 5">
            <a:extLst>
              <a:ext uri="{FF2B5EF4-FFF2-40B4-BE49-F238E27FC236}">
                <a16:creationId xmlns:a16="http://schemas.microsoft.com/office/drawing/2014/main" id="{AED1429B-901C-47CE-9032-CD0103EE8D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43139" y="6356350"/>
            <a:ext cx="8186736" cy="365125"/>
          </a:xfrm>
        </p:spPr>
        <p:txBody>
          <a:bodyPr/>
          <a:lstStyle/>
          <a:p>
            <a:r>
              <a:rPr lang="en-GB" sz="1400" dirty="0"/>
              <a:t> </a:t>
            </a:r>
            <a:r>
              <a:rPr lang="en-GB" sz="1400" b="1" dirty="0"/>
              <a:t>Galgotias-Student Centered Active Learning Ecosystem &amp; Date </a:t>
            </a:r>
            <a:r>
              <a:rPr lang="en-GB" sz="1400" b="1" dirty="0" smtClean="0"/>
              <a:t>16-02-2026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681553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B0C8EC-C34C-6D56-12B1-CDF23FF36B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A3860C-4D3F-5E2E-E3EA-6C29F79298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171450" marR="0" lvl="0" indent="-17145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fld id="{26510230-8DD5-4BA5-AB2D-CA30FC08F9D7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171450" marR="0" lvl="0" indent="-17145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t>10</a:t>
            </a:fld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9" name="Picture 8" descr="A blue circle with text and words&#10;&#10;Description automatically generated">
            <a:extLst>
              <a:ext uri="{FF2B5EF4-FFF2-40B4-BE49-F238E27FC236}">
                <a16:creationId xmlns:a16="http://schemas.microsoft.com/office/drawing/2014/main" id="{236C4210-9372-F372-E364-686CE1F7ED0B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8566" y="191744"/>
            <a:ext cx="874732" cy="874732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C706375D-A568-E29B-68EC-F9BB34D1242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32" y="114202"/>
            <a:ext cx="3105196" cy="605586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2FDB8FBE-952B-422C-8538-F985906B59D8}"/>
              </a:ext>
            </a:extLst>
          </p:cNvPr>
          <p:cNvSpPr txBox="1"/>
          <p:nvPr/>
        </p:nvSpPr>
        <p:spPr>
          <a:xfrm>
            <a:off x="646444" y="881571"/>
            <a:ext cx="11545556" cy="56938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Set Operations:</a:t>
            </a:r>
          </a:p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Let A = {1, 2, 3}, B = {3, 4, 5}</a:t>
            </a:r>
          </a:p>
          <a:p>
            <a:pPr marL="457200" indent="-4572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Union (A ∪ B) = {1, 2, 3, 4, 5}</a:t>
            </a:r>
          </a:p>
          <a:p>
            <a:pPr marL="457200" indent="-4572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Intersection (A ∩ B) = {3}</a:t>
            </a:r>
          </a:p>
          <a:p>
            <a:pPr marL="457200" indent="-4572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Difference (A − B) = {1, 2}</a:t>
            </a:r>
          </a:p>
          <a:p>
            <a:pPr marL="457200" indent="-4572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Cartesian Product:</a:t>
            </a:r>
          </a:p>
          <a:p>
            <a:pPr>
              <a:lnSpc>
                <a:spcPct val="200000"/>
              </a:lnSpc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A = {1, 2}, B = {a, b} ⇒ A × B = {(1, a), (1, b), (2, a), (2, b)}</a:t>
            </a:r>
          </a:p>
          <a:p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Footer Placeholder 5">
            <a:extLst>
              <a:ext uri="{FF2B5EF4-FFF2-40B4-BE49-F238E27FC236}">
                <a16:creationId xmlns:a16="http://schemas.microsoft.com/office/drawing/2014/main" id="{BF163290-3AF8-44C3-A860-BD1951063A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43139" y="6356350"/>
            <a:ext cx="8186736" cy="365125"/>
          </a:xfrm>
        </p:spPr>
        <p:txBody>
          <a:bodyPr/>
          <a:lstStyle/>
          <a:p>
            <a:r>
              <a:rPr lang="en-GB" sz="1400" dirty="0"/>
              <a:t> </a:t>
            </a:r>
            <a:r>
              <a:rPr lang="en-GB" sz="1400" b="1" dirty="0"/>
              <a:t>Galgotias-Student Centered Active Learning Ecosystem &amp; Date 14-08-2025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5207404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B0C8EC-C34C-6D56-12B1-CDF23FF36B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A3860C-4D3F-5E2E-E3EA-6C29F79298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171450" marR="0" lvl="0" indent="-17145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fld id="{26510230-8DD5-4BA5-AB2D-CA30FC08F9D7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171450" marR="0" lvl="0" indent="-17145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t>11</a:t>
            </a:fld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9" name="Picture 8" descr="A blue circle with text and words&#10;&#10;Description automatically generated">
            <a:extLst>
              <a:ext uri="{FF2B5EF4-FFF2-40B4-BE49-F238E27FC236}">
                <a16:creationId xmlns:a16="http://schemas.microsoft.com/office/drawing/2014/main" id="{236C4210-9372-F372-E364-686CE1F7ED0B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8566" y="191744"/>
            <a:ext cx="874732" cy="874732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C706375D-A568-E29B-68EC-F9BB34D1242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32" y="114202"/>
            <a:ext cx="3105196" cy="605586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F0BCD20A-54B0-4831-A5E0-F2BB07D041FE}"/>
              </a:ext>
            </a:extLst>
          </p:cNvPr>
          <p:cNvSpPr txBox="1"/>
          <p:nvPr/>
        </p:nvSpPr>
        <p:spPr>
          <a:xfrm>
            <a:off x="1204384" y="1066476"/>
            <a:ext cx="760703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3600" b="1" i="0" u="none" strike="noStrike" kern="1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Relations</a:t>
            </a:r>
            <a:endParaRPr kumimoji="0" lang="en-IN" sz="4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4440F20-AF6E-410F-9D1E-9A2CFD1C543E}"/>
              </a:ext>
            </a:extLst>
          </p:cNvPr>
          <p:cNvSpPr txBox="1"/>
          <p:nvPr/>
        </p:nvSpPr>
        <p:spPr>
          <a:xfrm>
            <a:off x="1095270" y="2371411"/>
            <a:ext cx="9746901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A relation connects elements of one set to another.</a:t>
            </a:r>
          </a:p>
          <a:p>
            <a:pPr>
              <a:lnSpc>
                <a:spcPct val="150000"/>
              </a:lnSpc>
            </a:pPr>
            <a:r>
              <a:rPr lang="en-US" sz="2400" dirty="0"/>
              <a:t>Example:</a:t>
            </a:r>
          </a:p>
          <a:p>
            <a:r>
              <a:rPr lang="en-US" sz="2400" dirty="0"/>
              <a:t>A = {1, 2}, B = {x, y}, R = {(1, x), (2, y)}</a:t>
            </a:r>
          </a:p>
        </p:txBody>
      </p:sp>
      <p:sp>
        <p:nvSpPr>
          <p:cNvPr id="8" name="Footer Placeholder 5">
            <a:extLst>
              <a:ext uri="{FF2B5EF4-FFF2-40B4-BE49-F238E27FC236}">
                <a16:creationId xmlns:a16="http://schemas.microsoft.com/office/drawing/2014/main" id="{8DAE281C-5E35-4AD4-A149-1F7797EED6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43139" y="6356350"/>
            <a:ext cx="8186736" cy="365125"/>
          </a:xfrm>
        </p:spPr>
        <p:txBody>
          <a:bodyPr/>
          <a:lstStyle/>
          <a:p>
            <a:r>
              <a:rPr lang="en-GB" sz="1400" dirty="0"/>
              <a:t> </a:t>
            </a:r>
            <a:r>
              <a:rPr lang="en-GB" sz="1400" b="1" dirty="0"/>
              <a:t>Galgotias-Student Centered Active Learning Ecosystem &amp; Date 14-08-2025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5706861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B0C8EC-C34C-6D56-12B1-CDF23FF36B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A3860C-4D3F-5E2E-E3EA-6C29F79298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171450" marR="0" lvl="0" indent="-17145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fld id="{26510230-8DD5-4BA5-AB2D-CA30FC08F9D7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171450" marR="0" lvl="0" indent="-17145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t>12</a:t>
            </a:fld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9" name="Picture 8" descr="A blue circle with text and words&#10;&#10;Description automatically generated">
            <a:extLst>
              <a:ext uri="{FF2B5EF4-FFF2-40B4-BE49-F238E27FC236}">
                <a16:creationId xmlns:a16="http://schemas.microsoft.com/office/drawing/2014/main" id="{236C4210-9372-F372-E364-686CE1F7ED0B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8566" y="191744"/>
            <a:ext cx="874732" cy="874732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C706375D-A568-E29B-68EC-F9BB34D1242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32" y="114202"/>
            <a:ext cx="3105196" cy="60558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A794027-136F-4CFE-9702-40ACE03ED952}"/>
              </a:ext>
            </a:extLst>
          </p:cNvPr>
          <p:cNvSpPr txBox="1"/>
          <p:nvPr/>
        </p:nvSpPr>
        <p:spPr>
          <a:xfrm>
            <a:off x="1398789" y="761842"/>
            <a:ext cx="9797143" cy="55750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Properties of Relations:</a:t>
            </a:r>
          </a:p>
          <a:p>
            <a:pPr>
              <a:lnSpc>
                <a:spcPct val="15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Let A = {1, 2, 3}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Reflexive: (a, a) ∈ R for all a ∈ A</a:t>
            </a:r>
          </a:p>
          <a:p>
            <a:pPr>
              <a:lnSpc>
                <a:spcPct val="15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Example: R = {(1,1), (2,2), (3,3)}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Symmetric: If (a, b) ∈ R then (b, a) ∈ R</a:t>
            </a:r>
          </a:p>
          <a:p>
            <a:pPr>
              <a:lnSpc>
                <a:spcPct val="15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Example: R = {(1,2), (2,1)}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Transitive: If (a, b), (b, c) ∈ R, then (a, c) ∈ R</a:t>
            </a:r>
          </a:p>
          <a:p>
            <a:pPr>
              <a:lnSpc>
                <a:spcPct val="15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Example: R = {(1,2), (2,3), (1,3)}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Antisymmetric: If (a, b) and (b, a) ∈ R, then a = b</a:t>
            </a:r>
          </a:p>
          <a:p>
            <a:pPr>
              <a:lnSpc>
                <a:spcPct val="15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Example: R = {(1,2)} is antisymmetric</a:t>
            </a:r>
          </a:p>
        </p:txBody>
      </p:sp>
      <p:sp>
        <p:nvSpPr>
          <p:cNvPr id="11" name="Footer Placeholder 5">
            <a:extLst>
              <a:ext uri="{FF2B5EF4-FFF2-40B4-BE49-F238E27FC236}">
                <a16:creationId xmlns:a16="http://schemas.microsoft.com/office/drawing/2014/main" id="{2C582910-5CA7-4119-BD1B-065EF994EB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43139" y="6356350"/>
            <a:ext cx="8186736" cy="365125"/>
          </a:xfrm>
        </p:spPr>
        <p:txBody>
          <a:bodyPr/>
          <a:lstStyle/>
          <a:p>
            <a:r>
              <a:rPr lang="en-GB" sz="1400" dirty="0"/>
              <a:t> </a:t>
            </a:r>
            <a:r>
              <a:rPr lang="en-GB" sz="1400" b="1" dirty="0"/>
              <a:t>Galgotias-Student Centered Active Learning Ecosystem &amp; Date 14-08-2025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2299181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9">
          <a:extLst>
            <a:ext uri="{FF2B5EF4-FFF2-40B4-BE49-F238E27FC236}">
              <a16:creationId xmlns:a16="http://schemas.microsoft.com/office/drawing/2014/main" id="{A5637844-433F-E6C9-C583-A7DDE414EA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8">
            <a:extLst>
              <a:ext uri="{FF2B5EF4-FFF2-40B4-BE49-F238E27FC236}">
                <a16:creationId xmlns:a16="http://schemas.microsoft.com/office/drawing/2014/main" id="{B25AA33E-741E-CB3E-3E42-417DB877E07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13</a:t>
            </a:fld>
            <a:endParaRPr/>
          </a:p>
        </p:txBody>
      </p:sp>
      <p:pic>
        <p:nvPicPr>
          <p:cNvPr id="4" name="Google Shape;177;p6" descr="A blue circle with text and words&#10;&#10;Description automatically generated">
            <a:extLst>
              <a:ext uri="{FF2B5EF4-FFF2-40B4-BE49-F238E27FC236}">
                <a16:creationId xmlns:a16="http://schemas.microsoft.com/office/drawing/2014/main" id="{89285667-54F8-1B6E-27E1-F2F8C994C22F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58566" y="191744"/>
            <a:ext cx="874732" cy="874732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D632100-944C-4D5D-A0A1-75F7CB5B799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32" y="114202"/>
            <a:ext cx="3795634" cy="740238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72BBB477-800D-4D05-8E96-92DC5642F77F}"/>
              </a:ext>
            </a:extLst>
          </p:cNvPr>
          <p:cNvSpPr txBox="1"/>
          <p:nvPr/>
        </p:nvSpPr>
        <p:spPr>
          <a:xfrm>
            <a:off x="852691" y="1066476"/>
            <a:ext cx="760703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3600" b="1" i="0" u="none" strike="noStrike" kern="1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Graphs</a:t>
            </a:r>
            <a:endParaRPr kumimoji="0" lang="en-IN" sz="4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FFD8B02-A22E-4102-B2E9-01384C65D1D5}"/>
              </a:ext>
            </a:extLst>
          </p:cNvPr>
          <p:cNvSpPr txBox="1"/>
          <p:nvPr/>
        </p:nvSpPr>
        <p:spPr>
          <a:xfrm>
            <a:off x="1225898" y="2000351"/>
            <a:ext cx="9532668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graph is a set of points (vertices) connected by lines (edges).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 = {A, B, C}, E = {(A, B), (B, C)} → A is connected to B, and B to C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Types of Graphs: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	Undirected Graph: A—B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	Directed Graph (Digraph): A → B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	Weighted Graph: A —(5)— B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	Cyclic Graph: A → B → C → A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	Acyclic Graph: A → B → C</a:t>
            </a:r>
          </a:p>
        </p:txBody>
      </p:sp>
      <p:sp>
        <p:nvSpPr>
          <p:cNvPr id="9" name="Footer Placeholder 5">
            <a:extLst>
              <a:ext uri="{FF2B5EF4-FFF2-40B4-BE49-F238E27FC236}">
                <a16:creationId xmlns:a16="http://schemas.microsoft.com/office/drawing/2014/main" id="{4EA7AFE0-6300-4E13-B55D-7B955EA78F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43139" y="6356350"/>
            <a:ext cx="8186736" cy="365125"/>
          </a:xfrm>
        </p:spPr>
        <p:txBody>
          <a:bodyPr/>
          <a:lstStyle/>
          <a:p>
            <a:r>
              <a:rPr lang="en-GB" sz="1400" dirty="0"/>
              <a:t> </a:t>
            </a:r>
            <a:r>
              <a:rPr lang="en-GB" sz="1400" b="1" dirty="0"/>
              <a:t>Galgotias-Student Centered Active Learning Ecosystem &amp; Date 14-08-2025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6152821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9">
          <a:extLst>
            <a:ext uri="{FF2B5EF4-FFF2-40B4-BE49-F238E27FC236}">
              <a16:creationId xmlns:a16="http://schemas.microsoft.com/office/drawing/2014/main" id="{A5637844-433F-E6C9-C583-A7DDE414EA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8">
            <a:extLst>
              <a:ext uri="{FF2B5EF4-FFF2-40B4-BE49-F238E27FC236}">
                <a16:creationId xmlns:a16="http://schemas.microsoft.com/office/drawing/2014/main" id="{B25AA33E-741E-CB3E-3E42-417DB877E07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14</a:t>
            </a:fld>
            <a:endParaRPr/>
          </a:p>
        </p:txBody>
      </p:sp>
      <p:pic>
        <p:nvPicPr>
          <p:cNvPr id="4" name="Google Shape;177;p6" descr="A blue circle with text and words&#10;&#10;Description automatically generated">
            <a:extLst>
              <a:ext uri="{FF2B5EF4-FFF2-40B4-BE49-F238E27FC236}">
                <a16:creationId xmlns:a16="http://schemas.microsoft.com/office/drawing/2014/main" id="{89285667-54F8-1B6E-27E1-F2F8C994C22F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58566" y="191744"/>
            <a:ext cx="874732" cy="874732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D632100-944C-4D5D-A0A1-75F7CB5B799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32" y="114202"/>
            <a:ext cx="3795634" cy="740238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3FFD8B02-A22E-4102-B2E9-01384C65D1D5}"/>
              </a:ext>
            </a:extLst>
          </p:cNvPr>
          <p:cNvSpPr txBox="1"/>
          <p:nvPr/>
        </p:nvSpPr>
        <p:spPr>
          <a:xfrm>
            <a:off x="1225898" y="2000351"/>
            <a:ext cx="8882743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in </a:t>
            </a:r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Computation: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Nodes represent states.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Edges represent transitions.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Used in DFA, NFA, and syntax trees.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Footer Placeholder 5">
            <a:extLst>
              <a:ext uri="{FF2B5EF4-FFF2-40B4-BE49-F238E27FC236}">
                <a16:creationId xmlns:a16="http://schemas.microsoft.com/office/drawing/2014/main" id="{45EE0AB2-21E6-4546-A2A9-C5D574CA5E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43139" y="6356350"/>
            <a:ext cx="8186736" cy="365125"/>
          </a:xfrm>
        </p:spPr>
        <p:txBody>
          <a:bodyPr/>
          <a:lstStyle/>
          <a:p>
            <a:r>
              <a:rPr lang="en-GB" sz="1400" dirty="0"/>
              <a:t> </a:t>
            </a:r>
            <a:r>
              <a:rPr lang="en-GB" sz="1400" b="1" dirty="0"/>
              <a:t>Galgotias-Student Centered Active Learning Ecosystem &amp; Date 14-08-2025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6167940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9">
          <a:extLst>
            <a:ext uri="{FF2B5EF4-FFF2-40B4-BE49-F238E27FC236}">
              <a16:creationId xmlns:a16="http://schemas.microsoft.com/office/drawing/2014/main" id="{A5637844-433F-E6C9-C583-A7DDE414EA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8">
            <a:extLst>
              <a:ext uri="{FF2B5EF4-FFF2-40B4-BE49-F238E27FC236}">
                <a16:creationId xmlns:a16="http://schemas.microsoft.com/office/drawing/2014/main" id="{B25AA33E-741E-CB3E-3E42-417DB877E07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15</a:t>
            </a:fld>
            <a:endParaRPr/>
          </a:p>
        </p:txBody>
      </p:sp>
      <p:pic>
        <p:nvPicPr>
          <p:cNvPr id="4" name="Google Shape;177;p6" descr="A blue circle with text and words&#10;&#10;Description automatically generated">
            <a:extLst>
              <a:ext uri="{FF2B5EF4-FFF2-40B4-BE49-F238E27FC236}">
                <a16:creationId xmlns:a16="http://schemas.microsoft.com/office/drawing/2014/main" id="{89285667-54F8-1B6E-27E1-F2F8C994C22F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58566" y="191744"/>
            <a:ext cx="874732" cy="874732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D632100-944C-4D5D-A0A1-75F7CB5B799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32" y="114202"/>
            <a:ext cx="3795634" cy="740238"/>
          </a:xfrm>
          <a:prstGeom prst="rect">
            <a:avLst/>
          </a:prstGeom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3E1651BF-639F-477C-810E-E69351A002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54440"/>
            <a:ext cx="10515600" cy="836248"/>
          </a:xfrm>
        </p:spPr>
        <p:txBody>
          <a:bodyPr>
            <a:normAutofit fontScale="90000"/>
          </a:bodyPr>
          <a:lstStyle/>
          <a:p>
            <a:r>
              <a:rPr lang="en-IN" sz="4400" b="1" u="sng" dirty="0">
                <a:solidFill>
                  <a:schemeClr val="accent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Learning Activity 1:</a:t>
            </a:r>
            <a:br>
              <a:rPr lang="en-IN" sz="4400" b="1" u="sng" dirty="0">
                <a:solidFill>
                  <a:schemeClr val="accent6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IN" sz="3600" b="1" u="sng" dirty="0">
                <a:solidFill>
                  <a:srgbClr val="4892D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Think-Pair- Share(Use </a:t>
            </a:r>
            <a:r>
              <a:rPr lang="en-IN" sz="3600" b="1" u="sng" dirty="0" err="1">
                <a:solidFill>
                  <a:srgbClr val="4892D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Wooclap</a:t>
            </a:r>
            <a:r>
              <a:rPr lang="en-IN" sz="3600" b="1" u="sng" dirty="0">
                <a:solidFill>
                  <a:srgbClr val="4892D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 lang="en-IN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8B3B953-7914-4B86-8836-0B2F9F7F33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Think – Individually, each student creates two small sets related to real-life data (e.g., A = {2, 4, 6}, B = {3, 4, 5}).</a:t>
            </a:r>
          </a:p>
          <a:p>
            <a:endParaRPr lang="en-US" dirty="0"/>
          </a:p>
          <a:p>
            <a:r>
              <a:rPr lang="en-US" dirty="0"/>
              <a:t>Pair – Students pair up and compute A ∪ B, A ∩ B, A − B, and A × B.</a:t>
            </a:r>
          </a:p>
          <a:p>
            <a:endParaRPr lang="en-US" dirty="0"/>
          </a:p>
          <a:p>
            <a:r>
              <a:rPr lang="en-US" dirty="0"/>
              <a:t>Share – Each pair shares their results with the class. The instructor guides the discussion, reinforcing correct reasoning.</a:t>
            </a:r>
          </a:p>
          <a:p>
            <a:pPr marL="0" indent="0">
              <a:buNone/>
            </a:pPr>
            <a:endParaRPr lang="en-IN" dirty="0"/>
          </a:p>
        </p:txBody>
      </p:sp>
      <p:sp>
        <p:nvSpPr>
          <p:cNvPr id="10" name="Footer Placeholder 5">
            <a:extLst>
              <a:ext uri="{FF2B5EF4-FFF2-40B4-BE49-F238E27FC236}">
                <a16:creationId xmlns:a16="http://schemas.microsoft.com/office/drawing/2014/main" id="{FB975E23-8024-4CBB-AC93-D206D43A7E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43139" y="6356350"/>
            <a:ext cx="8186736" cy="365125"/>
          </a:xfrm>
        </p:spPr>
        <p:txBody>
          <a:bodyPr/>
          <a:lstStyle/>
          <a:p>
            <a:r>
              <a:rPr lang="en-GB" sz="1400" dirty="0"/>
              <a:t> </a:t>
            </a:r>
            <a:r>
              <a:rPr lang="en-GB" sz="1400" b="1" dirty="0"/>
              <a:t>Galgotias-Student Centered Active Learning Ecosystem &amp; Date 14-08-2025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664835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9">
          <a:extLst>
            <a:ext uri="{FF2B5EF4-FFF2-40B4-BE49-F238E27FC236}">
              <a16:creationId xmlns:a16="http://schemas.microsoft.com/office/drawing/2014/main" id="{A5637844-433F-E6C9-C583-A7DDE414EA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8">
            <a:extLst>
              <a:ext uri="{FF2B5EF4-FFF2-40B4-BE49-F238E27FC236}">
                <a16:creationId xmlns:a16="http://schemas.microsoft.com/office/drawing/2014/main" id="{B25AA33E-741E-CB3E-3E42-417DB877E07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16</a:t>
            </a:fld>
            <a:endParaRPr/>
          </a:p>
        </p:txBody>
      </p:sp>
      <p:pic>
        <p:nvPicPr>
          <p:cNvPr id="4" name="Google Shape;177;p6" descr="A blue circle with text and words&#10;&#10;Description automatically generated">
            <a:extLst>
              <a:ext uri="{FF2B5EF4-FFF2-40B4-BE49-F238E27FC236}">
                <a16:creationId xmlns:a16="http://schemas.microsoft.com/office/drawing/2014/main" id="{89285667-54F8-1B6E-27E1-F2F8C994C22F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58566" y="191744"/>
            <a:ext cx="874732" cy="874732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D632100-944C-4D5D-A0A1-75F7CB5B799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32" y="114202"/>
            <a:ext cx="3795634" cy="740238"/>
          </a:xfrm>
          <a:prstGeom prst="rect">
            <a:avLst/>
          </a:prstGeom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3E1651BF-639F-477C-810E-E69351A002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54440"/>
            <a:ext cx="10515600" cy="836248"/>
          </a:xfrm>
        </p:spPr>
        <p:txBody>
          <a:bodyPr>
            <a:normAutofit fontScale="90000"/>
          </a:bodyPr>
          <a:lstStyle/>
          <a:p>
            <a:r>
              <a:rPr lang="en-IN" sz="4400" b="1" u="sng" dirty="0">
                <a:solidFill>
                  <a:schemeClr val="accent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Learning Activity 1:</a:t>
            </a:r>
            <a:br>
              <a:rPr lang="en-IN" sz="4400" b="1" u="sng" dirty="0">
                <a:solidFill>
                  <a:schemeClr val="accent6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lang="en-IN" dirty="0"/>
          </a:p>
        </p:txBody>
      </p:sp>
      <p:sp>
        <p:nvSpPr>
          <p:cNvPr id="13" name="Footer Placeholder 5">
            <a:extLst>
              <a:ext uri="{FF2B5EF4-FFF2-40B4-BE49-F238E27FC236}">
                <a16:creationId xmlns:a16="http://schemas.microsoft.com/office/drawing/2014/main" id="{BDC9763A-45A7-4129-8DE1-E81C626582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43139" y="6356350"/>
            <a:ext cx="8186736" cy="365125"/>
          </a:xfrm>
        </p:spPr>
        <p:txBody>
          <a:bodyPr/>
          <a:lstStyle/>
          <a:p>
            <a:r>
              <a:rPr lang="en-GB" sz="1400" dirty="0"/>
              <a:t> </a:t>
            </a:r>
            <a:r>
              <a:rPr lang="en-GB" sz="1400" b="1" dirty="0"/>
              <a:t>Galgotias-Student Centered Active Learning Ecosystem &amp; Date 14-08-2025 </a:t>
            </a:r>
            <a:endParaRPr lang="en-IN" dirty="0"/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2050" y="2553494"/>
            <a:ext cx="9867900" cy="2895600"/>
          </a:xfrm>
        </p:spPr>
      </p:pic>
    </p:spTree>
    <p:extLst>
      <p:ext uri="{BB962C8B-B14F-4D97-AF65-F5344CB8AC3E}">
        <p14:creationId xmlns:p14="http://schemas.microsoft.com/office/powerpoint/2010/main" val="200429751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6453FE9-E1C6-418E-B93B-F8AE3CCD39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17</a:t>
            </a:fld>
            <a:endParaRPr lang="en-IN"/>
          </a:p>
        </p:txBody>
      </p:sp>
      <p:pic>
        <p:nvPicPr>
          <p:cNvPr id="8" name="Google Shape;222;p10" descr="A blue circle with text and words&#10;&#10;Description automatically generated">
            <a:extLst>
              <a:ext uri="{FF2B5EF4-FFF2-40B4-BE49-F238E27FC236}">
                <a16:creationId xmlns:a16="http://schemas.microsoft.com/office/drawing/2014/main" id="{CB635202-2F9D-471D-BAAC-F829CC9F68CC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188840" y="-4218"/>
            <a:ext cx="874732" cy="874732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358D9B43-E447-4197-B60B-B8FE4B7B899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32" y="114202"/>
            <a:ext cx="3795634" cy="740238"/>
          </a:xfrm>
          <a:prstGeom prst="rect">
            <a:avLst/>
          </a:prstGeom>
        </p:spPr>
      </p:pic>
      <p:sp>
        <p:nvSpPr>
          <p:cNvPr id="12" name="Title 4">
            <a:extLst>
              <a:ext uri="{FF2B5EF4-FFF2-40B4-BE49-F238E27FC236}">
                <a16:creationId xmlns:a16="http://schemas.microsoft.com/office/drawing/2014/main" id="{6640E471-0164-480B-B5C2-9FC512C9EB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38600" y="83526"/>
            <a:ext cx="4922520" cy="836248"/>
          </a:xfrm>
        </p:spPr>
        <p:txBody>
          <a:bodyPr>
            <a:normAutofit fontScale="90000"/>
          </a:bodyPr>
          <a:lstStyle/>
          <a:p>
            <a:r>
              <a:rPr lang="en-IN" sz="4400" b="1" u="sng" dirty="0">
                <a:solidFill>
                  <a:schemeClr val="accent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Learning Activity 2:</a:t>
            </a:r>
            <a:br>
              <a:rPr lang="en-IN" sz="4400" b="1" u="sng" dirty="0">
                <a:solidFill>
                  <a:schemeClr val="accent6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IN" sz="3600" b="1" u="sng" dirty="0">
                <a:solidFill>
                  <a:srgbClr val="4892D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Code Based Learning</a:t>
            </a:r>
            <a:endParaRPr lang="en-IN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376F374-D287-4D0A-980A-B456370C16C3}"/>
              </a:ext>
            </a:extLst>
          </p:cNvPr>
          <p:cNvSpPr txBox="1"/>
          <p:nvPr/>
        </p:nvSpPr>
        <p:spPr>
          <a:xfrm>
            <a:off x="3048838" y="1613989"/>
            <a:ext cx="609432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800" b="1" dirty="0"/>
              <a:t>Robot Movement Simulation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DDD7392-D22C-4400-828B-661F9EDB23F1}"/>
              </a:ext>
            </a:extLst>
          </p:cNvPr>
          <p:cNvSpPr txBox="1"/>
          <p:nvPr/>
        </p:nvSpPr>
        <p:spPr>
          <a:xfrm>
            <a:off x="775855" y="2184676"/>
            <a:ext cx="10789798" cy="35227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Objective:</a:t>
            </a:r>
          </a:p>
          <a:p>
            <a:r>
              <a:rPr lang="en-US" dirty="0"/>
              <a:t>To help students model relations and graphs using a real-world scenario.</a:t>
            </a:r>
          </a:p>
          <a:p>
            <a:endParaRPr lang="en-US" dirty="0"/>
          </a:p>
          <a:p>
            <a:r>
              <a:rPr lang="en-US" dirty="0"/>
              <a:t>Case Scenario:</a:t>
            </a:r>
          </a:p>
          <a:p>
            <a:r>
              <a:rPr lang="en-US" dirty="0"/>
              <a:t>A robot receives commands: start, move, turn left, turn right, and stop. Based on these, it transitions through states like Idle, Moving Forward, Turning, and Stopped.</a:t>
            </a:r>
          </a:p>
          <a:p>
            <a:endParaRPr lang="en-US" dirty="0"/>
          </a:p>
          <a:p>
            <a:r>
              <a:rPr lang="en-US" dirty="0"/>
              <a:t>Steps:</a:t>
            </a:r>
          </a:p>
          <a:p>
            <a:endParaRPr lang="en-US" dirty="0"/>
          </a:p>
          <a:p>
            <a:r>
              <a:rPr lang="en-US" dirty="0"/>
              <a:t>Students are divided into small groups.</a:t>
            </a:r>
          </a:p>
          <a:p>
            <a:endParaRPr lang="en-US" dirty="0"/>
          </a:p>
          <a:p>
            <a:r>
              <a:rPr lang="en-US" dirty="0"/>
              <a:t>Each group :draw a directed graph representing the state transitions, present and explain their models.</a:t>
            </a:r>
          </a:p>
        </p:txBody>
      </p:sp>
      <p:sp>
        <p:nvSpPr>
          <p:cNvPr id="16" name="Footer Placeholder 5">
            <a:extLst>
              <a:ext uri="{FF2B5EF4-FFF2-40B4-BE49-F238E27FC236}">
                <a16:creationId xmlns:a16="http://schemas.microsoft.com/office/drawing/2014/main" id="{2DA70A7F-AF09-468E-8462-1B9BC3B398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43139" y="6356350"/>
            <a:ext cx="8186736" cy="365125"/>
          </a:xfrm>
        </p:spPr>
        <p:txBody>
          <a:bodyPr/>
          <a:lstStyle/>
          <a:p>
            <a:r>
              <a:rPr lang="en-GB" sz="1400" dirty="0"/>
              <a:t> </a:t>
            </a:r>
            <a:r>
              <a:rPr lang="en-GB" sz="1400" b="1" dirty="0"/>
              <a:t>Galgotias-Student Centered Active Learning Ecosystem &amp; Date </a:t>
            </a:r>
            <a:r>
              <a:rPr lang="en-GB" sz="1400" b="1" dirty="0" smtClean="0"/>
              <a:t>16-02-2026 </a:t>
            </a:r>
            <a:endParaRPr lang="en-IN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13801" y="3946070"/>
            <a:ext cx="5678199" cy="14710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807327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14"/>
          <p:cNvSpPr txBox="1">
            <a:spLocks noGrp="1"/>
          </p:cNvSpPr>
          <p:nvPr>
            <p:ph type="title"/>
          </p:nvPr>
        </p:nvSpPr>
        <p:spPr>
          <a:xfrm>
            <a:off x="4116421" y="603428"/>
            <a:ext cx="10515600" cy="6295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ct val="100000"/>
              <a:buFont typeface="Times New Roman"/>
              <a:buNone/>
            </a:pPr>
            <a:r>
              <a:rPr lang="en-IN" sz="4400" b="1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Summary</a:t>
            </a:r>
            <a:endParaRPr b="1">
              <a:solidFill>
                <a:srgbClr val="C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67" name="Google Shape;267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18</a:t>
            </a:fld>
            <a:endParaRPr/>
          </a:p>
        </p:txBody>
      </p:sp>
      <p:pic>
        <p:nvPicPr>
          <p:cNvPr id="268" name="Google Shape;268;p14" descr="A blue circle with text and words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58566" y="176754"/>
            <a:ext cx="874732" cy="874732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409F99A-F1EE-43D4-B994-387622A6973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32" y="114202"/>
            <a:ext cx="3795634" cy="74023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69F37DC2-2CB0-4CED-9F80-DF7D1FF64909}"/>
              </a:ext>
            </a:extLst>
          </p:cNvPr>
          <p:cNvSpPr txBox="1"/>
          <p:nvPr/>
        </p:nvSpPr>
        <p:spPr>
          <a:xfrm>
            <a:off x="1654759" y="1659688"/>
            <a:ext cx="9103807" cy="37379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n-US" sz="2000" dirty="0"/>
              <a:t>What </a:t>
            </a:r>
            <a:r>
              <a:rPr lang="en-US" sz="2000" dirty="0" err="1"/>
              <a:t>ToC</a:t>
            </a:r>
            <a:r>
              <a:rPr lang="en-US" sz="2000" dirty="0"/>
              <a:t> is – Study of how computers solve problems and what they can or cannot do.</a:t>
            </a:r>
          </a:p>
          <a:p>
            <a:pPr marL="34290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n-US" sz="2000" dirty="0"/>
              <a:t>Sets – Groups of items; used for alphabets, states, and strings in computation.</a:t>
            </a:r>
          </a:p>
          <a:p>
            <a:pPr marL="34290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n-US" sz="2000" dirty="0"/>
              <a:t>Relations – Links between items; used to describe how machines change from one state to another.</a:t>
            </a:r>
          </a:p>
          <a:p>
            <a:pPr marL="34290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n-US" sz="2000" dirty="0"/>
              <a:t>Graphs – Points connected by lines; used to show machines and their transitions.</a:t>
            </a:r>
          </a:p>
          <a:p>
            <a:pPr marL="34290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n-US" sz="2000" dirty="0"/>
              <a:t>Why they matter – Sets, relations, and graphs help design and understand computational models like DFA and NFA.</a:t>
            </a:r>
            <a:endParaRPr lang="en-IN" sz="2000" dirty="0"/>
          </a:p>
        </p:txBody>
      </p:sp>
      <p:sp>
        <p:nvSpPr>
          <p:cNvPr id="11" name="Footer Placeholder 5">
            <a:extLst>
              <a:ext uri="{FF2B5EF4-FFF2-40B4-BE49-F238E27FC236}">
                <a16:creationId xmlns:a16="http://schemas.microsoft.com/office/drawing/2014/main" id="{5CE88F23-5C4F-4EFB-BEA4-970FA3BFDA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43139" y="6356350"/>
            <a:ext cx="8186736" cy="365125"/>
          </a:xfrm>
        </p:spPr>
        <p:txBody>
          <a:bodyPr/>
          <a:lstStyle/>
          <a:p>
            <a:r>
              <a:rPr lang="en-GB" sz="1400" dirty="0"/>
              <a:t> </a:t>
            </a:r>
            <a:r>
              <a:rPr lang="en-GB" sz="1400" b="1" dirty="0"/>
              <a:t>Galgotias-Student Centered Active Learning Ecosystem &amp; Date 14-08-2025 </a:t>
            </a:r>
            <a:endParaRPr lang="en-IN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 b="0" i="0" u="none" strike="noStrike" cap="none">
              <a:solidFill>
                <a:schemeClr val="lt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127" name="Google Shape;127;p4"/>
          <p:cNvSpPr/>
          <p:nvPr/>
        </p:nvSpPr>
        <p:spPr>
          <a:xfrm flipH="1">
            <a:off x="2" y="0"/>
            <a:ext cx="12191998" cy="2170031"/>
          </a:xfrm>
          <a:prstGeom prst="rect">
            <a:avLst/>
          </a:prstGeom>
          <a:gradFill>
            <a:gsLst>
              <a:gs pos="0">
                <a:srgbClr val="000000">
                  <a:alpha val="95686"/>
                </a:srgbClr>
              </a:gs>
              <a:gs pos="100000">
                <a:srgbClr val="0F4861"/>
              </a:gs>
            </a:gsLst>
            <a:lin ang="19799999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 b="0" i="0" u="none" strike="noStrike" cap="none">
              <a:solidFill>
                <a:schemeClr val="lt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128" name="Google Shape;128;p4"/>
          <p:cNvSpPr/>
          <p:nvPr/>
        </p:nvSpPr>
        <p:spPr>
          <a:xfrm flipH="1">
            <a:off x="8082819" y="0"/>
            <a:ext cx="4097211" cy="2170661"/>
          </a:xfrm>
          <a:prstGeom prst="rect">
            <a:avLst/>
          </a:prstGeom>
          <a:gradFill>
            <a:gsLst>
              <a:gs pos="0">
                <a:srgbClr val="0A3041">
                  <a:alpha val="67843"/>
                </a:srgbClr>
              </a:gs>
              <a:gs pos="19000">
                <a:srgbClr val="0A3041">
                  <a:alpha val="67843"/>
                </a:srgbClr>
              </a:gs>
              <a:gs pos="100000">
                <a:srgbClr val="156082">
                  <a:alpha val="47843"/>
                </a:srgbClr>
              </a:gs>
            </a:gsLst>
            <a:lin ang="19199999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 b="0" i="0" u="none" strike="noStrike" cap="none">
              <a:solidFill>
                <a:schemeClr val="lt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129" name="Google Shape;129;p4"/>
          <p:cNvSpPr/>
          <p:nvPr/>
        </p:nvSpPr>
        <p:spPr>
          <a:xfrm rot="-5400000" flipH="1">
            <a:off x="5010646" y="-5010043"/>
            <a:ext cx="2170709" cy="12192000"/>
          </a:xfrm>
          <a:prstGeom prst="rect">
            <a:avLst/>
          </a:prstGeom>
          <a:gradFill>
            <a:gsLst>
              <a:gs pos="0">
                <a:srgbClr val="0F4861">
                  <a:alpha val="15686"/>
                </a:srgbClr>
              </a:gs>
              <a:gs pos="23000">
                <a:srgbClr val="0F4861">
                  <a:alpha val="15686"/>
                </a:srgbClr>
              </a:gs>
              <a:gs pos="99000">
                <a:srgbClr val="000000">
                  <a:alpha val="44705"/>
                </a:srgbClr>
              </a:gs>
              <a:gs pos="100000">
                <a:srgbClr val="000000">
                  <a:alpha val="44705"/>
                </a:srgbClr>
              </a:gs>
            </a:gsLst>
            <a:lin ang="21000001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 b="0" i="0" u="none" strike="noStrike" cap="none">
              <a:solidFill>
                <a:schemeClr val="lt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130" name="Google Shape;130;p4"/>
          <p:cNvSpPr txBox="1">
            <a:spLocks noGrp="1"/>
          </p:cNvSpPr>
          <p:nvPr>
            <p:ph type="title"/>
          </p:nvPr>
        </p:nvSpPr>
        <p:spPr>
          <a:xfrm>
            <a:off x="558702" y="1102452"/>
            <a:ext cx="10542973" cy="8228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100000"/>
              <a:buFont typeface="Arial"/>
              <a:buNone/>
            </a:pPr>
            <a:r>
              <a:rPr lang="en-US" sz="4000" b="1" dirty="0">
                <a:solidFill>
                  <a:srgbClr val="FFFFFF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Ensure attainment of LOs in alignment to the learning activities: </a:t>
            </a:r>
            <a:endParaRPr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31" name="Google Shape;131;p4"/>
          <p:cNvGrpSpPr/>
          <p:nvPr/>
        </p:nvGrpSpPr>
        <p:grpSpPr>
          <a:xfrm>
            <a:off x="348050" y="2615979"/>
            <a:ext cx="11519840" cy="3689404"/>
            <a:chOff x="-296006" y="0"/>
            <a:chExt cx="11519840" cy="3689404"/>
          </a:xfrm>
        </p:grpSpPr>
        <p:sp>
          <p:nvSpPr>
            <p:cNvPr id="132" name="Google Shape;132;p4"/>
            <p:cNvSpPr/>
            <p:nvPr/>
          </p:nvSpPr>
          <p:spPr>
            <a:xfrm>
              <a:off x="-296006" y="0"/>
              <a:ext cx="10472679" cy="1660232"/>
            </a:xfrm>
            <a:prstGeom prst="roundRect">
              <a:avLst>
                <a:gd name="adj" fmla="val 10000"/>
              </a:avLst>
            </a:prstGeom>
            <a:solidFill>
              <a:srgbClr val="E97131"/>
            </a:solidFill>
            <a:ln w="1905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3" name="Google Shape;133;p4"/>
            <p:cNvSpPr txBox="1"/>
            <p:nvPr/>
          </p:nvSpPr>
          <p:spPr>
            <a:xfrm>
              <a:off x="-247379" y="48627"/>
              <a:ext cx="8550359" cy="156297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44775" tIns="144775" rIns="144775" bIns="144775" anchor="ctr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3800"/>
                <a:buFont typeface="Arial"/>
                <a:buNone/>
              </a:pPr>
              <a:r>
                <a:rPr lang="en-IN" sz="3200" b="0" i="0" u="none" strike="noStrike" cap="none" dirty="0">
                  <a:solidFill>
                    <a:schemeClr val="lt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/>
                </a:rPr>
                <a:t>LO1:</a:t>
              </a:r>
              <a:endParaRPr lang="en-US" sz="3200" b="0" i="0" u="none" strike="noStrike" cap="none" dirty="0">
                <a:solidFill>
                  <a:schemeClr val="lt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endParaRPr>
            </a:p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3800"/>
                <a:buFont typeface="Arial"/>
                <a:buNone/>
              </a:pPr>
              <a:endParaRPr sz="3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4" name="Google Shape;134;p4"/>
            <p:cNvSpPr/>
            <p:nvPr/>
          </p:nvSpPr>
          <p:spPr>
            <a:xfrm>
              <a:off x="1935180" y="2029172"/>
              <a:ext cx="9288654" cy="1660232"/>
            </a:xfrm>
            <a:prstGeom prst="roundRect">
              <a:avLst>
                <a:gd name="adj" fmla="val 10000"/>
              </a:avLst>
            </a:prstGeom>
            <a:solidFill>
              <a:srgbClr val="186923"/>
            </a:solidFill>
            <a:ln w="1905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5" name="Google Shape;135;p4"/>
            <p:cNvSpPr txBox="1"/>
            <p:nvPr/>
          </p:nvSpPr>
          <p:spPr>
            <a:xfrm>
              <a:off x="1983807" y="2077799"/>
              <a:ext cx="6473075" cy="156297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44775" tIns="144775" rIns="144775" bIns="144775" anchor="ctr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3800"/>
                <a:buFont typeface="Arial"/>
                <a:buNone/>
              </a:pPr>
              <a:r>
                <a:rPr lang="en-IN" sz="2800" b="0" i="0" u="none" strike="noStrike" cap="none" dirty="0">
                  <a:solidFill>
                    <a:schemeClr val="lt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/>
                </a:rPr>
                <a:t>LO2:</a:t>
              </a:r>
              <a:endParaRPr lang="en-US" sz="2800" b="0" i="0" u="none" strike="noStrike" cap="none" dirty="0">
                <a:solidFill>
                  <a:schemeClr val="lt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endParaRPr>
            </a:p>
          </p:txBody>
        </p:sp>
        <p:sp>
          <p:nvSpPr>
            <p:cNvPr id="136" name="Google Shape;136;p4"/>
            <p:cNvSpPr/>
            <p:nvPr/>
          </p:nvSpPr>
          <p:spPr>
            <a:xfrm>
              <a:off x="8505509" y="1305127"/>
              <a:ext cx="1079150" cy="1079150"/>
            </a:xfrm>
            <a:prstGeom prst="downArrow">
              <a:avLst>
                <a:gd name="adj1" fmla="val 55000"/>
                <a:gd name="adj2" fmla="val 45000"/>
              </a:avLst>
            </a:prstGeom>
            <a:solidFill>
              <a:srgbClr val="F6D4CC">
                <a:alpha val="89803"/>
              </a:srgbClr>
            </a:solidFill>
            <a:ln w="19050" cap="flat" cmpd="sng">
              <a:solidFill>
                <a:srgbClr val="F6D4CC">
                  <a:alpha val="89803"/>
                </a:srgbClr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7" name="Google Shape;137;p4"/>
            <p:cNvSpPr txBox="1"/>
            <p:nvPr/>
          </p:nvSpPr>
          <p:spPr>
            <a:xfrm>
              <a:off x="8748318" y="1305127"/>
              <a:ext cx="593532" cy="81206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600"/>
                <a:buFont typeface="Arial"/>
                <a:buNone/>
              </a:pPr>
              <a:endParaRPr sz="2400" b="0" i="0" u="none" strike="noStrike" cap="none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endParaRPr>
            </a:p>
          </p:txBody>
        </p:sp>
      </p:grpSp>
      <p:sp>
        <p:nvSpPr>
          <p:cNvPr id="139" name="Google Shape;139;p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2400">
                <a:latin typeface="Times New Roman" panose="02020603050405020304" pitchFamily="18" charset="0"/>
                <a:cs typeface="Times New Roman" panose="02020603050405020304" pitchFamily="18" charset="0"/>
              </a:rPr>
              <a:t>19</a:t>
            </a:fld>
            <a:endParaRPr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40" name="Google Shape;140;p4" descr="A blue circle with text and words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58566" y="176754"/>
            <a:ext cx="874732" cy="874732"/>
          </a:xfrm>
          <a:prstGeom prst="rect">
            <a:avLst/>
          </a:prstGeom>
          <a:noFill/>
          <a:ln>
            <a:noFill/>
          </a:ln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92F137E6-A257-43E9-85A6-31EF956DF22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32" y="114202"/>
            <a:ext cx="3795634" cy="740238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CAFF9223-A3C7-4D2E-B65E-6B698011FE8E}"/>
              </a:ext>
            </a:extLst>
          </p:cNvPr>
          <p:cNvSpPr txBox="1"/>
          <p:nvPr/>
        </p:nvSpPr>
        <p:spPr>
          <a:xfrm>
            <a:off x="1371271" y="2899515"/>
            <a:ext cx="9249837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Understand and apply the fundamental concepts of sets, relations, and graphs to model and analyze computational problems.</a:t>
            </a:r>
            <a:endParaRPr lang="en-IN" sz="24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3BFBCD9-9AA5-4069-802E-456517B64985}"/>
              </a:ext>
            </a:extLst>
          </p:cNvPr>
          <p:cNvSpPr txBox="1"/>
          <p:nvPr/>
        </p:nvSpPr>
        <p:spPr>
          <a:xfrm>
            <a:off x="3594816" y="5013180"/>
            <a:ext cx="803848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Develop the ability to represent and interpret the behavior of simple computational systems using set notation, relation properties, and graph diagrams.</a:t>
            </a:r>
            <a:endParaRPr lang="en-IN" sz="2400" dirty="0"/>
          </a:p>
        </p:txBody>
      </p:sp>
      <p:sp>
        <p:nvSpPr>
          <p:cNvPr id="20" name="Footer Placeholder 5">
            <a:extLst>
              <a:ext uri="{FF2B5EF4-FFF2-40B4-BE49-F238E27FC236}">
                <a16:creationId xmlns:a16="http://schemas.microsoft.com/office/drawing/2014/main" id="{8B412B46-3E78-4E34-8227-4999B662EC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43139" y="6356350"/>
            <a:ext cx="8186736" cy="365125"/>
          </a:xfrm>
        </p:spPr>
        <p:txBody>
          <a:bodyPr/>
          <a:lstStyle/>
          <a:p>
            <a:r>
              <a:rPr lang="en-GB" sz="1400" dirty="0"/>
              <a:t> </a:t>
            </a:r>
            <a:r>
              <a:rPr lang="en-GB" sz="1400" b="1" dirty="0"/>
              <a:t>Galgotias-Student Centered Active Learning Ecosystem &amp; Date 14-08-2025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5576712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DE995B-751B-0A32-5A21-E7C3B8B54B6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597688"/>
            <a:ext cx="9144000" cy="2622620"/>
          </a:xfrm>
        </p:spPr>
        <p:txBody>
          <a:bodyPr>
            <a:noAutofit/>
          </a:bodyPr>
          <a:lstStyle/>
          <a:p>
            <a:r>
              <a:rPr lang="en-US" sz="5400" dirty="0">
                <a:latin typeface="Georgia" panose="02040502050405020303" pitchFamily="18" charset="0"/>
              </a:rPr>
              <a:t>Discussion on the post session activities</a:t>
            </a:r>
            <a:br>
              <a:rPr lang="en-US" sz="5400" dirty="0">
                <a:latin typeface="Georgia" panose="02040502050405020303" pitchFamily="18" charset="0"/>
              </a:rPr>
            </a:br>
            <a:r>
              <a:rPr lang="en-IN" sz="2800" b="1" dirty="0">
                <a:solidFill>
                  <a:srgbClr val="43D65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(Submit the answers through LMS)</a:t>
            </a:r>
            <a:r>
              <a:rPr lang="en-IN" sz="2800" b="1" dirty="0">
                <a:latin typeface="Times New Roman"/>
                <a:ea typeface="Times New Roman"/>
                <a:cs typeface="Times New Roman"/>
                <a:sym typeface="Times New Roman"/>
              </a:rPr>
              <a:t/>
            </a:r>
            <a:br>
              <a:rPr lang="en-IN" sz="2800" b="1" dirty="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2800" dirty="0">
                <a:latin typeface="Georgia" panose="02040502050405020303" pitchFamily="18" charset="0"/>
              </a:rPr>
              <a:t/>
            </a:r>
            <a:br>
              <a:rPr lang="en-US" sz="2800" dirty="0">
                <a:latin typeface="Georgia" panose="02040502050405020303" pitchFamily="18" charset="0"/>
              </a:rPr>
            </a:br>
            <a:r>
              <a:rPr lang="en-US" sz="2800" dirty="0">
                <a:latin typeface="Georgia" panose="02040502050405020303" pitchFamily="18" charset="0"/>
              </a:rPr>
              <a:t/>
            </a:r>
            <a:br>
              <a:rPr lang="en-US" sz="2800" dirty="0">
                <a:latin typeface="Georgia" panose="02040502050405020303" pitchFamily="18" charset="0"/>
              </a:rPr>
            </a:br>
            <a:endParaRPr lang="en-IN" sz="2800" dirty="0">
              <a:latin typeface="Georgia" panose="02040502050405020303" pitchFamily="18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F65707-3814-3027-565A-48A3BE9C3C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20</a:t>
            </a:fld>
            <a:endParaRPr lang="en-IN"/>
          </a:p>
        </p:txBody>
      </p:sp>
      <p:pic>
        <p:nvPicPr>
          <p:cNvPr id="7" name="Picture 6" descr="A blue circle with text and words&#10;&#10;Description automatically generated">
            <a:extLst>
              <a:ext uri="{FF2B5EF4-FFF2-40B4-BE49-F238E27FC236}">
                <a16:creationId xmlns:a16="http://schemas.microsoft.com/office/drawing/2014/main" id="{C592EB9A-7F96-10B0-43BD-B1F95C6FBE3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8566" y="176754"/>
            <a:ext cx="874732" cy="874732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A01523D9-5DDB-3527-A0E3-5779C8EBF3E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32" y="114202"/>
            <a:ext cx="3795634" cy="740238"/>
          </a:xfrm>
          <a:prstGeom prst="rect">
            <a:avLst/>
          </a:prstGeom>
        </p:spPr>
      </p:pic>
      <p:sp>
        <p:nvSpPr>
          <p:cNvPr id="9" name="Footer Placeholder 5">
            <a:extLst>
              <a:ext uri="{FF2B5EF4-FFF2-40B4-BE49-F238E27FC236}">
                <a16:creationId xmlns:a16="http://schemas.microsoft.com/office/drawing/2014/main" id="{67473414-BA1E-4460-9E35-610361298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43139" y="6356350"/>
            <a:ext cx="8186736" cy="365125"/>
          </a:xfrm>
        </p:spPr>
        <p:txBody>
          <a:bodyPr/>
          <a:lstStyle/>
          <a:p>
            <a:r>
              <a:rPr lang="en-GB" sz="1400" dirty="0"/>
              <a:t> </a:t>
            </a:r>
            <a:r>
              <a:rPr lang="en-GB" sz="1400" b="1" dirty="0"/>
              <a:t>Galgotias-Student Centered Active Learning Ecosystem &amp; Date 14-08-2025 </a:t>
            </a:r>
            <a:endParaRPr lang="en-IN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57600" y="3726229"/>
            <a:ext cx="3519055" cy="23004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27183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DE995B-751B-0A32-5A21-E7C3B8B54B6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173" y="1128467"/>
            <a:ext cx="10510759" cy="824524"/>
          </a:xfrm>
        </p:spPr>
        <p:txBody>
          <a:bodyPr>
            <a:noAutofit/>
          </a:bodyPr>
          <a:lstStyle/>
          <a:p>
            <a:r>
              <a:rPr lang="en-IN" sz="5400" dirty="0">
                <a:latin typeface="Georgia" panose="02040502050405020303" pitchFamily="18" charset="0"/>
              </a:rPr>
              <a:t>Information about the next lesson</a:t>
            </a:r>
            <a:endParaRPr lang="en-IN" sz="2000" dirty="0">
              <a:latin typeface="Georgia" panose="02040502050405020303" pitchFamily="18" charset="0"/>
            </a:endParaRP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614566" y="2227017"/>
            <a:ext cx="9144000" cy="3227827"/>
          </a:xfrm>
        </p:spPr>
        <p:txBody>
          <a:bodyPr>
            <a:normAutofit/>
          </a:bodyPr>
          <a:lstStyle/>
          <a:p>
            <a:pPr marL="457200" indent="-457200" algn="l">
              <a:buFont typeface="Wingdings" panose="05000000000000000000" pitchFamily="2" charset="2"/>
              <a:buChar char="Ø"/>
            </a:pPr>
            <a:r>
              <a:rPr lang="en-US" sz="3200" b="1" dirty="0">
                <a:solidFill>
                  <a:schemeClr val="accent2">
                    <a:lumMod val="75000"/>
                  </a:schemeClr>
                </a:solidFill>
                <a:latin typeface="Georgia"/>
                <a:ea typeface="Georgia"/>
                <a:cs typeface="Georgia"/>
                <a:sym typeface="Georgia"/>
              </a:rPr>
              <a:t>Introduction to Finite State Machine (FSM) with example and applications of Finite Automata</a:t>
            </a:r>
            <a:endParaRPr lang="en-IN" sz="3200" b="1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F65707-3814-3027-565A-48A3BE9C3C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21</a:t>
            </a:fld>
            <a:endParaRPr lang="en-IN"/>
          </a:p>
        </p:txBody>
      </p:sp>
      <p:pic>
        <p:nvPicPr>
          <p:cNvPr id="7" name="Picture 6" descr="A blue circle with text and words&#10;&#10;Description automatically generated">
            <a:extLst>
              <a:ext uri="{FF2B5EF4-FFF2-40B4-BE49-F238E27FC236}">
                <a16:creationId xmlns:a16="http://schemas.microsoft.com/office/drawing/2014/main" id="{C592EB9A-7F96-10B0-43BD-B1F95C6FBE3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8566" y="176754"/>
            <a:ext cx="874732" cy="874732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5D834257-EC96-D536-3BBD-72E7CFA642C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32" y="114202"/>
            <a:ext cx="3795634" cy="740238"/>
          </a:xfrm>
          <a:prstGeom prst="rect">
            <a:avLst/>
          </a:prstGeom>
        </p:spPr>
      </p:pic>
      <p:sp>
        <p:nvSpPr>
          <p:cNvPr id="10" name="Footer Placeholder 5">
            <a:extLst>
              <a:ext uri="{FF2B5EF4-FFF2-40B4-BE49-F238E27FC236}">
                <a16:creationId xmlns:a16="http://schemas.microsoft.com/office/drawing/2014/main" id="{C7E07CC7-D3D9-431A-80F4-E5353CFED3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43139" y="6356350"/>
            <a:ext cx="8186736" cy="365125"/>
          </a:xfrm>
        </p:spPr>
        <p:txBody>
          <a:bodyPr/>
          <a:lstStyle/>
          <a:p>
            <a:r>
              <a:rPr lang="en-GB" sz="1400" dirty="0"/>
              <a:t> </a:t>
            </a:r>
            <a:r>
              <a:rPr lang="en-GB" sz="1400" b="1" dirty="0"/>
              <a:t>Galgotias-Student Centered Active Learning Ecosystem &amp; Date 14-08-2025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0422432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34"/>
          <p:cNvSpPr txBox="1">
            <a:spLocks noGrp="1"/>
          </p:cNvSpPr>
          <p:nvPr>
            <p:ph type="title"/>
          </p:nvPr>
        </p:nvSpPr>
        <p:spPr>
          <a:xfrm>
            <a:off x="838200" y="7334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4000"/>
              <a:buFont typeface="Play"/>
              <a:buNone/>
            </a:pPr>
            <a:r>
              <a:rPr lang="en-US" sz="4000" b="1">
                <a:solidFill>
                  <a:srgbClr val="0000FF"/>
                </a:solidFill>
              </a:rPr>
              <a:t>Feedback and Queries</a:t>
            </a:r>
            <a:endParaRPr/>
          </a:p>
        </p:txBody>
      </p:sp>
      <p:pic>
        <p:nvPicPr>
          <p:cNvPr id="302" name="Google Shape;302;p34" descr="How To Write A Thank You Note In Five Easy Steps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462294" y="2211388"/>
            <a:ext cx="6891506" cy="2968649"/>
          </a:xfrm>
          <a:prstGeom prst="rect">
            <a:avLst/>
          </a:prstGeom>
          <a:noFill/>
          <a:ln>
            <a:noFill/>
          </a:ln>
        </p:spPr>
      </p:pic>
      <p:pic>
        <p:nvPicPr>
          <p:cNvPr id="304" name="Google Shape;304;p34" descr="A blue circle with text and words&#10;&#10;Description automatically generated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974466" y="367254"/>
            <a:ext cx="874732" cy="874732"/>
          </a:xfrm>
          <a:prstGeom prst="rect">
            <a:avLst/>
          </a:prstGeom>
          <a:noFill/>
          <a:ln>
            <a:noFill/>
          </a:ln>
        </p:spPr>
      </p:pic>
      <p:pic>
        <p:nvPicPr>
          <p:cNvPr id="305" name="Google Shape;305;p34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4932" y="114202"/>
            <a:ext cx="3795634" cy="740238"/>
          </a:xfrm>
          <a:prstGeom prst="rect">
            <a:avLst/>
          </a:prstGeom>
          <a:noFill/>
          <a:ln>
            <a:noFill/>
          </a:ln>
        </p:spPr>
      </p:pic>
      <p:sp>
        <p:nvSpPr>
          <p:cNvPr id="306" name="Google Shape;306;p3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Galgotias University</a:t>
            </a:r>
            <a:endParaRPr/>
          </a:p>
        </p:txBody>
      </p:sp>
      <p:sp>
        <p:nvSpPr>
          <p:cNvPr id="307" name="Google Shape;307;p3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816246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3734</TotalTime>
  <Words>1113</Words>
  <Application>Microsoft Office PowerPoint</Application>
  <PresentationFormat>Widescreen</PresentationFormat>
  <Paragraphs>155</Paragraphs>
  <Slides>22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31" baseType="lpstr">
      <vt:lpstr>Aptos</vt:lpstr>
      <vt:lpstr>Aptos Display</vt:lpstr>
      <vt:lpstr>Arial</vt:lpstr>
      <vt:lpstr>Calibri</vt:lpstr>
      <vt:lpstr>Georgia</vt:lpstr>
      <vt:lpstr>Play</vt:lpstr>
      <vt:lpstr>Times New Roman</vt:lpstr>
      <vt:lpstr>Wingdings</vt:lpstr>
      <vt:lpstr>Office Theme</vt:lpstr>
      <vt:lpstr>Introduction, Background on Sets, Relations, and Graphs     Session No.: 01 Course Name: Theory of Computation Course Code: R1UC501T Instructor Name: Arvind Kumar Duration: 50 Minutes Date of Conduction of Class: 16 -02-2026 </vt:lpstr>
      <vt:lpstr> Key concepts of session no. 1 </vt:lpstr>
      <vt:lpstr>Reflect on the responses of post session activity  </vt:lpstr>
      <vt:lpstr>PowerPoint Presentation</vt:lpstr>
      <vt:lpstr>PowerPoint Presentation</vt:lpstr>
      <vt:lpstr>At the end of this session students will be able to </vt:lpstr>
      <vt:lpstr>Session Outline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Learning Activity 1: Think-Pair- Share(Use Wooclap)</vt:lpstr>
      <vt:lpstr>Learning Activity 1: </vt:lpstr>
      <vt:lpstr>Learning Activity 2: Code Based Learning</vt:lpstr>
      <vt:lpstr>Summary</vt:lpstr>
      <vt:lpstr>Ensure attainment of LOs in alignment to the learning activities: </vt:lpstr>
      <vt:lpstr>Discussion on the post session activities (Submit the answers through LMS)   </vt:lpstr>
      <vt:lpstr>Information about the next lesson</vt:lpstr>
      <vt:lpstr>Feedback and Queries</vt:lpstr>
    </vt:vector>
  </TitlesOfParts>
  <Company>Hewlett-Packard Company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web:  WWW, Web Browser, Client Server and Communication   Session No.: Course Name:  Course Code: Instructor Name: Duration: Date of Conduction of Class:</dc:title>
  <dc:creator>Deepak Gupta</dc:creator>
  <cp:lastModifiedBy>user</cp:lastModifiedBy>
  <cp:revision>130</cp:revision>
  <dcterms:created xsi:type="dcterms:W3CDTF">2024-08-22T06:33:55Z</dcterms:created>
  <dcterms:modified xsi:type="dcterms:W3CDTF">2026-02-16T06:50:44Z</dcterms:modified>
</cp:coreProperties>
</file>