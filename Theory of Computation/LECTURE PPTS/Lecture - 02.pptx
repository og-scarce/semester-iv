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Play" panose="020B0604020202020204" charset="0"/>
      <p:regular r:id="rId25"/>
      <p:bold r:id="rId26"/>
    </p:embeddedFont>
    <p:embeddedFont>
      <p:font typeface="Georgia" panose="02040502050405020303" pitchFamily="18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691155" y="1122362"/>
            <a:ext cx="10008890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algn="l">
              <a:buSzPts val="4400"/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Georgia"/>
                <a:ea typeface="Georgia"/>
                <a:cs typeface="Georgia"/>
                <a:sym typeface="Georgia"/>
              </a:rPr>
              <a:t>Introduction to Finite State Machine (FSM) with example and applications of Finite Automata</a:t>
            </a:r>
            <a:r>
              <a:rPr lang="en-US" sz="4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4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Session No.: 2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Theory of Computation</a:t>
            </a: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Instructor Name: </a:t>
            </a:r>
            <a:r>
              <a:rPr lang="en-US" sz="1800" b="1" dirty="0" smtClean="0">
                <a:latin typeface="Times New Roman"/>
                <a:ea typeface="Georgia"/>
                <a:cs typeface="Times New Roman"/>
                <a:sym typeface="Times New Roman"/>
              </a:rPr>
              <a:t>Arvind Kumar</a:t>
            </a: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Date of Conduction of Class: </a:t>
            </a:r>
            <a:endParaRPr sz="4800" b="1" dirty="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752631" y="1329046"/>
            <a:ext cx="10515600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795"/>
              <a:buFont typeface="Play"/>
              <a:buNone/>
            </a:pPr>
            <a:r>
              <a:rPr lang="en-US"/>
              <a:t/>
            </a:r>
            <a:br>
              <a:rPr lang="en-US"/>
            </a:br>
            <a:r>
              <a:rPr lang="en-US" sz="4900" b="1">
                <a:solidFill>
                  <a:srgbClr val="0000FF"/>
                </a:solidFill>
              </a:rPr>
              <a:t>Review of the key concepts of session no. #1</a:t>
            </a:r>
            <a:br>
              <a:rPr lang="en-US" sz="4900" b="1">
                <a:solidFill>
                  <a:srgbClr val="0000FF"/>
                </a:solidFill>
              </a:rPr>
            </a:br>
            <a:endParaRPr sz="4900" b="1">
              <a:solidFill>
                <a:srgbClr val="0000FF"/>
              </a:solidFill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0" name="Google Shape;100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>
            <a:spLocks noGrp="1"/>
          </p:cNvSpPr>
          <p:nvPr>
            <p:ph type="body" idx="1"/>
          </p:nvPr>
        </p:nvSpPr>
        <p:spPr>
          <a:xfrm>
            <a:off x="752631" y="2369903"/>
            <a:ext cx="10321769" cy="3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IN" b="1" dirty="0" smtClean="0"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Introduction to TOC, </a:t>
            </a:r>
            <a:r>
              <a:rPr lang="en-US" b="1" dirty="0"/>
              <a:t>Understanding Sets</a:t>
            </a:r>
            <a:r>
              <a:rPr lang="en-IN" b="1" dirty="0" smtClean="0"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, </a:t>
            </a:r>
            <a:r>
              <a:rPr lang="en-IN" b="1" dirty="0"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Relations and Graphs</a:t>
            </a:r>
            <a:br>
              <a:rPr lang="en-IN" b="1" dirty="0"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838200" y="815956"/>
            <a:ext cx="10515600" cy="87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Icebreaker</a:t>
            </a: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5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 b="1" dirty="0"/>
              <a:t>Can you think of real-world systems that work step-by-step?</a:t>
            </a:r>
            <a:endParaRPr dirty="0"/>
          </a:p>
        </p:txBody>
      </p:sp>
      <p:pic>
        <p:nvPicPr>
          <p:cNvPr id="109" name="Google Shape;109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91" y="3281652"/>
            <a:ext cx="10067925" cy="3030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838200" y="815956"/>
            <a:ext cx="10515600" cy="87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Icebreaker</a:t>
            </a: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you think of real-world systems that work step-by-step?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Examples: </a:t>
            </a:r>
            <a:r>
              <a:rPr lang="en-US" b="1"/>
              <a:t>Traffic lights, Lift, Washing Machine, AC</a:t>
            </a:r>
            <a:endParaRPr/>
          </a:p>
        </p:txBody>
      </p:sp>
      <p:pic>
        <p:nvPicPr>
          <p:cNvPr id="117" name="Google Shape;117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990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3735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25" name="Google Shape;125;p17"/>
          <p:cNvGrpSpPr/>
          <p:nvPr/>
        </p:nvGrpSpPr>
        <p:grpSpPr>
          <a:xfrm>
            <a:off x="644056" y="1971675"/>
            <a:ext cx="10927828" cy="4333708"/>
            <a:chOff x="0" y="0"/>
            <a:chExt cx="10927828" cy="4333708"/>
          </a:xfrm>
        </p:grpSpPr>
        <p:sp>
          <p:nvSpPr>
            <p:cNvPr id="126" name="Google Shape;126;p17"/>
            <p:cNvSpPr/>
            <p:nvPr/>
          </p:nvSpPr>
          <p:spPr>
            <a:xfrm>
              <a:off x="0" y="0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57118" y="57118"/>
              <a:ext cx="9231535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LO1: </a:t>
              </a:r>
              <a:r>
                <a:rPr lang="en-US" sz="3600" b="1" i="0" u="none" strike="noStrike" cap="none" dirty="0">
                  <a:solidFill>
                    <a:schemeClr val="lt1"/>
                  </a:solidFill>
                  <a:sym typeface="Arial"/>
                </a:rPr>
                <a:t>Explain the concept and components of finite state machines.</a:t>
              </a:r>
              <a:endParaRPr sz="3600" b="1" dirty="0"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639174" y="2383539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1696292" y="2440657"/>
              <a:ext cx="9231536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rial"/>
                <a:buNone/>
              </a:pPr>
              <a:r>
                <a:rPr lang="en-US" sz="3200" b="1" i="0" u="none" strike="noStrike" cap="none" dirty="0" smtClean="0">
                  <a:solidFill>
                    <a:schemeClr val="lt1"/>
                  </a:solidFill>
                  <a:sym typeface="Arial"/>
                </a:rPr>
                <a:t>LO2</a:t>
              </a:r>
              <a:r>
                <a:rPr lang="en-US" sz="3200" b="1" i="0" u="none" strike="noStrike" cap="none" dirty="0">
                  <a:solidFill>
                    <a:schemeClr val="lt1"/>
                  </a:solidFill>
                  <a:sym typeface="Arial"/>
                </a:rPr>
                <a:t>: Construct a simple finite state machine for a given problem. </a:t>
              </a:r>
              <a:endParaRPr sz="3200" b="1" dirty="0"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8021044" y="1533049"/>
              <a:ext cx="1267609" cy="1267609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8306256" y="1533049"/>
              <a:ext cx="697185" cy="953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" name="Google Shape;132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620115" y="1203306"/>
            <a:ext cx="845497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end of this session, you will be able to: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Session Outline</a:t>
            </a:r>
            <a:endParaRPr/>
          </a:p>
        </p:txBody>
      </p:sp>
      <p:grpSp>
        <p:nvGrpSpPr>
          <p:cNvPr id="140" name="Google Shape;140;p18"/>
          <p:cNvGrpSpPr/>
          <p:nvPr/>
        </p:nvGrpSpPr>
        <p:grpSpPr>
          <a:xfrm>
            <a:off x="4624869" y="844022"/>
            <a:ext cx="6900512" cy="5536140"/>
            <a:chOff x="0" y="0"/>
            <a:chExt cx="6900512" cy="5536140"/>
          </a:xfrm>
        </p:grpSpPr>
        <p:cxnSp>
          <p:nvCxnSpPr>
            <p:cNvPr id="141" name="Google Shape;141;p18"/>
            <p:cNvCxnSpPr/>
            <p:nvPr/>
          </p:nvCxnSpPr>
          <p:spPr>
            <a:xfrm>
              <a:off x="0" y="0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2" name="Google Shape;142;p18"/>
            <p:cNvSpPr/>
            <p:nvPr/>
          </p:nvSpPr>
          <p:spPr>
            <a:xfrm>
              <a:off x="0" y="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0" y="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lang="en-US" sz="3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Finite State Machine?</a:t>
              </a:r>
              <a:endParaRPr/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0" y="692017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5" name="Google Shape;145;p18"/>
            <p:cNvSpPr/>
            <p:nvPr/>
          </p:nvSpPr>
          <p:spPr>
            <a:xfrm>
              <a:off x="0" y="692017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0" y="692017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lang="en-US" sz="3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Components of FSM</a:t>
              </a:r>
              <a:endPara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" name="Google Shape;147;p18"/>
            <p:cNvCxnSpPr/>
            <p:nvPr/>
          </p:nvCxnSpPr>
          <p:spPr>
            <a:xfrm>
              <a:off x="0" y="1384035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8" name="Google Shape;148;p18"/>
            <p:cNvSpPr/>
            <p:nvPr/>
          </p:nvSpPr>
          <p:spPr>
            <a:xfrm>
              <a:off x="0" y="138403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0" y="138403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00"/>
                <a:buFont typeface="Arial"/>
                <a:buNone/>
              </a:pPr>
              <a:r>
                <a:rPr lang="en-US" sz="3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Types of FSM</a:t>
              </a:r>
              <a:endPara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0" y="2076052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1" name="Google Shape;151;p18"/>
            <p:cNvSpPr/>
            <p:nvPr/>
          </p:nvSpPr>
          <p:spPr>
            <a:xfrm>
              <a:off x="0" y="2076052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0" y="2076052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Arial"/>
                <a:buNone/>
              </a:pPr>
              <a:r>
                <a:rPr lang="en-US" sz="3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Examples of FSM</a:t>
              </a:r>
              <a:endParaRPr/>
            </a:p>
          </p:txBody>
        </p:sp>
        <p:cxnSp>
          <p:nvCxnSpPr>
            <p:cNvPr id="153" name="Google Shape;153;p18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4" name="Google Shape;154;p18"/>
            <p:cNvSpPr/>
            <p:nvPr/>
          </p:nvSpPr>
          <p:spPr>
            <a:xfrm>
              <a:off x="0" y="276807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0" y="276807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Arial"/>
                <a:buNone/>
              </a:pPr>
              <a:r>
                <a:rPr lang="en-US" sz="3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Different Activities</a:t>
              </a:r>
              <a:endParaRPr/>
            </a:p>
          </p:txBody>
        </p:sp>
        <p:cxnSp>
          <p:nvCxnSpPr>
            <p:cNvPr id="156" name="Google Shape;156;p18"/>
            <p:cNvCxnSpPr/>
            <p:nvPr/>
          </p:nvCxnSpPr>
          <p:spPr>
            <a:xfrm>
              <a:off x="0" y="346008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7" name="Google Shape;157;p18"/>
            <p:cNvSpPr/>
            <p:nvPr/>
          </p:nvSpPr>
          <p:spPr>
            <a:xfrm>
              <a:off x="0" y="3460088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0" y="3460088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Arial"/>
                <a:buNone/>
              </a:pPr>
              <a:r>
                <a:rPr lang="en-US" sz="3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Wrap up and Reflection</a:t>
              </a:r>
              <a:endPara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" name="Google Shape;159;p18"/>
            <p:cNvCxnSpPr/>
            <p:nvPr/>
          </p:nvCxnSpPr>
          <p:spPr>
            <a:xfrm>
              <a:off x="0" y="4152105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0" name="Google Shape;160;p18"/>
            <p:cNvSpPr/>
            <p:nvPr/>
          </p:nvSpPr>
          <p:spPr>
            <a:xfrm>
              <a:off x="0" y="415210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0" y="415210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Arial"/>
                <a:buNone/>
              </a:pPr>
              <a:endPara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2" name="Google Shape;162;p18"/>
            <p:cNvCxnSpPr/>
            <p:nvPr/>
          </p:nvCxnSpPr>
          <p:spPr>
            <a:xfrm>
              <a:off x="0" y="4844123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63" name="Google Shape;163;p18"/>
            <p:cNvSpPr/>
            <p:nvPr/>
          </p:nvSpPr>
          <p:spPr>
            <a:xfrm>
              <a:off x="0" y="4844123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0" y="4844123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Arial"/>
                <a:buNone/>
              </a:pPr>
              <a:endParaRPr sz="3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7" name="Google Shape;167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</a:rPr>
              <a:t>What is a Finite State Machine?</a:t>
            </a:r>
            <a:endParaRPr dirty="0"/>
          </a:p>
        </p:txBody>
      </p:sp>
      <p:sp>
        <p:nvSpPr>
          <p:cNvPr id="174" name="Google Shape;17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FSM = A mathematical model of computation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 Consists of finite number of states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 Moves between states based on inputs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 Used to represent and control execution flow</a:t>
            </a:r>
            <a:endParaRPr/>
          </a:p>
        </p:txBody>
      </p:sp>
      <p:pic>
        <p:nvPicPr>
          <p:cNvPr id="175" name="Google Shape;175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65179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02627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838200" y="815956"/>
            <a:ext cx="10515600" cy="87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Components of FSM</a:t>
            </a:r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States (Q)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Alphabet (Σ)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Transition Function (δ)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Start State (q₀)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Final/Accept State (F)</a:t>
            </a:r>
            <a:endParaRPr/>
          </a:p>
        </p:txBody>
      </p:sp>
      <p:pic>
        <p:nvPicPr>
          <p:cNvPr id="183" name="Google Shape;183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Types of FSM</a:t>
            </a:r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Deterministic Finite Automata (DFA)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→ One transition per input symbol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Non-Deterministic Finite Automata (NFA)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→ Multiple transitions possible for same input</a:t>
            </a:r>
            <a:endParaRPr/>
          </a:p>
        </p:txBody>
      </p:sp>
      <p:pic>
        <p:nvPicPr>
          <p:cNvPr id="191" name="Google Shape;191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</a:rPr>
              <a:t>Example: Air Conditioner</a:t>
            </a:r>
            <a:endParaRPr dirty="0"/>
          </a:p>
        </p:txBody>
      </p:sp>
      <p:sp>
        <p:nvSpPr>
          <p:cNvPr id="198" name="Google Shape;198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States: {OFF, COOL, HEAT, FAN}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Start: OFF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Transitions: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OFF → COOL (Cool button)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OFF → HEAT (Heat button)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OFF → FAN (Fan button)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Any state → OFF (Power off)</a:t>
            </a:r>
            <a:endParaRPr dirty="0"/>
          </a:p>
        </p:txBody>
      </p:sp>
      <p:pic>
        <p:nvPicPr>
          <p:cNvPr id="199" name="Google Shape;199;p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Example: Washing Machine</a:t>
            </a:r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States: {OFF, FILL, WASH, RINSE, SPIN, END}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Start: OFF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Transitions: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OFF → FILL (Start pressed)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FILL → WASH (Tank full)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WASH → RINSE (After wash cycle)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RINSE → SPIN (After rinse cycle)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SPIN → END (Spin complete)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END → OFF (Reset)</a:t>
            </a:r>
            <a:endParaRPr/>
          </a:p>
        </p:txBody>
      </p:sp>
      <p:pic>
        <p:nvPicPr>
          <p:cNvPr id="207" name="Google Shape;207;p2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DFA Example: Even Number of 0s</a:t>
            </a:r>
            <a:endParaRPr/>
          </a:p>
        </p:txBody>
      </p:sp>
      <p:sp>
        <p:nvSpPr>
          <p:cNvPr id="214" name="Google Shape;214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States: {q₀, q₁}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Start: q₀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Final: q₀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Transitions: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q₀ → q₁ on 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q₁ → q₀ on 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q₀ → q₀ on 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q₁ → q₁ on 1</a:t>
            </a:r>
            <a:endParaRPr/>
          </a:p>
        </p:txBody>
      </p:sp>
      <p:pic>
        <p:nvPicPr>
          <p:cNvPr id="215" name="Google Shape;215;p2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838200" y="4843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Applications of FSM</a:t>
            </a: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Traffic lights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Vending machines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AC / Washing machine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Elevators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Lexical analyzers (compilers)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Network protocols</a:t>
            </a:r>
            <a:endParaRPr/>
          </a:p>
        </p:txBody>
      </p:sp>
      <p:pic>
        <p:nvPicPr>
          <p:cNvPr id="223" name="Google Shape;223;p2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</a:rPr>
              <a:t>Activity 1: Gallery Walk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230" name="Google Shape;230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Design an FSM for Microwave Oven.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⏱ Time: 10 minutes</a:t>
            </a:r>
            <a:endParaRPr dirty="0"/>
          </a:p>
        </p:txBody>
      </p:sp>
      <p:pic>
        <p:nvPicPr>
          <p:cNvPr id="231" name="Google Shape;231;p2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94363"/>
            <a:ext cx="10067925" cy="23098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title"/>
          </p:nvPr>
        </p:nvSpPr>
        <p:spPr>
          <a:xfrm>
            <a:off x="838200" y="577801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</a:rPr>
              <a:t>Reflection of Activity 1: Gallery Walk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363793" y="1255487"/>
            <a:ext cx="10990007" cy="4921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Design an FSM for Microwave Oven.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States: </a:t>
            </a:r>
            <a:r>
              <a:rPr lang="en-US" b="1" dirty="0"/>
              <a:t>OFF (IDLE), Display On, SET TIMER, HEATING, END</a:t>
            </a:r>
            <a:endParaRPr dirty="0"/>
          </a:p>
        </p:txBody>
      </p:sp>
      <p:pic>
        <p:nvPicPr>
          <p:cNvPr id="239" name="Google Shape;239;p2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5CE4FB-2FA0-0BD9-BD22-05E4905E4A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18" t="5482" r="6083" b="6800"/>
          <a:stretch>
            <a:fillRect/>
          </a:stretch>
        </p:blipFill>
        <p:spPr>
          <a:xfrm>
            <a:off x="3362632" y="2265138"/>
            <a:ext cx="8155858" cy="44161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Activity 2: Think-Pair-Share</a:t>
            </a:r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Problem: Design an FSM for an Elevator.</a:t>
            </a:r>
            <a:endParaRPr dirty="0"/>
          </a:p>
        </p:txBody>
      </p:sp>
      <p:pic>
        <p:nvPicPr>
          <p:cNvPr id="247" name="Google Shape;247;p2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47987"/>
            <a:ext cx="10144125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 dirty="0">
                <a:solidFill>
                  <a:srgbClr val="0000FF"/>
                </a:solidFill>
              </a:rPr>
              <a:t>Reflection on Activity 2: Think-Pair-Share</a:t>
            </a:r>
            <a:endParaRPr dirty="0"/>
          </a:p>
        </p:txBody>
      </p:sp>
      <p:sp>
        <p:nvSpPr>
          <p:cNvPr id="254" name="Google Shape;254;p29"/>
          <p:cNvSpPr txBox="1">
            <a:spLocks noGrp="1"/>
          </p:cNvSpPr>
          <p:nvPr>
            <p:ph type="body" idx="1"/>
          </p:nvPr>
        </p:nvSpPr>
        <p:spPr>
          <a:xfrm>
            <a:off x="838200" y="203210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Problem: Design an FSM for an Elevator.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States: </a:t>
            </a:r>
            <a:r>
              <a:rPr lang="en-US" b="1" dirty="0"/>
              <a:t>Idle, Moving Up, Moving Down, Stop</a:t>
            </a:r>
            <a:endParaRPr dirty="0"/>
          </a:p>
        </p:txBody>
      </p:sp>
      <p:pic>
        <p:nvPicPr>
          <p:cNvPr id="255" name="Google Shape;255;p2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C37AEA-FF14-8714-B39B-67D9CA659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333" y="3041425"/>
            <a:ext cx="6858000" cy="37023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263" name="Google Shape;263;p30"/>
          <p:cNvGrpSpPr/>
          <p:nvPr/>
        </p:nvGrpSpPr>
        <p:grpSpPr>
          <a:xfrm>
            <a:off x="644056" y="1971675"/>
            <a:ext cx="10927828" cy="4333708"/>
            <a:chOff x="0" y="0"/>
            <a:chExt cx="10927828" cy="4333708"/>
          </a:xfrm>
        </p:grpSpPr>
        <p:sp>
          <p:nvSpPr>
            <p:cNvPr id="264" name="Google Shape;264;p30"/>
            <p:cNvSpPr/>
            <p:nvPr/>
          </p:nvSpPr>
          <p:spPr>
            <a:xfrm>
              <a:off x="0" y="0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0"/>
            <p:cNvSpPr txBox="1"/>
            <p:nvPr/>
          </p:nvSpPr>
          <p:spPr>
            <a:xfrm>
              <a:off x="57118" y="57118"/>
              <a:ext cx="9231535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en-US" sz="3200" dirty="0">
                  <a:solidFill>
                    <a:schemeClr val="lt1"/>
                  </a:solidFill>
                </a:rPr>
                <a:t>LO1: </a:t>
              </a:r>
              <a:r>
                <a:rPr lang="en-US" sz="3200" b="1" dirty="0">
                  <a:solidFill>
                    <a:schemeClr val="lt1"/>
                  </a:solidFill>
                </a:rPr>
                <a:t>Explain the concept and components of finite state machines.</a:t>
              </a:r>
              <a:endParaRPr lang="en-US" sz="3200" b="1" dirty="0"/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1639174" y="2383539"/>
              <a:ext cx="9288654" cy="1950169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0"/>
            <p:cNvSpPr txBox="1"/>
            <p:nvPr/>
          </p:nvSpPr>
          <p:spPr>
            <a:xfrm>
              <a:off x="1696292" y="2440657"/>
              <a:ext cx="9231536" cy="18359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2800"/>
              </a:pPr>
              <a:r>
                <a:rPr lang="en-US" sz="2800" b="1" dirty="0">
                  <a:solidFill>
                    <a:schemeClr val="lt1"/>
                  </a:solidFill>
                </a:rPr>
                <a:t>LO2: Construct a simple finite state machine for a given problem. </a:t>
              </a:r>
              <a:endParaRPr lang="en-US" sz="2800" b="1" dirty="0"/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8021044" y="1533049"/>
              <a:ext cx="1267609" cy="1267609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0"/>
            <p:cNvSpPr txBox="1"/>
            <p:nvPr/>
          </p:nvSpPr>
          <p:spPr>
            <a:xfrm>
              <a:off x="8306256" y="1533049"/>
              <a:ext cx="697185" cy="953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0" name="Google Shape;270;p3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 txBox="1"/>
          <p:nvPr/>
        </p:nvSpPr>
        <p:spPr>
          <a:xfrm>
            <a:off x="863183" y="1034527"/>
            <a:ext cx="845497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 attainment of LOs in alignment with the learning activities: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>
            <a:spLocks noGrp="1"/>
          </p:cNvSpPr>
          <p:nvPr>
            <p:ph type="title"/>
          </p:nvPr>
        </p:nvSpPr>
        <p:spPr>
          <a:xfrm>
            <a:off x="838200" y="590309"/>
            <a:ext cx="10515600" cy="110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Summary</a:t>
            </a:r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FSM = Model with states, inputs, and transitions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Types: DFA and NFA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Examples: AC, Washing Machine, Even 0s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Applications: Traffic, Vending Machine, Software, Hardware</a:t>
            </a:r>
            <a:endParaRPr/>
          </a:p>
        </p:txBody>
      </p:sp>
      <p:pic>
        <p:nvPicPr>
          <p:cNvPr id="279" name="Google Shape;279;p3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Reflection</a:t>
            </a:r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Where can you apply FSM in your daily life?</a:t>
            </a:r>
            <a:endParaRPr/>
          </a:p>
        </p:txBody>
      </p:sp>
      <p:pic>
        <p:nvPicPr>
          <p:cNvPr id="287" name="Google Shape;287;p3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838200" y="5787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000FF"/>
                </a:solidFill>
              </a:rPr>
              <a:t>Thank You!</a:t>
            </a:r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sz="2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Next Session: </a:t>
            </a:r>
            <a:r>
              <a:rPr lang="en-US" b="1" dirty="0"/>
              <a:t>Formal Definition of Deterministic Finite Automata (DFA)</a:t>
            </a:r>
            <a:endParaRPr b="1" dirty="0"/>
          </a:p>
        </p:txBody>
      </p:sp>
      <p:pic>
        <p:nvPicPr>
          <p:cNvPr id="295" name="Google Shape;295;p3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>
            <a:spLocks noGrp="1"/>
          </p:cNvSpPr>
          <p:nvPr>
            <p:ph type="title"/>
          </p:nvPr>
        </p:nvSpPr>
        <p:spPr>
          <a:xfrm>
            <a:off x="838200" y="7334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Play"/>
              <a:buNone/>
            </a:pPr>
            <a:r>
              <a:rPr lang="en-US" sz="4000" b="1">
                <a:solidFill>
                  <a:srgbClr val="0000FF"/>
                </a:solidFill>
              </a:rPr>
              <a:t>Feedback and Queries</a:t>
            </a:r>
            <a:endParaRPr/>
          </a:p>
        </p:txBody>
      </p:sp>
      <p:pic>
        <p:nvPicPr>
          <p:cNvPr id="302" name="Google Shape;302;p34" descr="How To Write A Thank You Note In Five Easy St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294" y="2211388"/>
            <a:ext cx="6891506" cy="296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4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74466" y="3672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07" name="Google Shape;30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630</Words>
  <Application>Microsoft Office PowerPoint</Application>
  <PresentationFormat>Widescreen</PresentationFormat>
  <Paragraphs>104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Times New Roman</vt:lpstr>
      <vt:lpstr>Play</vt:lpstr>
      <vt:lpstr>Georgia</vt:lpstr>
      <vt:lpstr>Arial</vt:lpstr>
      <vt:lpstr>Office Theme</vt:lpstr>
      <vt:lpstr>Introduction to Finite State Machine (FSM) with example and applications of Finite Automata   Session No.: 2 Course Name: Theory of Computation Instructor Name: Arvind Kumar Duration: 50 mins Date of Conduction of Class: </vt:lpstr>
      <vt:lpstr> Review of the key concepts of session no. #1 </vt:lpstr>
      <vt:lpstr>Icebreaker</vt:lpstr>
      <vt:lpstr>Icebreaker</vt:lpstr>
      <vt:lpstr>PowerPoint Presentation</vt:lpstr>
      <vt:lpstr>Session Outline</vt:lpstr>
      <vt:lpstr>What is a Finite State Machine?</vt:lpstr>
      <vt:lpstr>Components of FSM</vt:lpstr>
      <vt:lpstr>Types of FSM</vt:lpstr>
      <vt:lpstr>Example: Air Conditioner</vt:lpstr>
      <vt:lpstr>Example: Washing Machine</vt:lpstr>
      <vt:lpstr>DFA Example: Even Number of 0s</vt:lpstr>
      <vt:lpstr>Applications of FSM</vt:lpstr>
      <vt:lpstr>Activity 1: Gallery Walk</vt:lpstr>
      <vt:lpstr>Reflection of Activity 1: Gallery Walk</vt:lpstr>
      <vt:lpstr>Activity 2: Think-Pair-Share</vt:lpstr>
      <vt:lpstr>Reflection on Activity 2: Think-Pair-Share</vt:lpstr>
      <vt:lpstr>PowerPoint Presentation</vt:lpstr>
      <vt:lpstr>Summary</vt:lpstr>
      <vt:lpstr>Reflection</vt:lpstr>
      <vt:lpstr>Thank You!</vt:lpstr>
      <vt:lpstr>Feedback and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Finite State Machine (FSM)   Session No.: 2 Course Name: Theory of Computation Instructor Name: Arvind Kumar Duration: 50 mins Date of Conduction of Class: </dc:title>
  <cp:lastModifiedBy>user</cp:lastModifiedBy>
  <cp:revision>10</cp:revision>
  <dcterms:modified xsi:type="dcterms:W3CDTF">2026-02-11T12:02:44Z</dcterms:modified>
</cp:coreProperties>
</file>