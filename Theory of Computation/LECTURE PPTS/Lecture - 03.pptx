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Play" panose="020B0604020202020204" charset="0"/>
      <p:regular r:id="rId29"/>
      <p:bold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kdRJQRK4gu8nJZYybLdqLCSwo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BA3955-4C16-4C3F-917E-3DB59411D3DC}">
  <a:tblStyle styleId="{1CBA3955-4C16-4C3F-917E-3DB59411D3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15F8F220-E619-467C-0C37-A30AC2A5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>
            <a:extLst>
              <a:ext uri="{FF2B5EF4-FFF2-40B4-BE49-F238E27FC236}">
                <a16:creationId xmlns:a16="http://schemas.microsoft.com/office/drawing/2014/main" id="{8A639B7E-6D8C-A8B8-BC2B-0982828E7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EDD27F39-9F65-CDA0-93B1-28C96D354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2604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0" name="Google Shape;90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659110" y="1122362"/>
            <a:ext cx="10008890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 sz="4400" b="1" dirty="0">
                <a:latin typeface="Georgia"/>
                <a:ea typeface="Georgia"/>
                <a:cs typeface="Georgia"/>
                <a:sym typeface="Georgia"/>
              </a:rPr>
              <a:t>Formal Definition of Deterministic Finite Automata (DFA)</a:t>
            </a: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Session No.: 3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Course Name: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Theory of Computation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R1UC501T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Instructor Name: </a:t>
            </a:r>
            <a:r>
              <a:rPr lang="en-US" sz="1800" dirty="0">
                <a:latin typeface="Georgia"/>
                <a:ea typeface="Georgia"/>
                <a:cs typeface="Georgia"/>
                <a:sym typeface="Georgia"/>
              </a:rPr>
              <a:t>Dr. Avaneesh Yadav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Duration: </a:t>
            </a:r>
            <a:r>
              <a:rPr lang="en-US" sz="1800" dirty="0">
                <a:latin typeface="Georgia"/>
                <a:ea typeface="Georgia"/>
                <a:cs typeface="Georgia"/>
                <a:sym typeface="Georgia"/>
              </a:rPr>
              <a:t>50 mins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Date of Conduction of Class: </a:t>
            </a:r>
            <a:r>
              <a:rPr lang="en-US" sz="1800" dirty="0">
                <a:latin typeface="Georgia"/>
                <a:ea typeface="Georgia"/>
                <a:cs typeface="Georgia"/>
                <a:sym typeface="Georgia"/>
              </a:rPr>
              <a:t>26/08/2025</a:t>
            </a:r>
            <a:endParaRPr sz="4800" dirty="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52631" y="1329046"/>
            <a:ext cx="10515600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795"/>
              <a:buFont typeface="Play"/>
              <a:buNone/>
            </a:pPr>
            <a:br>
              <a:rPr lang="en-US" dirty="0"/>
            </a:br>
            <a:r>
              <a:rPr lang="en-US" sz="4900" b="1" dirty="0">
                <a:solidFill>
                  <a:srgbClr val="0000FF"/>
                </a:solidFill>
              </a:rPr>
              <a:t>Review of the key concepts of session no. #2</a:t>
            </a:r>
            <a:br>
              <a:rPr lang="en-US" sz="4900" b="1" dirty="0">
                <a:solidFill>
                  <a:srgbClr val="0000FF"/>
                </a:solidFill>
              </a:rPr>
            </a:br>
            <a:endParaRPr sz="4900" b="1" dirty="0">
              <a:solidFill>
                <a:srgbClr val="0000FF"/>
              </a:solidFill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0" name="Google Shape;100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752631" y="2369903"/>
            <a:ext cx="10321769" cy="357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Finite State Machine with example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Real-life example of a Finite State Machine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901762" y="1198963"/>
            <a:ext cx="9818849" cy="191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US" sz="5400" dirty="0">
                <a:latin typeface="Georgia"/>
                <a:ea typeface="Georgia"/>
                <a:cs typeface="Georgia"/>
                <a:sym typeface="Georgia"/>
              </a:rPr>
              <a:t>Pre-Session Quiz</a:t>
            </a:r>
            <a:br>
              <a:rPr lang="en-US" sz="2800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2800" dirty="0">
                <a:latin typeface="Georgia"/>
                <a:ea typeface="Georgia"/>
                <a:cs typeface="Georgia"/>
                <a:sym typeface="Georgia"/>
              </a:rPr>
            </a:br>
            <a:endParaRPr sz="280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0" name="Google Shape;110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>
            <a:spLocks noGrp="1"/>
          </p:cNvSpPr>
          <p:nvPr>
            <p:ph type="body" idx="1"/>
          </p:nvPr>
        </p:nvSpPr>
        <p:spPr>
          <a:xfrm>
            <a:off x="838200" y="2802759"/>
            <a:ext cx="10515600" cy="277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all question of pre-lesson assessment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418476" y="932740"/>
            <a:ext cx="10515600" cy="262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Opening: Engaging Questions</a:t>
            </a:r>
            <a:b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 is the meaning of deterministic?”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838200" y="2798781"/>
            <a:ext cx="10357711" cy="3247270"/>
            <a:chOff x="0" y="630256"/>
            <a:chExt cx="10357711" cy="3247270"/>
          </a:xfrm>
        </p:grpSpPr>
        <p:sp>
          <p:nvSpPr>
            <p:cNvPr id="119" name="Google Shape;119;p4"/>
            <p:cNvSpPr/>
            <p:nvPr/>
          </p:nvSpPr>
          <p:spPr>
            <a:xfrm>
              <a:off x="1546585" y="1133997"/>
              <a:ext cx="1908562" cy="190856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0" y="3352220"/>
              <a:ext cx="4858776" cy="525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0" y="3352220"/>
              <a:ext cx="4858776" cy="525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Discuss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04016" y="630256"/>
              <a:ext cx="1908562" cy="190856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528921" y="2871337"/>
              <a:ext cx="4828790" cy="897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5528921" y="2871337"/>
              <a:ext cx="4828790" cy="897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Example??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6" name="Google Shape;1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7" name="Google Shape;127;p4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35" name="Google Shape;135;p5"/>
          <p:cNvGrpSpPr/>
          <p:nvPr/>
        </p:nvGrpSpPr>
        <p:grpSpPr>
          <a:xfrm>
            <a:off x="644056" y="1971675"/>
            <a:ext cx="10927828" cy="4305724"/>
            <a:chOff x="0" y="0"/>
            <a:chExt cx="10927828" cy="4305724"/>
          </a:xfrm>
        </p:grpSpPr>
        <p:sp>
          <p:nvSpPr>
            <p:cNvPr id="136" name="Google Shape;136;p5"/>
            <p:cNvSpPr/>
            <p:nvPr/>
          </p:nvSpPr>
          <p:spPr>
            <a:xfrm>
              <a:off x="0" y="0"/>
              <a:ext cx="9288654" cy="1950169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57118" y="57118"/>
              <a:ext cx="7906808" cy="1835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Learning Outcome 1: construct and analyze DFA</a:t>
              </a:r>
              <a:endParaRPr sz="2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639174" y="2355555"/>
              <a:ext cx="9288654" cy="1950169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1696291" y="2412673"/>
              <a:ext cx="8137777" cy="1835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Learning Outcome 2: Differentiate DFA with other Automata Models</a:t>
              </a:r>
              <a:endParaRPr sz="2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7966550" y="1561038"/>
              <a:ext cx="1267609" cy="1267609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8251762" y="1561038"/>
              <a:ext cx="697185" cy="953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2" name="Google Shape;142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452164" y="1175314"/>
            <a:ext cx="845497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At the end of this session, you will be able to: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Session Outline</a:t>
            </a:r>
            <a:endParaRPr/>
          </a:p>
        </p:txBody>
      </p:sp>
      <p:grpSp>
        <p:nvGrpSpPr>
          <p:cNvPr id="150" name="Google Shape;150;p6"/>
          <p:cNvGrpSpPr/>
          <p:nvPr/>
        </p:nvGrpSpPr>
        <p:grpSpPr>
          <a:xfrm>
            <a:off x="4583727" y="846725"/>
            <a:ext cx="6964803" cy="5530734"/>
            <a:chOff x="-64291" y="2703"/>
            <a:chExt cx="6964803" cy="5530734"/>
          </a:xfrm>
        </p:grpSpPr>
        <p:cxnSp>
          <p:nvCxnSpPr>
            <p:cNvPr id="151" name="Google Shape;151;p6"/>
            <p:cNvCxnSpPr/>
            <p:nvPr/>
          </p:nvCxnSpPr>
          <p:spPr>
            <a:xfrm>
              <a:off x="0" y="2703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2" name="Google Shape;152;p6"/>
            <p:cNvSpPr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4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Recap</a:t>
              </a:r>
              <a:endParaRPr dirty="0"/>
            </a:p>
          </p:txBody>
        </p:sp>
        <p:cxnSp>
          <p:nvCxnSpPr>
            <p:cNvPr id="154" name="Google Shape;154;p6"/>
            <p:cNvCxnSpPr/>
            <p:nvPr/>
          </p:nvCxnSpPr>
          <p:spPr>
            <a:xfrm>
              <a:off x="0" y="924492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5" name="Google Shape;155;p6"/>
            <p:cNvSpPr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4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Opening Questions</a:t>
              </a:r>
              <a:endParaRPr dirty="0"/>
            </a:p>
          </p:txBody>
        </p:sp>
        <p:cxnSp>
          <p:nvCxnSpPr>
            <p:cNvPr id="157" name="Google Shape;157;p6"/>
            <p:cNvCxnSpPr/>
            <p:nvPr/>
          </p:nvCxnSpPr>
          <p:spPr>
            <a:xfrm>
              <a:off x="0" y="1846281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8" name="Google Shape;158;p6"/>
            <p:cNvSpPr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-64291" y="1835726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4200"/>
              </a:pPr>
              <a:r>
                <a:rPr lang="en-US" sz="4200" dirty="0">
                  <a:solidFill>
                    <a:schemeClr val="dk1"/>
                  </a:solidFill>
                </a:rPr>
                <a:t>Formal Definition of DFA</a:t>
              </a:r>
              <a:endParaRPr lang="en-US" sz="4400" dirty="0"/>
            </a:p>
          </p:txBody>
        </p:sp>
        <p:cxnSp>
          <p:nvCxnSpPr>
            <p:cNvPr id="160" name="Google Shape;160;p6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1" name="Google Shape;161;p6"/>
            <p:cNvSpPr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4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Activity 1</a:t>
              </a:r>
              <a:endPara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" name="Google Shape;163;p6"/>
            <p:cNvCxnSpPr/>
            <p:nvPr/>
          </p:nvCxnSpPr>
          <p:spPr>
            <a:xfrm>
              <a:off x="0" y="3689859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4" name="Google Shape;164;p6"/>
            <p:cNvSpPr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 txBox="1"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4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/>
            </a:p>
          </p:txBody>
        </p:sp>
        <p:cxnSp>
          <p:nvCxnSpPr>
            <p:cNvPr id="166" name="Google Shape;166;p6"/>
            <p:cNvCxnSpPr/>
            <p:nvPr/>
          </p:nvCxnSpPr>
          <p:spPr>
            <a:xfrm>
              <a:off x="0" y="461164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7" name="Google Shape;167;p6"/>
            <p:cNvSpPr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endPara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70" name="Google Shape;17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1" name="Google Shape;171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0" name="Google Shape;18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1007706" y="1997839"/>
            <a:ext cx="97508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meaning of deterministic?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BEC59-32ED-A803-48A2-ACF106D5045C}"/>
              </a:ext>
            </a:extLst>
          </p:cNvPr>
          <p:cNvSpPr txBox="1"/>
          <p:nvPr/>
        </p:nvSpPr>
        <p:spPr>
          <a:xfrm>
            <a:off x="1441655" y="1238431"/>
            <a:ext cx="609845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Opening Question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A53BE6-0AC6-795F-138A-EEA759159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476" y="2720315"/>
            <a:ext cx="3528397" cy="352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FE84255F-4899-0E34-3861-1942CE4B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8155A65-AE7B-6A00-E28D-39AAF3B268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7">
            <a:extLst>
              <a:ext uri="{FF2B5EF4-FFF2-40B4-BE49-F238E27FC236}">
                <a16:creationId xmlns:a16="http://schemas.microsoft.com/office/drawing/2014/main" id="{2B2B4708-9140-FA13-E91C-F1B06B4CDE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>
            <a:extLst>
              <a:ext uri="{FF2B5EF4-FFF2-40B4-BE49-F238E27FC236}">
                <a16:creationId xmlns:a16="http://schemas.microsoft.com/office/drawing/2014/main" id="{75024F53-5E47-9A7C-3BE3-FB325636F9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0" name="Google Shape;180;p7">
            <a:extLst>
              <a:ext uri="{FF2B5EF4-FFF2-40B4-BE49-F238E27FC236}">
                <a16:creationId xmlns:a16="http://schemas.microsoft.com/office/drawing/2014/main" id="{B1CA1C46-9E7B-1297-191F-72FEDD6BD2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1" name="Google Shape;181;p7">
            <a:extLst>
              <a:ext uri="{FF2B5EF4-FFF2-40B4-BE49-F238E27FC236}">
                <a16:creationId xmlns:a16="http://schemas.microsoft.com/office/drawing/2014/main" id="{C2DBEFC0-A787-ADA9-01BC-8FAD210A6216}"/>
              </a:ext>
            </a:extLst>
          </p:cNvPr>
          <p:cNvSpPr txBox="1"/>
          <p:nvPr/>
        </p:nvSpPr>
        <p:spPr>
          <a:xfrm>
            <a:off x="1007706" y="1997839"/>
            <a:ext cx="975086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DFA refers to deterministic finite automata.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Deterministic refers to the uniqueness of the computation.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finite automata are deterministic FA, if the machine reads an input string one symbol at a time.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In DFA, there is only one path input from the current state to the next state.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It does not accept the null move, i.e. it cannot change state without any input.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It can contain multiple final states. It is used in Lexical Analysis in compilers.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26FB7-53B8-4677-7BAD-F587A94C46AE}"/>
              </a:ext>
            </a:extLst>
          </p:cNvPr>
          <p:cNvSpPr txBox="1"/>
          <p:nvPr/>
        </p:nvSpPr>
        <p:spPr>
          <a:xfrm>
            <a:off x="1441655" y="1238431"/>
            <a:ext cx="609845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Formal Definition of DFA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38200" y="980103"/>
            <a:ext cx="10515599" cy="544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Formal Definition of a DFA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8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 Deterministic Finite Automata (DFA) is a collection of defined as a 5-tuple and is as follows −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M=(Q,Σ,δ,q0,F)</a:t>
            </a:r>
            <a:br>
              <a:rPr lang="en-US" sz="32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2800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w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here,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 is a finite set of states.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∑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 is a finite set of symbols calling the alphabet.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δ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 is the transition function where δ: Q × ∑ → Q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</a:t>
            </a:r>
            <a:r>
              <a:rPr lang="en-US" sz="1600" b="1" i="0" u="none" strike="noStrike" cap="none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 is the initial state from where any input is processed (q</a:t>
            </a:r>
            <a:r>
              <a:rPr lang="en-US" sz="1600" b="0" i="0" u="none" strike="noStrike" cap="none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 ∈ Q).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 is a set of final state/states of Q (F ⊆ Q).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736551" y="1220112"/>
            <a:ext cx="10718898" cy="457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80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Graphical Representation of a DFA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lnSpc>
                <a:spcPct val="803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Verdana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 DFA is represented by digraphs called 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state diagram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vertices represent the states.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arcs labeled with an input alphabet show the transitions.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initial state is denoted by an empty single incoming arc.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final state is indicated by double circles.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07" name="Google Shape;20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1091682" y="1203985"/>
            <a:ext cx="7597450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Example 1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Let a deterministic finite automaton be →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Q = {a, b, c},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∑ = {0, 1},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q</a:t>
            </a:r>
            <a:r>
              <a:rPr lang="en-US" sz="2000" b="0" i="0" u="none" strike="noStrike" cap="none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 = {a},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F = {c}, and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Transition Table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Transition function δ as shown by the following table −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9" name="Google Shape;209;p10"/>
          <p:cNvGraphicFramePr/>
          <p:nvPr>
            <p:extLst>
              <p:ext uri="{D42A27DB-BD31-4B8C-83A1-F6EECF244321}">
                <p14:modId xmlns:p14="http://schemas.microsoft.com/office/powerpoint/2010/main" val="1638066519"/>
              </p:ext>
            </p:extLst>
          </p:nvPr>
        </p:nvGraphicFramePr>
        <p:xfrm>
          <a:off x="2310959" y="4204764"/>
          <a:ext cx="5720850" cy="1859200"/>
        </p:xfrm>
        <a:graphic>
          <a:graphicData uri="http://schemas.openxmlformats.org/drawingml/2006/table">
            <a:tbl>
              <a:tblPr>
                <a:noFill/>
                <a:tableStyleId>{1CBA3955-4C16-4C3F-917E-3DB59411D3DC}</a:tableStyleId>
              </a:tblPr>
              <a:tblGrid>
                <a:gridCol w="190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 State</a:t>
                      </a:r>
                      <a:endParaRPr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State for Input 0</a:t>
                      </a:r>
                      <a:endParaRPr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State for Input 1</a:t>
                      </a:r>
                      <a:endParaRPr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 u="none" strike="noStrike" cap="none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a</a:t>
                      </a:r>
                      <a:endParaRPr dirty="0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 u="none" strike="noStrike" cap="none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800" u="none" strike="noStrike" cap="none" dirty="0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c</a:t>
                      </a:r>
                      <a:endParaRPr dirty="0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1559703" y="2898259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Its graphical representation would be as follows −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      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1" descr="DFA Graphical Representati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3903" y="2929813"/>
            <a:ext cx="8074546" cy="2649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27" name="Google Shape;22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28" name="Google Shape;228;p12"/>
          <p:cNvSpPr txBox="1"/>
          <p:nvPr/>
        </p:nvSpPr>
        <p:spPr>
          <a:xfrm>
            <a:off x="989822" y="1519631"/>
            <a:ext cx="94697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a DFA over ∑ = {0, 1} that 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accepts only the input string “10”.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2" descr="Examples of DFA (1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2040" y="2161228"/>
            <a:ext cx="4597465" cy="3578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>
            <a:spLocks noGrp="1"/>
          </p:cNvSpPr>
          <p:nvPr>
            <p:ph type="title"/>
          </p:nvPr>
        </p:nvSpPr>
        <p:spPr>
          <a:xfrm>
            <a:off x="825500" y="746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Play"/>
              <a:buNone/>
            </a:pPr>
            <a:r>
              <a:rPr lang="en-US" sz="4000" b="1">
                <a:solidFill>
                  <a:srgbClr val="0000FF"/>
                </a:solidFill>
              </a:rPr>
              <a:t>Reflection Time: Quick Quiz</a:t>
            </a:r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body" idx="1"/>
          </p:nvPr>
        </p:nvSpPr>
        <p:spPr>
          <a:xfrm>
            <a:off x="838200" y="1760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Let’s see what we have grasped.</a:t>
            </a:r>
            <a:endParaRPr/>
          </a:p>
        </p:txBody>
      </p:sp>
      <p:pic>
        <p:nvPicPr>
          <p:cNvPr id="236" name="Google Shape;236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D2061C-CFBB-07C8-6D8E-79FC6FCA4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025" y="2393950"/>
            <a:ext cx="10620375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>
            <a:spLocks noGrp="1"/>
          </p:cNvSpPr>
          <p:nvPr>
            <p:ph type="title"/>
          </p:nvPr>
        </p:nvSpPr>
        <p:spPr>
          <a:xfrm>
            <a:off x="632085" y="1246662"/>
            <a:ext cx="10451276" cy="107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attainment of LOs in alignment to the learning activities: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outcomes (1-2)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Google Shape;24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47" name="Google Shape;24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48" name="Google Shape;248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p14"/>
          <p:cNvGrpSpPr/>
          <p:nvPr/>
        </p:nvGrpSpPr>
        <p:grpSpPr>
          <a:xfrm>
            <a:off x="1120609" y="2375050"/>
            <a:ext cx="10340243" cy="3759816"/>
            <a:chOff x="0" y="0"/>
            <a:chExt cx="10340243" cy="3759816"/>
          </a:xfrm>
        </p:grpSpPr>
        <p:sp>
          <p:nvSpPr>
            <p:cNvPr id="251" name="Google Shape;251;p14"/>
            <p:cNvSpPr/>
            <p:nvPr/>
          </p:nvSpPr>
          <p:spPr>
            <a:xfrm>
              <a:off x="0" y="0"/>
              <a:ext cx="8789207" cy="1702914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 txBox="1"/>
            <p:nvPr/>
          </p:nvSpPr>
          <p:spPr>
            <a:xfrm>
              <a:off x="49877" y="49877"/>
              <a:ext cx="8442693" cy="1603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US" sz="2800" b="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Construct and analyze DFA</a:t>
              </a:r>
              <a:endParaRPr sz="2800" b="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1551036" y="2056902"/>
              <a:ext cx="8789207" cy="1702914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 txBox="1"/>
            <p:nvPr/>
          </p:nvSpPr>
          <p:spPr>
            <a:xfrm>
              <a:off x="1600912" y="2106779"/>
              <a:ext cx="8361840" cy="1603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LO2: Differentiate DFA with other Automata Models</a:t>
              </a:r>
              <a:endParaRPr sz="28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7634727" y="1363120"/>
              <a:ext cx="1106894" cy="1106894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 txBox="1"/>
            <p:nvPr/>
          </p:nvSpPr>
          <p:spPr>
            <a:xfrm>
              <a:off x="7883778" y="1363120"/>
              <a:ext cx="608792" cy="832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 txBox="1">
            <a:spLocks noGrp="1"/>
          </p:cNvSpPr>
          <p:nvPr>
            <p:ph type="title"/>
          </p:nvPr>
        </p:nvSpPr>
        <p:spPr>
          <a:xfrm>
            <a:off x="901762" y="1198963"/>
            <a:ext cx="9818849" cy="191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US" sz="5400">
                <a:latin typeface="Georgia"/>
                <a:ea typeface="Georgia"/>
                <a:cs typeface="Georgia"/>
                <a:sym typeface="Georgia"/>
              </a:rPr>
              <a:t>Discussion on the post session activities</a:t>
            </a:r>
            <a:br>
              <a:rPr lang="en-US" sz="280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2800">
                <a:latin typeface="Georgia"/>
                <a:ea typeface="Georgia"/>
                <a:cs typeface="Georgia"/>
                <a:sym typeface="Georgia"/>
              </a:rPr>
            </a:b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63" name="Google Shape;26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64" name="Google Shape;264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5"/>
          <p:cNvSpPr txBox="1">
            <a:spLocks noGrp="1"/>
          </p:cNvSpPr>
          <p:nvPr>
            <p:ph type="body" idx="1"/>
          </p:nvPr>
        </p:nvSpPr>
        <p:spPr>
          <a:xfrm>
            <a:off x="838200" y="2802759"/>
            <a:ext cx="10515600" cy="277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Attempt all Questions of post lesson assessment.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 txBox="1">
            <a:spLocks noGrp="1"/>
          </p:cNvSpPr>
          <p:nvPr>
            <p:ph type="title"/>
          </p:nvPr>
        </p:nvSpPr>
        <p:spPr>
          <a:xfrm>
            <a:off x="683655" y="1213803"/>
            <a:ext cx="9818849" cy="15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US" sz="5400">
                <a:latin typeface="Georgia"/>
                <a:ea typeface="Georgia"/>
                <a:cs typeface="Georgia"/>
                <a:sym typeface="Georgia"/>
              </a:rPr>
              <a:t>Information about the next lesson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2" name="Google Shape;2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73" name="Google Shape;2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74" name="Google Shape;274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>
            <a:spLocks noGrp="1"/>
          </p:cNvSpPr>
          <p:nvPr>
            <p:ph type="body" idx="1"/>
          </p:nvPr>
        </p:nvSpPr>
        <p:spPr>
          <a:xfrm>
            <a:off x="838200" y="2802759"/>
            <a:ext cx="10515600" cy="277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State transition diagram, Examples of languages accepted by DFA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 txBox="1">
            <a:spLocks noGrp="1"/>
          </p:cNvSpPr>
          <p:nvPr>
            <p:ph type="title"/>
          </p:nvPr>
        </p:nvSpPr>
        <p:spPr>
          <a:xfrm>
            <a:off x="838200" y="733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Play"/>
              <a:buNone/>
            </a:pPr>
            <a:r>
              <a:rPr lang="en-US" sz="4000" b="1">
                <a:solidFill>
                  <a:srgbClr val="0000FF"/>
                </a:solidFill>
              </a:rPr>
              <a:t>Feedback and Queries</a:t>
            </a:r>
            <a:endParaRPr/>
          </a:p>
        </p:txBody>
      </p:sp>
      <p:pic>
        <p:nvPicPr>
          <p:cNvPr id="282" name="Google Shape;282;p17" descr="How To Write A Thank You Note In Five Easy St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294" y="2211388"/>
            <a:ext cx="6891506" cy="296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7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4466" y="3672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86" name="Google Shape;28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87" name="Google Shape;287;p17"/>
          <p:cNvPicPr preferRelativeResize="0"/>
          <p:nvPr/>
        </p:nvPicPr>
        <p:blipFill rotWithShape="1">
          <a:blip r:embed="rId6">
            <a:alphaModFix/>
          </a:blip>
          <a:srcRect r="18059"/>
          <a:stretch/>
        </p:blipFill>
        <p:spPr>
          <a:xfrm>
            <a:off x="838201" y="2211388"/>
            <a:ext cx="3200400" cy="3086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638</Words>
  <Application>Microsoft Office PowerPoint</Application>
  <PresentationFormat>Widescreen</PresentationFormat>
  <Paragraphs>114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Times New Roman</vt:lpstr>
      <vt:lpstr>Lato</vt:lpstr>
      <vt:lpstr>Verdana</vt:lpstr>
      <vt:lpstr>Georgia</vt:lpstr>
      <vt:lpstr>Play</vt:lpstr>
      <vt:lpstr>Arial</vt:lpstr>
      <vt:lpstr>Office Theme</vt:lpstr>
      <vt:lpstr>Formal Definition of Deterministic Finite Automata (DFA)   Session No.: 3 Course Name: Theory of Computation Course Code: R1UC501T Instructor Name: Dr. Avaneesh Yadav Duration: 50 mins Date of Conduction of Class: 26/08/2025</vt:lpstr>
      <vt:lpstr> Review of the key concepts of session no. #2 </vt:lpstr>
      <vt:lpstr>Pre-Session Quiz  </vt:lpstr>
      <vt:lpstr>Opening: Engaging Questions  “What is the meaning of deterministic?”  </vt:lpstr>
      <vt:lpstr>PowerPoint Presentation</vt:lpstr>
      <vt:lpstr>Session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Reflection Time: Quick Quiz</vt:lpstr>
      <vt:lpstr>Ensure attainment of LOs in alignment to the learning activities: outcomes (1-2)</vt:lpstr>
      <vt:lpstr>Discussion on the post session activities  </vt:lpstr>
      <vt:lpstr>Information about the next lesson</vt:lpstr>
      <vt:lpstr>Feedback and 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Avaneesh Yadav</cp:lastModifiedBy>
  <cp:revision>23</cp:revision>
  <dcterms:created xsi:type="dcterms:W3CDTF">2024-08-22T06:33:55Z</dcterms:created>
  <dcterms:modified xsi:type="dcterms:W3CDTF">2025-08-26T05:56:51Z</dcterms:modified>
</cp:coreProperties>
</file>