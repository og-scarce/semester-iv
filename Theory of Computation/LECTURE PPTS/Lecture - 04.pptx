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Verdana" panose="020B0604030504040204" pitchFamily="34" charset="0"/>
      <p:regular r:id="rId21"/>
      <p:bold r:id="rId22"/>
      <p:italic r:id="rId23"/>
      <p:boldItalic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Lato" panose="020B0604020202020204" charset="0"/>
      <p:regular r:id="rId29"/>
      <p:bold r:id="rId30"/>
      <p:italic r:id="rId31"/>
      <p:boldItalic r:id="rId32"/>
    </p:embeddedFont>
    <p:embeddedFont>
      <p:font typeface="Play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LIMXpgwlfEAQf6Eom8qhb164E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D624EB-0707-4494-99B1-B7F6B4D46A0D}">
  <a:tblStyle styleId="{48D624EB-0707-4494-99B1-B7F6B4D46A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b3f394d95_2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g37b3f394d95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search?client=safari&amp;sca_esv=4a7abaa8c9d72b6e&amp;cs=1&amp;q=state+transition+diagram+for+a+DFA&amp;sa=X&amp;ved=2ahUKEwjmicCDw5aPAxUpSWwGHf_PIyEQxccNegQIAxAB&amp;mstk=AUtExfC-g1FFY9dXgly8UKVZp1UlvYqgx_FoaCcOQv5Eea377JbGEC2Wq9RVxXWI7a-ouwUmLPFVuGPswsdyyujbJD1k-u1TTrN1BaPRnfBQ9iaWGnUl2hpVdXMlW8Yj5M1hVAReFGpa-APXiKU9MoxpODkMLMIwmku-dW70LeYu3MCOnDju_KXZf8AKwRdOwlwi65kERNLRxnt4bils36JmYRZhrw&amp;csui=3" TargetMode="Externa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0" name="Google Shape;90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884586" y="623068"/>
            <a:ext cx="10792752" cy="537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l">
              <a:buSzPts val="4400"/>
            </a:pPr>
            <a:r>
              <a:rPr lang="en-US" sz="44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State transition diagram, Examples of languages accepted by DFA</a:t>
            </a:r>
            <a:r>
              <a:rPr lang="en-US" sz="54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US" sz="54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r>
              <a:rPr lang="en-US" sz="54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US" sz="54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Session No.: 4</a:t>
            </a:r>
            <a:b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Course Name: </a:t>
            </a: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Theory of Computation</a:t>
            </a: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Course Code: </a:t>
            </a:r>
            <a:r>
              <a:rPr lang="en-IN" sz="2000" dirty="0"/>
              <a:t>R1UC428T</a:t>
            </a: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Instructor Name: </a:t>
            </a:r>
            <a:r>
              <a:rPr lang="en-US" sz="2000" dirty="0" smtClean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Arvind Kumar</a:t>
            </a: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Duration: </a:t>
            </a:r>
            <a:r>
              <a:rPr lang="en-US" sz="20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50 mins</a:t>
            </a:r>
            <a: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US" sz="20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endParaRPr sz="5400" b="1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473133" y="1462758"/>
            <a:ext cx="10880667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632"/>
              <a:buFont typeface="Play"/>
              <a:buNone/>
            </a:pPr>
            <a:r>
              <a:rPr lang="en-US" sz="49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of the key concepts of session no. #3</a:t>
            </a:r>
            <a:endParaRPr sz="49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0" name="Google Shape;100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752631" y="2369903"/>
            <a:ext cx="10321769" cy="357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DFA with example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Real-life example of DFAs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901762" y="1198963"/>
            <a:ext cx="9818849" cy="191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orgia"/>
              <a:buNone/>
            </a:pPr>
            <a:r>
              <a:rPr lang="en-US" sz="54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Pre-Session Quiz</a:t>
            </a:r>
            <a:r>
              <a:rPr lang="en-US" sz="28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US" sz="28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r>
              <a:rPr lang="en-US" sz="28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US" sz="28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endParaRPr sz="2800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0" name="Google Shape;110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>
            <a:spLocks noGrp="1"/>
          </p:cNvSpPr>
          <p:nvPr>
            <p:ph type="body" idx="1"/>
          </p:nvPr>
        </p:nvSpPr>
        <p:spPr>
          <a:xfrm>
            <a:off x="838199" y="2802759"/>
            <a:ext cx="10974049" cy="277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all question of pre-lesson assessment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1064302" y="932740"/>
            <a:ext cx="10289498" cy="262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Play"/>
              <a:buNone/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Opening: Engaging Questions</a:t>
            </a:r>
            <a:b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“If I give you a machine with only a few states and arrows between them, how can you tell what strings it will accept?”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838201" y="3013023"/>
            <a:ext cx="5063836" cy="3033028"/>
            <a:chOff x="0" y="630256"/>
            <a:chExt cx="10357711" cy="3247270"/>
          </a:xfrm>
        </p:grpSpPr>
        <p:sp>
          <p:nvSpPr>
            <p:cNvPr id="119" name="Google Shape;119;p4"/>
            <p:cNvSpPr/>
            <p:nvPr/>
          </p:nvSpPr>
          <p:spPr>
            <a:xfrm>
              <a:off x="1546585" y="1133997"/>
              <a:ext cx="1908562" cy="190856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0" y="3352220"/>
              <a:ext cx="4858776" cy="525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0" y="3352220"/>
              <a:ext cx="4858776" cy="525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Discuss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04016" y="630256"/>
              <a:ext cx="1908562" cy="190856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528921" y="2871337"/>
              <a:ext cx="4828790" cy="897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5528921" y="2871337"/>
              <a:ext cx="4828790" cy="897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Example??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6" name="Google Shape;1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7" name="Google Shape;127;p4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442" y="3397971"/>
            <a:ext cx="5455227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34" name="Google Shape;1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35" name="Google Shape;135;p5"/>
          <p:cNvGrpSpPr/>
          <p:nvPr/>
        </p:nvGrpSpPr>
        <p:grpSpPr>
          <a:xfrm>
            <a:off x="644056" y="1971675"/>
            <a:ext cx="10927828" cy="4305724"/>
            <a:chOff x="0" y="0"/>
            <a:chExt cx="10927828" cy="4305724"/>
          </a:xfrm>
        </p:grpSpPr>
        <p:sp>
          <p:nvSpPr>
            <p:cNvPr id="136" name="Google Shape;136;p5"/>
            <p:cNvSpPr/>
            <p:nvPr/>
          </p:nvSpPr>
          <p:spPr>
            <a:xfrm>
              <a:off x="0" y="0"/>
              <a:ext cx="9288654" cy="1950169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57118" y="57118"/>
              <a:ext cx="8891829" cy="1835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Learning Outcome 1: Construct and analyze State Transition Diagrams</a:t>
              </a:r>
              <a:endParaRPr sz="2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639174" y="2355555"/>
              <a:ext cx="9288654" cy="1950169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1696292" y="2412673"/>
              <a:ext cx="8827324" cy="1835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Learning Outcome 2: Differentiate languages accepted by various DFAs</a:t>
              </a:r>
              <a:endParaRPr sz="2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7966550" y="1561038"/>
              <a:ext cx="1267609" cy="1267609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411"/>
              </a:srgbClr>
            </a:solidFill>
            <a:ln w="19050" cap="flat" cmpd="sng">
              <a:solidFill>
                <a:srgbClr val="F6D4CC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8251762" y="1561038"/>
              <a:ext cx="697185" cy="953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2" name="Google Shape;142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452164" y="1175314"/>
            <a:ext cx="978611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At the end of this session, you will be able to: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Outline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0" name="Google Shape;150;p6"/>
          <p:cNvGrpSpPr/>
          <p:nvPr/>
        </p:nvGrpSpPr>
        <p:grpSpPr>
          <a:xfrm>
            <a:off x="4453288" y="854440"/>
            <a:ext cx="7300141" cy="5530734"/>
            <a:chOff x="-175634" y="2703"/>
            <a:chExt cx="7300141" cy="5530734"/>
          </a:xfrm>
        </p:grpSpPr>
        <p:cxnSp>
          <p:nvCxnSpPr>
            <p:cNvPr id="151" name="Google Shape;151;p6"/>
            <p:cNvCxnSpPr/>
            <p:nvPr/>
          </p:nvCxnSpPr>
          <p:spPr>
            <a:xfrm>
              <a:off x="0" y="2703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2" name="Google Shape;152;p6"/>
            <p:cNvSpPr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53" name="Google Shape;153;p6"/>
            <p:cNvSpPr txBox="1"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r>
                <a:rPr lang="en-US" sz="42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Recap</a:t>
              </a: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154" name="Google Shape;154;p6"/>
            <p:cNvCxnSpPr/>
            <p:nvPr/>
          </p:nvCxnSpPr>
          <p:spPr>
            <a:xfrm>
              <a:off x="0" y="924492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5" name="Google Shape;155;p6"/>
            <p:cNvSpPr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r>
                <a:rPr lang="en-US" sz="42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Opening Questions</a:t>
              </a: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157" name="Google Shape;157;p6"/>
            <p:cNvCxnSpPr/>
            <p:nvPr/>
          </p:nvCxnSpPr>
          <p:spPr>
            <a:xfrm>
              <a:off x="0" y="1846281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8" name="Google Shape;158;p6"/>
            <p:cNvSpPr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r>
                <a:rPr lang="en-US" sz="42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State Transition Diagrams </a:t>
              </a:r>
              <a:endParaRPr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160" name="Google Shape;160;p6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1" name="Google Shape;161;p6"/>
            <p:cNvSpPr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62" name="Google Shape;162;p6"/>
            <p:cNvSpPr txBox="1"/>
            <p:nvPr/>
          </p:nvSpPr>
          <p:spPr>
            <a:xfrm>
              <a:off x="-94313" y="2768068"/>
              <a:ext cx="7218820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r>
                <a:rPr lang="en-US" sz="3200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Examples of languages accepted by DFA</a:t>
              </a:r>
              <a:endParaRPr sz="3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3" name="Google Shape;163;p6"/>
            <p:cNvCxnSpPr/>
            <p:nvPr/>
          </p:nvCxnSpPr>
          <p:spPr>
            <a:xfrm>
              <a:off x="0" y="3689859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4" name="Google Shape;164;p6"/>
            <p:cNvSpPr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65" name="Google Shape;165;p6"/>
            <p:cNvSpPr txBox="1"/>
            <p:nvPr/>
          </p:nvSpPr>
          <p:spPr>
            <a:xfrm>
              <a:off x="-175634" y="368985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r>
                <a:rPr lang="en-US" sz="42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Conclusion</a:t>
              </a:r>
              <a:endParaRPr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166" name="Google Shape;166;p6"/>
            <p:cNvCxnSpPr/>
            <p:nvPr/>
          </p:nvCxnSpPr>
          <p:spPr>
            <a:xfrm>
              <a:off x="0" y="4611648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7" name="Google Shape;167;p6"/>
            <p:cNvSpPr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68" name="Google Shape;168;p6"/>
            <p:cNvSpPr txBox="1"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0000" tIns="160000" rIns="160000" bIns="16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Arial"/>
                <a:buNone/>
              </a:pPr>
              <a:endParaRPr sz="42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69" name="Google Shape;16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Galgotias University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1" name="Google Shape;171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040050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0" name="Google Shape;18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1007706" y="1997839"/>
            <a:ext cx="9750900" cy="27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Verdana"/>
              <a:buNone/>
            </a:pPr>
            <a:r>
              <a:rPr lang="en-US" sz="265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650" dirty="0">
                <a:solidFill>
                  <a:schemeClr val="dk1"/>
                </a:solidFill>
                <a:uFill>
                  <a:noFill/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state transition diagram for a DFA</a:t>
            </a:r>
            <a:r>
              <a:rPr lang="en-US" sz="265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(Deterministic Finite Automaton) is a visual representation of how a DFA changes states based on input. It uses nodes to represent states and directed edges (arrows) labeled with input symbols to show transitions between states. </a:t>
            </a:r>
            <a:endParaRPr sz="2700" b="0" i="0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Verdana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29891" y="176754"/>
            <a:ext cx="69272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dk1"/>
                </a:solidFill>
                <a:uFill>
                  <a:noFill/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lc="http://schemas.openxmlformats.org/drawingml/2006/lockedCanvas" xmlns:ahyp="http://schemas.microsoft.com/office/drawing/2018/hyperlinkcolor" xmlns="" val="tx"/>
                    </a:ext>
                  </a:extLst>
                </a:hlinkClick>
              </a:rPr>
              <a:t>State Transition Diagram</a:t>
            </a:r>
            <a:endParaRPr lang="en-IN" sz="4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9" name="Google Shape;18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838200" y="490483"/>
            <a:ext cx="9747175" cy="625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just" rtl="0">
              <a:lnSpc>
                <a:spcPct val="154411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1:  Accept Only the Given Input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endParaRPr sz="2400" b="1"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DFA accepts only one specific input string and rejects all others. For Examples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Accepts only </a:t>
            </a:r>
            <a:r>
              <a:rPr lang="en-US" sz="1600" dirty="0" err="1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abbbbccc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Accepts only </a:t>
            </a: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011010010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Accepts only </a:t>
            </a: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101010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just" rtl="0">
              <a:lnSpc>
                <a:spcPct val="173076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u="sng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DFA Example: 1.1</a:t>
            </a:r>
            <a:endParaRPr sz="2000" b="1" u="sng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Design a DFA over ∑ = {0, 1} that accepts only the input string “10”.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u="sng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sz="1600" b="1" u="sng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 the above example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152400" lvl="0" indent="-31115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= 10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1524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Language of Accepted Strings = {10}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1524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Some Rejected Strings = {ε, 0, 1, 11, 00, 101, 100, 110}</a:t>
            </a:r>
            <a:endParaRPr sz="2400" b="1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98" name="Google Shape;19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822535" y="1171669"/>
            <a:ext cx="97413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DFA that accepts only the input string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“10”</a:t>
            </a: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is given below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00" name="Google Shape;200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9610" y="1931395"/>
            <a:ext cx="386715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 txBox="1"/>
          <p:nvPr/>
        </p:nvSpPr>
        <p:spPr>
          <a:xfrm>
            <a:off x="1017400" y="5597038"/>
            <a:ext cx="773685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Note: q3 is a dead state, at q3, for inputs “0” and “1”, it’s a self-loop.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09" name="Google Shape;20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933332" y="854460"/>
            <a:ext cx="9308984" cy="48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above DFA, 5 tuples of DFA are given below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States: {q0, q1, q2,q3} refers to the set of states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Alphabet: {0,1} refers to the set of input alphabets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Function (δ): refers to the transition function, which is defined as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(q0, 0) = q3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(q0, 1) = q1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(q1, 0) = q2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(q1, 1) = q3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(q2, 0) = q3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(q2, 1) = q3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(q3, 0) = q3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 (q3, 1) = q3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 q0 refers to the initial state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State: {q2} refers to the set of final states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q3 is a dead state.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endParaRPr sz="1800"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graphicFrame>
        <p:nvGraphicFramePr>
          <p:cNvPr id="211" name="Google Shape;211;p10"/>
          <p:cNvGraphicFramePr/>
          <p:nvPr>
            <p:extLst>
              <p:ext uri="{D42A27DB-BD31-4B8C-83A1-F6EECF244321}">
                <p14:modId xmlns:p14="http://schemas.microsoft.com/office/powerpoint/2010/main" val="2730539294"/>
              </p:ext>
            </p:extLst>
          </p:nvPr>
        </p:nvGraphicFramePr>
        <p:xfrm>
          <a:off x="3195066" y="4436140"/>
          <a:ext cx="8158734" cy="1920210"/>
        </p:xfrm>
        <a:graphic>
          <a:graphicData uri="http://schemas.openxmlformats.org/drawingml/2006/table">
            <a:tbl>
              <a:tblPr>
                <a:noFill/>
                <a:tableStyleId>{48D624EB-0707-4494-99B1-B7F6B4D46A0D}</a:tableStyleId>
              </a:tblPr>
              <a:tblGrid>
                <a:gridCol w="2719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9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9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States 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→ q0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q3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q1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0" marR="12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q1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q2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q3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0" marR="12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*q2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q3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q3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0" marR="12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q3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q3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q3</a:t>
                      </a:r>
                      <a:endParaRPr sz="900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19" name="Google Shape;21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365425" y="399055"/>
            <a:ext cx="10012800" cy="653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4411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2:  Starts and Ends With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DFA accepts strings that start with a specific substring and/or end with a specific substring. For Examples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with </a:t>
            </a:r>
            <a:r>
              <a:rPr lang="en-US" sz="1600" dirty="0">
                <a:solidFill>
                  <a:srgbClr val="188038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01</a:t>
            </a:r>
            <a:endParaRPr sz="1600" dirty="0">
              <a:solidFill>
                <a:srgbClr val="188038"/>
              </a:solidFill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 with </a:t>
            </a:r>
            <a:r>
              <a:rPr lang="en-US" sz="1600" dirty="0">
                <a:solidFill>
                  <a:srgbClr val="188038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000</a:t>
            </a:r>
            <a:endParaRPr sz="1600" dirty="0">
              <a:solidFill>
                <a:srgbClr val="188038"/>
              </a:solidFill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with </a:t>
            </a:r>
            <a:r>
              <a:rPr lang="en-US" sz="1600" dirty="0">
                <a:solidFill>
                  <a:srgbClr val="188038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ends with </a:t>
            </a:r>
            <a:r>
              <a:rPr lang="en-US" sz="1600" dirty="0">
                <a:solidFill>
                  <a:srgbClr val="188038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bb</a:t>
            </a:r>
            <a:endParaRPr sz="1600" dirty="0">
              <a:solidFill>
                <a:srgbClr val="188038"/>
              </a:solidFill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 and ends with the same symbol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7307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DFA Example: 2.1</a:t>
            </a:r>
            <a:endParaRPr sz="1800" b="1" u="sng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a DFA that accepts all the strings over the alphabets ∑ {0,1} that start with “0”.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00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sz="1600" b="1" u="sng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given question provides the following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152400" lvl="0" indent="-31115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highlight>
                  <a:srgbClr val="FFFFC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= 0(0+1)*</a:t>
            </a:r>
            <a:endParaRPr sz="1600" dirty="0">
              <a:solidFill>
                <a:schemeClr val="dk1"/>
              </a:solidFill>
              <a:highlight>
                <a:srgbClr val="FFFFCC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1524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highlight>
                  <a:srgbClr val="FFFFC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Language of Accepted Strings = {0, 01, 00, 010, 011, 000, 001,…, }</a:t>
            </a:r>
            <a:endParaRPr sz="1600" dirty="0">
              <a:solidFill>
                <a:schemeClr val="dk1"/>
              </a:solidFill>
              <a:highlight>
                <a:srgbClr val="FFFFCC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1524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600" dirty="0">
                <a:solidFill>
                  <a:schemeClr val="dk1"/>
                </a:solidFill>
                <a:highlight>
                  <a:srgbClr val="FFFFC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Some Rejected Strings = {ε, 1, 11, 101, 1001, 110}</a:t>
            </a:r>
            <a:endParaRPr sz="1600" dirty="0">
              <a:solidFill>
                <a:schemeClr val="dk1"/>
              </a:solidFill>
              <a:highlight>
                <a:srgbClr val="FFFFCC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draw the DFA, which accepts all the strings starting with “0”.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28" name="Google Shape;2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29" name="Google Shape;229;p12"/>
          <p:cNvSpPr txBox="1"/>
          <p:nvPr/>
        </p:nvSpPr>
        <p:spPr>
          <a:xfrm>
            <a:off x="3627450" y="2655775"/>
            <a:ext cx="50943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sz="1200"/>
              <a:t>.</a:t>
            </a:r>
            <a:endParaRPr sz="1200"/>
          </a:p>
        </p:txBody>
      </p:sp>
      <p:sp>
        <p:nvSpPr>
          <p:cNvPr id="230" name="Google Shape;230;p12"/>
          <p:cNvSpPr txBox="1"/>
          <p:nvPr/>
        </p:nvSpPr>
        <p:spPr>
          <a:xfrm>
            <a:off x="1766274" y="1403375"/>
            <a:ext cx="9187476" cy="80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draw the DFA, which accepts all the strings starting with “0”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1" name="Google Shape;23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8600" y="2160053"/>
            <a:ext cx="4857750" cy="349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7b3f394d95_2_3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7b3f394d95_2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3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7b3f394d95_2_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39" name="Google Shape;239;g37b3f394d95_2_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41" name="Google Shape;241;g37b3f394d95_2_39"/>
          <p:cNvSpPr txBox="1"/>
          <p:nvPr/>
        </p:nvSpPr>
        <p:spPr>
          <a:xfrm>
            <a:off x="1303400" y="957550"/>
            <a:ext cx="6387000" cy="53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DFA Description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>
                <a:solidFill>
                  <a:schemeClr val="dk1"/>
                </a:solidFill>
              </a:rPr>
              <a:t>States = {q0, q1, q∅ }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>
                <a:solidFill>
                  <a:schemeClr val="dk1"/>
                </a:solidFill>
              </a:rPr>
              <a:t>Input Alphabet = {0, 1}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>
                <a:solidFill>
                  <a:schemeClr val="dk1"/>
                </a:solidFill>
              </a:rPr>
              <a:t>Initial State = q0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>
                <a:solidFill>
                  <a:schemeClr val="dk1"/>
                </a:solidFill>
              </a:rPr>
              <a:t>Final States = {q1}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>
                <a:solidFill>
                  <a:schemeClr val="dk1"/>
                </a:solidFill>
              </a:rPr>
              <a:t>Dead State = q∅  (trap state)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US" sz="1300">
                <a:solidFill>
                  <a:schemeClr val="dk1"/>
                </a:solidFill>
              </a:rPr>
              <a:t>Transition Function δ is defined as: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>
                <a:solidFill>
                  <a:schemeClr val="dk1"/>
                </a:solidFill>
              </a:rPr>
              <a:t>δ(q0, 0) = q1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>
                <a:solidFill>
                  <a:schemeClr val="dk1"/>
                </a:solidFill>
              </a:rPr>
              <a:t>δ(q0, 1) = q∅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>
                <a:solidFill>
                  <a:schemeClr val="dk1"/>
                </a:solidFill>
              </a:rPr>
              <a:t>δ(q1, 0) = q1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>
                <a:solidFill>
                  <a:schemeClr val="dk1"/>
                </a:solidFill>
              </a:rPr>
              <a:t>δ(q1, 1) = q1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>
                <a:solidFill>
                  <a:schemeClr val="dk1"/>
                </a:solidFill>
              </a:rPr>
              <a:t>δ(q∅ , 0) = q∅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-US" sz="1300">
                <a:solidFill>
                  <a:schemeClr val="dk1"/>
                </a:solidFill>
              </a:rPr>
              <a:t>δ(q∅ , 1) = q∅</a:t>
            </a:r>
            <a:endParaRPr sz="13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36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6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3600"/>
              </a:spcBef>
              <a:spcAft>
                <a:spcPts val="150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242" name="Google Shape;242;g37b3f394d95_2_39"/>
          <p:cNvGraphicFramePr/>
          <p:nvPr>
            <p:extLst>
              <p:ext uri="{D42A27DB-BD31-4B8C-83A1-F6EECF244321}">
                <p14:modId xmlns:p14="http://schemas.microsoft.com/office/powerpoint/2010/main" val="1867754502"/>
              </p:ext>
            </p:extLst>
          </p:nvPr>
        </p:nvGraphicFramePr>
        <p:xfrm>
          <a:off x="660150" y="4757400"/>
          <a:ext cx="10287000" cy="1752120"/>
        </p:xfrm>
        <a:graphic>
          <a:graphicData uri="http://schemas.openxmlformats.org/drawingml/2006/table">
            <a:tbl>
              <a:tblPr>
                <a:noFill/>
                <a:tableStyleId>{48D624EB-0707-4494-99B1-B7F6B4D46A0D}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2700" marR="1270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</a:rPr>
                        <a:t>Current State</a:t>
                      </a:r>
                      <a:endParaRPr sz="900" b="1">
                        <a:solidFill>
                          <a:schemeClr val="dk1"/>
                        </a:solidFill>
                      </a:endParaRPr>
                    </a:p>
                  </a:txBody>
                  <a:tcPr marL="142875" marR="142875" marT="142875" marB="14287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</a:rPr>
                        <a:t>Input 0</a:t>
                      </a:r>
                      <a:endParaRPr sz="900" b="1">
                        <a:solidFill>
                          <a:schemeClr val="dk1"/>
                        </a:solidFill>
                      </a:endParaRPr>
                    </a:p>
                  </a:txBody>
                  <a:tcPr marL="142875" marR="142875" marT="142875" marB="14287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</a:rPr>
                        <a:t>Input 1</a:t>
                      </a:r>
                      <a:endParaRPr sz="900" b="1">
                        <a:solidFill>
                          <a:schemeClr val="dk1"/>
                        </a:solidFill>
                      </a:endParaRPr>
                    </a:p>
                  </a:txBody>
                  <a:tcPr marL="142875" marR="142875" marT="142875" marB="14287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0" marR="12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→ q0 (initial)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41525" marR="141525" marT="141525" marB="1415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q1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41525" marR="141525" marT="141525" marB="1415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q2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41525" marR="141525" marT="141525" marB="1415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0" marR="12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*q1 (final)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41525" marR="141525" marT="141525" marB="1415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q1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41525" marR="141525" marT="141525" marB="1415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q1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41525" marR="141525" marT="141525" marB="1415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0" marR="12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q∅  (dead)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41525" marR="141525" marT="141525" marB="1415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q2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41525" marR="141525" marT="141525" marB="1415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q2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</a:txBody>
                  <a:tcPr marL="141525" marR="141525" marT="141525" marB="1415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3" name="Google Shape;243;g37b3f394d95_2_39"/>
          <p:cNvSpPr txBox="1"/>
          <p:nvPr/>
        </p:nvSpPr>
        <p:spPr>
          <a:xfrm>
            <a:off x="1018501" y="431254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Transition Table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 txBox="1">
            <a:spLocks noGrp="1"/>
          </p:cNvSpPr>
          <p:nvPr>
            <p:ph type="title"/>
          </p:nvPr>
        </p:nvSpPr>
        <p:spPr>
          <a:xfrm>
            <a:off x="632085" y="1246662"/>
            <a:ext cx="10451276" cy="107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000" b="1"/>
              <a:t>Ensure attainment of LOs in alignment to the learning activities:</a:t>
            </a: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outcomes (1-2)</a:t>
            </a:r>
            <a:endParaRPr/>
          </a:p>
        </p:txBody>
      </p:sp>
      <p:sp>
        <p:nvSpPr>
          <p:cNvPr id="249" name="Google Shape;24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50" name="Google Shape;25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51" name="Google Shape;251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14"/>
          <p:cNvGrpSpPr/>
          <p:nvPr/>
        </p:nvGrpSpPr>
        <p:grpSpPr>
          <a:xfrm>
            <a:off x="1120609" y="2375050"/>
            <a:ext cx="10340243" cy="3759816"/>
            <a:chOff x="0" y="0"/>
            <a:chExt cx="10340243" cy="3759816"/>
          </a:xfrm>
        </p:grpSpPr>
        <p:sp>
          <p:nvSpPr>
            <p:cNvPr id="254" name="Google Shape;254;p14"/>
            <p:cNvSpPr/>
            <p:nvPr/>
          </p:nvSpPr>
          <p:spPr>
            <a:xfrm>
              <a:off x="0" y="0"/>
              <a:ext cx="8789207" cy="1702914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4"/>
            <p:cNvSpPr txBox="1"/>
            <p:nvPr/>
          </p:nvSpPr>
          <p:spPr>
            <a:xfrm>
              <a:off x="49877" y="49877"/>
              <a:ext cx="8278314" cy="1603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Learning Outcome 1: </a:t>
              </a:r>
              <a:r>
                <a:rPr lang="en-US" sz="28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construct and analyze State Transition Diagrams</a:t>
              </a:r>
              <a:endParaRPr sz="2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1551036" y="2056902"/>
              <a:ext cx="8789207" cy="1702914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4"/>
            <p:cNvSpPr txBox="1"/>
            <p:nvPr/>
          </p:nvSpPr>
          <p:spPr>
            <a:xfrm>
              <a:off x="1600913" y="2106779"/>
              <a:ext cx="8037044" cy="1603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Learning Outcome 2: </a:t>
              </a:r>
              <a:r>
                <a:rPr lang="en-US" sz="28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Differentiate languages accepted by various DFAs</a:t>
              </a:r>
              <a:endParaRPr sz="2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7634727" y="1363120"/>
              <a:ext cx="1106894" cy="1106894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411"/>
              </a:srgbClr>
            </a:solidFill>
            <a:ln w="19050" cap="flat" cmpd="sng">
              <a:solidFill>
                <a:srgbClr val="F6D4CC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4"/>
            <p:cNvSpPr txBox="1"/>
            <p:nvPr/>
          </p:nvSpPr>
          <p:spPr>
            <a:xfrm>
              <a:off x="7883778" y="1363120"/>
              <a:ext cx="608792" cy="832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>
            <a:spLocks noGrp="1"/>
          </p:cNvSpPr>
          <p:nvPr>
            <p:ph type="title"/>
          </p:nvPr>
        </p:nvSpPr>
        <p:spPr>
          <a:xfrm>
            <a:off x="825500" y="746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Play"/>
              <a:buNone/>
            </a:pPr>
            <a:r>
              <a:rPr lang="en-US" sz="4000" b="1">
                <a:solidFill>
                  <a:srgbClr val="0000FF"/>
                </a:solidFill>
              </a:rPr>
              <a:t>Reflection Time: Question Solving</a:t>
            </a:r>
            <a:endParaRPr/>
          </a:p>
        </p:txBody>
      </p:sp>
      <p:sp>
        <p:nvSpPr>
          <p:cNvPr id="265" name="Google Shape;265;p13"/>
          <p:cNvSpPr txBox="1">
            <a:spLocks noGrp="1"/>
          </p:cNvSpPr>
          <p:nvPr>
            <p:ph type="body" idx="1"/>
          </p:nvPr>
        </p:nvSpPr>
        <p:spPr>
          <a:xfrm>
            <a:off x="838200" y="1837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266" name="Google Shape;266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"/>
          <p:cNvSpPr txBox="1">
            <a:spLocks noGrp="1"/>
          </p:cNvSpPr>
          <p:nvPr>
            <p:ph type="title"/>
          </p:nvPr>
        </p:nvSpPr>
        <p:spPr>
          <a:xfrm>
            <a:off x="901762" y="1198963"/>
            <a:ext cx="9818849" cy="191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orgia"/>
              <a:buNone/>
            </a:pPr>
            <a:r>
              <a:rPr lang="en-US" sz="5400">
                <a:latin typeface="Georgia"/>
                <a:ea typeface="Georgia"/>
                <a:cs typeface="Georgia"/>
                <a:sym typeface="Georgia"/>
              </a:rPr>
              <a:t>Discussion on the post session activities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 sz="2800"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 sz="2800">
                <a:latin typeface="Georgia"/>
                <a:ea typeface="Georgia"/>
                <a:cs typeface="Georgia"/>
                <a:sym typeface="Georgia"/>
              </a:rPr>
            </a:b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5" name="Google Shape;27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76" name="Google Shape;27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77" name="Google Shape;277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5"/>
          <p:cNvSpPr txBox="1">
            <a:spLocks noGrp="1"/>
          </p:cNvSpPr>
          <p:nvPr>
            <p:ph type="body" idx="1"/>
          </p:nvPr>
        </p:nvSpPr>
        <p:spPr>
          <a:xfrm>
            <a:off x="838200" y="2802759"/>
            <a:ext cx="10515600" cy="277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all Questions of the post-lesson assessment.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>
            <a:spLocks noGrp="1"/>
          </p:cNvSpPr>
          <p:nvPr>
            <p:ph type="title"/>
          </p:nvPr>
        </p:nvSpPr>
        <p:spPr>
          <a:xfrm>
            <a:off x="683655" y="1213803"/>
            <a:ext cx="10074911" cy="158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orgia"/>
              <a:buNone/>
            </a:pPr>
            <a:r>
              <a:rPr lang="en-US" sz="5400" dirty="0">
                <a:latin typeface="Georgia"/>
                <a:ea typeface="Georgia"/>
                <a:cs typeface="Georgia"/>
                <a:sym typeface="Georgia"/>
              </a:rPr>
              <a:t>Information about the next lesson</a:t>
            </a:r>
            <a:endParaRPr sz="200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5" name="Google Shape;2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86" name="Google Shape;2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87" name="Google Shape;287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6"/>
          <p:cNvSpPr txBox="1">
            <a:spLocks noGrp="1"/>
          </p:cNvSpPr>
          <p:nvPr>
            <p:ph type="body" idx="1"/>
          </p:nvPr>
        </p:nvSpPr>
        <p:spPr>
          <a:xfrm>
            <a:off x="838200" y="2802759"/>
            <a:ext cx="10515600" cy="277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Problem solving on DFA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>
            <a:spLocks noGrp="1"/>
          </p:cNvSpPr>
          <p:nvPr>
            <p:ph type="title"/>
          </p:nvPr>
        </p:nvSpPr>
        <p:spPr>
          <a:xfrm>
            <a:off x="838200" y="733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Play"/>
              <a:buNone/>
            </a:pPr>
            <a:r>
              <a:rPr lang="en-US" sz="4000" b="1">
                <a:solidFill>
                  <a:srgbClr val="0000FF"/>
                </a:solidFill>
              </a:rPr>
              <a:t>Feedback and Queries</a:t>
            </a:r>
            <a:endParaRPr/>
          </a:p>
        </p:txBody>
      </p:sp>
      <p:pic>
        <p:nvPicPr>
          <p:cNvPr id="295" name="Google Shape;295;p17" descr="How To Write A Thank You Note In Five Easy St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294" y="2211388"/>
            <a:ext cx="6891506" cy="296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7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4466" y="3672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9" name="Google Shape;29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830</Words>
  <Application>Microsoft Office PowerPoint</Application>
  <PresentationFormat>Widescreen</PresentationFormat>
  <Paragraphs>153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Verdana</vt:lpstr>
      <vt:lpstr>Georgia</vt:lpstr>
      <vt:lpstr>Lato</vt:lpstr>
      <vt:lpstr>Arial</vt:lpstr>
      <vt:lpstr>Play</vt:lpstr>
      <vt:lpstr>Courier New</vt:lpstr>
      <vt:lpstr>Times New Roman</vt:lpstr>
      <vt:lpstr>Office Theme</vt:lpstr>
      <vt:lpstr>State transition diagram, Examples of languages accepted by DFA   Session No.: 4 Course Name: Theory of Computation Course Code: R1UC428T Instructor Name: Arvind Kumar Duration: 50 mins </vt:lpstr>
      <vt:lpstr>Review of the key concepts of session no. #3</vt:lpstr>
      <vt:lpstr>Pre-Session Quiz  </vt:lpstr>
      <vt:lpstr>Opening: Engaging Questions  “If I give you a machine with only a few states and arrows between them, how can you tell what strings it will accept?”  </vt:lpstr>
      <vt:lpstr>PowerPoint Presentation</vt:lpstr>
      <vt:lpstr>Session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Ensure attainment of LOs in alignment to the learning activities: outcomes (1-2)</vt:lpstr>
      <vt:lpstr>Reflection Time: Question Solving</vt:lpstr>
      <vt:lpstr>Discussion on the post session activities  </vt:lpstr>
      <vt:lpstr>Information about the next lesson</vt:lpstr>
      <vt:lpstr>Feedback and 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transition diagram, Examples of languages accepted by DFA   Session No.: 4 Course Name: Theory of Computation Course Code: R1UC428T Instructor Name: Arvind Kumar Duration: 50 mins </dc:title>
  <dc:creator>Deepak Gupta</dc:creator>
  <cp:lastModifiedBy>user</cp:lastModifiedBy>
  <cp:revision>31</cp:revision>
  <dcterms:created xsi:type="dcterms:W3CDTF">2024-08-22T06:33:55Z</dcterms:created>
  <dcterms:modified xsi:type="dcterms:W3CDTF">2026-02-23T07:10:43Z</dcterms:modified>
</cp:coreProperties>
</file>