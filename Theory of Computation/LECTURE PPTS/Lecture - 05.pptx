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93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79500" algn="ctr">
              <a:buClrTx/>
              <a:buSzTx/>
              <a:buFontTx/>
              <a:buNone/>
              <a:defRPr sz="2400"/>
            </a:lvl4pPr>
            <a:lvl5pPr marL="406400" indent="1536700" algn="ctr">
              <a:buClrTx/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0" name="Google Shape;29;p26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400" b="1"/>
            </a:lvl1pPr>
            <a:lvl2pPr marL="228600" indent="457200">
              <a:buClrTx/>
              <a:buSzTx/>
              <a:buFontTx/>
              <a:buNone/>
              <a:defRPr sz="2400" b="1"/>
            </a:lvl2pPr>
            <a:lvl3pPr marL="228600" indent="914400">
              <a:buClrTx/>
              <a:buSzTx/>
              <a:buFontTx/>
              <a:buNone/>
              <a:defRPr sz="2400" b="1"/>
            </a:lvl3pPr>
            <a:lvl4pPr marL="228600" indent="1371600">
              <a:buClrTx/>
              <a:buSzTx/>
              <a:buFontTx/>
              <a:buNone/>
              <a:defRPr sz="2400" b="1"/>
            </a:lvl4pPr>
            <a:lvl5pPr marL="22860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Google Shape;37;p27"/>
          <p:cNvSpPr txBox="1">
            <a:spLocks noGrp="1"/>
          </p:cNvSpPr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Google Shape;38;p27"/>
          <p:cNvSpPr txBox="1">
            <a:spLocks noGrp="1"/>
          </p:cNvSpPr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3" name="Google Shape;39;p27"/>
          <p:cNvSpPr txBox="1">
            <a:spLocks noGrp="1"/>
          </p:cNvSpPr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Google Shape;46;p29"/>
          <p:cNvSpPr txBox="1">
            <a:spLocks noGrp="1"/>
          </p:cNvSpPr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Google Shape;68;p32"/>
          <p:cNvSpPr txBox="1"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805"/>
            <a:ext cx="273616" cy="26421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Play"/>
          <a:ea typeface="Play"/>
          <a:cs typeface="Play"/>
          <a:sym typeface="Play"/>
        </a:defRPr>
      </a:lvl9pPr>
    </p:titleStyle>
    <p:bodyStyle>
      <a:lvl1pPr marL="457200" marR="0" indent="-3429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971550" marR="0" indent="-40005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508760" marR="0" indent="-48006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88;p1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16" name="Google Shape;89;p1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117" name="Google Shape;90;p1" descr="Google Shape;90;p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2"/>
            <a:ext cx="1190470" cy="1190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Google Shape;91;p1" descr="Google Shape;91;p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Google Shape;92;p1"/>
          <p:cNvSpPr txBox="1">
            <a:spLocks noGrp="1"/>
          </p:cNvSpPr>
          <p:nvPr>
            <p:ph type="ctrTitle"/>
          </p:nvPr>
        </p:nvSpPr>
        <p:spPr>
          <a:xfrm>
            <a:off x="659110" y="1122361"/>
            <a:ext cx="10008890" cy="4909227"/>
          </a:xfrm>
          <a:prstGeom prst="rect">
            <a:avLst/>
          </a:prstGeom>
        </p:spPr>
        <p:txBody>
          <a:bodyPr/>
          <a:lstStyle/>
          <a:p>
            <a:pPr algn="l">
              <a:defRPr sz="4800" b="1"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>Problem Solving on DFA</a:t>
            </a:r>
          </a:p>
          <a:p>
            <a:pPr algn="l"/>
            <a:endParaRPr sz="4800" b="1" dirty="0">
              <a:latin typeface="Georgia"/>
              <a:ea typeface="Georgia"/>
              <a:cs typeface="Georgia"/>
              <a:sym typeface="Georgia"/>
            </a:endParaRPr>
          </a:p>
          <a:p>
            <a:pPr algn="l">
              <a:defRPr sz="4800" b="1">
                <a:latin typeface="Georgia"/>
                <a:ea typeface="Georgia"/>
                <a:cs typeface="Georgia"/>
                <a:sym typeface="Georgia"/>
              </a:defRPr>
            </a:pP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800" dirty="0"/>
              <a:t>Session No.: 5</a:t>
            </a:r>
            <a:br>
              <a:rPr sz="1800" dirty="0"/>
            </a:br>
            <a:r>
              <a:rPr sz="1800" dirty="0"/>
              <a:t>Course Name: Theory of Computation</a:t>
            </a:r>
            <a:br>
              <a:rPr sz="1800" dirty="0"/>
            </a:br>
            <a:r>
              <a:rPr sz="1800" dirty="0"/>
              <a:t>Course Code: </a:t>
            </a:r>
            <a:r>
              <a:rPr lang="en-IN" sz="1800" dirty="0"/>
              <a:t>R1UC428T</a:t>
            </a:r>
            <a:r>
              <a:rPr sz="1800" dirty="0"/>
              <a:t/>
            </a:r>
            <a:br>
              <a:rPr sz="1800" dirty="0"/>
            </a:br>
            <a:r>
              <a:rPr sz="1800" dirty="0"/>
              <a:t>Instructor Name: </a:t>
            </a:r>
            <a:r>
              <a:rPr lang="en-US" sz="1800" dirty="0" smtClean="0"/>
              <a:t>Arvind Kumar</a:t>
            </a:r>
            <a:r>
              <a:rPr sz="1800" dirty="0"/>
              <a:t/>
            </a:r>
            <a:br>
              <a:rPr sz="1800" dirty="0"/>
            </a:br>
            <a:r>
              <a:rPr sz="1800" dirty="0"/>
              <a:t>Duration: 50 mins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97;p4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22" name="Google Shape;98;p4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128" name="Google Shape;99;p4"/>
          <p:cNvGrpSpPr/>
          <p:nvPr/>
        </p:nvGrpSpPr>
        <p:grpSpPr>
          <a:xfrm>
            <a:off x="644055" y="2520384"/>
            <a:ext cx="10927832" cy="3829794"/>
            <a:chOff x="0" y="0"/>
            <a:chExt cx="10927829" cy="3829792"/>
          </a:xfrm>
        </p:grpSpPr>
        <p:sp>
          <p:nvSpPr>
            <p:cNvPr id="123" name="Google Shape;100;p4"/>
            <p:cNvSpPr/>
            <p:nvPr/>
          </p:nvSpPr>
          <p:spPr>
            <a:xfrm>
              <a:off x="0" y="0"/>
              <a:ext cx="9288655" cy="1660232"/>
            </a:xfrm>
            <a:prstGeom prst="roundRect">
              <a:avLst>
                <a:gd name="adj" fmla="val 10000"/>
              </a:avLst>
            </a:prstGeom>
            <a:solidFill>
              <a:srgbClr val="A3C5ED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  <p:sp>
          <p:nvSpPr>
            <p:cNvPr id="124" name="Google Shape;101;p4"/>
            <p:cNvSpPr txBox="1"/>
            <p:nvPr/>
          </p:nvSpPr>
          <p:spPr>
            <a:xfrm>
              <a:off x="48626" y="417701"/>
              <a:ext cx="9240027" cy="8248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6675" tIns="106675" rIns="106675" bIns="106675" numCol="1" anchor="ctr">
              <a:spAutoFit/>
            </a:bodyPr>
            <a:lstStyle>
              <a:lvl1pPr>
                <a:lnSpc>
                  <a:spcPct val="90000"/>
                </a:lnSpc>
                <a:defRPr sz="2800">
                  <a:solidFill>
                    <a:srgbClr val="FFFFFF"/>
                  </a:solidFill>
                </a:defRPr>
              </a:lvl1pPr>
            </a:lstStyle>
            <a:p>
              <a:r>
                <a:rPr sz="4400" b="1" dirty="0" smtClean="0"/>
                <a:t>L</a:t>
              </a:r>
              <a:r>
                <a:rPr lang="en-US" sz="4400" b="1" dirty="0" smtClean="0"/>
                <a:t>O</a:t>
              </a:r>
              <a:r>
                <a:rPr sz="4400" b="1" dirty="0" smtClean="0"/>
                <a:t>1</a:t>
              </a:r>
              <a:r>
                <a:rPr sz="4400" b="1" dirty="0"/>
                <a:t>: </a:t>
              </a:r>
              <a:r>
                <a:rPr sz="4400" b="1" dirty="0">
                  <a:solidFill>
                    <a:schemeClr val="tx1"/>
                  </a:solidFill>
                </a:rPr>
                <a:t>Construct DFA step by step</a:t>
              </a:r>
            </a:p>
          </p:txBody>
        </p:sp>
        <p:sp>
          <p:nvSpPr>
            <p:cNvPr id="125" name="Google Shape;102;p4"/>
            <p:cNvSpPr/>
            <p:nvPr/>
          </p:nvSpPr>
          <p:spPr>
            <a:xfrm>
              <a:off x="1639174" y="1888781"/>
              <a:ext cx="9288655" cy="1941011"/>
            </a:xfrm>
            <a:prstGeom prst="roundRect">
              <a:avLst>
                <a:gd name="adj" fmla="val 10000"/>
              </a:avLst>
            </a:prstGeom>
            <a:solidFill>
              <a:srgbClr val="82CAEB"/>
            </a:solidFill>
            <a:ln w="190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  <p:sp>
          <p:nvSpPr>
            <p:cNvPr id="126" name="Google Shape;103;p4"/>
            <p:cNvSpPr txBox="1"/>
            <p:nvPr/>
          </p:nvSpPr>
          <p:spPr>
            <a:xfrm>
              <a:off x="1696024" y="2419171"/>
              <a:ext cx="9231805" cy="880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06675" tIns="106675" rIns="106675" bIns="106675" numCol="1" anchor="ctr">
              <a:spAutoFit/>
            </a:bodyPr>
            <a:lstStyle/>
            <a:p>
              <a:pPr algn="just">
                <a:lnSpc>
                  <a:spcPct val="90000"/>
                </a:lnSpc>
                <a:defRPr sz="2800">
                  <a:solidFill>
                    <a:srgbClr val="FFFFFF"/>
                  </a:solidFill>
                </a:defRPr>
              </a:pPr>
              <a:r>
                <a:rPr sz="4800" b="1" dirty="0" smtClean="0"/>
                <a:t>L</a:t>
              </a:r>
              <a:r>
                <a:rPr lang="en-US" sz="4800" b="1" dirty="0" smtClean="0"/>
                <a:t>O</a:t>
              </a:r>
              <a:r>
                <a:rPr sz="4800" b="1" dirty="0" smtClean="0"/>
                <a:t>2</a:t>
              </a:r>
              <a:r>
                <a:rPr sz="4800" b="1" dirty="0"/>
                <a:t>: </a:t>
              </a:r>
              <a:r>
                <a:rPr sz="4800" b="1" dirty="0">
                  <a:solidFill>
                    <a:srgbClr val="000000"/>
                  </a:solidFill>
                </a:rPr>
                <a:t>Analyze DFA correctness</a:t>
              </a:r>
              <a:endParaRPr sz="4800" b="1" dirty="0"/>
            </a:p>
          </p:txBody>
        </p:sp>
        <p:sp>
          <p:nvSpPr>
            <p:cNvPr id="127" name="Google Shape;104;p4"/>
            <p:cNvSpPr/>
            <p:nvPr/>
          </p:nvSpPr>
          <p:spPr>
            <a:xfrm>
              <a:off x="8209503" y="1305125"/>
              <a:ext cx="1079151" cy="1079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880"/>
                  </a:moveTo>
                  <a:lnTo>
                    <a:pt x="4860" y="11880"/>
                  </a:lnTo>
                  <a:lnTo>
                    <a:pt x="4860" y="0"/>
                  </a:lnTo>
                  <a:lnTo>
                    <a:pt x="16740" y="0"/>
                  </a:lnTo>
                  <a:lnTo>
                    <a:pt x="16740" y="11880"/>
                  </a:lnTo>
                  <a:lnTo>
                    <a:pt x="21600" y="1188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4892DC">
                <a:alpha val="89019"/>
              </a:srgbClr>
            </a:solidFill>
            <a:ln w="19050" cap="flat">
              <a:solidFill>
                <a:srgbClr val="F6D4CC">
                  <a:alpha val="89019"/>
                </a:srgbClr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/>
            </a:p>
          </p:txBody>
        </p:sp>
      </p:grpSp>
      <p:pic>
        <p:nvPicPr>
          <p:cNvPr id="129" name="Google Shape;106;p4" descr="Google Shape;106;p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Google Shape;107;p4" descr="Google Shape;107;p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Google Shape;108;p4"/>
          <p:cNvSpPr txBox="1"/>
          <p:nvPr/>
        </p:nvSpPr>
        <p:spPr>
          <a:xfrm>
            <a:off x="689781" y="1550542"/>
            <a:ext cx="8363524" cy="486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2800" b="1"/>
            </a:lvl1pPr>
          </a:lstStyle>
          <a:p>
            <a:r>
              <a:t>At the end of this session, you will be able to: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13;p5"/>
          <p:cNvSpPr txBox="1"/>
          <p:nvPr/>
        </p:nvSpPr>
        <p:spPr>
          <a:xfrm>
            <a:off x="4084321" y="6412029"/>
            <a:ext cx="4023351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34" name="Google Shape;114;p5"/>
          <p:cNvSpPr txBox="1">
            <a:spLocks noGrp="1"/>
          </p:cNvSpPr>
          <p:nvPr>
            <p:ph type="sldNum" sz="quarter" idx="2"/>
          </p:nvPr>
        </p:nvSpPr>
        <p:spPr>
          <a:xfrm>
            <a:off x="11164941" y="6412029"/>
            <a:ext cx="188859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35" name="Google Shape;115;p5" descr="Google Shape;115;p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7" y="361808"/>
            <a:ext cx="874734" cy="85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Google Shape;116;p5" descr="Google Shape;116;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5" y="301026"/>
            <a:ext cx="3795639" cy="7193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" name="Google Shape;117;p5" descr="Google Shape;117;p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00" y="1020325"/>
            <a:ext cx="10886727" cy="5425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22;p6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40" name="Google Shape;123;p6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41" name="Google Shape;124;p6" descr="Google Shape;124;p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Google Shape;125;p6" descr="Google Shape;125;p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Google Shape;126;p6" descr="Google Shape;126;p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480901" cy="57146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32;p7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46" name="Google Shape;131;p7"/>
          <p:cNvSpPr txBox="1">
            <a:spLocks noGrp="1"/>
          </p:cNvSpPr>
          <p:nvPr>
            <p:ph type="body" sz="quarter" idx="1"/>
          </p:nvPr>
        </p:nvSpPr>
        <p:spPr>
          <a:xfrm>
            <a:off x="588964" y="1927121"/>
            <a:ext cx="5332414" cy="2141336"/>
          </a:xfrm>
          <a:prstGeom prst="rect">
            <a:avLst/>
          </a:prstGeom>
        </p:spPr>
        <p:txBody>
          <a:bodyPr anchor="t"/>
          <a:lstStyle/>
          <a:p>
            <a:pPr marL="0" lvl="1" indent="0">
              <a:lnSpc>
                <a:spcPct val="120000"/>
              </a:lnSpc>
              <a:spcBef>
                <a:spcPts val="0"/>
              </a:spcBef>
              <a:defRPr b="0"/>
            </a:pPr>
            <a:r>
              <a:t> </a:t>
            </a:r>
          </a:p>
        </p:txBody>
      </p:sp>
      <p:sp>
        <p:nvSpPr>
          <p:cNvPr id="147" name="Google Shape;133;p7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48" name="Google Shape;134;p7" descr="Google Shape;134;p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Google Shape;135;p7" descr="Google Shape;135;p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Google Shape;136;p7" descr="Google Shape;136;p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74" y="854449"/>
            <a:ext cx="10965401" cy="58670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43;p8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pic>
        <p:nvPicPr>
          <p:cNvPr id="153" name="Google Shape;141;p8" descr="Google Shape;141;p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Google Shape;142;p8" descr="Google Shape;142;p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Google Shape;144;p8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56" name="Google Shape;145;p8" descr="Google Shape;145;p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83049"/>
            <a:ext cx="11480900" cy="519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2;p9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pic>
        <p:nvPicPr>
          <p:cNvPr id="159" name="Google Shape;150;p9" descr="Google Shape;150;p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Google Shape;151;p9" descr="Google Shape;151;p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Google Shape;153;p9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162" name="Google Shape;154;p9" descr="Google Shape;154;p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480901" cy="5851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1;p10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pic>
        <p:nvPicPr>
          <p:cNvPr id="165" name="Google Shape;159;p10" descr="Google Shape;159;p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Google Shape;160;p10" descr="Google Shape;160;p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Google Shape;162;p10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168" name="Google Shape;163;p10" descr="Google Shape;163;p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480901" cy="519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pic>
        <p:nvPicPr>
          <p:cNvPr id="171" name="Google Shape;168;p16" descr="Google Shape;168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065" y="240253"/>
            <a:ext cx="874733" cy="874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Google Shape;169;p16" descr="Google Shape;169;p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Google Shape;171;p16"/>
          <p:cNvSpPr txBox="1">
            <a:spLocks noGrp="1"/>
          </p:cNvSpPr>
          <p:nvPr>
            <p:ph type="sldNum" sz="quarter" idx="2"/>
          </p:nvPr>
        </p:nvSpPr>
        <p:spPr>
          <a:xfrm>
            <a:off x="11164942" y="6406805"/>
            <a:ext cx="188858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pic>
        <p:nvPicPr>
          <p:cNvPr id="174" name="Google Shape;172;p16" descr="Google Shape;172;p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544401" cy="519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9;p17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pic>
        <p:nvPicPr>
          <p:cNvPr id="177" name="Google Shape;177;p17" descr="Google Shape;177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065" y="240253"/>
            <a:ext cx="874733" cy="874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Google Shape;178;p17" descr="Google Shape;178;p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Google Shape;180;p17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8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180" name="Google Shape;181;p17" descr="Google Shape;181;p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544400" cy="519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6;p18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83" name="Google Shape;187;p18"/>
          <p:cNvSpPr txBox="1">
            <a:spLocks noGrp="1"/>
          </p:cNvSpPr>
          <p:nvPr>
            <p:ph type="sldNum" sz="quarter" idx="2"/>
          </p:nvPr>
        </p:nvSpPr>
        <p:spPr>
          <a:xfrm>
            <a:off x="11091495" y="6406805"/>
            <a:ext cx="262306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184" name="Google Shape;188;p18" descr="Google Shape;188;p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Google Shape;189;p18" descr="Google Shape;189;p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Google Shape;190;p18" descr="Google Shape;190;p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480900" cy="5166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17;p21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pic>
        <p:nvPicPr>
          <p:cNvPr id="203" name="Google Shape;215;p21" descr="Google Shape;215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465" y="367253"/>
            <a:ext cx="874733" cy="874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Google Shape;216;p21" descr="Google Shape;216;p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Google Shape;218;p21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8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206" name="Google Shape;219;p21" descr="Google Shape;219;p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512775" cy="5197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25;g378e7c026e3_1_11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792"/>
            <a:ext cx="273617" cy="2642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209" name="Google Shape;226;g378e7c026e3_1_11" descr="Google Shape;226;g378e7c026e3_1_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Google Shape;227;g378e7c026e3_1_11" descr="Google Shape;227;g378e7c026e3_1_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465" y="367253"/>
            <a:ext cx="874733" cy="874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Google Shape;228;g378e7c026e3_1_11" descr="Google Shape;228;g378e7c026e3_1_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5425" y="2241561"/>
            <a:ext cx="9201150" cy="4114801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Google Shape;229;g378e7c026e3_1_11"/>
          <p:cNvSpPr txBox="1"/>
          <p:nvPr/>
        </p:nvSpPr>
        <p:spPr>
          <a:xfrm>
            <a:off x="502749" y="1241974"/>
            <a:ext cx="6308102" cy="380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24" tIns="91424" rIns="91424" bIns="91424">
            <a:spAutoFit/>
          </a:bodyPr>
          <a:lstStyle/>
          <a:p>
            <a:r>
              <a:t>Solution: DFA for substring '101'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35;g378e7c026e3_1_18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792"/>
            <a:ext cx="273617" cy="2642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215" name="Google Shape;236;g378e7c026e3_1_18"/>
          <p:cNvSpPr txBox="1"/>
          <p:nvPr/>
        </p:nvSpPr>
        <p:spPr>
          <a:xfrm>
            <a:off x="8656324" y="6406792"/>
            <a:ext cx="2651752" cy="26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r>
              <a:t>16</a:t>
            </a:r>
          </a:p>
        </p:txBody>
      </p:sp>
      <p:pic>
        <p:nvPicPr>
          <p:cNvPr id="216" name="Google Shape;237;g378e7c026e3_1_18" descr="Google Shape;237;g378e7c026e3_1_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Google Shape;238;g378e7c026e3_1_18" descr="Google Shape;238;g378e7c026e3_1_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465" y="367253"/>
            <a:ext cx="874733" cy="874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Google Shape;239;g378e7c026e3_1_18" descr="Google Shape;239;g378e7c026e3_1_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006849"/>
            <a:ext cx="11851451" cy="80242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96;p19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89" name="Google Shape;195;p19"/>
          <p:cNvSpPr txBox="1">
            <a:spLocks noGrp="1"/>
          </p:cNvSpPr>
          <p:nvPr>
            <p:ph type="title"/>
          </p:nvPr>
        </p:nvSpPr>
        <p:spPr>
          <a:xfrm>
            <a:off x="901761" y="1198962"/>
            <a:ext cx="9818851" cy="1918742"/>
          </a:xfrm>
          <a:prstGeom prst="rect">
            <a:avLst/>
          </a:prstGeom>
        </p:spPr>
        <p:txBody>
          <a:bodyPr/>
          <a:lstStyle/>
          <a:p>
            <a:pPr defTabSz="731520">
              <a:defRPr sz="4320">
                <a:latin typeface="Georgia"/>
                <a:ea typeface="Georgia"/>
                <a:cs typeface="Georgia"/>
                <a:sym typeface="Georgia"/>
              </a:defRPr>
            </a:pPr>
            <a:r>
              <a:t>Discussion on the post session activities</a:t>
            </a:r>
            <a:br/>
            <a:r>
              <a:t/>
            </a:r>
            <a:br/>
            <a:endParaRPr/>
          </a:p>
        </p:txBody>
      </p:sp>
      <p:sp>
        <p:nvSpPr>
          <p:cNvPr id="190" name="Google Shape;197;p19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8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pic>
        <p:nvPicPr>
          <p:cNvPr id="191" name="Google Shape;198;p19" descr="Google Shape;198;p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Google Shape;199;p19" descr="Google Shape;199;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93" name="Google Shape;200;p19"/>
          <p:cNvSpPr txBox="1">
            <a:spLocks noGrp="1"/>
          </p:cNvSpPr>
          <p:nvPr>
            <p:ph type="body" sz="half" idx="1"/>
          </p:nvPr>
        </p:nvSpPr>
        <p:spPr>
          <a:xfrm>
            <a:off x="838200" y="2802758"/>
            <a:ext cx="10515600" cy="2772542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spcBef>
                <a:spcPts val="0"/>
              </a:spcBef>
            </a:lvl1pPr>
          </a:lstStyle>
          <a:p>
            <a:r>
              <a:t>Attempt the Post-Session-6 Quiz on LMS.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206;p20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196" name="Google Shape;205;p20"/>
          <p:cNvSpPr txBox="1">
            <a:spLocks noGrp="1"/>
          </p:cNvSpPr>
          <p:nvPr>
            <p:ph type="title"/>
          </p:nvPr>
        </p:nvSpPr>
        <p:spPr>
          <a:xfrm>
            <a:off x="683654" y="1213803"/>
            <a:ext cx="9818851" cy="1588958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Information about the next lesson</a:t>
            </a:r>
          </a:p>
        </p:txBody>
      </p:sp>
      <p:sp>
        <p:nvSpPr>
          <p:cNvPr id="197" name="Google Shape;207;p20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8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pic>
        <p:nvPicPr>
          <p:cNvPr id="198" name="Google Shape;208;p20" descr="Google Shape;208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565" y="176754"/>
            <a:ext cx="874733" cy="874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Google Shape;209;p20" descr="Google Shape;209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Google Shape;210;p20"/>
          <p:cNvSpPr txBox="1">
            <a:spLocks noGrp="1"/>
          </p:cNvSpPr>
          <p:nvPr>
            <p:ph type="body" sz="half" idx="1"/>
          </p:nvPr>
        </p:nvSpPr>
        <p:spPr>
          <a:xfrm>
            <a:off x="838200" y="2802758"/>
            <a:ext cx="10515600" cy="2772542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spcBef>
                <a:spcPts val="0"/>
              </a:spcBef>
            </a:lvl1pPr>
          </a:lstStyle>
          <a:p>
            <a:r>
              <a:t>Revision / Tutorial.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45;g378e7c026e3_1_25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792"/>
            <a:ext cx="273617" cy="2642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221" name="Google Shape;246;g378e7c026e3_1_25"/>
          <p:cNvSpPr txBox="1"/>
          <p:nvPr/>
        </p:nvSpPr>
        <p:spPr>
          <a:xfrm>
            <a:off x="8656324" y="6406792"/>
            <a:ext cx="2651752" cy="26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r>
              <a:t>17</a:t>
            </a:r>
          </a:p>
        </p:txBody>
      </p:sp>
      <p:pic>
        <p:nvPicPr>
          <p:cNvPr id="222" name="Google Shape;247;g378e7c026e3_1_25" descr="Google Shape;247;g378e7c026e3_1_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2" y="114202"/>
            <a:ext cx="3795634" cy="74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Google Shape;248;g378e7c026e3_1_25" descr="Google Shape;248;g378e7c026e3_1_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465" y="367253"/>
            <a:ext cx="874733" cy="87473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Google Shape;249;g378e7c026e3_1_25" descr="Google Shape;249;g378e7c026e3_1_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00" y="804620"/>
            <a:ext cx="11696800" cy="5214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54;p22"/>
          <p:cNvSpPr txBox="1"/>
          <p:nvPr/>
        </p:nvSpPr>
        <p:spPr>
          <a:xfrm>
            <a:off x="4084324" y="6406805"/>
            <a:ext cx="4023352" cy="264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 sz="1200">
                <a:solidFill>
                  <a:srgbClr val="757575"/>
                </a:solidFill>
              </a:defRPr>
            </a:lvl1pPr>
          </a:lstStyle>
          <a:p>
            <a:r>
              <a:t>Galgotias University</a:t>
            </a:r>
          </a:p>
        </p:txBody>
      </p:sp>
      <p:sp>
        <p:nvSpPr>
          <p:cNvPr id="227" name="Google Shape;255;p22"/>
          <p:cNvSpPr txBox="1">
            <a:spLocks noGrp="1"/>
          </p:cNvSpPr>
          <p:nvPr>
            <p:ph type="sldNum" sz="quarter" idx="2"/>
          </p:nvPr>
        </p:nvSpPr>
        <p:spPr>
          <a:xfrm>
            <a:off x="11080184" y="6406805"/>
            <a:ext cx="273617" cy="2642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228" name="Google Shape;256;p22" descr="Google Shape;256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96" y="650240"/>
            <a:ext cx="10204705" cy="4937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113</Words>
  <Application>Microsoft Office PowerPoint</Application>
  <PresentationFormat>Widescreen</PresentationFormat>
  <Paragraphs>47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Georgia</vt:lpstr>
      <vt:lpstr>Play</vt:lpstr>
      <vt:lpstr>Office Theme</vt:lpstr>
      <vt:lpstr>Problem Solving on DFA    Session No.: 5 Course Name: Theory of Computation Course Code: R1UC428T Instructor Name: Arvind Kumar Duration: 50 mins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Discussion on the post session activities  </vt:lpstr>
      <vt:lpstr>Information about the next lesson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on DFA    Session No.: 5 Course Name: Theory of Computation Course Code: R1UC501T Instructor Name: Dr. Avaneesh K Yadav Duration: 50 mins</dc:title>
  <cp:lastModifiedBy>user</cp:lastModifiedBy>
  <cp:revision>4</cp:revision>
  <dcterms:modified xsi:type="dcterms:W3CDTF">2026-02-18T16:27:59Z</dcterms:modified>
</cp:coreProperties>
</file>