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Play" panose="020B0604020202020204" charset="0"/>
      <p:regular r:id="rId21"/>
      <p:bold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WCQQI8XuGUS1mUkmNNxPx3l9E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7229B525-A240-8E1C-44B3-8EBFEBE33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>
            <a:extLst>
              <a:ext uri="{FF2B5EF4-FFF2-40B4-BE49-F238E27FC236}">
                <a16:creationId xmlns:a16="http://schemas.microsoft.com/office/drawing/2014/main" id="{1E9E21D6-4B83-D1ED-D8C5-88EF8B1E5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10:notes">
            <a:extLst>
              <a:ext uri="{FF2B5EF4-FFF2-40B4-BE49-F238E27FC236}">
                <a16:creationId xmlns:a16="http://schemas.microsoft.com/office/drawing/2014/main" id="{AA5ABAFC-C27B-455E-939D-B40F4F120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128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90" name="Google Shape;90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659110" y="1122362"/>
            <a:ext cx="10008890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eorgia"/>
              <a:buNone/>
            </a:pPr>
            <a:r>
              <a:rPr lang="en-IN" sz="4800" b="1" dirty="0">
                <a:latin typeface="Georgia"/>
                <a:ea typeface="Georgia"/>
                <a:cs typeface="Georgia"/>
                <a:sym typeface="Georgia"/>
              </a:rPr>
              <a:t>Problem Solving on DFA</a:t>
            </a:r>
            <a:endParaRPr sz="4800" b="1" dirty="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eorgia"/>
              <a:buNone/>
            </a:pPr>
            <a:endParaRPr sz="4800" b="1" dirty="0">
              <a:latin typeface="Georgia"/>
              <a:ea typeface="Georgia"/>
              <a:cs typeface="Georgia"/>
              <a:sym typeface="Georgia"/>
            </a:endParaRPr>
          </a:p>
          <a:p>
            <a:pPr lvl="0" algn="l">
              <a:buSzPts val="4800"/>
            </a:pPr>
            <a:r>
              <a:rPr lang="en-IN" sz="4800" b="1" dirty="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IN" sz="4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latin typeface="Georgia"/>
                <a:ea typeface="Georgia"/>
                <a:cs typeface="Georgia"/>
                <a:sym typeface="Georgia"/>
              </a:rPr>
              <a:t>Session No.: 6</a:t>
            </a: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latin typeface="Georgia"/>
                <a:ea typeface="Georgia"/>
                <a:cs typeface="Georgia"/>
                <a:sym typeface="Georgia"/>
              </a:rPr>
              <a:t>Course Name: Theory of Computation</a:t>
            </a: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Course Code: </a:t>
            </a:r>
            <a:r>
              <a:rPr lang="en-IN" sz="1800" b="1" dirty="0"/>
              <a:t>R1UC428T</a:t>
            </a:r>
            <a:r>
              <a:rPr lang="en-IN" sz="1800" b="1" dirty="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latin typeface="Georgia"/>
                <a:ea typeface="Georgia"/>
                <a:cs typeface="Georgia"/>
                <a:sym typeface="Georgia"/>
              </a:rPr>
              <a:t>Instructor Name: </a:t>
            </a:r>
            <a:r>
              <a:rPr lang="en-IN" sz="1800" b="1" dirty="0" smtClean="0">
                <a:latin typeface="Georgia"/>
                <a:ea typeface="Georgia"/>
                <a:cs typeface="Georgia"/>
                <a:sym typeface="Georgia"/>
              </a:rPr>
              <a:t>Arvind Kumar</a:t>
            </a:r>
            <a:r>
              <a:rPr lang="en-IN" sz="1800" b="1" dirty="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dirty="0"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endParaRPr sz="4800" b="1" dirty="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52630" y="1329046"/>
            <a:ext cx="10880667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632"/>
              <a:buFont typeface="Play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the key concepts of the session #5</a:t>
            </a:r>
            <a:r>
              <a:rPr lang="en-IN" sz="49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9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9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00" name="Google Shape;100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655666" y="2125258"/>
            <a:ext cx="10880667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IN" sz="3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We learned that an </a:t>
            </a:r>
            <a:r>
              <a:rPr lang="en-IN" sz="3000" b="1" dirty="0"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D</a:t>
            </a:r>
            <a:r>
              <a:rPr lang="en-IN" sz="3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FA is defined using a 5-tuple</a:t>
            </a:r>
            <a:r>
              <a:rPr lang="en-IN" sz="3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: (Q, Σ, δ, q₀, F).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38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3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Play"/>
              <a:cs typeface="Times New Roman" panose="02020603050405020304" pitchFamily="18" charset="0"/>
              <a:sym typeface="Play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IN" sz="3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The </a:t>
            </a:r>
            <a:r>
              <a:rPr lang="en-IN" sz="3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transition function δ</a:t>
            </a:r>
            <a:r>
              <a:rPr lang="en-IN" sz="3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 allows moving to </a:t>
            </a:r>
            <a:r>
              <a:rPr lang="en-IN" sz="3000" b="1" dirty="0"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single </a:t>
            </a:r>
            <a:r>
              <a:rPr lang="en-IN" sz="3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states</a:t>
            </a:r>
            <a:r>
              <a:rPr lang="en-IN" sz="3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, </a:t>
            </a:r>
            <a:r>
              <a:rPr lang="en-IN" sz="3000" dirty="0"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for every</a:t>
            </a:r>
            <a:r>
              <a:rPr lang="en-IN" sz="3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 input</a:t>
            </a:r>
            <a:r>
              <a:rPr lang="en-IN" sz="3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38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3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Play"/>
              <a:cs typeface="Times New Roman" panose="02020603050405020304" pitchFamily="18" charset="0"/>
              <a:sym typeface="Play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IN" sz="3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Each part of the 5-tuple was explained clearly with its role in the automaton.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418476" y="932741"/>
            <a:ext cx="10515600" cy="90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Opening: Engaging Questions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110" name="Google Shape;110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grpSp>
        <p:nvGrpSpPr>
          <p:cNvPr id="119" name="Google Shape;119;p4"/>
          <p:cNvGrpSpPr/>
          <p:nvPr/>
        </p:nvGrpSpPr>
        <p:grpSpPr>
          <a:xfrm>
            <a:off x="644056" y="2520385"/>
            <a:ext cx="10989242" cy="3829792"/>
            <a:chOff x="0" y="-70194"/>
            <a:chExt cx="10989242" cy="3829792"/>
          </a:xfrm>
        </p:grpSpPr>
        <p:sp>
          <p:nvSpPr>
            <p:cNvPr id="120" name="Google Shape;120;p4"/>
            <p:cNvSpPr/>
            <p:nvPr/>
          </p:nvSpPr>
          <p:spPr>
            <a:xfrm>
              <a:off x="0" y="-70194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A3C5ED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48626" y="-21567"/>
              <a:ext cx="9379573" cy="1573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IN" sz="3600" b="1" i="0" u="none" strike="noStrike" cap="none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IN" sz="3600" b="1" i="0" u="none" strike="noStrike" cap="none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Construct </a:t>
              </a:r>
              <a:r>
                <a:rPr lang="en-IN" sz="36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IN" sz="3600" b="1" i="0" u="none" strike="noStrike" cap="none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FAs for given languages</a:t>
              </a:r>
              <a:endParaRPr sz="36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1639174" y="1818588"/>
              <a:ext cx="9288654" cy="1941010"/>
            </a:xfrm>
            <a:prstGeom prst="roundRect">
              <a:avLst>
                <a:gd name="adj" fmla="val 10000"/>
              </a:avLst>
            </a:prstGeom>
            <a:solidFill>
              <a:srgbClr val="82CAEB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1696024" y="1875438"/>
              <a:ext cx="9293218" cy="18273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IN" sz="4000" b="1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</a:t>
              </a:r>
              <a:r>
                <a:rPr lang="en-IN" sz="4000" b="1" i="0" u="none" strike="noStrike" cap="none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2</a:t>
              </a:r>
              <a:r>
                <a:rPr lang="en-IN" sz="4000" b="1" i="0" u="none" strike="noStrike" cap="none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Explain how these automata accept the strings in those languages.</a:t>
              </a:r>
              <a:endParaRPr sz="40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8209503" y="1234932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4892DC">
                <a:alpha val="89411"/>
              </a:srgbClr>
            </a:solidFill>
            <a:ln w="19050" cap="flat" cmpd="sng">
              <a:solidFill>
                <a:srgbClr val="F6D4CC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8452312" y="123493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6" name="Google Shape;126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644056" y="1550543"/>
            <a:ext cx="845497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At the end of this session, you will be able to: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Outline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4648018" y="844697"/>
            <a:ext cx="6900512" cy="4521325"/>
            <a:chOff x="0" y="675"/>
            <a:chExt cx="6900512" cy="4521325"/>
          </a:xfrm>
        </p:grpSpPr>
        <p:cxnSp>
          <p:nvCxnSpPr>
            <p:cNvPr id="135" name="Google Shape;135;p5"/>
            <p:cNvCxnSpPr/>
            <p:nvPr/>
          </p:nvCxnSpPr>
          <p:spPr>
            <a:xfrm>
              <a:off x="0" y="675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6" name="Google Shape;136;p5"/>
            <p:cNvSpPr/>
            <p:nvPr/>
          </p:nvSpPr>
          <p:spPr>
            <a:xfrm>
              <a:off x="0" y="675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0" y="675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4300" tIns="194300" rIns="194300" bIns="1943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100"/>
                <a:buFont typeface="Arial"/>
                <a:buNone/>
              </a:pPr>
              <a:r>
                <a:rPr lang="en-IN" sz="51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1 </a:t>
              </a:r>
              <a:r>
                <a:rPr lang="en-IN" sz="510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IN" sz="51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FA.</a:t>
              </a:r>
              <a:endParaRPr sz="51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138" name="Google Shape;138;p5"/>
            <p:cNvCxnSpPr/>
            <p:nvPr/>
          </p:nvCxnSpPr>
          <p:spPr>
            <a:xfrm>
              <a:off x="0" y="1107633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9" name="Google Shape;139;p5"/>
            <p:cNvSpPr/>
            <p:nvPr/>
          </p:nvSpPr>
          <p:spPr>
            <a:xfrm>
              <a:off x="0" y="1107633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0" name="Google Shape;140;p5"/>
            <p:cNvSpPr txBox="1"/>
            <p:nvPr/>
          </p:nvSpPr>
          <p:spPr>
            <a:xfrm>
              <a:off x="0" y="1107633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4300" tIns="194300" rIns="194300" bIns="1943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100"/>
                <a:buFont typeface="Arial"/>
                <a:buNone/>
              </a:pPr>
              <a:r>
                <a:rPr lang="en-IN" sz="51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2 Tuples of </a:t>
              </a:r>
              <a:r>
                <a:rPr lang="en-IN" sz="510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IN" sz="51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FA.</a:t>
              </a: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141" name="Google Shape;141;p5"/>
            <p:cNvCxnSpPr/>
            <p:nvPr/>
          </p:nvCxnSpPr>
          <p:spPr>
            <a:xfrm>
              <a:off x="0" y="2214591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2" name="Google Shape;142;p5"/>
            <p:cNvSpPr/>
            <p:nvPr/>
          </p:nvSpPr>
          <p:spPr>
            <a:xfrm>
              <a:off x="0" y="2214591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0" y="2214591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4300" tIns="194300" rIns="194300" bIns="1943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100"/>
                <a:buFont typeface="Arial"/>
                <a:buNone/>
              </a:pPr>
              <a:r>
                <a:rPr lang="en-IN" sz="51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3 Examples.</a:t>
              </a: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144" name="Google Shape;144;p5"/>
            <p:cNvCxnSpPr/>
            <p:nvPr/>
          </p:nvCxnSpPr>
          <p:spPr>
            <a:xfrm>
              <a:off x="0" y="3321549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5" name="Google Shape;145;p5"/>
            <p:cNvSpPr/>
            <p:nvPr/>
          </p:nvSpPr>
          <p:spPr>
            <a:xfrm>
              <a:off x="0" y="3321549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6" name="Google Shape;146;p5"/>
            <p:cNvSpPr txBox="1"/>
            <p:nvPr/>
          </p:nvSpPr>
          <p:spPr>
            <a:xfrm>
              <a:off x="0" y="3321549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4300" tIns="194300" rIns="194300" bIns="1943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100"/>
                <a:buFont typeface="Arial"/>
                <a:buNone/>
              </a:pPr>
              <a:endParaRPr sz="51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147" name="Google Shape;147;p5"/>
            <p:cNvCxnSpPr/>
            <p:nvPr/>
          </p:nvCxnSpPr>
          <p:spPr>
            <a:xfrm>
              <a:off x="0" y="4428507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8" name="Google Shape;148;p5"/>
            <p:cNvSpPr/>
            <p:nvPr/>
          </p:nvSpPr>
          <p:spPr>
            <a:xfrm>
              <a:off x="0" y="3415043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0" y="3415043"/>
              <a:ext cx="6900512" cy="1106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4300" tIns="194300" rIns="194300" bIns="1943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100"/>
                <a:buFont typeface="Arial"/>
                <a:buNone/>
              </a:pPr>
              <a:r>
                <a:rPr lang="en-IN" sz="51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4 Summary.</a:t>
              </a:r>
              <a:endParaRPr sz="51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50" name="Google Shape;15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Galgotias University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2" name="Google Shape;152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>
            <a:spLocks noGrp="1"/>
          </p:cNvSpPr>
          <p:nvPr>
            <p:ph type="title"/>
          </p:nvPr>
        </p:nvSpPr>
        <p:spPr>
          <a:xfrm>
            <a:off x="839788" y="1130156"/>
            <a:ext cx="6917201" cy="64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Automata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Google Shape;159;p6"/>
          <p:cNvSpPr txBox="1">
            <a:spLocks noGrp="1"/>
          </p:cNvSpPr>
          <p:nvPr>
            <p:ph type="body" idx="1"/>
          </p:nvPr>
        </p:nvSpPr>
        <p:spPr>
          <a:xfrm>
            <a:off x="838199" y="2160850"/>
            <a:ext cx="105156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1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 (Deterministic Finite Automaton)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finite automaton where, for a given state and input symbol, the machine can move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next state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Google Shape;16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61" name="Google Shape;16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62" name="Google Shape;162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550" y="3243650"/>
            <a:ext cx="10691251" cy="28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title"/>
          </p:nvPr>
        </p:nvSpPr>
        <p:spPr>
          <a:xfrm>
            <a:off x="862014" y="789997"/>
            <a:ext cx="10515600" cy="74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Tuples of DFA 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72" name="Google Shape;17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73" name="Google Shape;173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 txBox="1">
            <a:spLocks noGrp="1"/>
          </p:cNvSpPr>
          <p:nvPr>
            <p:ph type="body" idx="1"/>
          </p:nvPr>
        </p:nvSpPr>
        <p:spPr>
          <a:xfrm>
            <a:off x="689475" y="1664729"/>
            <a:ext cx="10860678" cy="4221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5-tuples of an NFA (Non-Deterministic Finite Automaton) are: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</a:t>
            </a:r>
            <a:r>
              <a:rPr lang="en-IN" sz="2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(Q, Σ, δ, q₀, F) where: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</a:t>
            </a:r>
            <a:r>
              <a:rPr lang="en-IN" sz="2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finite set of states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= </a:t>
            </a:r>
            <a:r>
              <a:rPr lang="en-IN" sz="2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finite input alphabet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= </a:t>
            </a:r>
            <a:r>
              <a:rPr lang="en-IN" sz="2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function, δ: Q × Σ </a:t>
            </a:r>
            <a:r>
              <a:rPr lang="en-IN" sz="2500" b="0">
                <a:latin typeface="Times New Roman" panose="02020603050405020304" pitchFamily="18" charset="0"/>
                <a:cs typeface="Times New Roman" panose="02020603050405020304" pitchFamily="18" charset="0"/>
              </a:rPr>
              <a:t>→ Q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q₀ </a:t>
            </a:r>
            <a:r>
              <a:rPr lang="en-IN" sz="2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Start state, where q₀ ∈ Q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Set of accepting (final) states, F ⊆ Q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84" name="Google Shape;184;p8"/>
          <p:cNvSpPr txBox="1">
            <a:spLocks noGrp="1"/>
          </p:cNvSpPr>
          <p:nvPr>
            <p:ph type="title"/>
          </p:nvPr>
        </p:nvSpPr>
        <p:spPr>
          <a:xfrm>
            <a:off x="839788" y="950585"/>
            <a:ext cx="9918778" cy="98314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just"/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Construct </a:t>
            </a:r>
            <a:r>
              <a:rPr lang="en-US" sz="2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 DFA that accepts all the strings over the alphabet</a:t>
            </a:r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∑ {0,1} that start with “01”.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Google Shape;186;p8"/>
          <p:cNvSpPr txBox="1">
            <a:spLocks noGrp="1"/>
          </p:cNvSpPr>
          <p:nvPr>
            <p:ph type="body" idx="2"/>
          </p:nvPr>
        </p:nvSpPr>
        <p:spPr>
          <a:xfrm>
            <a:off x="839788" y="2100406"/>
            <a:ext cx="5157900" cy="408926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2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 given question provides the following</a:t>
            </a:r>
            <a:endParaRPr sz="22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marR="127000" lvl="0" indent="-3746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300"/>
              <a:buChar char="●"/>
            </a:pPr>
            <a:r>
              <a:rPr lang="en-IN" sz="2300" dirty="0">
                <a:highlight>
                  <a:srgbClr val="FFFFC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= 01(0+1)*</a:t>
            </a:r>
            <a:endParaRPr sz="2300" dirty="0">
              <a:highlight>
                <a:srgbClr val="FFFFCC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marR="1270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IN" sz="2300" dirty="0">
                <a:highlight>
                  <a:srgbClr val="FFFFC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Language of Accepted Strings = {01, 010, 011, 0100, 0111, 01101, …}</a:t>
            </a:r>
            <a:endParaRPr sz="2300" dirty="0">
              <a:highlight>
                <a:srgbClr val="FFFFCC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marR="1270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IN" sz="2300" dirty="0">
                <a:highlight>
                  <a:srgbClr val="FFFFC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Some Rejected Strings = {ε, 0, 1, 10, 00, 11, 001, </a:t>
            </a:r>
            <a:r>
              <a:rPr lang="en-IN" sz="2300" dirty="0" smtClean="0">
                <a:highlight>
                  <a:srgbClr val="FFFFC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101}</a:t>
            </a:r>
            <a:endParaRPr sz="2300" dirty="0">
              <a:highlight>
                <a:srgbClr val="FFFFCC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Google Shape;187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dirty="0"/>
              <a:t>Transition diagram</a:t>
            </a:r>
            <a:endParaRPr dirty="0"/>
          </a:p>
        </p:txBody>
      </p:sp>
      <p:sp>
        <p:nvSpPr>
          <p:cNvPr id="188" name="Google Shape;188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2200" y="2586275"/>
            <a:ext cx="5043851" cy="32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97" name="Google Shape;19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198" name="Google Shape;19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3600"/>
              <a:buChar char="●"/>
            </a:pPr>
            <a:r>
              <a:rPr lang="en-IN" sz="3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States = {q0, q1, q2, q3}</a:t>
            </a:r>
            <a:endParaRPr sz="36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IN" sz="3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Input Alphabet = {0, 1}</a:t>
            </a:r>
            <a:endParaRPr sz="36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IN" sz="3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 = q0</a:t>
            </a:r>
            <a:endParaRPr sz="36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IN" sz="3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Final States = {q2}</a:t>
            </a:r>
            <a:endParaRPr sz="36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IN" sz="36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Dead State = q3</a:t>
            </a:r>
            <a:endParaRPr sz="36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Google Shape;199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DFA Description</a:t>
            </a:r>
            <a:endParaRPr/>
          </a:p>
        </p:txBody>
      </p:sp>
      <p:sp>
        <p:nvSpPr>
          <p:cNvPr id="200" name="Google Shape;200;p9"/>
          <p:cNvSpPr txBox="1">
            <a:spLocks noGrp="1"/>
          </p:cNvSpPr>
          <p:nvPr>
            <p:ph type="body" idx="2"/>
          </p:nvPr>
        </p:nvSpPr>
        <p:spPr>
          <a:xfrm>
            <a:off x="6096000" y="1302409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500"/>
              <a:buChar char="●"/>
            </a:pPr>
            <a:r>
              <a:rPr lang="en-IN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Transition Function δ is defined as:</a:t>
            </a:r>
            <a:endParaRPr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δ(q0, 0) = q1</a:t>
            </a:r>
            <a:endParaRPr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δ(q0, 1) = q3</a:t>
            </a:r>
            <a:endParaRPr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δ(q1, 0) = q3</a:t>
            </a:r>
            <a:endParaRPr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δ(q1, 1) = q2</a:t>
            </a:r>
            <a:endParaRPr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δ(q2, 0) = q2</a:t>
            </a:r>
            <a:endParaRPr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δ(q2, 1) = q2</a:t>
            </a:r>
            <a:endParaRPr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δ(q3, 0) = q3</a:t>
            </a:r>
            <a:endParaRPr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IN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δ(q3, 1) = q3</a:t>
            </a:r>
            <a:endParaRPr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100"/>
              </a:spcBef>
              <a:spcAft>
                <a:spcPts val="0"/>
              </a:spcAft>
              <a:buNone/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>
            <a:spLocks noGrp="1"/>
          </p:cNvSpPr>
          <p:nvPr>
            <p:ph type="title"/>
          </p:nvPr>
        </p:nvSpPr>
        <p:spPr>
          <a:xfrm>
            <a:off x="838200" y="854440"/>
            <a:ext cx="10515600" cy="96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lay"/>
              <a:buNone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Table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6" name="Google Shape;206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09" name="Google Shape;20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210" name="Google Shape;210;p10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9654914" cy="4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11" name="Google Shape;211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1" y="1824050"/>
            <a:ext cx="9654914" cy="41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2066" y="2402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221" name="Google Shape;221;p16"/>
          <p:cNvSpPr txBox="1">
            <a:spLocks noGrp="1"/>
          </p:cNvSpPr>
          <p:nvPr>
            <p:ph type="title"/>
          </p:nvPr>
        </p:nvSpPr>
        <p:spPr>
          <a:xfrm>
            <a:off x="838200" y="1236994"/>
            <a:ext cx="7315200" cy="85443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b="1" dirty="0">
                <a:solidFill>
                  <a:srgbClr val="1D254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Learning Activity-1(Problem Solving)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BA9079-263B-A732-FB7B-4EFF35495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137" y="2127250"/>
            <a:ext cx="9229725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ECC5DE86-A1D0-981F-E172-FC99D11F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>
            <a:extLst>
              <a:ext uri="{FF2B5EF4-FFF2-40B4-BE49-F238E27FC236}">
                <a16:creationId xmlns:a16="http://schemas.microsoft.com/office/drawing/2014/main" id="{46C105C2-9EC0-0767-BED1-7A7B2A13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854440"/>
            <a:ext cx="10515600" cy="96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rgbClr val="1D254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Learning Activity-1(Problem Solving)</a:t>
            </a:r>
            <a:br>
              <a:rPr lang="en-IN" sz="3200" b="1" dirty="0">
                <a:solidFill>
                  <a:srgbClr val="1D254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</a:br>
            <a:r>
              <a:rPr lang="en-IN" sz="3200" b="1" dirty="0">
                <a:solidFill>
                  <a:srgbClr val="1D254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(Use pen and paper)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6" name="Google Shape;206;p10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3B12EF0-0359-D7AF-03E0-C28FA201A9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0">
            <a:extLst>
              <a:ext uri="{FF2B5EF4-FFF2-40B4-BE49-F238E27FC236}">
                <a16:creationId xmlns:a16="http://schemas.microsoft.com/office/drawing/2014/main" id="{22A46075-D80F-161D-BF56-F18DF13E1E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>
            <a:extLst>
              <a:ext uri="{FF2B5EF4-FFF2-40B4-BE49-F238E27FC236}">
                <a16:creationId xmlns:a16="http://schemas.microsoft.com/office/drawing/2014/main" id="{ABC4E7D5-3AA7-6D0A-AFED-D91D88BCEA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09" name="Google Shape;209;p10">
            <a:extLst>
              <a:ext uri="{FF2B5EF4-FFF2-40B4-BE49-F238E27FC236}">
                <a16:creationId xmlns:a16="http://schemas.microsoft.com/office/drawing/2014/main" id="{DCF6617E-8088-60A8-DE67-321A7D74B2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210" name="Google Shape;210;p10">
            <a:extLst>
              <a:ext uri="{FF2B5EF4-FFF2-40B4-BE49-F238E27FC236}">
                <a16:creationId xmlns:a16="http://schemas.microsoft.com/office/drawing/2014/main" id="{3615E1B2-36EE-8610-FB90-D1A6E04FA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99" y="1870350"/>
            <a:ext cx="11078497" cy="4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SzPts val="2800"/>
              <a:buNone/>
            </a:pPr>
            <a:r>
              <a:rPr lang="en-US" b="1" dirty="0"/>
              <a:t>1. DFA over input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(a, b) </a:t>
            </a:r>
            <a:r>
              <a:rPr lang="en-US" b="1" dirty="0"/>
              <a:t>that Accepts All the Strings With </a:t>
            </a:r>
          </a:p>
          <a:p>
            <a:pPr indent="-457200">
              <a:buSzPts val="2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Exactly 1 ‘a’</a:t>
            </a:r>
          </a:p>
          <a:p>
            <a:pPr indent="-457200">
              <a:buSzPts val="2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most 1 ‘a’</a:t>
            </a:r>
          </a:p>
          <a:p>
            <a:pPr indent="-457200">
              <a:buSzPts val="2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1 ‘a’ </a:t>
            </a:r>
          </a:p>
          <a:p>
            <a:pPr indent="-457200">
              <a:buSzPts val="2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Exactly 2 ‘a’</a:t>
            </a:r>
          </a:p>
          <a:p>
            <a:pPr indent="-457200">
              <a:buSzPts val="2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most 2 ‘a’</a:t>
            </a:r>
          </a:p>
          <a:p>
            <a:pPr indent="-457200">
              <a:buSzPts val="2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2 'a’ </a:t>
            </a:r>
          </a:p>
          <a:p>
            <a:pPr indent="-457200">
              <a:buSzPts val="2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1 'a' and Exactly 2 b's</a:t>
            </a:r>
          </a:p>
          <a:p>
            <a:pPr indent="-457200">
              <a:buSzPts val="2800"/>
            </a:pPr>
            <a:endParaRPr lang="en-US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0200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>
            <a:spLocks noGrp="1"/>
          </p:cNvSpPr>
          <p:nvPr>
            <p:ph type="title"/>
          </p:nvPr>
        </p:nvSpPr>
        <p:spPr>
          <a:xfrm>
            <a:off x="838200" y="733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p17"/>
          <p:cNvSpPr txBox="1">
            <a:spLocks noGrp="1"/>
          </p:cNvSpPr>
          <p:nvPr>
            <p:ph type="body" idx="1"/>
          </p:nvPr>
        </p:nvSpPr>
        <p:spPr>
          <a:xfrm>
            <a:off x="1004340" y="1843790"/>
            <a:ext cx="10692457" cy="4182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of DFA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Tuples of DFAs and their meanings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DFAs of various languages.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9" name="Google Shape;229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2066" y="2402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32" name="Google Shape;23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38" name="Google Shape;23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grpSp>
        <p:nvGrpSpPr>
          <p:cNvPr id="239" name="Google Shape;239;p18"/>
          <p:cNvGrpSpPr/>
          <p:nvPr/>
        </p:nvGrpSpPr>
        <p:grpSpPr>
          <a:xfrm>
            <a:off x="705470" y="2409549"/>
            <a:ext cx="10927828" cy="3829792"/>
            <a:chOff x="0" y="-70194"/>
            <a:chExt cx="10927828" cy="3829792"/>
          </a:xfrm>
        </p:grpSpPr>
        <p:sp>
          <p:nvSpPr>
            <p:cNvPr id="240" name="Google Shape;240;p18"/>
            <p:cNvSpPr/>
            <p:nvPr/>
          </p:nvSpPr>
          <p:spPr>
            <a:xfrm>
              <a:off x="0" y="-70194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A3C5ED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8"/>
            <p:cNvSpPr txBox="1"/>
            <p:nvPr/>
          </p:nvSpPr>
          <p:spPr>
            <a:xfrm>
              <a:off x="48627" y="-21567"/>
              <a:ext cx="8886032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2800"/>
              </a:pPr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LO1: Construct DFAs for given languages</a:t>
              </a:r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1639174" y="1818588"/>
              <a:ext cx="9288654" cy="1941010"/>
            </a:xfrm>
            <a:prstGeom prst="roundRect">
              <a:avLst>
                <a:gd name="adj" fmla="val 10000"/>
              </a:avLst>
            </a:prstGeom>
            <a:solidFill>
              <a:srgbClr val="82CAEB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8"/>
            <p:cNvSpPr txBox="1"/>
            <p:nvPr/>
          </p:nvSpPr>
          <p:spPr>
            <a:xfrm>
              <a:off x="1696024" y="1875438"/>
              <a:ext cx="9013720" cy="18273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Clr>
                  <a:schemeClr val="lt1"/>
                </a:buClr>
                <a:buSzPts val="2800"/>
              </a:pPr>
              <a:r>
                <a:rPr lang="en-US" sz="40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LO2: Explain how these automata accept the strings in those languages.</a:t>
              </a:r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8209503" y="1234932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4892DC">
                <a:alpha val="89411"/>
              </a:srgbClr>
            </a:solidFill>
            <a:ln w="19050" cap="flat" cmpd="sng">
              <a:solidFill>
                <a:srgbClr val="F6D4CC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8452312" y="123493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6" name="Google Shape;246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 txBox="1"/>
          <p:nvPr/>
        </p:nvSpPr>
        <p:spPr>
          <a:xfrm>
            <a:off x="644056" y="1550543"/>
            <a:ext cx="1070974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Ensure attainment of LOs in alignment to the learning activities:</a:t>
            </a:r>
            <a:endParaRPr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 txBox="1">
            <a:spLocks noGrp="1"/>
          </p:cNvSpPr>
          <p:nvPr>
            <p:ph type="title"/>
          </p:nvPr>
        </p:nvSpPr>
        <p:spPr>
          <a:xfrm>
            <a:off x="419725" y="1198963"/>
            <a:ext cx="11213573" cy="191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orgia"/>
              <a:buNone/>
            </a:pPr>
            <a:r>
              <a:rPr lang="en-IN" sz="54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Discussion on the post session activities</a:t>
            </a:r>
            <a:r>
              <a:rPr lang="en-IN" sz="28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IN" sz="28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r>
              <a:rPr lang="en-IN" sz="28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/>
            </a:r>
            <a:br>
              <a:rPr lang="en-IN" sz="28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endParaRPr sz="2800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254" name="Google Shape;25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55" name="Google Shape;25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56" name="Google Shape;256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>
            <a:spLocks noGrp="1"/>
          </p:cNvSpPr>
          <p:nvPr>
            <p:ph type="body" idx="1"/>
          </p:nvPr>
        </p:nvSpPr>
        <p:spPr>
          <a:xfrm>
            <a:off x="838200" y="2802760"/>
            <a:ext cx="10515600" cy="93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the Post-Session-6 Quiz on LMS.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>
            <a:spLocks noGrp="1"/>
          </p:cNvSpPr>
          <p:nvPr>
            <p:ph type="title"/>
          </p:nvPr>
        </p:nvSpPr>
        <p:spPr>
          <a:xfrm>
            <a:off x="683655" y="1213803"/>
            <a:ext cx="10670145" cy="158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orgia"/>
              <a:buNone/>
            </a:pPr>
            <a:r>
              <a:rPr lang="en-IN" sz="54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Information about the next lesson</a:t>
            </a:r>
            <a:endParaRPr sz="2000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264" name="Google Shape;26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266" name="Google Shape;266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>
            <a:spLocks noGrp="1"/>
          </p:cNvSpPr>
          <p:nvPr>
            <p:ph type="body" idx="1"/>
          </p:nvPr>
        </p:nvSpPr>
        <p:spPr>
          <a:xfrm>
            <a:off x="838200" y="2802759"/>
            <a:ext cx="10515600" cy="277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/ Tutorial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>
            <a:spLocks noGrp="1"/>
          </p:cNvSpPr>
          <p:nvPr>
            <p:ph type="title"/>
          </p:nvPr>
        </p:nvSpPr>
        <p:spPr>
          <a:xfrm>
            <a:off x="838200" y="733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IN" sz="7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7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7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7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7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</a:t>
            </a:r>
            <a:r>
              <a:rPr lang="en-IN" sz="7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Queries</a:t>
            </a:r>
            <a:endParaRPr sz="7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4" name="Google Shape;274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4466" y="3672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77" name="Google Shape;2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pic>
        <p:nvPicPr>
          <p:cNvPr id="285" name="Google Shape;285;p22" descr="Thank You Page Examples: Crafting Memorable Post-Conversion Experienc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9096" y="650240"/>
            <a:ext cx="10204704" cy="493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580</Words>
  <Application>Microsoft Office PowerPoint</Application>
  <PresentationFormat>Widescreen</PresentationFormat>
  <Paragraphs>108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Play</vt:lpstr>
      <vt:lpstr>Georgia</vt:lpstr>
      <vt:lpstr>Arial</vt:lpstr>
      <vt:lpstr>Times New Roman</vt:lpstr>
      <vt:lpstr>Nunito</vt:lpstr>
      <vt:lpstr>Office Theme</vt:lpstr>
      <vt:lpstr>Problem Solving on DFA    Session No.: 6 Course Name: Theory of Computation Course Code: R1UC428T Instructor Name: Arvind Kumar Duration: 50 mins </vt:lpstr>
      <vt:lpstr> Review of the key concepts of the session #5 </vt:lpstr>
      <vt:lpstr>Opening: Engaging Questions </vt:lpstr>
      <vt:lpstr>PowerPoint Presentation</vt:lpstr>
      <vt:lpstr>Session Outline</vt:lpstr>
      <vt:lpstr>Deterministic Finite Automata</vt:lpstr>
      <vt:lpstr>Tuples of DFA </vt:lpstr>
      <vt:lpstr>Construct a DFA that accepts all the strings over the alphabet ∑ {0,1} that start with “01”.</vt:lpstr>
      <vt:lpstr>DFA Description</vt:lpstr>
      <vt:lpstr>Transition Table</vt:lpstr>
      <vt:lpstr>Learning Activity-1(Problem Solving)</vt:lpstr>
      <vt:lpstr>Learning Activity-1(Problem Solving) (Use pen and paper)</vt:lpstr>
      <vt:lpstr>Summary</vt:lpstr>
      <vt:lpstr>PowerPoint Presentation</vt:lpstr>
      <vt:lpstr>Discussion on the post session activities  </vt:lpstr>
      <vt:lpstr>Information about the next lesson</vt:lpstr>
      <vt:lpstr>    Feedback and Queries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on DFA    Session No.: 6 Course Name: Theory of Computation Course Code: R1UC428T Instructor Name: Arvind Kumar Duration: 50 mins </dc:title>
  <dc:creator>Deepak Gupta</dc:creator>
  <cp:lastModifiedBy>user</cp:lastModifiedBy>
  <cp:revision>44</cp:revision>
  <dcterms:created xsi:type="dcterms:W3CDTF">2024-08-22T06:33:55Z</dcterms:created>
  <dcterms:modified xsi:type="dcterms:W3CDTF">2026-02-22T03:17:04Z</dcterms:modified>
</cp:coreProperties>
</file>